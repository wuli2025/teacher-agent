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 1 分钟：先不给定义，只抛出“无限接近到底是什么意思”。本节课的主线写在标题下方，全程回指。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让学生口算 x=0.9/0.99/0.999 的三个值，自己说出“越来越接近 2”。不要急着给“极限”这个词，先让直觉到位。约 4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路线图页只讲 1 分钟，作用是给学生一个“我现在在哪”的坐标。后面每页右上角的标签就对应这三段。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配合这幅图提三个问题，让学生用自己的话说出“趋势 ≠ 取值”。第三问为后面的“可去间断点补值”埋伏笔。约 4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逐字念一遍定义，念到 ∀ε 停一下问“谁先动手”。把 ε-δ 讲成挑战—应战的博弈：学生出 ε，老师交 δ。约 5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三个关键词各一句话，配合手势：ε 用手指比“很小”，δ 用手掌比“一段范围”。去心这一条要重讲，它是后面约分合法性的全部依据。约 3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【题 1·第 1/5 步】写出要控制的目标量</a:t>
            </a:r>
          </a:p>
          <a:p>
            <a:r>
              <a:t>（本题定位）定义题的本质不是“算”，而是“对任意给定的精度 ε，都能交出一个 δ”。</a:t>
            </a:r>
          </a:p>
          <a:p>
            <a:r>
              <a:t>所有 ε-δ 证明的第一步，都是把 |f(x)−L| 化成 |x−a| 的倍数或可放大式；这一步直接决定了 δ 怎么取。</a:t>
            </a:r>
          </a:p>
          <a:p>
            <a:r>
              <a:t>把差化成含 |x−2| 的形式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【题 1·第 2/5 步】由目标量倒推 δ</a:t>
            </a:r>
          </a:p>
          <a:p>
            <a:r>
              <a:t>（本题定位）定义题的本质不是“算”，而是“对任意给定的精度 ε，都能交出一个 δ”。</a:t>
            </a:r>
          </a:p>
          <a:p>
            <a:r>
              <a:t>想让左边小于 ε，只要 |x−2| 小于 ε/3 就够。强调这一步写在草稿上，正式书写时要“正着写”。</a:t>
            </a:r>
          </a:p>
          <a:p>
            <a:r>
              <a:t>倒推只是草稿工作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【题 1·第 3/5 步】取定 δ 并正式书写</a:t>
            </a:r>
          </a:p>
          <a:p>
            <a:r>
              <a:t>（本题定位）定义题的本质不是“算”，而是“对任意给定的精度 ε，都能交出一个 δ”。</a:t>
            </a:r>
          </a:p>
          <a:p>
            <a:r>
              <a:t>取 δ = ε/3 或 ε/4 都对。此处回收易错点三：δ 不唯一，但必须依赖 ε。</a:t>
            </a:r>
          </a:p>
          <a:p>
            <a:r>
              <a:t>δ 存在一个即可，不必最大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【题 1·第 4/5 步】验证：由 δ 推出 ε</a:t>
            </a:r>
          </a:p>
          <a:p>
            <a:r>
              <a:t>（本题定位）定义题的本质不是“算”，而是“对任意给定的精度 ε，都能交出一个 δ”。</a:t>
            </a:r>
          </a:p>
          <a:p>
            <a:r>
              <a:t>这一行才是真正的证明。让学生对照：草稿倒着想，答卷正着写。</a:t>
            </a:r>
          </a:p>
          <a:p>
            <a:r>
              <a:t>方向必须是由 δ 推出 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【题 1·第 5/5 步】结论</a:t>
            </a:r>
          </a:p>
          <a:p>
            <a:r>
              <a:t>（本题定位）定义题的本质不是“算”，而是“对任意给定的精度 ε，都能交出一个 δ”。</a:t>
            </a:r>
          </a:p>
          <a:p>
            <a:r>
              <a:t>板书示范：量词顺序 ∀ε 在前、∃δ 在后，颠倒即错。</a:t>
            </a:r>
          </a:p>
          <a:p>
            <a:r>
              <a:t>按定义语序抄一遍，证毕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【题 2·第 1/5 步】写清函数与待定参数</a:t>
            </a:r>
          </a:p>
          <a:p>
            <a:r>
              <a:t>（本题定位）分界点处的连续性 = 左极限 = 右极限 = 函数值，三者缺一不可。</a:t>
            </a:r>
          </a:p>
          <a:p>
            <a:r>
              <a:t>先让学生指出：这是可去间断点的典型结构——函数值被单独钉了一个 a。</a:t>
            </a:r>
          </a:p>
          <a:p>
            <a:r>
              <a:t>x≠1 可约分，x=1 由 a 指定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【题 2·第 2/5 步】求 x→1 的极限（约分去掉 0/0）</a:t>
            </a:r>
          </a:p>
          <a:p>
            <a:r>
              <a:t>（本题定位）分界点处的连续性 = 左极限 = 右极限 = 函数值，三者缺一不可。</a:t>
            </a:r>
          </a:p>
          <a:p>
            <a:r>
              <a:t>讨论极限时 x≠1，分母不为零，所以可以约分。回扣核心公式里 0&lt;|x−a| 这个去心条件——这是本页最关键的一句。</a:t>
            </a:r>
          </a:p>
          <a:p>
            <a:r>
              <a:t>约分合法，靠的是“去心”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【题 2·第 3/5 步】验证左右极限一致</a:t>
            </a:r>
          </a:p>
          <a:p>
            <a:r>
              <a:t>（本题定位）分界点处的连续性 = 左极限 = 右极限 = 函数值，三者缺一不可。</a:t>
            </a:r>
          </a:p>
          <a:p>
            <a:r>
              <a:t>两侧用的是同一个式子，故左右极限自动相等，极限存在。对比反例 |x|/x：两侧解析式不同，就必须分别算。</a:t>
            </a:r>
          </a:p>
          <a:p>
            <a:r>
              <a:t>两侧同一解析式，自动相等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【题 2·第 4/5 步】套用连续的三条件</a:t>
            </a:r>
          </a:p>
          <a:p>
            <a:r>
              <a:t>（本题定位）分界点处的连续性 = 左极限 = 右极限 = 函数值，三者缺一不可。</a:t>
            </a:r>
          </a:p>
          <a:p>
            <a:r>
              <a:t>函数在该点有定义、极限存在、二者相等——第三条把 a 钉死。把连续定义写在黑板右上角，随时对照。</a:t>
            </a:r>
          </a:p>
          <a:p>
            <a:r>
              <a:t>三条件里的第三条钉死 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【题 2·第 5/5 步】解出参数</a:t>
            </a:r>
          </a:p>
          <a:p>
            <a:r>
              <a:t>（本题定位）分界点处的连续性 = 左极限 = 右极限 = 函数值，三者缺一不可。</a:t>
            </a:r>
          </a:p>
          <a:p>
            <a:r>
              <a:t>总结：可去间断点之所以“可去”，就是因为能这样补一个值。</a:t>
            </a:r>
          </a:p>
          <a:p>
            <a:r>
              <a:t>洞被填平，间断点消除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四步做成固定动作，要求学生在草稿纸上按这四行分栏写。下节课的作业批改就按这四步给分。约 3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每张卡只讲一个错：先念错法，让学生举手“谁这样做过”，再给纠正。错法一对应例题 2 的约分，错法三对应例题 1 的取 δ。约 4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夹逼定理只讲结构不证：三条曲线、两头同去处、中间被逼就范。sin x / x 的几何证明放在下一课时。约 3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练习 1 全体动笔 3 分钟，找一名学生上台按四步板演。练习 2 分子有理化是难点，提示“乘共轭”。合计约 8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三句话让学生齐读一遍。离堂条子当场收，下节课用它分层讲评。预告：下节课用今天的语言去证 sin x / x → 1。约 3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2103120"/>
            <a:ext cx="128016" cy="148132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pproach.png"/>
          <p:cNvPicPr>
            <a:picLocks noChangeAspect="1"/>
          </p:cNvPicPr>
          <p:nvPr/>
        </p:nvPicPr>
        <p:blipFill>
          <a:blip r:embed="rId2"/>
          <a:srcRect l="7252" r="7252"/>
          <a:stretch>
            <a:fillRect/>
          </a:stretch>
        </p:blipFill>
        <p:spPr>
          <a:xfrm>
            <a:off x="7808976" y="1975104"/>
            <a:ext cx="3696919" cy="2432304"/>
          </a:xfrm>
          <a:prstGeom prst="rect">
            <a:avLst/>
          </a:prstGeom>
        </p:spPr>
      </p:pic>
      <p:sp>
        <p:nvSpPr>
          <p:cNvPr id="5" name="tag_4"/>
          <p:cNvSpPr txBox="1"/>
          <p:nvPr/>
        </p:nvSpPr>
        <p:spPr>
          <a:xfrm>
            <a:off x="996696" y="1572768"/>
            <a:ext cx="6446520" cy="36575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高中数学 · 强基衔接</a:t>
            </a:r>
          </a:p>
        </p:txBody>
      </p:sp>
      <p:sp>
        <p:nvSpPr>
          <p:cNvPr id="6" name="h1_5"/>
          <p:cNvSpPr txBox="1"/>
          <p:nvPr/>
        </p:nvSpPr>
        <p:spPr>
          <a:xfrm>
            <a:off x="996696" y="2011680"/>
            <a:ext cx="6446520" cy="827532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函数的极限与连续性</a:t>
            </a:r>
          </a:p>
        </p:txBody>
      </p:sp>
      <p:sp>
        <p:nvSpPr>
          <p:cNvPr id="7" name="body_6"/>
          <p:cNvSpPr txBox="1"/>
          <p:nvPr/>
        </p:nvSpPr>
        <p:spPr>
          <a:xfrm>
            <a:off x="996696" y="3054096"/>
            <a:ext cx="6446520" cy="42671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0">
                <a:solidFill>
                  <a:srgbClr val="D6DDE6"/>
                </a:solidFill>
                <a:latin typeface="Microsoft YaHei"/>
                <a:ea typeface="Microsoft YaHei"/>
                <a:cs typeface="Microsoft YaHei"/>
              </a:rPr>
              <a:t>教学主线：直观理解 → 公式表达 → 迁移应用</a:t>
            </a:r>
          </a:p>
        </p:txBody>
      </p:sp>
      <p:sp>
        <p:nvSpPr>
          <p:cNvPr id="8" name="Rectangle 7"/>
          <p:cNvSpPr/>
          <p:nvPr/>
        </p:nvSpPr>
        <p:spPr>
          <a:xfrm>
            <a:off x="996696" y="3803904"/>
            <a:ext cx="2926080" cy="27432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ody_8"/>
          <p:cNvSpPr txBox="1"/>
          <p:nvPr/>
        </p:nvSpPr>
        <p:spPr>
          <a:xfrm>
            <a:off x="996696" y="4041648"/>
            <a:ext cx="6446520" cy="10058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一句核心理解：极限只刻画 x 趋近 a 的过程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，与 f(a) 的取值毫无关系。</a:t>
            </a:r>
          </a:p>
        </p:txBody>
      </p:sp>
      <p:sp>
        <p:nvSpPr>
          <p:cNvPr id="10" name="tag_9"/>
          <p:cNvSpPr txBox="1"/>
          <p:nvPr/>
        </p:nvSpPr>
        <p:spPr>
          <a:xfrm>
            <a:off x="996696" y="5961888"/>
            <a:ext cx="10058400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函数的极限与连续性 · ε-δ 与分段函数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函数的极限与连续性 · ε-δ 与分段函数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问题驱动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一个填不上的洞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10134295" y="429768"/>
            <a:ext cx="1371600" cy="402336"/>
          </a:xfrm>
          <a:prstGeom prst="roundRect">
            <a:avLst>
              <a:gd name="adj" fmla="val 2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导入</a:t>
            </a:r>
          </a:p>
        </p:txBody>
      </p:sp>
      <p:sp>
        <p:nvSpPr>
          <p:cNvPr id="11" name="body_10"/>
          <p:cNvSpPr txBox="1"/>
          <p:nvPr/>
        </p:nvSpPr>
        <p:spPr>
          <a:xfrm>
            <a:off x="685800" y="1389888"/>
            <a:ext cx="10820095" cy="507492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1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把下面这个函数在 x = 1 附近画出来，你会看到一条完整的直线上缺了一个点：</a:t>
            </a:r>
          </a:p>
        </p:txBody>
      </p:sp>
      <p:pic>
        <p:nvPicPr>
          <p:cNvPr id="12" name="tex_q_hole" descr="f_dbfba272cc94e8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5647" y="1988820"/>
            <a:ext cx="5740400" cy="1333500"/>
          </a:xfrm>
          <a:prstGeom prst="rect">
            <a:avLst/>
          </a:prstGeom>
        </p:spPr>
      </p:pic>
      <p:pic>
        <p:nvPicPr>
          <p:cNvPr id="13" name="tex_q_val" descr="f_768667ff5bad85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6547" y="3413760"/>
            <a:ext cx="4038600" cy="7747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85800" y="4389628"/>
            <a:ext cx="3454298" cy="16093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4389628"/>
            <a:ext cx="68580" cy="160934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ody_15"/>
          <p:cNvSpPr txBox="1"/>
          <p:nvPr/>
        </p:nvSpPr>
        <p:spPr>
          <a:xfrm>
            <a:off x="868680" y="4535932"/>
            <a:ext cx="3088538" cy="41147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函数值不存在</a:t>
            </a:r>
          </a:p>
        </p:txBody>
      </p:sp>
      <p:sp>
        <p:nvSpPr>
          <p:cNvPr id="17" name="body_16"/>
          <p:cNvSpPr txBox="1"/>
          <p:nvPr/>
        </p:nvSpPr>
        <p:spPr>
          <a:xfrm>
            <a:off x="868680" y="4956556"/>
            <a:ext cx="3088538" cy="85953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x = 1 代进去分母为 0，</a:t>
            </a:r>
          </a:p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这点没有函数值。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68698" y="4389628"/>
            <a:ext cx="3454298" cy="16093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68698" y="4389628"/>
            <a:ext cx="68580" cy="1609344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ody_19"/>
          <p:cNvSpPr txBox="1"/>
          <p:nvPr/>
        </p:nvSpPr>
        <p:spPr>
          <a:xfrm>
            <a:off x="4551578" y="4535932"/>
            <a:ext cx="3088538" cy="41147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趋势却很确定</a:t>
            </a:r>
          </a:p>
        </p:txBody>
      </p:sp>
      <p:sp>
        <p:nvSpPr>
          <p:cNvPr id="21" name="body_20"/>
          <p:cNvSpPr txBox="1"/>
          <p:nvPr/>
        </p:nvSpPr>
        <p:spPr>
          <a:xfrm>
            <a:off x="4551578" y="4956556"/>
            <a:ext cx="3088538" cy="85953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x 越靠近 1，f(x) 就越靠</a:t>
            </a:r>
          </a:p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近 2。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51596" y="4389628"/>
            <a:ext cx="3454298" cy="16093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51596" y="4389628"/>
            <a:ext cx="68580" cy="1609344"/>
          </a:xfrm>
          <a:prstGeom prst="rect">
            <a:avLst/>
          </a:prstGeom>
          <a:solidFill>
            <a:srgbClr val="E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ody_23"/>
          <p:cNvSpPr txBox="1"/>
          <p:nvPr/>
        </p:nvSpPr>
        <p:spPr>
          <a:xfrm>
            <a:off x="8234476" y="4535932"/>
            <a:ext cx="3088538" cy="41147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E0534B"/>
                </a:solidFill>
                <a:latin typeface="Microsoft YaHei"/>
                <a:ea typeface="Microsoft YaHei"/>
                <a:cs typeface="Microsoft YaHei"/>
              </a:rPr>
              <a:t>于是必须分家</a:t>
            </a:r>
          </a:p>
        </p:txBody>
      </p:sp>
      <p:sp>
        <p:nvSpPr>
          <p:cNvPr id="25" name="body_24"/>
          <p:cNvSpPr txBox="1"/>
          <p:nvPr/>
        </p:nvSpPr>
        <p:spPr>
          <a:xfrm>
            <a:off x="8234476" y="4956556"/>
            <a:ext cx="3088538" cy="85953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“某点的值”与“附近</a:t>
            </a:r>
          </a:p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的趋势”是两件事。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函数的极限与连续性 · ε-δ 与分段函数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学习路线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本节课的三段路线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10134295" y="429768"/>
            <a:ext cx="1371600" cy="402336"/>
          </a:xfrm>
          <a:prstGeom prst="roundRect">
            <a:avLst>
              <a:gd name="adj" fmla="val 2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路线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609344"/>
            <a:ext cx="3393338" cy="3072384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609344"/>
            <a:ext cx="68580" cy="307238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ag_12"/>
          <p:cNvSpPr txBox="1"/>
          <p:nvPr/>
        </p:nvSpPr>
        <p:spPr>
          <a:xfrm>
            <a:off x="886968" y="1792224"/>
            <a:ext cx="2991002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① 直观理解</a:t>
            </a:r>
          </a:p>
        </p:txBody>
      </p:sp>
      <p:sp>
        <p:nvSpPr>
          <p:cNvPr id="14" name="body_13"/>
          <p:cNvSpPr txBox="1"/>
          <p:nvPr/>
        </p:nvSpPr>
        <p:spPr>
          <a:xfrm>
            <a:off x="886968" y="2194560"/>
            <a:ext cx="2991002" cy="53949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无限接近</a:t>
            </a:r>
          </a:p>
        </p:txBody>
      </p:sp>
      <p:sp>
        <p:nvSpPr>
          <p:cNvPr id="15" name="body_14"/>
          <p:cNvSpPr txBox="1"/>
          <p:nvPr/>
        </p:nvSpPr>
        <p:spPr>
          <a:xfrm>
            <a:off x="886968" y="2871216"/>
            <a:ext cx="2991002" cy="167640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从数值表和图像上的“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洞”出发，先建立“趋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势”的感觉，暂不追求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严格。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134002" y="2944368"/>
            <a:ext cx="210312" cy="274320"/>
          </a:xfrm>
          <a:prstGeom prst="rightArrow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99178" y="1609344"/>
            <a:ext cx="3393338" cy="3072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99178" y="1609344"/>
            <a:ext cx="68580" cy="3072384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ag_18"/>
          <p:cNvSpPr txBox="1"/>
          <p:nvPr/>
        </p:nvSpPr>
        <p:spPr>
          <a:xfrm>
            <a:off x="4600346" y="1792224"/>
            <a:ext cx="2991002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② 公式表达</a:t>
            </a:r>
          </a:p>
        </p:txBody>
      </p:sp>
      <p:sp>
        <p:nvSpPr>
          <p:cNvPr id="20" name="body_19"/>
          <p:cNvSpPr txBox="1"/>
          <p:nvPr/>
        </p:nvSpPr>
        <p:spPr>
          <a:xfrm>
            <a:off x="4600346" y="2194560"/>
            <a:ext cx="2991002" cy="53949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ε-δ 语言</a:t>
            </a:r>
          </a:p>
        </p:txBody>
      </p:sp>
      <p:sp>
        <p:nvSpPr>
          <p:cNvPr id="21" name="body_20"/>
          <p:cNvSpPr txBox="1"/>
          <p:nvPr/>
        </p:nvSpPr>
        <p:spPr>
          <a:xfrm>
            <a:off x="4600346" y="2871216"/>
            <a:ext cx="2991002" cy="128016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把“无限接近”翻译成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不等式：任给精度 ε，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都能找出范围 δ。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847380" y="2944368"/>
            <a:ext cx="210312" cy="274320"/>
          </a:xfrm>
          <a:prstGeom prst="rightArrow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12556" y="1609344"/>
            <a:ext cx="3393338" cy="3072384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12556" y="1609344"/>
            <a:ext cx="68580" cy="3072384"/>
          </a:xfrm>
          <a:prstGeom prst="rect">
            <a:avLst/>
          </a:prstGeom>
          <a:solidFill>
            <a:srgbClr val="E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ag_24"/>
          <p:cNvSpPr txBox="1"/>
          <p:nvPr/>
        </p:nvSpPr>
        <p:spPr>
          <a:xfrm>
            <a:off x="8313724" y="1792224"/>
            <a:ext cx="2991002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E0534B"/>
                </a:solidFill>
                <a:latin typeface="Microsoft YaHei"/>
                <a:ea typeface="Microsoft YaHei"/>
                <a:cs typeface="Microsoft YaHei"/>
              </a:rPr>
              <a:t>③ 迁移应用</a:t>
            </a:r>
          </a:p>
        </p:txBody>
      </p:sp>
      <p:sp>
        <p:nvSpPr>
          <p:cNvPr id="26" name="body_25"/>
          <p:cNvSpPr txBox="1"/>
          <p:nvPr/>
        </p:nvSpPr>
        <p:spPr>
          <a:xfrm>
            <a:off x="8313724" y="2194560"/>
            <a:ext cx="2991002" cy="53949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连续与夹逼</a:t>
            </a:r>
          </a:p>
        </p:txBody>
      </p:sp>
      <p:sp>
        <p:nvSpPr>
          <p:cNvPr id="27" name="body_26"/>
          <p:cNvSpPr txBox="1"/>
          <p:nvPr/>
        </p:nvSpPr>
        <p:spPr>
          <a:xfrm>
            <a:off x="8313724" y="2871216"/>
            <a:ext cx="2991002" cy="128016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用极限判连续、定参数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，再迁移到夹逼定理与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两个重要极限。</a:t>
            </a:r>
          </a:p>
        </p:txBody>
      </p:sp>
      <p:sp>
        <p:nvSpPr>
          <p:cNvPr id="28" name="body_27"/>
          <p:cNvSpPr txBox="1"/>
          <p:nvPr/>
        </p:nvSpPr>
        <p:spPr>
          <a:xfrm>
            <a:off x="685800" y="4974336"/>
            <a:ext cx="10820095" cy="39623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这节课的每一页，右上角标签都会标出它落在哪一段路线上。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函数的极限与连续性 · ε-δ 与分段函数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直观理解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先看图：趋势与取值是两件事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10134295" y="429768"/>
            <a:ext cx="1371600" cy="402336"/>
          </a:xfrm>
          <a:prstGeom prst="roundRect">
            <a:avLst>
              <a:gd name="adj" fmla="val 2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概念</a:t>
            </a:r>
          </a:p>
        </p:txBody>
      </p:sp>
      <p:sp>
        <p:nvSpPr>
          <p:cNvPr id="11" name="body_10"/>
          <p:cNvSpPr txBox="1"/>
          <p:nvPr/>
        </p:nvSpPr>
        <p:spPr>
          <a:xfrm>
            <a:off x="685800" y="1389888"/>
            <a:ext cx="5074920" cy="507492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1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观察右图，回答三个问题：</a:t>
            </a:r>
          </a:p>
        </p:txBody>
      </p:sp>
      <p:sp>
        <p:nvSpPr>
          <p:cNvPr id="12" name="tag_num"/>
          <p:cNvSpPr/>
          <p:nvPr/>
        </p:nvSpPr>
        <p:spPr>
          <a:xfrm>
            <a:off x="704088" y="2061972"/>
            <a:ext cx="310896" cy="310896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body_12"/>
          <p:cNvSpPr txBox="1"/>
          <p:nvPr/>
        </p:nvSpPr>
        <p:spPr>
          <a:xfrm>
            <a:off x="1088136" y="1988820"/>
            <a:ext cx="4672583" cy="481583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0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曲线在那个空心点处断了吗？</a:t>
            </a:r>
          </a:p>
        </p:txBody>
      </p:sp>
      <p:sp>
        <p:nvSpPr>
          <p:cNvPr id="14" name="tag_num"/>
          <p:cNvSpPr/>
          <p:nvPr/>
        </p:nvSpPr>
        <p:spPr>
          <a:xfrm>
            <a:off x="704088" y="2708148"/>
            <a:ext cx="310896" cy="310896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5" name="body_14"/>
          <p:cNvSpPr txBox="1"/>
          <p:nvPr/>
        </p:nvSpPr>
        <p:spPr>
          <a:xfrm>
            <a:off x="1088136" y="2634996"/>
            <a:ext cx="4672583" cy="481583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0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只从左边走，值趋向多少？右边呢？</a:t>
            </a:r>
          </a:p>
        </p:txBody>
      </p:sp>
      <p:sp>
        <p:nvSpPr>
          <p:cNvPr id="16" name="tag_num"/>
          <p:cNvSpPr/>
          <p:nvPr/>
        </p:nvSpPr>
        <p:spPr>
          <a:xfrm>
            <a:off x="704088" y="3354324"/>
            <a:ext cx="310896" cy="310896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7" name="body_16"/>
          <p:cNvSpPr txBox="1"/>
          <p:nvPr/>
        </p:nvSpPr>
        <p:spPr>
          <a:xfrm>
            <a:off x="1088136" y="3281172"/>
            <a:ext cx="4672583" cy="87172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0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把空心点补实，要补多少？补错会怎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0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样？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617720"/>
            <a:ext cx="5074920" cy="150876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617720"/>
            <a:ext cx="68580" cy="1508760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ag_19"/>
          <p:cNvSpPr txBox="1"/>
          <p:nvPr/>
        </p:nvSpPr>
        <p:spPr>
          <a:xfrm>
            <a:off x="868680" y="4745736"/>
            <a:ext cx="4672583" cy="3352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记住这句话</a:t>
            </a:r>
          </a:p>
        </p:txBody>
      </p:sp>
      <p:sp>
        <p:nvSpPr>
          <p:cNvPr id="21" name="body_20"/>
          <p:cNvSpPr txBox="1"/>
          <p:nvPr/>
        </p:nvSpPr>
        <p:spPr>
          <a:xfrm>
            <a:off x="850392" y="5093208"/>
            <a:ext cx="4745736" cy="8839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极限描述“走过去的过程”，函数值描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述“站在那一点”，两者可以不一致。</a:t>
            </a:r>
          </a:p>
        </p:txBody>
      </p:sp>
      <p:sp>
        <p:nvSpPr>
          <p:cNvPr id="22" name="dia_frame"/>
          <p:cNvSpPr/>
          <p:nvPr/>
        </p:nvSpPr>
        <p:spPr>
          <a:xfrm>
            <a:off x="6163056" y="1389888"/>
            <a:ext cx="5342839" cy="26700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6492240" y="3694176"/>
            <a:ext cx="4647895" cy="0"/>
          </a:xfrm>
          <a:prstGeom prst="line">
            <a:avLst/>
          </a:prstGeom>
          <a:ln w="19050">
            <a:solidFill>
              <a:srgbClr val="3D54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601968" y="1618488"/>
            <a:ext cx="0" cy="2185416"/>
          </a:xfrm>
          <a:prstGeom prst="line">
            <a:avLst/>
          </a:prstGeom>
          <a:ln w="19050">
            <a:solidFill>
              <a:srgbClr val="3D54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reeform 24"/>
          <p:cNvSpPr/>
          <p:nvPr/>
        </p:nvSpPr>
        <p:spPr>
          <a:xfrm>
            <a:off x="7055784" y="2640376"/>
            <a:ext cx="1797009" cy="721689"/>
          </a:xfrm>
          <a:custGeom>
            <a:avLst/>
            <a:gdLst/>
            <a:ahLst/>
            <a:cxnLst/>
            <a:rect l="l" t="t" r="r" b="b"/>
            <a:pathLst>
              <a:path w="1797009" h="721689">
                <a:moveTo>
                  <a:pt x="0" y="721689"/>
                </a:moveTo>
                <a:lnTo>
                  <a:pt x="1797009" y="0"/>
                </a:lnTo>
              </a:path>
            </a:pathLst>
          </a:custGeom>
          <a:noFill/>
          <a:ln w="38100">
            <a:solidFill>
              <a:srgbClr val="142B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8980072" y="1867570"/>
            <a:ext cx="1797009" cy="721690"/>
          </a:xfrm>
          <a:custGeom>
            <a:avLst/>
            <a:gdLst/>
            <a:ahLst/>
            <a:cxnLst/>
            <a:rect l="l" t="t" r="r" b="b"/>
            <a:pathLst>
              <a:path w="1797009" h="721690">
                <a:moveTo>
                  <a:pt x="0" y="721690"/>
                </a:moveTo>
                <a:lnTo>
                  <a:pt x="1797009" y="0"/>
                </a:lnTo>
              </a:path>
            </a:pathLst>
          </a:custGeom>
          <a:noFill/>
          <a:ln w="38100">
            <a:solidFill>
              <a:srgbClr val="142B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6601968" y="2614818"/>
            <a:ext cx="2314465" cy="0"/>
          </a:xfrm>
          <a:prstGeom prst="line">
            <a:avLst/>
          </a:prstGeom>
          <a:ln w="13970">
            <a:solidFill>
              <a:srgbClr val="6B7A8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916433" y="2614818"/>
            <a:ext cx="0" cy="1079358"/>
          </a:xfrm>
          <a:prstGeom prst="line">
            <a:avLst/>
          </a:prstGeom>
          <a:ln w="13970">
            <a:solidFill>
              <a:srgbClr val="6B7A8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dia_opendot"/>
          <p:cNvSpPr/>
          <p:nvPr/>
        </p:nvSpPr>
        <p:spPr>
          <a:xfrm>
            <a:off x="8838709" y="2537094"/>
            <a:ext cx="155448" cy="155448"/>
          </a:xfrm>
          <a:prstGeom prst="ellipse">
            <a:avLst/>
          </a:prstGeom>
          <a:solidFill>
            <a:srgbClr val="FFFFFF"/>
          </a:solidFill>
          <a:ln w="27940">
            <a:solidFill>
              <a:srgbClr val="E0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p_29"/>
          <p:cNvSpPr txBox="1"/>
          <p:nvPr/>
        </p:nvSpPr>
        <p:spPr>
          <a:xfrm>
            <a:off x="6163056" y="4151376"/>
            <a:ext cx="5342839" cy="3352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图：直线在一点处被挖掉，留下一个空心点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63056" y="4617720"/>
            <a:ext cx="5342839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63056" y="4617720"/>
            <a:ext cx="68580" cy="150876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body_32"/>
          <p:cNvSpPr txBox="1"/>
          <p:nvPr/>
        </p:nvSpPr>
        <p:spPr>
          <a:xfrm>
            <a:off x="6327648" y="4782312"/>
            <a:ext cx="5013655" cy="128016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从左右两侧走向那个洞，高度都逼近同一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个数——这个“共同去处”就是极限；洞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本身补不补，是另一回事。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函数的极限与连续性 · ε-δ 与分段函数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公式表达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把“无限接近”写成不等式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10134295" y="429768"/>
            <a:ext cx="1371600" cy="402336"/>
          </a:xfrm>
          <a:prstGeom prst="roundRect">
            <a:avLst>
              <a:gd name="adj" fmla="val 28000"/>
            </a:avLst>
          </a:prstGeom>
          <a:solidFill>
            <a:srgbClr val="E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核心公式</a:t>
            </a:r>
          </a:p>
        </p:txBody>
      </p:sp>
      <p:sp>
        <p:nvSpPr>
          <p:cNvPr id="11" name="body_10"/>
          <p:cNvSpPr txBox="1"/>
          <p:nvPr/>
        </p:nvSpPr>
        <p:spPr>
          <a:xfrm>
            <a:off x="685800" y="1389888"/>
            <a:ext cx="10820095" cy="507492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1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柯西与魏尔斯特拉斯给出的严格定义，就是本节课的核心公式：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88820"/>
            <a:ext cx="10820095" cy="1481328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E0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988820"/>
            <a:ext cx="68580" cy="1481328"/>
          </a:xfrm>
          <a:prstGeom prst="rect">
            <a:avLst/>
          </a:prstGeom>
          <a:solidFill>
            <a:srgbClr val="E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tex_epsdelta" descr="f_572185a305982e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400537"/>
            <a:ext cx="10454335" cy="657893"/>
          </a:xfrm>
          <a:prstGeom prst="rect">
            <a:avLst/>
          </a:prstGeom>
        </p:spPr>
      </p:pic>
      <p:sp>
        <p:nvSpPr>
          <p:cNvPr id="15" name="body_14"/>
          <p:cNvSpPr txBox="1"/>
          <p:nvPr/>
        </p:nvSpPr>
        <p:spPr>
          <a:xfrm>
            <a:off x="685800" y="3707892"/>
            <a:ext cx="10820095" cy="507492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1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这一行里藏着三个必须逐字读懂的部件：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325112"/>
            <a:ext cx="3454298" cy="180136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4325112"/>
            <a:ext cx="68580" cy="1801367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ag_17"/>
          <p:cNvSpPr txBox="1"/>
          <p:nvPr/>
        </p:nvSpPr>
        <p:spPr>
          <a:xfrm>
            <a:off x="850392" y="4453128"/>
            <a:ext cx="3125114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挑战</a:t>
            </a:r>
          </a:p>
        </p:txBody>
      </p:sp>
      <p:pic>
        <p:nvPicPr>
          <p:cNvPr id="19" name="tex_k0" descr="f_33eec9930630bc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823" y="4800600"/>
            <a:ext cx="1446251" cy="658368"/>
          </a:xfrm>
          <a:prstGeom prst="rect">
            <a:avLst/>
          </a:prstGeom>
        </p:spPr>
      </p:pic>
      <p:sp>
        <p:nvSpPr>
          <p:cNvPr id="20" name="body_19"/>
          <p:cNvSpPr txBox="1"/>
          <p:nvPr/>
        </p:nvSpPr>
        <p:spPr>
          <a:xfrm>
            <a:off x="832104" y="5550408"/>
            <a:ext cx="3161690" cy="39623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任意给定的精度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8698" y="4325112"/>
            <a:ext cx="3454298" cy="180136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68698" y="4325112"/>
            <a:ext cx="68580" cy="1801367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ag_22"/>
          <p:cNvSpPr txBox="1"/>
          <p:nvPr/>
        </p:nvSpPr>
        <p:spPr>
          <a:xfrm>
            <a:off x="4533290" y="4453128"/>
            <a:ext cx="3125114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应战</a:t>
            </a:r>
          </a:p>
        </p:txBody>
      </p:sp>
      <p:pic>
        <p:nvPicPr>
          <p:cNvPr id="24" name="tex_k1" descr="f_1130b48deb2f37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7325" y="4800600"/>
            <a:ext cx="1457043" cy="658368"/>
          </a:xfrm>
          <a:prstGeom prst="rect">
            <a:avLst/>
          </a:prstGeom>
        </p:spPr>
      </p:pic>
      <p:sp>
        <p:nvSpPr>
          <p:cNvPr id="25" name="body_24"/>
          <p:cNvSpPr txBox="1"/>
          <p:nvPr/>
        </p:nvSpPr>
        <p:spPr>
          <a:xfrm>
            <a:off x="4515002" y="5550408"/>
            <a:ext cx="3161690" cy="39623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总能找到的范围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51596" y="4325112"/>
            <a:ext cx="3454298" cy="180136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51596" y="4325112"/>
            <a:ext cx="68580" cy="1801367"/>
          </a:xfrm>
          <a:prstGeom prst="rect">
            <a:avLst/>
          </a:prstGeom>
          <a:solidFill>
            <a:srgbClr val="E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ag_27"/>
          <p:cNvSpPr txBox="1"/>
          <p:nvPr/>
        </p:nvSpPr>
        <p:spPr>
          <a:xfrm>
            <a:off x="8216188" y="4453128"/>
            <a:ext cx="3125114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E0534B"/>
                </a:solidFill>
                <a:latin typeface="Microsoft YaHei"/>
                <a:ea typeface="Microsoft YaHei"/>
                <a:cs typeface="Microsoft YaHei"/>
              </a:rPr>
              <a:t>去心</a:t>
            </a:r>
          </a:p>
        </p:txBody>
      </p:sp>
      <p:pic>
        <p:nvPicPr>
          <p:cNvPr id="29" name="tex_k2" descr="f_0c3e5df0b168878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0270" y="4800600"/>
            <a:ext cx="2816951" cy="658368"/>
          </a:xfrm>
          <a:prstGeom prst="rect">
            <a:avLst/>
          </a:prstGeom>
        </p:spPr>
      </p:pic>
      <p:sp>
        <p:nvSpPr>
          <p:cNvPr id="30" name="body_29"/>
          <p:cNvSpPr txBox="1"/>
          <p:nvPr/>
        </p:nvSpPr>
        <p:spPr>
          <a:xfrm>
            <a:off x="8197900" y="5550408"/>
            <a:ext cx="3161690" cy="39623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只看邻域不看点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函数的极限与连续性 · ε-δ 与分段函数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公式表达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三个关键词，读懂整条定义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10134295" y="429768"/>
            <a:ext cx="1371600" cy="402336"/>
          </a:xfrm>
          <a:prstGeom prst="roundRect">
            <a:avLst>
              <a:gd name="adj" fmla="val 2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拆解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89888"/>
            <a:ext cx="10820095" cy="1444751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389888"/>
            <a:ext cx="68580" cy="1444751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1_12"/>
          <p:cNvSpPr txBox="1"/>
          <p:nvPr/>
        </p:nvSpPr>
        <p:spPr>
          <a:xfrm>
            <a:off x="905256" y="1389888"/>
            <a:ext cx="1463040" cy="1444751"/>
          </a:xfrm>
          <a:prstGeom prst="rect">
            <a:avLst/>
          </a:prstGeom>
          <a:noFill/>
        </p:spPr>
        <p:txBody>
          <a:bodyPr wrap="square" lIns="182880" rIns="18288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任意</a:t>
            </a:r>
          </a:p>
        </p:txBody>
      </p:sp>
      <p:sp>
        <p:nvSpPr>
          <p:cNvPr id="14" name="body_13"/>
          <p:cNvSpPr txBox="1"/>
          <p:nvPr/>
        </p:nvSpPr>
        <p:spPr>
          <a:xfrm>
            <a:off x="2514600" y="1609344"/>
            <a:ext cx="2834640" cy="41147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ε 是对方出的题</a:t>
            </a:r>
          </a:p>
        </p:txBody>
      </p:sp>
      <p:sp>
        <p:nvSpPr>
          <p:cNvPr id="15" name="body_14"/>
          <p:cNvSpPr txBox="1"/>
          <p:nvPr/>
        </p:nvSpPr>
        <p:spPr>
          <a:xfrm>
            <a:off x="5349240" y="1670304"/>
            <a:ext cx="5928055" cy="8839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ε 要多小有多小，且必须对所有 ε 都成立。只对某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一个 ε 成立，不叫极限。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035808"/>
            <a:ext cx="10820095" cy="144475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035808"/>
            <a:ext cx="68580" cy="1444751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1_17"/>
          <p:cNvSpPr txBox="1"/>
          <p:nvPr/>
        </p:nvSpPr>
        <p:spPr>
          <a:xfrm>
            <a:off x="905256" y="3035808"/>
            <a:ext cx="1463040" cy="1444751"/>
          </a:xfrm>
          <a:prstGeom prst="rect">
            <a:avLst/>
          </a:prstGeom>
          <a:noFill/>
        </p:spPr>
        <p:txBody>
          <a:bodyPr wrap="square" lIns="182880" rIns="18288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存在</a:t>
            </a:r>
          </a:p>
        </p:txBody>
      </p:sp>
      <p:sp>
        <p:nvSpPr>
          <p:cNvPr id="19" name="body_18"/>
          <p:cNvSpPr txBox="1"/>
          <p:nvPr/>
        </p:nvSpPr>
        <p:spPr>
          <a:xfrm>
            <a:off x="2514600" y="3255263"/>
            <a:ext cx="2834640" cy="41147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δ 是我方交的卷</a:t>
            </a:r>
          </a:p>
        </p:txBody>
      </p:sp>
      <p:sp>
        <p:nvSpPr>
          <p:cNvPr id="20" name="body_19"/>
          <p:cNvSpPr txBox="1"/>
          <p:nvPr/>
        </p:nvSpPr>
        <p:spPr>
          <a:xfrm>
            <a:off x="5349240" y="3316224"/>
            <a:ext cx="5928055" cy="8839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能交出一个可行的 δ 就算赢，不要求最大、不要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求唯一，δ 通常写成含 ε 的式子。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681727"/>
            <a:ext cx="10820095" cy="1444751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681727"/>
            <a:ext cx="68580" cy="1444751"/>
          </a:xfrm>
          <a:prstGeom prst="rect">
            <a:avLst/>
          </a:prstGeom>
          <a:solidFill>
            <a:srgbClr val="E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1_22"/>
          <p:cNvSpPr txBox="1"/>
          <p:nvPr/>
        </p:nvSpPr>
        <p:spPr>
          <a:xfrm>
            <a:off x="905256" y="4681727"/>
            <a:ext cx="1463040" cy="1444751"/>
          </a:xfrm>
          <a:prstGeom prst="rect">
            <a:avLst/>
          </a:prstGeom>
          <a:noFill/>
        </p:spPr>
        <p:txBody>
          <a:bodyPr wrap="square" lIns="182880" rIns="18288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E0534B"/>
                </a:solidFill>
                <a:latin typeface="Microsoft YaHei"/>
                <a:ea typeface="Microsoft YaHei"/>
                <a:cs typeface="Microsoft YaHei"/>
              </a:rPr>
              <a:t>去心</a:t>
            </a:r>
          </a:p>
        </p:txBody>
      </p:sp>
      <p:sp>
        <p:nvSpPr>
          <p:cNvPr id="24" name="body_23"/>
          <p:cNvSpPr txBox="1"/>
          <p:nvPr/>
        </p:nvSpPr>
        <p:spPr>
          <a:xfrm>
            <a:off x="2514600" y="4901183"/>
            <a:ext cx="2834640" cy="41147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圆心那一点不参与</a:t>
            </a:r>
          </a:p>
        </p:txBody>
      </p:sp>
      <p:sp>
        <p:nvSpPr>
          <p:cNvPr id="25" name="body_24"/>
          <p:cNvSpPr txBox="1"/>
          <p:nvPr/>
        </p:nvSpPr>
        <p:spPr>
          <a:xfrm>
            <a:off x="5349240" y="4962143"/>
            <a:ext cx="5928055" cy="8839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条件写的是 0 &lt; |x−a|，把 x = a 本身排除在外。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这正是可以约分、可以不管 f(a) 的依据。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函数的极限与连续性 · ε-δ 与分段函数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解题步骤演示 · 用定义证明极限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题 1　用 ε-δ 定义证明 lim(3x−1)=5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9806000" y="429768"/>
            <a:ext cx="1699895" cy="402336"/>
          </a:xfrm>
          <a:prstGeom prst="roundRect">
            <a:avLst>
              <a:gd name="adj" fmla="val 2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STEP 01 / 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89888"/>
            <a:ext cx="10820095" cy="744321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389888"/>
            <a:ext cx="68580" cy="744321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ag_12"/>
          <p:cNvSpPr txBox="1"/>
          <p:nvPr/>
        </p:nvSpPr>
        <p:spPr>
          <a:xfrm>
            <a:off x="832104" y="1572768"/>
            <a:ext cx="868680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题目</a:t>
            </a:r>
          </a:p>
        </p:txBody>
      </p:sp>
      <p:sp>
        <p:nvSpPr>
          <p:cNvPr id="14" name="body_13"/>
          <p:cNvSpPr txBox="1"/>
          <p:nvPr/>
        </p:nvSpPr>
        <p:spPr>
          <a:xfrm>
            <a:off x="1700784" y="1517904"/>
            <a:ext cx="9658807" cy="48828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21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用极限的 ε-δ 定义证明：当 x→2 时，3x−1 的极限等于 5。</a:t>
            </a:r>
          </a:p>
        </p:txBody>
      </p:sp>
      <p:sp>
        <p:nvSpPr>
          <p:cNvPr id="15" name="h1_14"/>
          <p:cNvSpPr txBox="1"/>
          <p:nvPr/>
        </p:nvSpPr>
        <p:spPr>
          <a:xfrm>
            <a:off x="685800" y="2317089"/>
            <a:ext cx="2926080" cy="7924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body_15"/>
          <p:cNvSpPr txBox="1"/>
          <p:nvPr/>
        </p:nvSpPr>
        <p:spPr>
          <a:xfrm>
            <a:off x="685800" y="3176625"/>
            <a:ext cx="2926080" cy="46268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1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写出要控制的目标量</a:t>
            </a:r>
          </a:p>
        </p:txBody>
      </p:sp>
      <p:sp>
        <p:nvSpPr>
          <p:cNvPr id="17" name="cap_16"/>
          <p:cNvSpPr txBox="1"/>
          <p:nvPr/>
        </p:nvSpPr>
        <p:spPr>
          <a:xfrm>
            <a:off x="685800" y="3767327"/>
            <a:ext cx="2926080" cy="437083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8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把差化成含 |x−2| 的形式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03904" y="2353665"/>
            <a:ext cx="11887" cy="3772814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ag_dot"/>
          <p:cNvSpPr/>
          <p:nvPr/>
        </p:nvSpPr>
        <p:spPr>
          <a:xfrm>
            <a:off x="3995928" y="2623921"/>
            <a:ext cx="128016" cy="128016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tex_p1_s1_0" descr="f_c7e36cb56f1fba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2408529"/>
            <a:ext cx="6781800" cy="558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函数的极限与连续性 · ε-δ 与分段函数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解题步骤演示 · 用定义证明极限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题 1　用 ε-δ 定义证明 lim(3x−1)=5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9806000" y="429768"/>
            <a:ext cx="1699895" cy="402336"/>
          </a:xfrm>
          <a:prstGeom prst="roundRect">
            <a:avLst>
              <a:gd name="adj" fmla="val 2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STEP 02 / 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89888"/>
            <a:ext cx="10820095" cy="744321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389888"/>
            <a:ext cx="68580" cy="744321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ag_12"/>
          <p:cNvSpPr txBox="1"/>
          <p:nvPr/>
        </p:nvSpPr>
        <p:spPr>
          <a:xfrm>
            <a:off x="832104" y="1572768"/>
            <a:ext cx="868680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题目</a:t>
            </a:r>
          </a:p>
        </p:txBody>
      </p:sp>
      <p:sp>
        <p:nvSpPr>
          <p:cNvPr id="14" name="body_13"/>
          <p:cNvSpPr txBox="1"/>
          <p:nvPr/>
        </p:nvSpPr>
        <p:spPr>
          <a:xfrm>
            <a:off x="1700784" y="1517904"/>
            <a:ext cx="9658807" cy="48828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21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用极限的 ε-δ 定义证明：当 x→2 时，3x−1 的极限等于 5。</a:t>
            </a:r>
          </a:p>
        </p:txBody>
      </p:sp>
      <p:sp>
        <p:nvSpPr>
          <p:cNvPr id="15" name="h1_14"/>
          <p:cNvSpPr txBox="1"/>
          <p:nvPr/>
        </p:nvSpPr>
        <p:spPr>
          <a:xfrm>
            <a:off x="685800" y="2317089"/>
            <a:ext cx="2926080" cy="7924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body_15"/>
          <p:cNvSpPr txBox="1"/>
          <p:nvPr/>
        </p:nvSpPr>
        <p:spPr>
          <a:xfrm>
            <a:off x="685800" y="3176625"/>
            <a:ext cx="2926080" cy="46268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1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由目标量倒推 δ</a:t>
            </a:r>
          </a:p>
        </p:txBody>
      </p:sp>
      <p:sp>
        <p:nvSpPr>
          <p:cNvPr id="17" name="cap_16"/>
          <p:cNvSpPr txBox="1"/>
          <p:nvPr/>
        </p:nvSpPr>
        <p:spPr>
          <a:xfrm>
            <a:off x="685800" y="3767327"/>
            <a:ext cx="2926080" cy="437083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8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倒推只是草稿工作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03904" y="2353665"/>
            <a:ext cx="11887" cy="3772814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ag_dot"/>
          <p:cNvSpPr/>
          <p:nvPr/>
        </p:nvSpPr>
        <p:spPr>
          <a:xfrm>
            <a:off x="3995928" y="2623921"/>
            <a:ext cx="128016" cy="128016"/>
          </a:xfrm>
          <a:prstGeom prst="ellipse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tex_p1_s1_0" descr="f_303f2fc2c28112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2408529"/>
            <a:ext cx="6781800" cy="558800"/>
          </a:xfrm>
          <a:prstGeom prst="rect">
            <a:avLst/>
          </a:prstGeom>
        </p:spPr>
      </p:pic>
      <p:sp>
        <p:nvSpPr>
          <p:cNvPr id="21" name="tag_dot"/>
          <p:cNvSpPr/>
          <p:nvPr/>
        </p:nvSpPr>
        <p:spPr>
          <a:xfrm>
            <a:off x="3995928" y="3368649"/>
            <a:ext cx="128016" cy="128016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tex_p1_s2_0" descr="f_341b16a3b55062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3077057"/>
            <a:ext cx="4318000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函数的极限与连续性 · ε-δ 与分段函数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解题步骤演示 · 用定义证明极限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题 1　用 ε-δ 定义证明 lim(3x−1)=5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9806000" y="429768"/>
            <a:ext cx="1699895" cy="402336"/>
          </a:xfrm>
          <a:prstGeom prst="roundRect">
            <a:avLst>
              <a:gd name="adj" fmla="val 2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STEP 03 / 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89888"/>
            <a:ext cx="10820095" cy="744321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389888"/>
            <a:ext cx="68580" cy="744321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ag_12"/>
          <p:cNvSpPr txBox="1"/>
          <p:nvPr/>
        </p:nvSpPr>
        <p:spPr>
          <a:xfrm>
            <a:off x="832104" y="1572768"/>
            <a:ext cx="868680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题目</a:t>
            </a:r>
          </a:p>
        </p:txBody>
      </p:sp>
      <p:sp>
        <p:nvSpPr>
          <p:cNvPr id="14" name="body_13"/>
          <p:cNvSpPr txBox="1"/>
          <p:nvPr/>
        </p:nvSpPr>
        <p:spPr>
          <a:xfrm>
            <a:off x="1700784" y="1517904"/>
            <a:ext cx="9658807" cy="48828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21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用极限的 ε-δ 定义证明：当 x→2 时，3x−1 的极限等于 5。</a:t>
            </a:r>
          </a:p>
        </p:txBody>
      </p:sp>
      <p:sp>
        <p:nvSpPr>
          <p:cNvPr id="15" name="h1_14"/>
          <p:cNvSpPr txBox="1"/>
          <p:nvPr/>
        </p:nvSpPr>
        <p:spPr>
          <a:xfrm>
            <a:off x="685800" y="2317089"/>
            <a:ext cx="2926080" cy="7924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body_15"/>
          <p:cNvSpPr txBox="1"/>
          <p:nvPr/>
        </p:nvSpPr>
        <p:spPr>
          <a:xfrm>
            <a:off x="685800" y="3176625"/>
            <a:ext cx="2926080" cy="46268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1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取定 δ 并正式书写</a:t>
            </a:r>
          </a:p>
        </p:txBody>
      </p:sp>
      <p:sp>
        <p:nvSpPr>
          <p:cNvPr id="17" name="cap_16"/>
          <p:cNvSpPr txBox="1"/>
          <p:nvPr/>
        </p:nvSpPr>
        <p:spPr>
          <a:xfrm>
            <a:off x="685800" y="3767327"/>
            <a:ext cx="2926080" cy="78272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8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δ 存在一个即可，不必最</a:t>
            </a:r>
          </a:p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8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03904" y="2353665"/>
            <a:ext cx="11887" cy="3772814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ag_dot"/>
          <p:cNvSpPr/>
          <p:nvPr/>
        </p:nvSpPr>
        <p:spPr>
          <a:xfrm>
            <a:off x="3995928" y="2623921"/>
            <a:ext cx="128016" cy="128016"/>
          </a:xfrm>
          <a:prstGeom prst="ellipse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tex_p1_s1_0" descr="f_303f2fc2c28112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2408529"/>
            <a:ext cx="6781800" cy="558800"/>
          </a:xfrm>
          <a:prstGeom prst="rect">
            <a:avLst/>
          </a:prstGeom>
        </p:spPr>
      </p:pic>
      <p:sp>
        <p:nvSpPr>
          <p:cNvPr id="21" name="tag_dot"/>
          <p:cNvSpPr/>
          <p:nvPr/>
        </p:nvSpPr>
        <p:spPr>
          <a:xfrm>
            <a:off x="3995928" y="3368649"/>
            <a:ext cx="128016" cy="128016"/>
          </a:xfrm>
          <a:prstGeom prst="ellipse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tex_p1_s2_0" descr="f_a8e20f1ae99568a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3077057"/>
            <a:ext cx="4318000" cy="711200"/>
          </a:xfrm>
          <a:prstGeom prst="rect">
            <a:avLst/>
          </a:prstGeom>
        </p:spPr>
      </p:pic>
      <p:sp>
        <p:nvSpPr>
          <p:cNvPr id="23" name="tag_dot"/>
          <p:cNvSpPr/>
          <p:nvPr/>
        </p:nvSpPr>
        <p:spPr>
          <a:xfrm>
            <a:off x="3995928" y="4189577"/>
            <a:ext cx="128016" cy="128016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tex_p1_s3_0" descr="f_f3862b1fbf986db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36" y="3897985"/>
            <a:ext cx="2044700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函数的极限与连续性 · ε-δ 与分段函数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解题步骤演示 · 用定义证明极限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题 1　用 ε-δ 定义证明 lim(3x−1)=5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9806000" y="429768"/>
            <a:ext cx="1699895" cy="402336"/>
          </a:xfrm>
          <a:prstGeom prst="roundRect">
            <a:avLst>
              <a:gd name="adj" fmla="val 2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STEP 04 / 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89888"/>
            <a:ext cx="10820095" cy="744321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389888"/>
            <a:ext cx="68580" cy="744321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ag_12"/>
          <p:cNvSpPr txBox="1"/>
          <p:nvPr/>
        </p:nvSpPr>
        <p:spPr>
          <a:xfrm>
            <a:off x="832104" y="1572768"/>
            <a:ext cx="868680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题目</a:t>
            </a:r>
          </a:p>
        </p:txBody>
      </p:sp>
      <p:sp>
        <p:nvSpPr>
          <p:cNvPr id="14" name="body_13"/>
          <p:cNvSpPr txBox="1"/>
          <p:nvPr/>
        </p:nvSpPr>
        <p:spPr>
          <a:xfrm>
            <a:off x="1700784" y="1517904"/>
            <a:ext cx="9658807" cy="48828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21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用极限的 ε-δ 定义证明：当 x→2 时，3x−1 的极限等于 5。</a:t>
            </a:r>
          </a:p>
        </p:txBody>
      </p:sp>
      <p:sp>
        <p:nvSpPr>
          <p:cNvPr id="15" name="h1_14"/>
          <p:cNvSpPr txBox="1"/>
          <p:nvPr/>
        </p:nvSpPr>
        <p:spPr>
          <a:xfrm>
            <a:off x="685800" y="2317089"/>
            <a:ext cx="2926080" cy="7924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body_15"/>
          <p:cNvSpPr txBox="1"/>
          <p:nvPr/>
        </p:nvSpPr>
        <p:spPr>
          <a:xfrm>
            <a:off x="685800" y="3176625"/>
            <a:ext cx="2926080" cy="46268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1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验证：由 δ 推出 ε</a:t>
            </a:r>
          </a:p>
        </p:txBody>
      </p:sp>
      <p:sp>
        <p:nvSpPr>
          <p:cNvPr id="17" name="cap_16"/>
          <p:cNvSpPr txBox="1"/>
          <p:nvPr/>
        </p:nvSpPr>
        <p:spPr>
          <a:xfrm>
            <a:off x="685800" y="3767327"/>
            <a:ext cx="2926080" cy="437083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8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方向必须是由 δ 推出 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03904" y="2353665"/>
            <a:ext cx="11887" cy="3772814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ag_dot"/>
          <p:cNvSpPr/>
          <p:nvPr/>
        </p:nvSpPr>
        <p:spPr>
          <a:xfrm>
            <a:off x="3995928" y="2623921"/>
            <a:ext cx="128016" cy="128016"/>
          </a:xfrm>
          <a:prstGeom prst="ellipse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tex_p1_s1_0" descr="f_303f2fc2c28112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2408529"/>
            <a:ext cx="6781800" cy="558800"/>
          </a:xfrm>
          <a:prstGeom prst="rect">
            <a:avLst/>
          </a:prstGeom>
        </p:spPr>
      </p:pic>
      <p:sp>
        <p:nvSpPr>
          <p:cNvPr id="21" name="tag_dot"/>
          <p:cNvSpPr/>
          <p:nvPr/>
        </p:nvSpPr>
        <p:spPr>
          <a:xfrm>
            <a:off x="3995928" y="3368649"/>
            <a:ext cx="128016" cy="128016"/>
          </a:xfrm>
          <a:prstGeom prst="ellipse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tex_p1_s2_0" descr="f_a8e20f1ae99568a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3077057"/>
            <a:ext cx="4318000" cy="711200"/>
          </a:xfrm>
          <a:prstGeom prst="rect">
            <a:avLst/>
          </a:prstGeom>
        </p:spPr>
      </p:pic>
      <p:sp>
        <p:nvSpPr>
          <p:cNvPr id="23" name="tag_dot"/>
          <p:cNvSpPr/>
          <p:nvPr/>
        </p:nvSpPr>
        <p:spPr>
          <a:xfrm>
            <a:off x="3995928" y="4189577"/>
            <a:ext cx="128016" cy="128016"/>
          </a:xfrm>
          <a:prstGeom prst="ellipse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tex_p1_s3_0" descr="f_7ca6f2a881b46f1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36" y="3897985"/>
            <a:ext cx="2044700" cy="711200"/>
          </a:xfrm>
          <a:prstGeom prst="rect">
            <a:avLst/>
          </a:prstGeom>
        </p:spPr>
      </p:pic>
      <p:sp>
        <p:nvSpPr>
          <p:cNvPr id="25" name="tag_dot"/>
          <p:cNvSpPr/>
          <p:nvPr/>
        </p:nvSpPr>
        <p:spPr>
          <a:xfrm>
            <a:off x="3995928" y="4934305"/>
            <a:ext cx="128016" cy="128016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tex_p1_s4_0" descr="f_fbdee4798666a4c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8536" y="4718913"/>
            <a:ext cx="6794500" cy="558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函数的极限与连续性 · ε-δ 与分段函数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解题步骤演示 · 用定义证明极限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题 1　用 ε-δ 定义证明 lim(3x−1)=5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9806000" y="429768"/>
            <a:ext cx="1699895" cy="402336"/>
          </a:xfrm>
          <a:prstGeom prst="roundRect">
            <a:avLst>
              <a:gd name="adj" fmla="val 2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STEP 05 / 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89888"/>
            <a:ext cx="10820095" cy="744321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389888"/>
            <a:ext cx="68580" cy="744321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ag_12"/>
          <p:cNvSpPr txBox="1"/>
          <p:nvPr/>
        </p:nvSpPr>
        <p:spPr>
          <a:xfrm>
            <a:off x="832104" y="1572768"/>
            <a:ext cx="868680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题目</a:t>
            </a:r>
          </a:p>
        </p:txBody>
      </p:sp>
      <p:sp>
        <p:nvSpPr>
          <p:cNvPr id="14" name="body_13"/>
          <p:cNvSpPr txBox="1"/>
          <p:nvPr/>
        </p:nvSpPr>
        <p:spPr>
          <a:xfrm>
            <a:off x="1700784" y="1517904"/>
            <a:ext cx="9658807" cy="48828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21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用极限的 ε-δ 定义证明：当 x→2 时，3x−1 的极限等于 5。</a:t>
            </a:r>
          </a:p>
        </p:txBody>
      </p:sp>
      <p:sp>
        <p:nvSpPr>
          <p:cNvPr id="15" name="h1_14"/>
          <p:cNvSpPr txBox="1"/>
          <p:nvPr/>
        </p:nvSpPr>
        <p:spPr>
          <a:xfrm>
            <a:off x="685800" y="2317089"/>
            <a:ext cx="2926080" cy="7924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6" name="body_15"/>
          <p:cNvSpPr txBox="1"/>
          <p:nvPr/>
        </p:nvSpPr>
        <p:spPr>
          <a:xfrm>
            <a:off x="685800" y="3176625"/>
            <a:ext cx="2926080" cy="46268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100" b="1">
                <a:solidFill>
                  <a:srgbClr val="E0534B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17" name="cap_16"/>
          <p:cNvSpPr txBox="1"/>
          <p:nvPr/>
        </p:nvSpPr>
        <p:spPr>
          <a:xfrm>
            <a:off x="685800" y="3767327"/>
            <a:ext cx="2926080" cy="437083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8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按定义语序抄一遍，证毕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03904" y="2353665"/>
            <a:ext cx="11887" cy="3772814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ag_dot"/>
          <p:cNvSpPr/>
          <p:nvPr/>
        </p:nvSpPr>
        <p:spPr>
          <a:xfrm>
            <a:off x="3995928" y="2623921"/>
            <a:ext cx="128016" cy="128016"/>
          </a:xfrm>
          <a:prstGeom prst="ellipse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tex_p1_s1_0" descr="f_303f2fc2c28112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2408529"/>
            <a:ext cx="6781800" cy="558800"/>
          </a:xfrm>
          <a:prstGeom prst="rect">
            <a:avLst/>
          </a:prstGeom>
        </p:spPr>
      </p:pic>
      <p:sp>
        <p:nvSpPr>
          <p:cNvPr id="21" name="tag_dot"/>
          <p:cNvSpPr/>
          <p:nvPr/>
        </p:nvSpPr>
        <p:spPr>
          <a:xfrm>
            <a:off x="3995928" y="3368649"/>
            <a:ext cx="128016" cy="128016"/>
          </a:xfrm>
          <a:prstGeom prst="ellipse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tex_p1_s2_0" descr="f_a8e20f1ae99568a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3077057"/>
            <a:ext cx="4318000" cy="711200"/>
          </a:xfrm>
          <a:prstGeom prst="rect">
            <a:avLst/>
          </a:prstGeom>
        </p:spPr>
      </p:pic>
      <p:sp>
        <p:nvSpPr>
          <p:cNvPr id="23" name="tag_dot"/>
          <p:cNvSpPr/>
          <p:nvPr/>
        </p:nvSpPr>
        <p:spPr>
          <a:xfrm>
            <a:off x="3995928" y="4189577"/>
            <a:ext cx="128016" cy="128016"/>
          </a:xfrm>
          <a:prstGeom prst="ellipse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tex_p1_s3_0" descr="f_7ca6f2a881b46f1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36" y="3897985"/>
            <a:ext cx="2044700" cy="711200"/>
          </a:xfrm>
          <a:prstGeom prst="rect">
            <a:avLst/>
          </a:prstGeom>
        </p:spPr>
      </p:pic>
      <p:sp>
        <p:nvSpPr>
          <p:cNvPr id="25" name="tag_dot"/>
          <p:cNvSpPr/>
          <p:nvPr/>
        </p:nvSpPr>
        <p:spPr>
          <a:xfrm>
            <a:off x="3995928" y="4934305"/>
            <a:ext cx="128016" cy="128016"/>
          </a:xfrm>
          <a:prstGeom prst="ellipse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tex_p1_s4_0" descr="f_d6fdb1fa4866773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8536" y="4718913"/>
            <a:ext cx="6794500" cy="558800"/>
          </a:xfrm>
          <a:prstGeom prst="rect">
            <a:avLst/>
          </a:prstGeom>
        </p:spPr>
      </p:pic>
      <p:sp>
        <p:nvSpPr>
          <p:cNvPr id="27" name="tag_dot"/>
          <p:cNvSpPr/>
          <p:nvPr/>
        </p:nvSpPr>
        <p:spPr>
          <a:xfrm>
            <a:off x="3995928" y="5602833"/>
            <a:ext cx="128016" cy="128016"/>
          </a:xfrm>
          <a:prstGeom prst="ellipse">
            <a:avLst/>
          </a:prstGeom>
          <a:solidFill>
            <a:srgbClr val="E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tex_p1_s5_0" descr="f_8f6d752120bd8e4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8536" y="5387441"/>
            <a:ext cx="7199071" cy="5019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函数的极限与连续性 · ε-δ 与分段函数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解题步骤演示 · 分段函数的连续性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题 2　分段函数在分界点连续，求参数 a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9806000" y="429768"/>
            <a:ext cx="1699895" cy="402336"/>
          </a:xfrm>
          <a:prstGeom prst="roundRect">
            <a:avLst>
              <a:gd name="adj" fmla="val 2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STEP 01 / 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89888"/>
            <a:ext cx="10820095" cy="744321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389888"/>
            <a:ext cx="68580" cy="744321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ag_12"/>
          <p:cNvSpPr txBox="1"/>
          <p:nvPr/>
        </p:nvSpPr>
        <p:spPr>
          <a:xfrm>
            <a:off x="832104" y="1572768"/>
            <a:ext cx="868680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题目</a:t>
            </a:r>
          </a:p>
        </p:txBody>
      </p:sp>
      <p:sp>
        <p:nvSpPr>
          <p:cNvPr id="14" name="body_13"/>
          <p:cNvSpPr txBox="1"/>
          <p:nvPr/>
        </p:nvSpPr>
        <p:spPr>
          <a:xfrm>
            <a:off x="1700784" y="1517904"/>
            <a:ext cx="9658807" cy="48828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21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已知 f(x) 在 x = 1 处连续，求实数 a 的值。</a:t>
            </a:r>
          </a:p>
        </p:txBody>
      </p:sp>
      <p:sp>
        <p:nvSpPr>
          <p:cNvPr id="15" name="h1_14"/>
          <p:cNvSpPr txBox="1"/>
          <p:nvPr/>
        </p:nvSpPr>
        <p:spPr>
          <a:xfrm>
            <a:off x="685800" y="2317089"/>
            <a:ext cx="2926080" cy="7924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body_15"/>
          <p:cNvSpPr txBox="1"/>
          <p:nvPr/>
        </p:nvSpPr>
        <p:spPr>
          <a:xfrm>
            <a:off x="685800" y="3176625"/>
            <a:ext cx="2926080" cy="46268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1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写清函数与待定参数</a:t>
            </a:r>
          </a:p>
        </p:txBody>
      </p:sp>
      <p:sp>
        <p:nvSpPr>
          <p:cNvPr id="17" name="cap_16"/>
          <p:cNvSpPr txBox="1"/>
          <p:nvPr/>
        </p:nvSpPr>
        <p:spPr>
          <a:xfrm>
            <a:off x="685800" y="3767327"/>
            <a:ext cx="2926080" cy="78272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8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x≠1 可约分，x=1 由 a</a:t>
            </a:r>
          </a:p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8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指定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03904" y="2353665"/>
            <a:ext cx="11887" cy="3772814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ag_dot"/>
          <p:cNvSpPr/>
          <p:nvPr/>
        </p:nvSpPr>
        <p:spPr>
          <a:xfrm>
            <a:off x="3995928" y="3004921"/>
            <a:ext cx="128016" cy="128016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tex_p2_s1_0" descr="f_428bae1fbd5f6b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2408529"/>
            <a:ext cx="36576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函数的极限与连续性 · ε-δ 与分段函数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解题步骤演示 · 分段函数的连续性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题 2　分段函数在分界点连续，求参数 a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9806000" y="429768"/>
            <a:ext cx="1699895" cy="402336"/>
          </a:xfrm>
          <a:prstGeom prst="roundRect">
            <a:avLst>
              <a:gd name="adj" fmla="val 2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STEP 02 / 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89888"/>
            <a:ext cx="10820095" cy="744321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389888"/>
            <a:ext cx="68580" cy="744321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ag_12"/>
          <p:cNvSpPr txBox="1"/>
          <p:nvPr/>
        </p:nvSpPr>
        <p:spPr>
          <a:xfrm>
            <a:off x="832104" y="1572768"/>
            <a:ext cx="868680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题目</a:t>
            </a:r>
          </a:p>
        </p:txBody>
      </p:sp>
      <p:sp>
        <p:nvSpPr>
          <p:cNvPr id="14" name="body_13"/>
          <p:cNvSpPr txBox="1"/>
          <p:nvPr/>
        </p:nvSpPr>
        <p:spPr>
          <a:xfrm>
            <a:off x="1700784" y="1517904"/>
            <a:ext cx="9658807" cy="48828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21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已知 f(x) 在 x = 1 处连续，求实数 a 的值。</a:t>
            </a:r>
          </a:p>
        </p:txBody>
      </p:sp>
      <p:sp>
        <p:nvSpPr>
          <p:cNvPr id="15" name="h1_14"/>
          <p:cNvSpPr txBox="1"/>
          <p:nvPr/>
        </p:nvSpPr>
        <p:spPr>
          <a:xfrm>
            <a:off x="685800" y="2317089"/>
            <a:ext cx="2926080" cy="7924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body_15"/>
          <p:cNvSpPr txBox="1"/>
          <p:nvPr/>
        </p:nvSpPr>
        <p:spPr>
          <a:xfrm>
            <a:off x="685800" y="3176625"/>
            <a:ext cx="2926080" cy="833932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1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求 x→1 的极限（约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1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分去掉 0/0）</a:t>
            </a:r>
          </a:p>
        </p:txBody>
      </p:sp>
      <p:sp>
        <p:nvSpPr>
          <p:cNvPr id="17" name="cap_16"/>
          <p:cNvSpPr txBox="1"/>
          <p:nvPr/>
        </p:nvSpPr>
        <p:spPr>
          <a:xfrm>
            <a:off x="685800" y="4138574"/>
            <a:ext cx="2926080" cy="78272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8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约分合法，靠的是“去心</a:t>
            </a:r>
          </a:p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8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03904" y="2353665"/>
            <a:ext cx="11887" cy="3772814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ag_dot"/>
          <p:cNvSpPr/>
          <p:nvPr/>
        </p:nvSpPr>
        <p:spPr>
          <a:xfrm>
            <a:off x="3995928" y="3004921"/>
            <a:ext cx="128016" cy="128016"/>
          </a:xfrm>
          <a:prstGeom prst="ellipse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tex_p2_s1_0" descr="f_1573f326cac9aa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2408529"/>
            <a:ext cx="3657600" cy="1320800"/>
          </a:xfrm>
          <a:prstGeom prst="rect">
            <a:avLst/>
          </a:prstGeom>
        </p:spPr>
      </p:pic>
      <p:sp>
        <p:nvSpPr>
          <p:cNvPr id="21" name="tag_dot"/>
          <p:cNvSpPr/>
          <p:nvPr/>
        </p:nvSpPr>
        <p:spPr>
          <a:xfrm>
            <a:off x="3995928" y="4200499"/>
            <a:ext cx="128016" cy="128016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tex_p2_s2_0" descr="f_9d40d19e9ea60b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3839057"/>
            <a:ext cx="6946900" cy="8509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函数的极限与连续性 · ε-δ 与分段函数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解题步骤演示 · 分段函数的连续性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题 2　分段函数在分界点连续，求参数 a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9806000" y="429768"/>
            <a:ext cx="1699895" cy="402336"/>
          </a:xfrm>
          <a:prstGeom prst="roundRect">
            <a:avLst>
              <a:gd name="adj" fmla="val 2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STEP 03 / 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89888"/>
            <a:ext cx="10820095" cy="744321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389888"/>
            <a:ext cx="68580" cy="744321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ag_12"/>
          <p:cNvSpPr txBox="1"/>
          <p:nvPr/>
        </p:nvSpPr>
        <p:spPr>
          <a:xfrm>
            <a:off x="832104" y="1572768"/>
            <a:ext cx="868680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题目</a:t>
            </a:r>
          </a:p>
        </p:txBody>
      </p:sp>
      <p:sp>
        <p:nvSpPr>
          <p:cNvPr id="14" name="body_13"/>
          <p:cNvSpPr txBox="1"/>
          <p:nvPr/>
        </p:nvSpPr>
        <p:spPr>
          <a:xfrm>
            <a:off x="1700784" y="1517904"/>
            <a:ext cx="9658807" cy="48828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21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已知 f(x) 在 x = 1 处连续，求实数 a 的值。</a:t>
            </a:r>
          </a:p>
        </p:txBody>
      </p:sp>
      <p:sp>
        <p:nvSpPr>
          <p:cNvPr id="15" name="h1_14"/>
          <p:cNvSpPr txBox="1"/>
          <p:nvPr/>
        </p:nvSpPr>
        <p:spPr>
          <a:xfrm>
            <a:off x="685800" y="2317089"/>
            <a:ext cx="2926080" cy="7924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body_15"/>
          <p:cNvSpPr txBox="1"/>
          <p:nvPr/>
        </p:nvSpPr>
        <p:spPr>
          <a:xfrm>
            <a:off x="685800" y="3176625"/>
            <a:ext cx="2926080" cy="46268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1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验证左右极限一致</a:t>
            </a:r>
          </a:p>
        </p:txBody>
      </p:sp>
      <p:sp>
        <p:nvSpPr>
          <p:cNvPr id="17" name="cap_16"/>
          <p:cNvSpPr txBox="1"/>
          <p:nvPr/>
        </p:nvSpPr>
        <p:spPr>
          <a:xfrm>
            <a:off x="685800" y="3767327"/>
            <a:ext cx="2926080" cy="78272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8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两侧同一解析式，自动相</a:t>
            </a:r>
          </a:p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8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03904" y="2353665"/>
            <a:ext cx="11887" cy="3772814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ag_dot"/>
          <p:cNvSpPr/>
          <p:nvPr/>
        </p:nvSpPr>
        <p:spPr>
          <a:xfrm>
            <a:off x="3995928" y="3004921"/>
            <a:ext cx="128016" cy="128016"/>
          </a:xfrm>
          <a:prstGeom prst="ellipse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tex_p2_s1_0" descr="f_1573f326cac9aa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2408529"/>
            <a:ext cx="3657600" cy="1320800"/>
          </a:xfrm>
          <a:prstGeom prst="rect">
            <a:avLst/>
          </a:prstGeom>
        </p:spPr>
      </p:pic>
      <p:sp>
        <p:nvSpPr>
          <p:cNvPr id="21" name="tag_dot"/>
          <p:cNvSpPr/>
          <p:nvPr/>
        </p:nvSpPr>
        <p:spPr>
          <a:xfrm>
            <a:off x="3995928" y="4200499"/>
            <a:ext cx="128016" cy="128016"/>
          </a:xfrm>
          <a:prstGeom prst="ellipse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tex_p2_s2_0" descr="f_a74b4c64b7da58a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3839057"/>
            <a:ext cx="6946900" cy="850900"/>
          </a:xfrm>
          <a:prstGeom prst="rect">
            <a:avLst/>
          </a:prstGeom>
        </p:spPr>
      </p:pic>
      <p:sp>
        <p:nvSpPr>
          <p:cNvPr id="23" name="tag_dot"/>
          <p:cNvSpPr/>
          <p:nvPr/>
        </p:nvSpPr>
        <p:spPr>
          <a:xfrm>
            <a:off x="3995928" y="5072227"/>
            <a:ext cx="128016" cy="128016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tex_p2_s3_0" descr="f_33cd98ec93daa1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36" y="4799685"/>
            <a:ext cx="4330700" cy="6731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函数的极限与连续性 · ε-δ 与分段函数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解题步骤演示 · 分段函数的连续性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题 2　分段函数在分界点连续，求参数 a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9806000" y="429768"/>
            <a:ext cx="1699895" cy="402336"/>
          </a:xfrm>
          <a:prstGeom prst="roundRect">
            <a:avLst>
              <a:gd name="adj" fmla="val 2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STEP 04 / 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89888"/>
            <a:ext cx="10820095" cy="744321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389888"/>
            <a:ext cx="68580" cy="744321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ag_12"/>
          <p:cNvSpPr txBox="1"/>
          <p:nvPr/>
        </p:nvSpPr>
        <p:spPr>
          <a:xfrm>
            <a:off x="832104" y="1572768"/>
            <a:ext cx="868680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题目</a:t>
            </a:r>
          </a:p>
        </p:txBody>
      </p:sp>
      <p:sp>
        <p:nvSpPr>
          <p:cNvPr id="14" name="body_13"/>
          <p:cNvSpPr txBox="1"/>
          <p:nvPr/>
        </p:nvSpPr>
        <p:spPr>
          <a:xfrm>
            <a:off x="1700784" y="1517904"/>
            <a:ext cx="9658807" cy="48828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21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已知 f(x) 在 x = 1 处连续，求实数 a 的值。</a:t>
            </a:r>
          </a:p>
        </p:txBody>
      </p:sp>
      <p:sp>
        <p:nvSpPr>
          <p:cNvPr id="15" name="h1_14"/>
          <p:cNvSpPr txBox="1"/>
          <p:nvPr/>
        </p:nvSpPr>
        <p:spPr>
          <a:xfrm>
            <a:off x="685800" y="2317089"/>
            <a:ext cx="2926080" cy="7924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body_15"/>
          <p:cNvSpPr txBox="1"/>
          <p:nvPr/>
        </p:nvSpPr>
        <p:spPr>
          <a:xfrm>
            <a:off x="685800" y="3176625"/>
            <a:ext cx="2926080" cy="46268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1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套用连续的三条件</a:t>
            </a:r>
          </a:p>
        </p:txBody>
      </p:sp>
      <p:sp>
        <p:nvSpPr>
          <p:cNvPr id="17" name="cap_16"/>
          <p:cNvSpPr txBox="1"/>
          <p:nvPr/>
        </p:nvSpPr>
        <p:spPr>
          <a:xfrm>
            <a:off x="685800" y="3767327"/>
            <a:ext cx="2926080" cy="437083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8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三条件里的第三条钉死 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03904" y="2353665"/>
            <a:ext cx="11887" cy="3772814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p_18"/>
          <p:cNvSpPr txBox="1"/>
          <p:nvPr/>
        </p:nvSpPr>
        <p:spPr>
          <a:xfrm>
            <a:off x="3995928" y="2079345"/>
            <a:ext cx="6583680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（承上）前 3 步已完成，下面第 3 步为衔接</a:t>
            </a:r>
          </a:p>
        </p:txBody>
      </p:sp>
      <p:sp>
        <p:nvSpPr>
          <p:cNvPr id="20" name="tag_dot"/>
          <p:cNvSpPr/>
          <p:nvPr/>
        </p:nvSpPr>
        <p:spPr>
          <a:xfrm>
            <a:off x="3995928" y="2681071"/>
            <a:ext cx="128016" cy="128016"/>
          </a:xfrm>
          <a:prstGeom prst="ellipse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tex_p2_s3_0" descr="f_67f28e3286d750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2408529"/>
            <a:ext cx="4330700" cy="673100"/>
          </a:xfrm>
          <a:prstGeom prst="rect">
            <a:avLst/>
          </a:prstGeom>
        </p:spPr>
      </p:pic>
      <p:sp>
        <p:nvSpPr>
          <p:cNvPr id="22" name="tag_dot"/>
          <p:cNvSpPr/>
          <p:nvPr/>
        </p:nvSpPr>
        <p:spPr>
          <a:xfrm>
            <a:off x="3995928" y="3457549"/>
            <a:ext cx="128016" cy="128016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tex_p2_s4_0" descr="f_670d62a5961c7b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3191357"/>
            <a:ext cx="5956300" cy="660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函数的极限与连续性 · ε-δ 与分段函数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解题步骤演示 · 分段函数的连续性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题 2　分段函数在分界点连续，求参数 a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9806000" y="429768"/>
            <a:ext cx="1699895" cy="402336"/>
          </a:xfrm>
          <a:prstGeom prst="roundRect">
            <a:avLst>
              <a:gd name="adj" fmla="val 2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STEP 05 / 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89888"/>
            <a:ext cx="10820095" cy="744321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389888"/>
            <a:ext cx="68580" cy="744321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ag_12"/>
          <p:cNvSpPr txBox="1"/>
          <p:nvPr/>
        </p:nvSpPr>
        <p:spPr>
          <a:xfrm>
            <a:off x="832104" y="1572768"/>
            <a:ext cx="868680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题目</a:t>
            </a:r>
          </a:p>
        </p:txBody>
      </p:sp>
      <p:sp>
        <p:nvSpPr>
          <p:cNvPr id="14" name="body_13"/>
          <p:cNvSpPr txBox="1"/>
          <p:nvPr/>
        </p:nvSpPr>
        <p:spPr>
          <a:xfrm>
            <a:off x="1700784" y="1517904"/>
            <a:ext cx="9658807" cy="48828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21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已知 f(x) 在 x = 1 处连续，求实数 a 的值。</a:t>
            </a:r>
          </a:p>
        </p:txBody>
      </p:sp>
      <p:sp>
        <p:nvSpPr>
          <p:cNvPr id="15" name="h1_14"/>
          <p:cNvSpPr txBox="1"/>
          <p:nvPr/>
        </p:nvSpPr>
        <p:spPr>
          <a:xfrm>
            <a:off x="685800" y="2317089"/>
            <a:ext cx="2926080" cy="7924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6" name="body_15"/>
          <p:cNvSpPr txBox="1"/>
          <p:nvPr/>
        </p:nvSpPr>
        <p:spPr>
          <a:xfrm>
            <a:off x="685800" y="3176625"/>
            <a:ext cx="2926080" cy="46268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100" b="1">
                <a:solidFill>
                  <a:srgbClr val="E0534B"/>
                </a:solidFill>
                <a:latin typeface="Microsoft YaHei"/>
                <a:ea typeface="Microsoft YaHei"/>
                <a:cs typeface="Microsoft YaHei"/>
              </a:rPr>
              <a:t>解出参数</a:t>
            </a:r>
          </a:p>
        </p:txBody>
      </p:sp>
      <p:sp>
        <p:nvSpPr>
          <p:cNvPr id="17" name="cap_16"/>
          <p:cNvSpPr txBox="1"/>
          <p:nvPr/>
        </p:nvSpPr>
        <p:spPr>
          <a:xfrm>
            <a:off x="685800" y="3767327"/>
            <a:ext cx="2926080" cy="437083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8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洞被填平，间断点消除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03904" y="2353665"/>
            <a:ext cx="11887" cy="3772814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p_18"/>
          <p:cNvSpPr txBox="1"/>
          <p:nvPr/>
        </p:nvSpPr>
        <p:spPr>
          <a:xfrm>
            <a:off x="3995928" y="2079345"/>
            <a:ext cx="6583680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（承上）前 3 步已完成，下面第 3 步为衔接</a:t>
            </a:r>
          </a:p>
        </p:txBody>
      </p:sp>
      <p:sp>
        <p:nvSpPr>
          <p:cNvPr id="20" name="tag_dot"/>
          <p:cNvSpPr/>
          <p:nvPr/>
        </p:nvSpPr>
        <p:spPr>
          <a:xfrm>
            <a:off x="3995928" y="2681071"/>
            <a:ext cx="128016" cy="128016"/>
          </a:xfrm>
          <a:prstGeom prst="ellipse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tex_p2_s3_0" descr="f_67f28e3286d750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2408529"/>
            <a:ext cx="4330700" cy="673100"/>
          </a:xfrm>
          <a:prstGeom prst="rect">
            <a:avLst/>
          </a:prstGeom>
        </p:spPr>
      </p:pic>
      <p:sp>
        <p:nvSpPr>
          <p:cNvPr id="22" name="tag_dot"/>
          <p:cNvSpPr/>
          <p:nvPr/>
        </p:nvSpPr>
        <p:spPr>
          <a:xfrm>
            <a:off x="3995928" y="3457549"/>
            <a:ext cx="128016" cy="128016"/>
          </a:xfrm>
          <a:prstGeom prst="ellipse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tex_p2_s4_0" descr="f_6fc0bdd8e3a8489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3191357"/>
            <a:ext cx="5956300" cy="660400"/>
          </a:xfrm>
          <a:prstGeom prst="rect">
            <a:avLst/>
          </a:prstGeom>
        </p:spPr>
      </p:pic>
      <p:sp>
        <p:nvSpPr>
          <p:cNvPr id="24" name="tag_dot"/>
          <p:cNvSpPr/>
          <p:nvPr/>
        </p:nvSpPr>
        <p:spPr>
          <a:xfrm>
            <a:off x="3995928" y="4176877"/>
            <a:ext cx="128016" cy="128016"/>
          </a:xfrm>
          <a:prstGeom prst="ellipse">
            <a:avLst/>
          </a:prstGeom>
          <a:solidFill>
            <a:srgbClr val="E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tex_p2_s5_0" descr="f_74ea6ea3e79cb6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36" y="3961485"/>
            <a:ext cx="1041400" cy="558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函数的极限与连续性 · ε-δ 与分段函数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方法提炼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ε-δ 证明的四步固定动作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10134295" y="429768"/>
            <a:ext cx="1371600" cy="402336"/>
          </a:xfrm>
          <a:prstGeom prst="roundRect">
            <a:avLst>
              <a:gd name="adj" fmla="val 2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536192"/>
            <a:ext cx="2533573" cy="3127248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ag_num"/>
          <p:cNvSpPr/>
          <p:nvPr/>
        </p:nvSpPr>
        <p:spPr>
          <a:xfrm>
            <a:off x="850392" y="1737360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body_12"/>
          <p:cNvSpPr txBox="1"/>
          <p:nvPr/>
        </p:nvSpPr>
        <p:spPr>
          <a:xfrm>
            <a:off x="832104" y="2377440"/>
            <a:ext cx="2240965" cy="41147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第一步｜化差</a:t>
            </a:r>
          </a:p>
        </p:txBody>
      </p:sp>
      <p:sp>
        <p:nvSpPr>
          <p:cNvPr id="14" name="body_13"/>
          <p:cNvSpPr txBox="1"/>
          <p:nvPr/>
        </p:nvSpPr>
        <p:spPr>
          <a:xfrm>
            <a:off x="832104" y="2816352"/>
            <a:ext cx="2240965" cy="167640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把 |f(x) − L| 恒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等变形成 k·|x −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a|，或放大成它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的形式。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47973" y="1536192"/>
            <a:ext cx="2533573" cy="3127248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ag_num"/>
          <p:cNvSpPr/>
          <p:nvPr/>
        </p:nvSpPr>
        <p:spPr>
          <a:xfrm>
            <a:off x="3612565" y="1737360"/>
            <a:ext cx="475488" cy="475488"/>
          </a:xfrm>
          <a:prstGeom prst="ellipse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7" name="body_16"/>
          <p:cNvSpPr txBox="1"/>
          <p:nvPr/>
        </p:nvSpPr>
        <p:spPr>
          <a:xfrm>
            <a:off x="3594277" y="2377440"/>
            <a:ext cx="2240965" cy="41147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第二步｜倒推</a:t>
            </a:r>
          </a:p>
        </p:txBody>
      </p:sp>
      <p:sp>
        <p:nvSpPr>
          <p:cNvPr id="18" name="body_17"/>
          <p:cNvSpPr txBox="1"/>
          <p:nvPr/>
        </p:nvSpPr>
        <p:spPr>
          <a:xfrm>
            <a:off x="3594277" y="2816352"/>
            <a:ext cx="2240965" cy="128016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在草稿上解 k·|x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− a| &lt; ε，得到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|x − a| &lt; ε/k。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0147" y="1536192"/>
            <a:ext cx="2533573" cy="3127248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ag_num"/>
          <p:cNvSpPr/>
          <p:nvPr/>
        </p:nvSpPr>
        <p:spPr>
          <a:xfrm>
            <a:off x="6374739" y="1737360"/>
            <a:ext cx="475488" cy="475488"/>
          </a:xfrm>
          <a:prstGeom prst="ellipse">
            <a:avLst/>
          </a:prstGeom>
          <a:solidFill>
            <a:srgbClr val="E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1" name="body_20"/>
          <p:cNvSpPr txBox="1"/>
          <p:nvPr/>
        </p:nvSpPr>
        <p:spPr>
          <a:xfrm>
            <a:off x="6356451" y="2377440"/>
            <a:ext cx="2240965" cy="41147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第三步｜取 δ</a:t>
            </a:r>
          </a:p>
        </p:txBody>
      </p:sp>
      <p:sp>
        <p:nvSpPr>
          <p:cNvPr id="22" name="body_21"/>
          <p:cNvSpPr txBox="1"/>
          <p:nvPr/>
        </p:nvSpPr>
        <p:spPr>
          <a:xfrm>
            <a:off x="6356451" y="2816352"/>
            <a:ext cx="2240965" cy="167640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令 δ = ε/k（或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更小的正数），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写明 δ &gt; 0 且只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依赖 ε。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72321" y="1536192"/>
            <a:ext cx="2533573" cy="3127248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ag_num"/>
          <p:cNvSpPr/>
          <p:nvPr/>
        </p:nvSpPr>
        <p:spPr>
          <a:xfrm>
            <a:off x="9136913" y="1737360"/>
            <a:ext cx="475488" cy="475488"/>
          </a:xfrm>
          <a:prstGeom prst="ellipse">
            <a:avLst/>
          </a:prstGeom>
          <a:solidFill>
            <a:srgbClr val="142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body_24"/>
          <p:cNvSpPr txBox="1"/>
          <p:nvPr/>
        </p:nvSpPr>
        <p:spPr>
          <a:xfrm>
            <a:off x="9118625" y="2377440"/>
            <a:ext cx="2240965" cy="41147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第四步｜正写</a:t>
            </a:r>
          </a:p>
        </p:txBody>
      </p:sp>
      <p:sp>
        <p:nvSpPr>
          <p:cNvPr id="26" name="body_25"/>
          <p:cNvSpPr txBox="1"/>
          <p:nvPr/>
        </p:nvSpPr>
        <p:spPr>
          <a:xfrm>
            <a:off x="9118625" y="2816352"/>
            <a:ext cx="2240965" cy="167640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从 0 &lt; |x − a| &lt;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δ 推出 |f(x) − L|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&lt; ε，方向不可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颠倒。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864607"/>
            <a:ext cx="10820095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" y="4864607"/>
            <a:ext cx="68580" cy="1261872"/>
          </a:xfrm>
          <a:prstGeom prst="rect">
            <a:avLst/>
          </a:prstGeom>
          <a:solidFill>
            <a:srgbClr val="E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body_28"/>
          <p:cNvSpPr txBox="1"/>
          <p:nvPr/>
        </p:nvSpPr>
        <p:spPr>
          <a:xfrm>
            <a:off x="886968" y="5047488"/>
            <a:ext cx="10417759" cy="42671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一句口诀：草稿倒着想，答卷正着写；δ 只需一个，ε 必须任意。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函数的极限与连续性 · ε-δ 与分段函数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易错辨析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三个最常见的错，一次只看一个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10134295" y="429768"/>
            <a:ext cx="1371600" cy="402336"/>
          </a:xfrm>
          <a:prstGeom prst="roundRect">
            <a:avLst>
              <a:gd name="adj" fmla="val 28000"/>
            </a:avLst>
          </a:prstGeom>
          <a:solidFill>
            <a:srgbClr val="E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易错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89888"/>
            <a:ext cx="3454298" cy="47365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389888"/>
            <a:ext cx="68580" cy="4736592"/>
          </a:xfrm>
          <a:prstGeom prst="rect">
            <a:avLst/>
          </a:prstGeom>
          <a:solidFill>
            <a:srgbClr val="E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ag_12"/>
          <p:cNvSpPr txBox="1"/>
          <p:nvPr/>
        </p:nvSpPr>
        <p:spPr>
          <a:xfrm>
            <a:off x="868680" y="1499616"/>
            <a:ext cx="3088538" cy="3352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E0534B"/>
                </a:solidFill>
                <a:latin typeface="Microsoft YaHei"/>
                <a:ea typeface="Microsoft YaHei"/>
                <a:cs typeface="Microsoft YaHei"/>
              </a:rPr>
              <a:t>错法一</a:t>
            </a:r>
          </a:p>
        </p:txBody>
      </p:sp>
      <p:sp>
        <p:nvSpPr>
          <p:cNvPr id="14" name="body_13"/>
          <p:cNvSpPr txBox="1"/>
          <p:nvPr/>
        </p:nvSpPr>
        <p:spPr>
          <a:xfrm>
            <a:off x="850392" y="1871472"/>
            <a:ext cx="3125114" cy="46268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1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把 lim 当成代入求值</a:t>
            </a:r>
          </a:p>
        </p:txBody>
      </p:sp>
      <p:sp>
        <p:nvSpPr>
          <p:cNvPr id="15" name="body_14"/>
          <p:cNvSpPr txBox="1"/>
          <p:nvPr/>
        </p:nvSpPr>
        <p:spPr>
          <a:xfrm>
            <a:off x="850392" y="2407310"/>
            <a:ext cx="3125114" cy="87172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0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分母为零就说“算不出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0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来”，直接卡死。</a:t>
            </a:r>
          </a:p>
        </p:txBody>
      </p:sp>
      <p:pic>
        <p:nvPicPr>
          <p:cNvPr id="16" name="tex_err1" descr="f_1b1de6d15b29bf8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727" y="3370478"/>
            <a:ext cx="2138443" cy="804672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905256" y="4303166"/>
            <a:ext cx="3015386" cy="11887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ag_17"/>
          <p:cNvSpPr txBox="1"/>
          <p:nvPr/>
        </p:nvSpPr>
        <p:spPr>
          <a:xfrm>
            <a:off x="868680" y="4449470"/>
            <a:ext cx="1280160" cy="3352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正解</a:t>
            </a:r>
          </a:p>
        </p:txBody>
      </p:sp>
      <p:sp>
        <p:nvSpPr>
          <p:cNvPr id="19" name="body_18"/>
          <p:cNvSpPr txBox="1"/>
          <p:nvPr/>
        </p:nvSpPr>
        <p:spPr>
          <a:xfrm>
            <a:off x="850392" y="4821326"/>
            <a:ext cx="3125114" cy="1261872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000" b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极限只看去心邻域：先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000" b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约分化简，代入是最后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000" b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一步。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68698" y="1389888"/>
            <a:ext cx="3454298" cy="47365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68698" y="1389888"/>
            <a:ext cx="68580" cy="4736592"/>
          </a:xfrm>
          <a:prstGeom prst="rect">
            <a:avLst/>
          </a:prstGeom>
          <a:solidFill>
            <a:srgbClr val="E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ag_21"/>
          <p:cNvSpPr txBox="1"/>
          <p:nvPr/>
        </p:nvSpPr>
        <p:spPr>
          <a:xfrm>
            <a:off x="4551578" y="1499616"/>
            <a:ext cx="3088538" cy="3352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E0534B"/>
                </a:solidFill>
                <a:latin typeface="Microsoft YaHei"/>
                <a:ea typeface="Microsoft YaHei"/>
                <a:cs typeface="Microsoft YaHei"/>
              </a:rPr>
              <a:t>错法二</a:t>
            </a:r>
          </a:p>
        </p:txBody>
      </p:sp>
      <p:sp>
        <p:nvSpPr>
          <p:cNvPr id="23" name="body_22"/>
          <p:cNvSpPr txBox="1"/>
          <p:nvPr/>
        </p:nvSpPr>
        <p:spPr>
          <a:xfrm>
            <a:off x="4533290" y="1871472"/>
            <a:ext cx="3125114" cy="46268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1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不查左右极限就下结论</a:t>
            </a:r>
          </a:p>
        </p:txBody>
      </p:sp>
      <p:sp>
        <p:nvSpPr>
          <p:cNvPr id="24" name="body_23"/>
          <p:cNvSpPr txBox="1"/>
          <p:nvPr/>
        </p:nvSpPr>
        <p:spPr>
          <a:xfrm>
            <a:off x="4533290" y="2407310"/>
            <a:ext cx="3125114" cy="87172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0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见函数在该点有定义，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0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就断言极限存在。</a:t>
            </a:r>
          </a:p>
        </p:txBody>
      </p:sp>
      <p:pic>
        <p:nvPicPr>
          <p:cNvPr id="25" name="tex_err2" descr="f_0707bd52472bb0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9838" y="3370478"/>
            <a:ext cx="2652017" cy="804672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4588154" y="4303166"/>
            <a:ext cx="3015386" cy="11887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ag_26"/>
          <p:cNvSpPr txBox="1"/>
          <p:nvPr/>
        </p:nvSpPr>
        <p:spPr>
          <a:xfrm>
            <a:off x="4551578" y="4449470"/>
            <a:ext cx="1280160" cy="3352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正解</a:t>
            </a:r>
          </a:p>
        </p:txBody>
      </p:sp>
      <p:sp>
        <p:nvSpPr>
          <p:cNvPr id="28" name="body_27"/>
          <p:cNvSpPr txBox="1"/>
          <p:nvPr/>
        </p:nvSpPr>
        <p:spPr>
          <a:xfrm>
            <a:off x="4533290" y="4821326"/>
            <a:ext cx="3125114" cy="1261872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000" b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凡分界点、凡带绝对值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000" b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，两侧分别算，相等才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000" b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算存在。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51596" y="1389888"/>
            <a:ext cx="3454298" cy="47365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51596" y="1389888"/>
            <a:ext cx="68580" cy="4736592"/>
          </a:xfrm>
          <a:prstGeom prst="rect">
            <a:avLst/>
          </a:prstGeom>
          <a:solidFill>
            <a:srgbClr val="E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ag_30"/>
          <p:cNvSpPr txBox="1"/>
          <p:nvPr/>
        </p:nvSpPr>
        <p:spPr>
          <a:xfrm>
            <a:off x="8234476" y="1499616"/>
            <a:ext cx="3088538" cy="3352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E0534B"/>
                </a:solidFill>
                <a:latin typeface="Microsoft YaHei"/>
                <a:ea typeface="Microsoft YaHei"/>
                <a:cs typeface="Microsoft YaHei"/>
              </a:rPr>
              <a:t>错法三</a:t>
            </a:r>
          </a:p>
        </p:txBody>
      </p:sp>
      <p:sp>
        <p:nvSpPr>
          <p:cNvPr id="32" name="body_31"/>
          <p:cNvSpPr txBox="1"/>
          <p:nvPr/>
        </p:nvSpPr>
        <p:spPr>
          <a:xfrm>
            <a:off x="8216188" y="1871472"/>
            <a:ext cx="3125114" cy="46268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1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非要求出最大的 δ</a:t>
            </a:r>
          </a:p>
        </p:txBody>
      </p:sp>
      <p:sp>
        <p:nvSpPr>
          <p:cNvPr id="33" name="body_32"/>
          <p:cNvSpPr txBox="1"/>
          <p:nvPr/>
        </p:nvSpPr>
        <p:spPr>
          <a:xfrm>
            <a:off x="8216188" y="2407310"/>
            <a:ext cx="3125114" cy="87172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0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花力气找最优 δ，或写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0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出与 ε 无关的 δ。</a:t>
            </a:r>
          </a:p>
        </p:txBody>
      </p:sp>
      <p:pic>
        <p:nvPicPr>
          <p:cNvPr id="34" name="tex_err3" descr="f_998536b4eacb957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3546" y="3391814"/>
            <a:ext cx="1930400" cy="7620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271052" y="4303166"/>
            <a:ext cx="3015386" cy="11887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ag_35"/>
          <p:cNvSpPr txBox="1"/>
          <p:nvPr/>
        </p:nvSpPr>
        <p:spPr>
          <a:xfrm>
            <a:off x="8234476" y="4449470"/>
            <a:ext cx="1280160" cy="3352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正解</a:t>
            </a:r>
          </a:p>
        </p:txBody>
      </p:sp>
      <p:sp>
        <p:nvSpPr>
          <p:cNvPr id="37" name="body_36"/>
          <p:cNvSpPr txBox="1"/>
          <p:nvPr/>
        </p:nvSpPr>
        <p:spPr>
          <a:xfrm>
            <a:off x="8216188" y="4821326"/>
            <a:ext cx="3125114" cy="1261872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000" b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δ 存在一个即可，且必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000" b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须随 ε 而定；取更小永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000" b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远不错。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函数的极限与连续性 · ε-δ 与分段函数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迁移应用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同一套语言，换个场景照用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10134295" y="429768"/>
            <a:ext cx="1371600" cy="402336"/>
          </a:xfrm>
          <a:prstGeom prst="roundRect">
            <a:avLst>
              <a:gd name="adj" fmla="val 2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迁移</a:t>
            </a:r>
          </a:p>
        </p:txBody>
      </p:sp>
      <p:sp>
        <p:nvSpPr>
          <p:cNvPr id="11" name="body_10"/>
          <p:cNvSpPr txBox="1"/>
          <p:nvPr/>
        </p:nvSpPr>
        <p:spPr>
          <a:xfrm>
            <a:off x="685800" y="1389888"/>
            <a:ext cx="10820095" cy="507492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1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把“两边逼近同一个数”的思路放大，就得到高中最常用的两个极限工具：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88820"/>
            <a:ext cx="10820095" cy="1335024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988820"/>
            <a:ext cx="68580" cy="133502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ag_13"/>
          <p:cNvSpPr txBox="1"/>
          <p:nvPr/>
        </p:nvSpPr>
        <p:spPr>
          <a:xfrm>
            <a:off x="868680" y="2098548"/>
            <a:ext cx="310896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夹逼（三明治）定理</a:t>
            </a:r>
          </a:p>
        </p:txBody>
      </p:sp>
      <p:pic>
        <p:nvPicPr>
          <p:cNvPr id="15" name="tex_squeeze" descr="f_fd26e0b74bfd79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947" y="2483612"/>
            <a:ext cx="9829800" cy="711199"/>
          </a:xfrm>
          <a:prstGeom prst="rect">
            <a:avLst/>
          </a:prstGeom>
        </p:spPr>
      </p:pic>
      <p:sp>
        <p:nvSpPr>
          <p:cNvPr id="16" name="dia_frame"/>
          <p:cNvSpPr/>
          <p:nvPr/>
        </p:nvSpPr>
        <p:spPr>
          <a:xfrm>
            <a:off x="685800" y="3543300"/>
            <a:ext cx="5227167" cy="21991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014983" y="5376672"/>
            <a:ext cx="4532224" cy="0"/>
          </a:xfrm>
          <a:prstGeom prst="line">
            <a:avLst/>
          </a:prstGeom>
          <a:ln w="19050">
            <a:solidFill>
              <a:srgbClr val="3D54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124712" y="3771900"/>
            <a:ext cx="0" cy="1714500"/>
          </a:xfrm>
          <a:prstGeom prst="line">
            <a:avLst/>
          </a:prstGeom>
          <a:ln w="19050">
            <a:solidFill>
              <a:srgbClr val="3D54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Freeform 18"/>
          <p:cNvSpPr/>
          <p:nvPr/>
        </p:nvSpPr>
        <p:spPr>
          <a:xfrm>
            <a:off x="1478511" y="4012615"/>
            <a:ext cx="3626447" cy="481432"/>
          </a:xfrm>
          <a:custGeom>
            <a:avLst/>
            <a:gdLst/>
            <a:ahLst/>
            <a:cxnLst/>
            <a:rect l="l" t="t" r="r" b="b"/>
            <a:pathLst>
              <a:path w="3626447" h="481432">
                <a:moveTo>
                  <a:pt x="0" y="0"/>
                </a:moveTo>
                <a:lnTo>
                  <a:pt x="90661" y="19113"/>
                </a:lnTo>
                <a:lnTo>
                  <a:pt x="181322" y="37933"/>
                </a:lnTo>
                <a:lnTo>
                  <a:pt x="271984" y="56459"/>
                </a:lnTo>
                <a:lnTo>
                  <a:pt x="362645" y="74687"/>
                </a:lnTo>
                <a:lnTo>
                  <a:pt x="453306" y="92613"/>
                </a:lnTo>
                <a:lnTo>
                  <a:pt x="543967" y="110235"/>
                </a:lnTo>
                <a:lnTo>
                  <a:pt x="634628" y="127548"/>
                </a:lnTo>
                <a:lnTo>
                  <a:pt x="725289" y="144549"/>
                </a:lnTo>
                <a:lnTo>
                  <a:pt x="815951" y="161235"/>
                </a:lnTo>
                <a:lnTo>
                  <a:pt x="906612" y="177601"/>
                </a:lnTo>
                <a:lnTo>
                  <a:pt x="997273" y="193642"/>
                </a:lnTo>
                <a:lnTo>
                  <a:pt x="1087934" y="209355"/>
                </a:lnTo>
                <a:lnTo>
                  <a:pt x="1178595" y="224735"/>
                </a:lnTo>
                <a:lnTo>
                  <a:pt x="1269256" y="239777"/>
                </a:lnTo>
                <a:lnTo>
                  <a:pt x="1359918" y="254475"/>
                </a:lnTo>
                <a:lnTo>
                  <a:pt x="1450579" y="268825"/>
                </a:lnTo>
                <a:lnTo>
                  <a:pt x="1541240" y="282821"/>
                </a:lnTo>
                <a:lnTo>
                  <a:pt x="1631901" y="296456"/>
                </a:lnTo>
                <a:lnTo>
                  <a:pt x="1722562" y="309724"/>
                </a:lnTo>
                <a:lnTo>
                  <a:pt x="1813223" y="322619"/>
                </a:lnTo>
                <a:lnTo>
                  <a:pt x="1903885" y="335132"/>
                </a:lnTo>
                <a:lnTo>
                  <a:pt x="1994546" y="347256"/>
                </a:lnTo>
                <a:lnTo>
                  <a:pt x="2085207" y="358982"/>
                </a:lnTo>
                <a:lnTo>
                  <a:pt x="2175868" y="370302"/>
                </a:lnTo>
                <a:lnTo>
                  <a:pt x="2266529" y="381205"/>
                </a:lnTo>
                <a:lnTo>
                  <a:pt x="2357190" y="391680"/>
                </a:lnTo>
                <a:lnTo>
                  <a:pt x="2447851" y="401715"/>
                </a:lnTo>
                <a:lnTo>
                  <a:pt x="2538513" y="411298"/>
                </a:lnTo>
                <a:lnTo>
                  <a:pt x="2629174" y="420413"/>
                </a:lnTo>
                <a:lnTo>
                  <a:pt x="2719835" y="429043"/>
                </a:lnTo>
                <a:lnTo>
                  <a:pt x="2810496" y="437170"/>
                </a:lnTo>
                <a:lnTo>
                  <a:pt x="2901157" y="444773"/>
                </a:lnTo>
                <a:lnTo>
                  <a:pt x="2991818" y="451825"/>
                </a:lnTo>
                <a:lnTo>
                  <a:pt x="3082480" y="458296"/>
                </a:lnTo>
                <a:lnTo>
                  <a:pt x="3173141" y="464150"/>
                </a:lnTo>
                <a:lnTo>
                  <a:pt x="3263802" y="469339"/>
                </a:lnTo>
                <a:lnTo>
                  <a:pt x="3354463" y="473800"/>
                </a:lnTo>
                <a:lnTo>
                  <a:pt x="3445124" y="477443"/>
                </a:lnTo>
                <a:lnTo>
                  <a:pt x="3535785" y="480116"/>
                </a:lnTo>
                <a:lnTo>
                  <a:pt x="3626447" y="481432"/>
                </a:lnTo>
              </a:path>
            </a:pathLst>
          </a:custGeom>
          <a:noFill/>
          <a:ln w="33020">
            <a:solidFill>
              <a:srgbClr val="142B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1478511" y="4494047"/>
            <a:ext cx="3626447" cy="481432"/>
          </a:xfrm>
          <a:custGeom>
            <a:avLst/>
            <a:gdLst/>
            <a:ahLst/>
            <a:cxnLst/>
            <a:rect l="l" t="t" r="r" b="b"/>
            <a:pathLst>
              <a:path w="3626447" h="481432">
                <a:moveTo>
                  <a:pt x="0" y="481432"/>
                </a:moveTo>
                <a:lnTo>
                  <a:pt x="90661" y="462319"/>
                </a:lnTo>
                <a:lnTo>
                  <a:pt x="181322" y="443499"/>
                </a:lnTo>
                <a:lnTo>
                  <a:pt x="271984" y="424973"/>
                </a:lnTo>
                <a:lnTo>
                  <a:pt x="362645" y="406745"/>
                </a:lnTo>
                <a:lnTo>
                  <a:pt x="453306" y="388819"/>
                </a:lnTo>
                <a:lnTo>
                  <a:pt x="543967" y="371197"/>
                </a:lnTo>
                <a:lnTo>
                  <a:pt x="634628" y="353884"/>
                </a:lnTo>
                <a:lnTo>
                  <a:pt x="725289" y="336882"/>
                </a:lnTo>
                <a:lnTo>
                  <a:pt x="815951" y="320197"/>
                </a:lnTo>
                <a:lnTo>
                  <a:pt x="906612" y="303831"/>
                </a:lnTo>
                <a:lnTo>
                  <a:pt x="997273" y="287790"/>
                </a:lnTo>
                <a:lnTo>
                  <a:pt x="1087934" y="272077"/>
                </a:lnTo>
                <a:lnTo>
                  <a:pt x="1178595" y="256697"/>
                </a:lnTo>
                <a:lnTo>
                  <a:pt x="1269256" y="241655"/>
                </a:lnTo>
                <a:lnTo>
                  <a:pt x="1359918" y="226956"/>
                </a:lnTo>
                <a:lnTo>
                  <a:pt x="1450579" y="212606"/>
                </a:lnTo>
                <a:lnTo>
                  <a:pt x="1541240" y="198611"/>
                </a:lnTo>
                <a:lnTo>
                  <a:pt x="1631901" y="184976"/>
                </a:lnTo>
                <a:lnTo>
                  <a:pt x="1722562" y="171707"/>
                </a:lnTo>
                <a:lnTo>
                  <a:pt x="1813223" y="158813"/>
                </a:lnTo>
                <a:lnTo>
                  <a:pt x="1903885" y="146300"/>
                </a:lnTo>
                <a:lnTo>
                  <a:pt x="1994546" y="134176"/>
                </a:lnTo>
                <a:lnTo>
                  <a:pt x="2085207" y="122449"/>
                </a:lnTo>
                <a:lnTo>
                  <a:pt x="2175868" y="111130"/>
                </a:lnTo>
                <a:lnTo>
                  <a:pt x="2266529" y="100227"/>
                </a:lnTo>
                <a:lnTo>
                  <a:pt x="2357190" y="89752"/>
                </a:lnTo>
                <a:lnTo>
                  <a:pt x="2447851" y="79716"/>
                </a:lnTo>
                <a:lnTo>
                  <a:pt x="2538513" y="70134"/>
                </a:lnTo>
                <a:lnTo>
                  <a:pt x="2629174" y="61019"/>
                </a:lnTo>
                <a:lnTo>
                  <a:pt x="2719835" y="52389"/>
                </a:lnTo>
                <a:lnTo>
                  <a:pt x="2810496" y="44261"/>
                </a:lnTo>
                <a:lnTo>
                  <a:pt x="2901157" y="36659"/>
                </a:lnTo>
                <a:lnTo>
                  <a:pt x="2991818" y="29607"/>
                </a:lnTo>
                <a:lnTo>
                  <a:pt x="3082480" y="23135"/>
                </a:lnTo>
                <a:lnTo>
                  <a:pt x="3173141" y="17282"/>
                </a:lnTo>
                <a:lnTo>
                  <a:pt x="3263802" y="12093"/>
                </a:lnTo>
                <a:lnTo>
                  <a:pt x="3354463" y="7632"/>
                </a:lnTo>
                <a:lnTo>
                  <a:pt x="3445124" y="3989"/>
                </a:lnTo>
                <a:lnTo>
                  <a:pt x="3535785" y="1316"/>
                </a:lnTo>
                <a:lnTo>
                  <a:pt x="3626447" y="0"/>
                </a:lnTo>
              </a:path>
            </a:pathLst>
          </a:custGeom>
          <a:noFill/>
          <a:ln w="3302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1478511" y="4147416"/>
            <a:ext cx="3626447" cy="467038"/>
          </a:xfrm>
          <a:custGeom>
            <a:avLst/>
            <a:gdLst/>
            <a:ahLst/>
            <a:cxnLst/>
            <a:rect l="l" t="t" r="r" b="b"/>
            <a:pathLst>
              <a:path w="3626447" h="467038">
                <a:moveTo>
                  <a:pt x="0" y="0"/>
                </a:moveTo>
                <a:lnTo>
                  <a:pt x="90661" y="17499"/>
                </a:lnTo>
                <a:lnTo>
                  <a:pt x="181322" y="41574"/>
                </a:lnTo>
                <a:lnTo>
                  <a:pt x="271984" y="71112"/>
                </a:lnTo>
                <a:lnTo>
                  <a:pt x="362645" y="104926"/>
                </a:lnTo>
                <a:lnTo>
                  <a:pt x="453306" y="141795"/>
                </a:lnTo>
                <a:lnTo>
                  <a:pt x="543967" y="180498"/>
                </a:lnTo>
                <a:lnTo>
                  <a:pt x="634628" y="219852"/>
                </a:lnTo>
                <a:lnTo>
                  <a:pt x="725289" y="258739"/>
                </a:lnTo>
                <a:lnTo>
                  <a:pt x="815951" y="296141"/>
                </a:lnTo>
                <a:lnTo>
                  <a:pt x="906612" y="331157"/>
                </a:lnTo>
                <a:lnTo>
                  <a:pt x="997273" y="363025"/>
                </a:lnTo>
                <a:lnTo>
                  <a:pt x="1087934" y="391139"/>
                </a:lnTo>
                <a:lnTo>
                  <a:pt x="1178595" y="415048"/>
                </a:lnTo>
                <a:lnTo>
                  <a:pt x="1269256" y="434470"/>
                </a:lnTo>
                <a:lnTo>
                  <a:pt x="1359918" y="449280"/>
                </a:lnTo>
                <a:lnTo>
                  <a:pt x="1450579" y="459509"/>
                </a:lnTo>
                <a:lnTo>
                  <a:pt x="1541240" y="465328"/>
                </a:lnTo>
                <a:lnTo>
                  <a:pt x="1631901" y="467038"/>
                </a:lnTo>
                <a:lnTo>
                  <a:pt x="1722562" y="465042"/>
                </a:lnTo>
                <a:lnTo>
                  <a:pt x="1813223" y="459832"/>
                </a:lnTo>
                <a:lnTo>
                  <a:pt x="1903885" y="451963"/>
                </a:lnTo>
                <a:lnTo>
                  <a:pt x="1994546" y="442028"/>
                </a:lnTo>
                <a:lnTo>
                  <a:pt x="2085207" y="430635"/>
                </a:lnTo>
                <a:lnTo>
                  <a:pt x="2175868" y="418384"/>
                </a:lnTo>
                <a:lnTo>
                  <a:pt x="2266529" y="405845"/>
                </a:lnTo>
                <a:lnTo>
                  <a:pt x="2357190" y="393542"/>
                </a:lnTo>
                <a:lnTo>
                  <a:pt x="2447851" y="381929"/>
                </a:lnTo>
                <a:lnTo>
                  <a:pt x="2538513" y="371387"/>
                </a:lnTo>
                <a:lnTo>
                  <a:pt x="2629174" y="362206"/>
                </a:lnTo>
                <a:lnTo>
                  <a:pt x="2719835" y="354582"/>
                </a:lnTo>
                <a:lnTo>
                  <a:pt x="2810496" y="348618"/>
                </a:lnTo>
                <a:lnTo>
                  <a:pt x="2901157" y="344321"/>
                </a:lnTo>
                <a:lnTo>
                  <a:pt x="2991818" y="341613"/>
                </a:lnTo>
                <a:lnTo>
                  <a:pt x="3082480" y="340335"/>
                </a:lnTo>
                <a:lnTo>
                  <a:pt x="3173141" y="340259"/>
                </a:lnTo>
                <a:lnTo>
                  <a:pt x="3263802" y="341105"/>
                </a:lnTo>
                <a:lnTo>
                  <a:pt x="3354463" y="342548"/>
                </a:lnTo>
                <a:lnTo>
                  <a:pt x="3445124" y="344233"/>
                </a:lnTo>
                <a:lnTo>
                  <a:pt x="3535785" y="345771"/>
                </a:lnTo>
                <a:lnTo>
                  <a:pt x="3626447" y="346631"/>
                </a:lnTo>
              </a:path>
            </a:pathLst>
          </a:custGeom>
          <a:noFill/>
          <a:ln w="38100">
            <a:solidFill>
              <a:srgbClr val="E0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1124712" y="4494047"/>
            <a:ext cx="4035110" cy="0"/>
          </a:xfrm>
          <a:prstGeom prst="line">
            <a:avLst/>
          </a:prstGeom>
          <a:ln w="13970">
            <a:solidFill>
              <a:srgbClr val="6B7A8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dia_dot"/>
          <p:cNvSpPr/>
          <p:nvPr/>
        </p:nvSpPr>
        <p:spPr>
          <a:xfrm>
            <a:off x="5050094" y="4439183"/>
            <a:ext cx="109728" cy="109728"/>
          </a:xfrm>
          <a:prstGeom prst="ellipse">
            <a:avLst/>
          </a:prstGeom>
          <a:solidFill>
            <a:srgbClr val="E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p_23"/>
          <p:cNvSpPr txBox="1"/>
          <p:nvPr/>
        </p:nvSpPr>
        <p:spPr>
          <a:xfrm>
            <a:off x="685800" y="5815584"/>
            <a:ext cx="5227167" cy="3352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图：上下两条曲线把中间那条夹向同一点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78727" y="3543300"/>
            <a:ext cx="5227167" cy="102641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78727" y="3543300"/>
            <a:ext cx="68580" cy="1026414"/>
          </a:xfrm>
          <a:prstGeom prst="rect">
            <a:avLst/>
          </a:prstGeom>
          <a:solidFill>
            <a:srgbClr val="E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tex_lim1" descr="f_857b221ab840ed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2577" y="3543300"/>
            <a:ext cx="2719468" cy="1026414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6278727" y="4716018"/>
            <a:ext cx="5227167" cy="102641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78727" y="4716018"/>
            <a:ext cx="68580" cy="1026414"/>
          </a:xfrm>
          <a:prstGeom prst="rect">
            <a:avLst/>
          </a:prstGeom>
          <a:solidFill>
            <a:srgbClr val="E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tex_lim2" descr="f_a2f1988f6c15505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7218" y="4716018"/>
            <a:ext cx="3230185" cy="1026414"/>
          </a:xfrm>
          <a:prstGeom prst="rect">
            <a:avLst/>
          </a:prstGeom>
        </p:spPr>
      </p:pic>
      <p:sp>
        <p:nvSpPr>
          <p:cNvPr id="31" name="cap_30"/>
          <p:cNvSpPr txBox="1"/>
          <p:nvPr/>
        </p:nvSpPr>
        <p:spPr>
          <a:xfrm>
            <a:off x="6278727" y="5815584"/>
            <a:ext cx="5227167" cy="3352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两个重要极限：都靠“夹”得到，导数里天天用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函数的极限与连续性 · ε-δ 与分段函数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课堂练习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两道练习：先说方法，再写表达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10134295" y="429768"/>
            <a:ext cx="1371600" cy="402336"/>
          </a:xfrm>
          <a:prstGeom prst="roundRect">
            <a:avLst>
              <a:gd name="adj" fmla="val 28000"/>
            </a:avLst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练习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89888"/>
            <a:ext cx="5227167" cy="4736592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389888"/>
            <a:ext cx="68580" cy="47365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ag_12"/>
          <p:cNvSpPr txBox="1"/>
          <p:nvPr/>
        </p:nvSpPr>
        <p:spPr>
          <a:xfrm>
            <a:off x="868680" y="1554480"/>
            <a:ext cx="4861407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练习 1｜基础</a:t>
            </a:r>
          </a:p>
        </p:txBody>
      </p:sp>
      <p:sp>
        <p:nvSpPr>
          <p:cNvPr id="14" name="body_13"/>
          <p:cNvSpPr txBox="1"/>
          <p:nvPr/>
        </p:nvSpPr>
        <p:spPr>
          <a:xfrm>
            <a:off x="850392" y="1978151"/>
            <a:ext cx="4897983" cy="48828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21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用 ε-δ 定义证明下式成立。</a:t>
            </a:r>
          </a:p>
        </p:txBody>
      </p:sp>
      <p:pic>
        <p:nvPicPr>
          <p:cNvPr id="15" name="tex_ex1" descr="f_3edf4150d38eb5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383" y="2791561"/>
            <a:ext cx="3048000" cy="8128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886968" y="4148937"/>
            <a:ext cx="64008" cy="914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ody_16"/>
          <p:cNvSpPr txBox="1"/>
          <p:nvPr/>
        </p:nvSpPr>
        <p:spPr>
          <a:xfrm>
            <a:off x="1014983" y="4020921"/>
            <a:ext cx="4715103" cy="47548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先说方法：|f(x) − 7| 是 |x − 3| 的几倍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" y="4770729"/>
            <a:ext cx="64008" cy="914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ody_18"/>
          <p:cNvSpPr txBox="1"/>
          <p:nvPr/>
        </p:nvSpPr>
        <p:spPr>
          <a:xfrm>
            <a:off x="1014983" y="4642713"/>
            <a:ext cx="4715103" cy="85953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20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再写表达：按四步写完整，注意最后一</a:t>
            </a:r>
          </a:p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20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步方向。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1389888"/>
            <a:ext cx="5227167" cy="47365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8727" y="1389888"/>
            <a:ext cx="68580" cy="4736592"/>
          </a:xfrm>
          <a:prstGeom prst="rect">
            <a:avLst/>
          </a:prstGeom>
          <a:solidFill>
            <a:srgbClr val="E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ag_21"/>
          <p:cNvSpPr txBox="1"/>
          <p:nvPr/>
        </p:nvSpPr>
        <p:spPr>
          <a:xfrm>
            <a:off x="6461607" y="1554480"/>
            <a:ext cx="4861407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E0534B"/>
                </a:solidFill>
                <a:latin typeface="Microsoft YaHei"/>
                <a:ea typeface="Microsoft YaHei"/>
                <a:cs typeface="Microsoft YaHei"/>
              </a:rPr>
              <a:t>练习 2｜进阶</a:t>
            </a:r>
          </a:p>
        </p:txBody>
      </p:sp>
      <p:sp>
        <p:nvSpPr>
          <p:cNvPr id="23" name="body_22"/>
          <p:cNvSpPr txBox="1"/>
          <p:nvPr/>
        </p:nvSpPr>
        <p:spPr>
          <a:xfrm>
            <a:off x="6443319" y="1978151"/>
            <a:ext cx="4897983" cy="48828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21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若 f(x) 在 x = 0 处连续，求实数 a。</a:t>
            </a:r>
          </a:p>
        </p:txBody>
      </p:sp>
      <p:pic>
        <p:nvPicPr>
          <p:cNvPr id="24" name="tex_ex2" descr="f_e80eac559249f8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070" y="2594457"/>
            <a:ext cx="3964481" cy="1207008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479895" y="4148937"/>
            <a:ext cx="64008" cy="91440"/>
          </a:xfrm>
          <a:prstGeom prst="rect">
            <a:avLst/>
          </a:prstGeom>
          <a:solidFill>
            <a:srgbClr val="E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ody_25"/>
          <p:cNvSpPr txBox="1"/>
          <p:nvPr/>
        </p:nvSpPr>
        <p:spPr>
          <a:xfrm>
            <a:off x="6607911" y="4020921"/>
            <a:ext cx="4715103" cy="85953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先说方法：x → 0⁺ 用哪个式子？分子</a:t>
            </a:r>
          </a:p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怎么有理化？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79895" y="5154777"/>
            <a:ext cx="64008" cy="91440"/>
          </a:xfrm>
          <a:prstGeom prst="rect">
            <a:avLst/>
          </a:prstGeom>
          <a:solidFill>
            <a:srgbClr val="E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ody_27"/>
          <p:cNvSpPr txBox="1"/>
          <p:nvPr/>
        </p:nvSpPr>
        <p:spPr>
          <a:xfrm>
            <a:off x="6607911" y="5026761"/>
            <a:ext cx="4715103" cy="85953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20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再写表达：右极限、左极限与 f(0) 三</a:t>
            </a:r>
          </a:p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20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者相等解 a。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函数的极限与连续性 · ε-δ 与分段函数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课堂总结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三句话带走这节课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10134295" y="429768"/>
            <a:ext cx="1371600" cy="402336"/>
          </a:xfrm>
          <a:prstGeom prst="roundRect">
            <a:avLst>
              <a:gd name="adj" fmla="val 2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小结</a:t>
            </a:r>
          </a:p>
        </p:txBody>
      </p:sp>
      <p:sp>
        <p:nvSpPr>
          <p:cNvPr id="11" name="tag_10"/>
          <p:cNvSpPr txBox="1"/>
          <p:nvPr/>
        </p:nvSpPr>
        <p:spPr>
          <a:xfrm>
            <a:off x="685800" y="1444752"/>
            <a:ext cx="822960" cy="36575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其一</a:t>
            </a:r>
          </a:p>
        </p:txBody>
      </p:sp>
      <p:sp>
        <p:nvSpPr>
          <p:cNvPr id="12" name="body_11"/>
          <p:cNvSpPr txBox="1"/>
          <p:nvPr/>
        </p:nvSpPr>
        <p:spPr>
          <a:xfrm>
            <a:off x="1472184" y="1389888"/>
            <a:ext cx="4846320" cy="44195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极限是过程，不是取值。</a:t>
            </a:r>
          </a:p>
        </p:txBody>
      </p:sp>
      <p:sp>
        <p:nvSpPr>
          <p:cNvPr id="13" name="body_12"/>
          <p:cNvSpPr txBox="1"/>
          <p:nvPr/>
        </p:nvSpPr>
        <p:spPr>
          <a:xfrm>
            <a:off x="6409944" y="1389888"/>
            <a:ext cx="5095951" cy="85953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0 &lt; |x − a| 这个去心条件，把 f(a) 彻底排</a:t>
            </a:r>
          </a:p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除在讨论之外。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322576"/>
            <a:ext cx="10820095" cy="11887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ag_14"/>
          <p:cNvSpPr txBox="1"/>
          <p:nvPr/>
        </p:nvSpPr>
        <p:spPr>
          <a:xfrm>
            <a:off x="685800" y="2468880"/>
            <a:ext cx="822960" cy="36575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其二</a:t>
            </a:r>
          </a:p>
        </p:txBody>
      </p:sp>
      <p:sp>
        <p:nvSpPr>
          <p:cNvPr id="16" name="body_15"/>
          <p:cNvSpPr txBox="1"/>
          <p:nvPr/>
        </p:nvSpPr>
        <p:spPr>
          <a:xfrm>
            <a:off x="1472184" y="2414016"/>
            <a:ext cx="4846320" cy="44195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定义是一场博弈。</a:t>
            </a:r>
          </a:p>
        </p:txBody>
      </p:sp>
      <p:sp>
        <p:nvSpPr>
          <p:cNvPr id="17" name="body_16"/>
          <p:cNvSpPr txBox="1"/>
          <p:nvPr/>
        </p:nvSpPr>
        <p:spPr>
          <a:xfrm>
            <a:off x="6409944" y="2414016"/>
            <a:ext cx="5095951" cy="85953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对方任给 ε，我方交出依赖 ε 的 δ，先后</a:t>
            </a:r>
          </a:p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顺序不能颠倒。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346704"/>
            <a:ext cx="10820095" cy="11887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ag_18"/>
          <p:cNvSpPr txBox="1"/>
          <p:nvPr/>
        </p:nvSpPr>
        <p:spPr>
          <a:xfrm>
            <a:off x="685800" y="3493008"/>
            <a:ext cx="822960" cy="36575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E0534B"/>
                </a:solidFill>
                <a:latin typeface="Microsoft YaHei"/>
                <a:ea typeface="Microsoft YaHei"/>
                <a:cs typeface="Microsoft YaHei"/>
              </a:rPr>
              <a:t>其三</a:t>
            </a:r>
          </a:p>
        </p:txBody>
      </p:sp>
      <p:sp>
        <p:nvSpPr>
          <p:cNvPr id="20" name="body_19"/>
          <p:cNvSpPr txBox="1"/>
          <p:nvPr/>
        </p:nvSpPr>
        <p:spPr>
          <a:xfrm>
            <a:off x="1472184" y="3438144"/>
            <a:ext cx="4846320" cy="44195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连续是极限的等号。</a:t>
            </a:r>
          </a:p>
        </p:txBody>
      </p:sp>
      <p:sp>
        <p:nvSpPr>
          <p:cNvPr id="21" name="body_20"/>
          <p:cNvSpPr txBox="1"/>
          <p:nvPr/>
        </p:nvSpPr>
        <p:spPr>
          <a:xfrm>
            <a:off x="6409944" y="3438144"/>
            <a:ext cx="5095951" cy="85953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极限值恰好等于函数值才叫连续，分段函</a:t>
            </a:r>
          </a:p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数定参就是在配这个等号。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26864"/>
            <a:ext cx="10820095" cy="1499615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E0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626864"/>
            <a:ext cx="68580" cy="1499615"/>
          </a:xfrm>
          <a:prstGeom prst="rect">
            <a:avLst/>
          </a:prstGeom>
          <a:solidFill>
            <a:srgbClr val="E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ag_23"/>
          <p:cNvSpPr txBox="1"/>
          <p:nvPr/>
        </p:nvSpPr>
        <p:spPr>
          <a:xfrm>
            <a:off x="886968" y="4773168"/>
            <a:ext cx="365760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E0534B"/>
                </a:solidFill>
                <a:latin typeface="Microsoft YaHei"/>
                <a:ea typeface="Microsoft YaHei"/>
                <a:cs typeface="Microsoft YaHei"/>
              </a:rPr>
              <a:t>离堂检验（交条子）</a:t>
            </a:r>
          </a:p>
        </p:txBody>
      </p:sp>
      <p:sp>
        <p:nvSpPr>
          <p:cNvPr id="25" name="body_24"/>
          <p:cNvSpPr txBox="1"/>
          <p:nvPr/>
        </p:nvSpPr>
        <p:spPr>
          <a:xfrm>
            <a:off x="850392" y="5138928"/>
            <a:ext cx="7589520" cy="85953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20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写下这个极限的值，并用一句话说明为什么可以约分——答得出</a:t>
            </a:r>
          </a:p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20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理由（去心邻域内 x ≠ 2）的同学，才算真懂了今天的定义。</a:t>
            </a:r>
          </a:p>
        </p:txBody>
      </p:sp>
      <p:pic>
        <p:nvPicPr>
          <p:cNvPr id="26" name="tex_out1" descr="f_422e234ea5d824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5397" y="4811522"/>
            <a:ext cx="2273300" cy="1130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