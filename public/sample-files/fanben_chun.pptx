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chun_hero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A24">
              <a:alpha val="5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06240"/>
            <a:ext cx="12191695" cy="2651760"/>
          </a:xfrm>
          <a:prstGeom prst="rect">
            <a:avLst/>
          </a:prstGeom>
          <a:solidFill>
            <a:srgbClr val="1D2A2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965960"/>
            <a:ext cx="822960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7568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500">
                <a:solidFill>
                  <a:srgbClr val="F7F4EC"/>
                </a:solidFill>
                <a:latin typeface="Georgia"/>
                <a:ea typeface="Georgia"/>
              </a:rPr>
              <a:t>语文 · 现代散文精读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532888"/>
            <a:ext cx="105156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5400" b="1" i="0">
                <a:solidFill>
                  <a:srgbClr val="F7F4EC"/>
                </a:solidFill>
                <a:latin typeface="微软雅黑"/>
                <a:ea typeface="微软雅黑"/>
              </a:rPr>
              <a:t>朱自清《春》</a:t>
            </a:r>
          </a:p>
          <a:p>
            <a:pPr algn="l">
              <a:lnSpc>
                <a:spcPct val="102000"/>
              </a:lnSpc>
            </a:pPr>
            <a:r>
              <a:rPr sz="5400" b="1" i="0">
                <a:solidFill>
                  <a:srgbClr val="F7F4EC"/>
                </a:solidFill>
                <a:latin typeface="微软雅黑"/>
                <a:ea typeface="微软雅黑"/>
              </a:rPr>
              <a:t>——盼望着，盼望着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4068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F7F4EC"/>
                </a:solidFill>
                <a:latin typeface="微软雅黑"/>
                <a:ea typeface="微软雅黑"/>
              </a:rPr>
              <a:t>一堂关于生命、希望与美的语言课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9963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spc="300">
                <a:solidFill>
                  <a:srgbClr val="F7F4EC"/>
                </a:solidFill>
                <a:latin typeface="Georgia"/>
                <a:ea typeface="Georgia"/>
              </a:rPr>
              <a:t>PART OF THE MODERN PROSE SERIES · 45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C0392B"/>
                </a:solidFill>
                <a:latin typeface="Georgia"/>
                <a:ea typeface="Georgia"/>
              </a:rPr>
              <a:t>本课导航 · LESSON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D2A24"/>
                </a:solidFill>
                <a:latin typeface="微软雅黑"/>
                <a:ea typeface="微软雅黑"/>
              </a:rPr>
              <a:t>这节课我们要做什么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2057400"/>
            <a:ext cx="640080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633472"/>
            <a:ext cx="146304" cy="14630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514600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D2A24"/>
                </a:solidFill>
                <a:latin typeface="微软雅黑"/>
                <a:ea typeface="微软雅黑"/>
              </a:rPr>
              <a:t>一、走近作者与文章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A6B62"/>
                </a:solidFill>
                <a:latin typeface="微软雅黑"/>
                <a:ea typeface="微软雅黑"/>
              </a:rPr>
              <a:t>了解朱自清其人，把握写作背景与情感基调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621024"/>
            <a:ext cx="146304" cy="14630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502152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D2A24"/>
                </a:solidFill>
                <a:latin typeface="微软雅黑"/>
                <a:ea typeface="微软雅黑"/>
              </a:rPr>
              <a:t>二、整体感知·理清结构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A6B62"/>
                </a:solidFill>
                <a:latin typeface="微软雅黑"/>
                <a:ea typeface="微软雅黑"/>
              </a:rPr>
              <a:t>盼春—绘春—赞春，梳理文章的脉络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608576"/>
            <a:ext cx="146304" cy="14630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4489704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D2A24"/>
                </a:solidFill>
                <a:latin typeface="微软雅黑"/>
                <a:ea typeface="微软雅黑"/>
              </a:rPr>
              <a:t>三、品读五幅春景图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A6B62"/>
                </a:solidFill>
                <a:latin typeface="微软雅黑"/>
                <a:ea typeface="微软雅黑"/>
              </a:rPr>
              <a:t>春草、春花、春风、春雨、迎春图逐一赏析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2633472"/>
            <a:ext cx="146304" cy="14630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2514600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D2A24"/>
                </a:solidFill>
                <a:latin typeface="微软雅黑"/>
                <a:ea typeface="微软雅黑"/>
              </a:rPr>
              <a:t>四、赏析语言之美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A6B62"/>
                </a:solidFill>
                <a:latin typeface="微软雅黑"/>
                <a:ea typeface="微软雅黑"/>
              </a:rPr>
              <a:t>比喻、拟人、叠词与感官描写的妙处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3621024"/>
            <a:ext cx="146304" cy="14630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3502152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D2A24"/>
                </a:solidFill>
                <a:latin typeface="微软雅黑"/>
                <a:ea typeface="微软雅黑"/>
              </a:rPr>
              <a:t>五、诵读与拓展写作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A6B62"/>
                </a:solidFill>
                <a:latin typeface="微软雅黑"/>
                <a:ea typeface="微软雅黑"/>
              </a:rPr>
              <a:t>有感情朗读，仿写属于你的季节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A6B62"/>
                </a:solidFill>
                <a:latin typeface="Georgia"/>
                <a:ea typeface="Georgia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ck_chun_author.png"/>
          <p:cNvPicPr>
            <a:picLocks noChangeAspect="1"/>
          </p:cNvPicPr>
          <p:nvPr/>
        </p:nvPicPr>
        <p:blipFill>
          <a:blip r:embed="rId2"/>
          <a:srcRect l="28062" r="28062"/>
          <a:stretch>
            <a:fillRect/>
          </a:stretch>
        </p:blipFill>
        <p:spPr>
          <a:xfrm>
            <a:off x="0" y="0"/>
            <a:ext cx="534924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79" y="1051560"/>
            <a:ext cx="52879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C0392B"/>
                </a:solidFill>
                <a:latin typeface="Georgia"/>
                <a:ea typeface="Georgia"/>
              </a:rPr>
              <a:t>AUTHOR · 作者名片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79" y="1371600"/>
            <a:ext cx="52879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1" i="0">
                <a:solidFill>
                  <a:srgbClr val="1D2A24"/>
                </a:solidFill>
                <a:latin typeface="微软雅黑"/>
                <a:ea typeface="微软雅黑"/>
              </a:rPr>
              <a:t>朱自清与他的散文</a:t>
            </a:r>
          </a:p>
        </p:txBody>
      </p:sp>
      <p:sp>
        <p:nvSpPr>
          <p:cNvPr id="5" name="Rectangle 4"/>
          <p:cNvSpPr/>
          <p:nvPr/>
        </p:nvSpPr>
        <p:spPr>
          <a:xfrm>
            <a:off x="6144767" y="2331720"/>
            <a:ext cx="640080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79" y="2651760"/>
            <a:ext cx="528797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1D2A24"/>
                </a:solidFill>
                <a:latin typeface="微软雅黑"/>
                <a:ea typeface="微软雅黑"/>
              </a:rPr>
              <a:t>朱自清（1898—1948），原名自华，字佩弦，现代著名散文家、诗人、学者。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1D2A24"/>
                </a:solidFill>
                <a:latin typeface="微软雅黑"/>
                <a:ea typeface="微软雅黑"/>
              </a:rPr>
              <a:t>他的散文清新质朴、感情真挚，善于在平凡景物中寄托深情，代表作有《背影》《荷塘月色》《春》等。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1D2A24"/>
                </a:solidFill>
                <a:latin typeface="微软雅黑"/>
                <a:ea typeface="微软雅黑"/>
              </a:rPr>
              <a:t>《春》写于20世纪30年代，是一篇写景抒情的经典散文，字里行间洋溢着对生命与希望的礼赞。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A6B62"/>
                </a:solidFill>
                <a:latin typeface="Georgia"/>
                <a:ea typeface="Georgia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chun_grass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A24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 i="0">
                <a:solidFill>
                  <a:srgbClr val="C0392B"/>
                </a:solidFill>
                <a:latin typeface="Georgia"/>
                <a:ea typeface="Georgia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3794760"/>
            <a:ext cx="1463040" cy="31750"/>
          </a:xfrm>
          <a:prstGeom prst="rect">
            <a:avLst/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3977639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7F4EC"/>
                </a:solidFill>
                <a:latin typeface="微软雅黑"/>
                <a:ea typeface="微软雅黑"/>
              </a:rPr>
              <a:t>整体感知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07492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7F4EC"/>
                </a:solidFill>
                <a:latin typeface="微软雅黑"/>
                <a:ea typeface="微软雅黑"/>
              </a:rPr>
              <a:t>盼春 · 绘春 · 赞春——一篇文章的三重呼吸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C0392B"/>
                </a:solidFill>
                <a:latin typeface="Georgia"/>
                <a:ea typeface="Georgia"/>
              </a:rPr>
              <a:t>STRUCTURE · 文章结构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D2A24"/>
                </a:solidFill>
                <a:latin typeface="微软雅黑"/>
                <a:ea typeface="微软雅黑"/>
              </a:rPr>
              <a:t>文章是怎样谋篇布局的？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4846320" cy="5669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7F4EC"/>
                </a:solidFill>
                <a:latin typeface="微软雅黑"/>
                <a:ea typeface="微软雅黑"/>
              </a:rPr>
              <a:t>三大板块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3154680"/>
            <a:ext cx="118872" cy="11887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306324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1D2A24"/>
                </a:solidFill>
                <a:latin typeface="微软雅黑"/>
                <a:ea typeface="微软雅黑"/>
              </a:rPr>
              <a:t>盼春（开篇）：反复呼唤，奠定期盼与喜悦的基调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3813048"/>
            <a:ext cx="118872" cy="11887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721608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1D2A24"/>
                </a:solidFill>
                <a:latin typeface="微软雅黑"/>
                <a:ea typeface="微软雅黑"/>
              </a:rPr>
              <a:t>绘春（主体）：五幅画面，多角度描绘春天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71416"/>
            <a:ext cx="118872" cy="11887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4379976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1D2A24"/>
                </a:solidFill>
                <a:latin typeface="微软雅黑"/>
                <a:ea typeface="微软雅黑"/>
              </a:rPr>
              <a:t>赞春（结尾）：三个比喻，升华对春的赞美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194560"/>
            <a:ext cx="4846320" cy="566928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286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7F4EC"/>
                </a:solidFill>
                <a:latin typeface="微软雅黑"/>
                <a:ea typeface="微软雅黑"/>
              </a:rPr>
              <a:t>五幅春景图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3154680"/>
            <a:ext cx="118872" cy="11887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306324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1D2A24"/>
                </a:solidFill>
                <a:latin typeface="微软雅黑"/>
                <a:ea typeface="微软雅黑"/>
              </a:rPr>
              <a:t>春草图 · 生机勃勃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3813048"/>
            <a:ext cx="118872" cy="11887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3721608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1D2A24"/>
                </a:solidFill>
                <a:latin typeface="微软雅黑"/>
                <a:ea typeface="微软雅黑"/>
              </a:rPr>
              <a:t>春花图 · 姹紫嫣红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4471416"/>
            <a:ext cx="118872" cy="11887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4379976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1D2A24"/>
                </a:solidFill>
                <a:latin typeface="微软雅黑"/>
                <a:ea typeface="微软雅黑"/>
              </a:rPr>
              <a:t>春风图 · 和煦轻柔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5129783"/>
            <a:ext cx="118872" cy="11887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5038344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1D2A24"/>
                </a:solidFill>
                <a:latin typeface="微软雅黑"/>
                <a:ea typeface="微软雅黑"/>
              </a:rPr>
              <a:t>春雨图 · 细密宁静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5788151"/>
            <a:ext cx="118872" cy="11887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5696712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1D2A24"/>
                </a:solidFill>
                <a:latin typeface="微软雅黑"/>
                <a:ea typeface="微软雅黑"/>
              </a:rPr>
              <a:t>迎春图 · 人勤春早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A6B62"/>
                </a:solidFill>
                <a:latin typeface="Georgia"/>
                <a:ea typeface="Georgia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chun_hero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A2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280160"/>
            <a:ext cx="9235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i="0">
                <a:solidFill>
                  <a:srgbClr val="C0392B"/>
                </a:solidFill>
                <a:latin typeface="Georgia"/>
                <a:ea typeface="Georgia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377440"/>
            <a:ext cx="9235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 i="1">
                <a:solidFill>
                  <a:srgbClr val="F7F4EC"/>
                </a:solidFill>
                <a:latin typeface="微软雅黑"/>
                <a:ea typeface="微软雅黑"/>
              </a:rPr>
              <a:t>盼望着，盼望着，东风来了，春天的脚步近了。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481328" y="5212080"/>
            <a:ext cx="640080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53949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00">
                <a:solidFill>
                  <a:srgbClr val="F7F4EC"/>
                </a:solidFill>
                <a:latin typeface="微软雅黑"/>
                <a:ea typeface="微软雅黑"/>
              </a:rPr>
              <a:t>—— 开篇 · 反复与拟人，写尽急切的期盼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chun_flowers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A24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 i="0">
                <a:solidFill>
                  <a:srgbClr val="C0392B"/>
                </a:solidFill>
                <a:latin typeface="Georgia"/>
                <a:ea typeface="Georgia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3794760"/>
            <a:ext cx="1463040" cy="31750"/>
          </a:xfrm>
          <a:prstGeom prst="rect">
            <a:avLst/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3977639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7F4EC"/>
                </a:solidFill>
                <a:latin typeface="微软雅黑"/>
                <a:ea typeface="微软雅黑"/>
              </a:rPr>
              <a:t>品读五幅春景图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07492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7F4EC"/>
                </a:solidFill>
                <a:latin typeface="微软雅黑"/>
                <a:ea typeface="微软雅黑"/>
              </a:rPr>
              <a:t>跟着朱自清，用五种感官走进春天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ck_chun_grass.png"/>
          <p:cNvPicPr>
            <a:picLocks noChangeAspect="1"/>
          </p:cNvPicPr>
          <p:nvPr/>
        </p:nvPicPr>
        <p:blipFill>
          <a:blip r:embed="rId2"/>
          <a:srcRect l="28062" r="28062"/>
          <a:stretch>
            <a:fillRect/>
          </a:stretch>
        </p:blipFill>
        <p:spPr>
          <a:xfrm>
            <a:off x="0" y="0"/>
            <a:ext cx="534924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79" y="1051560"/>
            <a:ext cx="52879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C0392B"/>
                </a:solidFill>
                <a:latin typeface="Georgia"/>
                <a:ea typeface="Georgia"/>
              </a:rPr>
              <a:t>画面一 · 春草图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79" y="1371600"/>
            <a:ext cx="52879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1" i="0">
                <a:solidFill>
                  <a:srgbClr val="1D2A24"/>
                </a:solidFill>
                <a:latin typeface="微软雅黑"/>
                <a:ea typeface="微软雅黑"/>
              </a:rPr>
              <a:t>小草偷偷地钻出来</a:t>
            </a:r>
          </a:p>
        </p:txBody>
      </p:sp>
      <p:sp>
        <p:nvSpPr>
          <p:cNvPr id="5" name="Rectangle 4"/>
          <p:cNvSpPr/>
          <p:nvPr/>
        </p:nvSpPr>
        <p:spPr>
          <a:xfrm>
            <a:off x="6144767" y="2331720"/>
            <a:ext cx="640080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79" y="2651760"/>
            <a:ext cx="528797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1D2A24"/>
                </a:solidFill>
                <a:latin typeface="微软雅黑"/>
                <a:ea typeface="微软雅黑"/>
              </a:rPr>
              <a:t>“小草偷偷地从土里钻出来，嫩嫩的，绿绿的。”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1D2A24"/>
                </a:solidFill>
                <a:latin typeface="微软雅黑"/>
                <a:ea typeface="微软雅黑"/>
              </a:rPr>
              <a:t>“偷偷地”“钻”把小草写活了——拟人手法赋予它顽皮的生命力。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1D2A24"/>
                </a:solidFill>
                <a:latin typeface="微软雅黑"/>
                <a:ea typeface="微软雅黑"/>
              </a:rPr>
              <a:t>叠词“嫩嫩的、绿绿的”突出质感与色彩，读来轻快而富有节奏。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1D2A24"/>
                </a:solidFill>
                <a:latin typeface="微软雅黑"/>
                <a:ea typeface="微软雅黑"/>
              </a:rPr>
              <a:t>由草及人：“坐着，躺着，打两个滚……”侧面烘托春草带来的欢乐。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A6B62"/>
                </a:solidFill>
                <a:latin typeface="Georgia"/>
                <a:ea typeface="Georgia"/>
              </a:rPr>
              <a:t>05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ck_chun_flowers.png"/>
          <p:cNvPicPr>
            <a:picLocks noChangeAspect="1"/>
          </p:cNvPicPr>
          <p:nvPr/>
        </p:nvPicPr>
        <p:blipFill>
          <a:blip r:embed="rId2"/>
          <a:srcRect l="28062" r="28062"/>
          <a:stretch>
            <a:fillRect/>
          </a:stretch>
        </p:blipFill>
        <p:spPr>
          <a:xfrm>
            <a:off x="6842455" y="0"/>
            <a:ext cx="534924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1051560"/>
            <a:ext cx="52879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C0392B"/>
                </a:solidFill>
                <a:latin typeface="Georgia"/>
                <a:ea typeface="Georgia"/>
              </a:rPr>
              <a:t>画面二 · 春花图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52879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1" i="0">
                <a:solidFill>
                  <a:srgbClr val="1D2A24"/>
                </a:solidFill>
                <a:latin typeface="微软雅黑"/>
                <a:ea typeface="微软雅黑"/>
              </a:rPr>
              <a:t>花下成千成百的蜜蜂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2331720"/>
            <a:ext cx="640080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651760"/>
            <a:ext cx="528797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1D2A24"/>
                </a:solidFill>
                <a:latin typeface="微软雅黑"/>
                <a:ea typeface="微软雅黑"/>
              </a:rPr>
              <a:t>“红的像火，粉的像霞，白的像雪。”——三个比喻，绘出繁花的色彩与热烈。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1D2A24"/>
                </a:solidFill>
                <a:latin typeface="微软雅黑"/>
                <a:ea typeface="微软雅黑"/>
              </a:rPr>
              <a:t>由高到低、由实到虚：树上繁花、花下蜜蜂蝴蝶、遍地野花，层次分明。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1D2A24"/>
                </a:solidFill>
                <a:latin typeface="微软雅黑"/>
                <a:ea typeface="微软雅黑"/>
              </a:rPr>
              <a:t>“闹”字传神——不只写声音，更写出春天的生机与喧腾。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1D2A24"/>
                </a:solidFill>
                <a:latin typeface="微软雅黑"/>
                <a:ea typeface="微软雅黑"/>
              </a:rPr>
              <a:t>调动视觉、听觉、嗅觉，多感官交织，画面立体可感。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A6B62"/>
                </a:solidFill>
                <a:latin typeface="Georgia"/>
                <a:ea typeface="Georgia"/>
              </a:rPr>
              <a:t>06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chun_wind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846320"/>
            <a:ext cx="12191695" cy="2011680"/>
          </a:xfrm>
          <a:prstGeom prst="rect">
            <a:avLst/>
          </a:prstGeom>
          <a:solidFill>
            <a:srgbClr val="1D2A24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1663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7F4EC"/>
                </a:solidFill>
                <a:latin typeface="微软雅黑"/>
                <a:ea typeface="微软雅黑"/>
              </a:rPr>
              <a:t>画面三 · 春风图 · “像母亲的手抚摸着你”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600" b="0" i="0">
                <a:solidFill>
                  <a:srgbClr val="F7F4EC"/>
                </a:solidFill>
                <a:latin typeface="微软雅黑"/>
                <a:ea typeface="微软雅黑"/>
              </a:rPr>
              <a:t>以触觉写无形之风，再借泥土味、青草味、鸟鸣与笛声，让春风可闻、可听、可感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4983480"/>
            <a:ext cx="640080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F7F4EC"/>
                </a:solidFill>
                <a:latin typeface="Georgia"/>
                <a:ea typeface="Georgia"/>
              </a:rPr>
              <a:t>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ck_chun_rain.png"/>
          <p:cNvPicPr>
            <a:picLocks noChangeAspect="1"/>
          </p:cNvPicPr>
          <p:nvPr/>
        </p:nvPicPr>
        <p:blipFill>
          <a:blip r:embed="rId2"/>
          <a:srcRect l="28062" r="28062"/>
          <a:stretch>
            <a:fillRect/>
          </a:stretch>
        </p:blipFill>
        <p:spPr>
          <a:xfrm>
            <a:off x="0" y="0"/>
            <a:ext cx="534924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79" y="1051560"/>
            <a:ext cx="52879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C0392B"/>
                </a:solidFill>
                <a:latin typeface="Georgia"/>
                <a:ea typeface="Georgia"/>
              </a:rPr>
              <a:t>画面四 · 春雨图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79" y="1371600"/>
            <a:ext cx="52879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1" i="0">
                <a:solidFill>
                  <a:srgbClr val="1D2A24"/>
                </a:solidFill>
                <a:latin typeface="微软雅黑"/>
                <a:ea typeface="微软雅黑"/>
              </a:rPr>
              <a:t>像牛毛，像花针，像细丝</a:t>
            </a:r>
          </a:p>
        </p:txBody>
      </p:sp>
      <p:sp>
        <p:nvSpPr>
          <p:cNvPr id="5" name="Rectangle 4"/>
          <p:cNvSpPr/>
          <p:nvPr/>
        </p:nvSpPr>
        <p:spPr>
          <a:xfrm>
            <a:off x="6144767" y="2331720"/>
            <a:ext cx="640080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79" y="2651760"/>
            <a:ext cx="528797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1D2A24"/>
                </a:solidFill>
                <a:latin typeface="微软雅黑"/>
                <a:ea typeface="微软雅黑"/>
              </a:rPr>
              <a:t>三个比喻连用，写出春雨细密、闪亮、绵长的特点。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1D2A24"/>
                </a:solidFill>
                <a:latin typeface="微软雅黑"/>
                <a:ea typeface="微软雅黑"/>
              </a:rPr>
              <a:t>“一层薄烟”“绿得发亮”“青得逼你的眼”——雨中景物朦胧而清新。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1D2A24"/>
                </a:solidFill>
                <a:latin typeface="微软雅黑"/>
                <a:ea typeface="微软雅黑"/>
              </a:rPr>
              <a:t>由景及人：撑伞的行人、披蓑戴笠的农夫、静默的房屋，宁静而温情。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1D2A24"/>
                </a:solidFill>
                <a:latin typeface="微软雅黑"/>
                <a:ea typeface="微软雅黑"/>
              </a:rPr>
              <a:t>动静结合，为喧闹的春天添上一笔沉静的诗意。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A6B62"/>
                </a:solidFill>
                <a:latin typeface="Georgia"/>
                <a:ea typeface="Georgia"/>
              </a:rPr>
              <a:t>08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ck_chun_people.png"/>
          <p:cNvPicPr>
            <a:picLocks noChangeAspect="1"/>
          </p:cNvPicPr>
          <p:nvPr/>
        </p:nvPicPr>
        <p:blipFill>
          <a:blip r:embed="rId2"/>
          <a:srcRect l="28062" r="28062"/>
          <a:stretch>
            <a:fillRect/>
          </a:stretch>
        </p:blipFill>
        <p:spPr>
          <a:xfrm>
            <a:off x="6842455" y="0"/>
            <a:ext cx="534924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1051560"/>
            <a:ext cx="52879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C0392B"/>
                </a:solidFill>
                <a:latin typeface="Georgia"/>
                <a:ea typeface="Georgia"/>
              </a:rPr>
              <a:t>画面五 · 迎春图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52879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1" i="0">
                <a:solidFill>
                  <a:srgbClr val="1D2A24"/>
                </a:solidFill>
                <a:latin typeface="微软雅黑"/>
                <a:ea typeface="微软雅黑"/>
              </a:rPr>
              <a:t>一年之计在于春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2331720"/>
            <a:ext cx="640080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651760"/>
            <a:ext cx="528797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1D2A24"/>
                </a:solidFill>
                <a:latin typeface="微软雅黑"/>
                <a:ea typeface="微软雅黑"/>
              </a:rPr>
              <a:t>由自然之春转向人事之春：城里乡下，家家户户，老老小小都出来了。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1D2A24"/>
                </a:solidFill>
                <a:latin typeface="微软雅黑"/>
                <a:ea typeface="微软雅黑"/>
              </a:rPr>
              <a:t>“舒活舒活筋骨，抖擞抖擞精神”——叠词连用，写出蓬勃的干劲。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1D2A24"/>
                </a:solidFill>
                <a:latin typeface="微软雅黑"/>
                <a:ea typeface="微软雅黑"/>
              </a:rPr>
              <a:t>引用俗语“一年之计在于春”，点明珍惜时光、奋发向上的主题。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1D2A24"/>
                </a:solidFill>
                <a:latin typeface="微软雅黑"/>
                <a:ea typeface="微软雅黑"/>
              </a:rPr>
              <a:t>画面由景入情，为下文的“赞春”蓄势。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A6B62"/>
                </a:solidFill>
                <a:latin typeface="Georgia"/>
                <a:ea typeface="Georgia"/>
              </a:rPr>
              <a:t>09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chun_child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A24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 i="0">
                <a:solidFill>
                  <a:srgbClr val="C0392B"/>
                </a:solidFill>
                <a:latin typeface="Georgia"/>
                <a:ea typeface="Georgia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3794760"/>
            <a:ext cx="1463040" cy="31750"/>
          </a:xfrm>
          <a:prstGeom prst="rect">
            <a:avLst/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3977639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7F4EC"/>
                </a:solidFill>
                <a:latin typeface="微软雅黑"/>
                <a:ea typeface="微软雅黑"/>
              </a:rPr>
              <a:t>赏析语言之美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07492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7F4EC"/>
                </a:solidFill>
                <a:latin typeface="微软雅黑"/>
                <a:ea typeface="微软雅黑"/>
              </a:rPr>
              <a:t>为什么这些句子，读一遍就忘不掉？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C0392B"/>
                </a:solidFill>
                <a:latin typeface="Georgia"/>
                <a:ea typeface="Georgia"/>
              </a:rPr>
              <a:t>LANGUAGE · 语言赏析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D2A24"/>
                </a:solidFill>
                <a:latin typeface="微软雅黑"/>
                <a:ea typeface="微软雅黑"/>
              </a:rPr>
              <a:t>四种让文字活起来的手法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48840"/>
            <a:ext cx="4998567" cy="1851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148840"/>
            <a:ext cx="4998567" cy="1097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459736"/>
            <a:ext cx="44499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C0392B"/>
                </a:solidFill>
                <a:latin typeface="微软雅黑"/>
                <a:ea typeface="微软雅黑"/>
              </a:rPr>
              <a:t>比喻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044952"/>
            <a:ext cx="4449927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450" b="0" i="0">
                <a:solidFill>
                  <a:srgbClr val="1D2A24"/>
                </a:solidFill>
                <a:latin typeface="微软雅黑"/>
                <a:ea typeface="微软雅黑"/>
              </a:rPr>
              <a:t>“红的像火，粉的像霞，白的像雪”——化抽象为具体，让色彩与情态跃然纸上。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8727" y="2148840"/>
            <a:ext cx="4998567" cy="1851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78727" y="2148840"/>
            <a:ext cx="4998567" cy="1097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98767" y="2459736"/>
            <a:ext cx="44499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C0392B"/>
                </a:solidFill>
                <a:latin typeface="微软雅黑"/>
                <a:ea typeface="微软雅黑"/>
              </a:rPr>
              <a:t>拟人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8767" y="3044952"/>
            <a:ext cx="4449927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450" b="0" i="0">
                <a:solidFill>
                  <a:srgbClr val="1D2A24"/>
                </a:solidFill>
                <a:latin typeface="微软雅黑"/>
                <a:ea typeface="微软雅黑"/>
              </a:rPr>
              <a:t>“小草偷偷地钻”“春天的脚步近了”——赋予景物以人的情态，亲切生动。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366260"/>
            <a:ext cx="4998567" cy="1851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4366260"/>
            <a:ext cx="4998567" cy="1097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4677156"/>
            <a:ext cx="44499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C0392B"/>
                </a:solidFill>
                <a:latin typeface="微软雅黑"/>
                <a:ea typeface="微软雅黑"/>
              </a:rPr>
              <a:t>叠词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262372"/>
            <a:ext cx="4449927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450" b="0" i="0">
                <a:solidFill>
                  <a:srgbClr val="1D2A24"/>
                </a:solidFill>
                <a:latin typeface="微软雅黑"/>
                <a:ea typeface="微软雅黑"/>
              </a:rPr>
              <a:t>“嫩嫩的、绿绿的、轻悄悄、软绵绵”——增强节奏感与画面的质感。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78727" y="4366260"/>
            <a:ext cx="4998567" cy="1851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78727" y="4366260"/>
            <a:ext cx="4998567" cy="1097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98767" y="4677156"/>
            <a:ext cx="44499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C0392B"/>
                </a:solidFill>
                <a:latin typeface="微软雅黑"/>
                <a:ea typeface="微软雅黑"/>
              </a:rPr>
              <a:t>排比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8767" y="5262372"/>
            <a:ext cx="4449927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450" b="0" i="0">
                <a:solidFill>
                  <a:srgbClr val="1D2A24"/>
                </a:solidFill>
                <a:latin typeface="微软雅黑"/>
                <a:ea typeface="微软雅黑"/>
              </a:rPr>
              <a:t>结尾三喻连排，层层递进，把赞美之情推向高潮。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A6B62"/>
                </a:solidFill>
                <a:latin typeface="Georgia"/>
                <a:ea typeface="Georgia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chun_child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A2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280160"/>
            <a:ext cx="9235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i="0">
                <a:solidFill>
                  <a:srgbClr val="C0392B"/>
                </a:solidFill>
                <a:latin typeface="Georgia"/>
                <a:ea typeface="Georgia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377440"/>
            <a:ext cx="9235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 i="1">
                <a:solidFill>
                  <a:srgbClr val="F7F4EC"/>
                </a:solidFill>
                <a:latin typeface="微软雅黑"/>
                <a:ea typeface="微软雅黑"/>
              </a:rPr>
              <a:t>春天像刚落地的娃娃，从头到脚都是新的，它生长着。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481328" y="5212080"/>
            <a:ext cx="640080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53949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00">
                <a:solidFill>
                  <a:srgbClr val="F7F4EC"/>
                </a:solidFill>
                <a:latin typeface="微软雅黑"/>
                <a:ea typeface="微软雅黑"/>
              </a:rPr>
              <a:t>—— 结尾三喻之一 · 新生 · 美丽 · 力量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C0392B"/>
                </a:solidFill>
                <a:latin typeface="Georgia"/>
                <a:ea typeface="Georgia"/>
              </a:rPr>
              <a:t>THEME · 主旨探究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D2A24"/>
                </a:solidFill>
                <a:latin typeface="微软雅黑"/>
                <a:ea typeface="微软雅黑"/>
              </a:rPr>
              <a:t>朱自清究竟在“赞”什么？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4846320" cy="5669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7F4EC"/>
                </a:solidFill>
                <a:latin typeface="微软雅黑"/>
                <a:ea typeface="微软雅黑"/>
              </a:rPr>
              <a:t>写的是春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3154680"/>
            <a:ext cx="118872" cy="11887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306324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1D2A24"/>
                </a:solidFill>
                <a:latin typeface="微软雅黑"/>
                <a:ea typeface="微软雅黑"/>
              </a:rPr>
              <a:t>生机勃勃的自然春景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3813048"/>
            <a:ext cx="118872" cy="11887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721608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1D2A24"/>
                </a:solidFill>
                <a:latin typeface="微软雅黑"/>
                <a:ea typeface="微软雅黑"/>
              </a:rPr>
              <a:t>五幅画面，多感官交织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71416"/>
            <a:ext cx="118872" cy="11887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4379976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1D2A24"/>
                </a:solidFill>
                <a:latin typeface="微软雅黑"/>
                <a:ea typeface="微软雅黑"/>
              </a:rPr>
              <a:t>细腻传神的语言艺术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194560"/>
            <a:ext cx="4846320" cy="566928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286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7F4EC"/>
                </a:solidFill>
                <a:latin typeface="微软雅黑"/>
                <a:ea typeface="微软雅黑"/>
              </a:rPr>
              <a:t>赞的是情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3154680"/>
            <a:ext cx="118872" cy="11887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306324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1D2A24"/>
                </a:solidFill>
                <a:latin typeface="微软雅黑"/>
                <a:ea typeface="微软雅黑"/>
              </a:rPr>
              <a:t>对生命萌发的欣喜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3813048"/>
            <a:ext cx="118872" cy="11887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3721608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1D2A24"/>
                </a:solidFill>
                <a:latin typeface="微软雅黑"/>
                <a:ea typeface="微软雅黑"/>
              </a:rPr>
              <a:t>对希望与未来的憧憬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4471416"/>
            <a:ext cx="118872" cy="11887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4379976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1D2A24"/>
                </a:solidFill>
                <a:latin typeface="微软雅黑"/>
                <a:ea typeface="微软雅黑"/>
              </a:rPr>
              <a:t>催人奋进、珍惜光阴的力量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A6B62"/>
                </a:solidFill>
                <a:latin typeface="Georgia"/>
                <a:ea typeface="Georgia"/>
              </a:rPr>
              <a:t>11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C0392B"/>
                </a:solidFill>
                <a:latin typeface="Georgia"/>
                <a:ea typeface="Georgia"/>
              </a:rPr>
              <a:t>ACTIVITY · 课堂活动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D2A24"/>
                </a:solidFill>
                <a:latin typeface="微软雅黑"/>
                <a:ea typeface="微软雅黑"/>
              </a:rPr>
              <a:t>诵读 · 品味 · 表达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2057400"/>
            <a:ext cx="640080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633472"/>
            <a:ext cx="146304" cy="14630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514600"/>
            <a:ext cx="6035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D2A24"/>
                </a:solidFill>
                <a:latin typeface="微软雅黑"/>
                <a:ea typeface="微软雅黑"/>
              </a:rPr>
              <a:t>① 有感情朗读（8分钟）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A6B62"/>
                </a:solidFill>
                <a:latin typeface="微软雅黑"/>
                <a:ea typeface="微软雅黑"/>
              </a:rPr>
              <a:t>分组朗读五幅春景图，注意语速、重音与情感起伏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621024"/>
            <a:ext cx="146304" cy="14630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502152"/>
            <a:ext cx="6035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D2A24"/>
                </a:solidFill>
                <a:latin typeface="微软雅黑"/>
                <a:ea typeface="微软雅黑"/>
              </a:rPr>
              <a:t>② 找一找、品一品（6分钟）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A6B62"/>
                </a:solidFill>
                <a:latin typeface="微软雅黑"/>
                <a:ea typeface="微软雅黑"/>
              </a:rPr>
              <a:t>各组选一处最打动你的句子，说说妙在哪里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608576"/>
            <a:ext cx="146304" cy="14630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4489704"/>
            <a:ext cx="6035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D2A24"/>
                </a:solidFill>
                <a:latin typeface="微软雅黑"/>
                <a:ea typeface="微软雅黑"/>
              </a:rPr>
              <a:t>③ 小练笔·仿写（10分钟）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A6B62"/>
                </a:solidFill>
                <a:latin typeface="微软雅黑"/>
                <a:ea typeface="微软雅黑"/>
              </a:rPr>
              <a:t>仿照本文，写一段你眼中的“夏”或“秋”，至少用两种修辞</a:t>
            </a:r>
          </a:p>
        </p:txBody>
      </p:sp>
      <p:pic>
        <p:nvPicPr>
          <p:cNvPr id="12" name="Picture 11" descr="deck_chun_wind.png"/>
          <p:cNvPicPr>
            <a:picLocks noChangeAspect="1"/>
          </p:cNvPicPr>
          <p:nvPr/>
        </p:nvPicPr>
        <p:blipFill>
          <a:blip r:embed="rId2"/>
          <a:srcRect l="27554" r="27554"/>
          <a:stretch>
            <a:fillRect/>
          </a:stretch>
        </p:blipFill>
        <p:spPr>
          <a:xfrm>
            <a:off x="7635240" y="1051560"/>
            <a:ext cx="3794760" cy="4754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A6B62"/>
                </a:solidFill>
                <a:latin typeface="Georgia"/>
                <a:ea typeface="Georgia"/>
              </a:rPr>
              <a:t>12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C0392B"/>
                </a:solidFill>
                <a:latin typeface="Georgia"/>
                <a:ea typeface="Georgia"/>
              </a:rPr>
              <a:t>WRITING · 仿写支架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D2A24"/>
                </a:solidFill>
                <a:latin typeface="微软雅黑"/>
                <a:ea typeface="微软雅黑"/>
              </a:rPr>
              <a:t>照着这个“脚手架”写，就不难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48840"/>
            <a:ext cx="4998567" cy="1851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148840"/>
            <a:ext cx="4998567" cy="1097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459736"/>
            <a:ext cx="44499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C0392B"/>
                </a:solidFill>
                <a:latin typeface="微软雅黑"/>
                <a:ea typeface="微软雅黑"/>
              </a:rPr>
              <a:t>第一步 · 定基调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044952"/>
            <a:ext cx="4449927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450" b="0" i="0">
                <a:solidFill>
                  <a:srgbClr val="1D2A24"/>
                </a:solidFill>
                <a:latin typeface="微软雅黑"/>
                <a:ea typeface="微软雅黑"/>
              </a:rPr>
              <a:t>用反复或拟人开头，先喊出你对这个季节的情感。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8727" y="2148840"/>
            <a:ext cx="4998567" cy="1851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78727" y="2148840"/>
            <a:ext cx="4998567" cy="1097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98767" y="2459736"/>
            <a:ext cx="44499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C0392B"/>
                </a:solidFill>
                <a:latin typeface="微软雅黑"/>
                <a:ea typeface="微软雅黑"/>
              </a:rPr>
              <a:t>第二步 · 绘画面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8767" y="3044952"/>
            <a:ext cx="4449927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450" b="0" i="0">
                <a:solidFill>
                  <a:srgbClr val="1D2A24"/>
                </a:solidFill>
                <a:latin typeface="微软雅黑"/>
                <a:ea typeface="微软雅黑"/>
              </a:rPr>
              <a:t>选2—3个典型景物，调动视觉、听觉、触觉去描写。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366260"/>
            <a:ext cx="4998567" cy="1851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4366260"/>
            <a:ext cx="4998567" cy="1097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4677156"/>
            <a:ext cx="44499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C0392B"/>
                </a:solidFill>
                <a:latin typeface="微软雅黑"/>
                <a:ea typeface="微软雅黑"/>
              </a:rPr>
              <a:t>第三步 · 用修辞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262372"/>
            <a:ext cx="4449927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450" b="0" i="0">
                <a:solidFill>
                  <a:srgbClr val="1D2A24"/>
                </a:solidFill>
                <a:latin typeface="微软雅黑"/>
                <a:ea typeface="微软雅黑"/>
              </a:rPr>
              <a:t>至少一处比喻、一处拟人，试着用上叠词。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78727" y="4366260"/>
            <a:ext cx="4998567" cy="1851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78727" y="4366260"/>
            <a:ext cx="4998567" cy="1097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98767" y="4677156"/>
            <a:ext cx="44499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C0392B"/>
                </a:solidFill>
                <a:latin typeface="微软雅黑"/>
                <a:ea typeface="微软雅黑"/>
              </a:rPr>
              <a:t>第四步 · 抒真情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8767" y="5262372"/>
            <a:ext cx="4449927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450" b="0" i="0">
                <a:solidFill>
                  <a:srgbClr val="1D2A24"/>
                </a:solidFill>
                <a:latin typeface="微软雅黑"/>
                <a:ea typeface="微软雅黑"/>
              </a:rPr>
              <a:t>结尾用一个比喻收束，让景物承载你的心情。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A6B62"/>
                </a:solidFill>
                <a:latin typeface="Georgia"/>
                <a:ea typeface="Georgia"/>
              </a:rPr>
              <a:t>13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chun_close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A24">
              <a:alpha val="4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7F4EC"/>
                </a:solidFill>
                <a:latin typeface="微软雅黑"/>
                <a:ea typeface="微软雅黑"/>
              </a:rPr>
              <a:t>一年之计在于春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1" y="2971800"/>
            <a:ext cx="822960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291840"/>
            <a:ext cx="96012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F7F4EC"/>
                </a:solidFill>
                <a:latin typeface="微软雅黑"/>
                <a:ea typeface="微软雅黑"/>
              </a:rPr>
              <a:t>愿你像春草一样，偷偷地、努力地生长；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F7F4EC"/>
                </a:solidFill>
                <a:latin typeface="微软雅黑"/>
                <a:ea typeface="微软雅黑"/>
              </a:rPr>
              <a:t>像春花一样，热烈而坦率地绽放。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F7F4EC"/>
                </a:solidFill>
                <a:latin typeface="微软雅黑"/>
                <a:ea typeface="微软雅黑"/>
              </a:rPr>
              <a:t>作业：完成仿写练笔，并背诵课文第4—5自然段。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spc="300">
                <a:solidFill>
                  <a:srgbClr val="F7F4EC"/>
                </a:solidFill>
                <a:latin typeface="Georgia"/>
                <a:ea typeface="Georgia"/>
              </a:rPr>
              <a:t>语文 · 现代散文精读系列 · 朱自清《春》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