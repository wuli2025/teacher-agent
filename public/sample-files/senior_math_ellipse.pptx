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36a7514aab47a9" /><Relationship Type="http://schemas.openxmlformats.org/officeDocument/2006/relationships/extended-properties" Target="/docProps/app.xml" Id="Rd106229b090a4f40" /><Relationship Type="http://schemas.openxmlformats.org/officeDocument/2006/relationships/officeDocument" Target="/ppt/presentation.xml" Id="R49773636e41a49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6c6230b0f94849"/>
  </p:sldMasterIdLst>
  <p:notesMasterIdLst>
    <p:notesMasterId xmlns:r="http://schemas.openxmlformats.org/officeDocument/2006/relationships" r:id="R20992333e8bb4c34"/>
  </p:notesMasterIdLst>
  <p:sldIdLst>
    <p:sldId xmlns:r="http://schemas.openxmlformats.org/officeDocument/2006/relationships" id="256" r:id="R0f5d75c1b46c40c3"/>
    <p:sldId xmlns:r="http://schemas.openxmlformats.org/officeDocument/2006/relationships" id="257" r:id="R72714a8052614bc0"/>
    <p:sldId xmlns:r="http://schemas.openxmlformats.org/officeDocument/2006/relationships" id="258" r:id="Rb5df1123c8fe4570"/>
    <p:sldId xmlns:r="http://schemas.openxmlformats.org/officeDocument/2006/relationships" id="259" r:id="Rf51adaa3389342d6"/>
    <p:sldId xmlns:r="http://schemas.openxmlformats.org/officeDocument/2006/relationships" id="260" r:id="R3e0281565f8348c8"/>
    <p:sldId xmlns:r="http://schemas.openxmlformats.org/officeDocument/2006/relationships" id="261" r:id="R4c553eb716be427d"/>
    <p:sldId xmlns:r="http://schemas.openxmlformats.org/officeDocument/2006/relationships" id="262" r:id="R80a9bb5e6345409e"/>
    <p:sldId xmlns:r="http://schemas.openxmlformats.org/officeDocument/2006/relationships" id="263" r:id="R52bd94bfc0a84e7b"/>
    <p:sldId xmlns:r="http://schemas.openxmlformats.org/officeDocument/2006/relationships" id="264" r:id="Rfb1b161341f141c1"/>
    <p:sldId xmlns:r="http://schemas.openxmlformats.org/officeDocument/2006/relationships" id="265" r:id="R21dd76632d3545f2"/>
    <p:sldId xmlns:r="http://schemas.openxmlformats.org/officeDocument/2006/relationships" id="266" r:id="R3a0d0ea2192f47c8"/>
    <p:sldId xmlns:r="http://schemas.openxmlformats.org/officeDocument/2006/relationships" id="267" r:id="R950cdf33fa8f4a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0f37d1ebdc4898" /><Relationship Type="http://schemas.openxmlformats.org/officeDocument/2006/relationships/slideMaster" Target="/ppt/slideMasters/slideMaster1.xml" Id="R396c6230b0f94849" /><Relationship Type="http://schemas.openxmlformats.org/officeDocument/2006/relationships/notesMaster" Target="/ppt/notesMasters/notesMaster1.xml" Id="R20992333e8bb4c34" /><Relationship Type="http://schemas.openxmlformats.org/officeDocument/2006/relationships/presProps" Target="/ppt/presProps.xml" Id="R0e22171f3f714a54" /><Relationship Type="http://schemas.openxmlformats.org/officeDocument/2006/relationships/tableStyles" Target="/ppt/tableStyles.xml" Id="Rf718059bb2794e0a" /><Relationship Type="http://schemas.openxmlformats.org/officeDocument/2006/relationships/slide" Target="/ppt/slides/slide1.xml" Id="R0f5d75c1b46c40c3" /><Relationship Type="http://schemas.openxmlformats.org/officeDocument/2006/relationships/slide" Target="/ppt/slides/slide2.xml" Id="R72714a8052614bc0" /><Relationship Type="http://schemas.openxmlformats.org/officeDocument/2006/relationships/slide" Target="/ppt/slides/slide3.xml" Id="Rb5df1123c8fe4570" /><Relationship Type="http://schemas.openxmlformats.org/officeDocument/2006/relationships/slide" Target="/ppt/slides/slide4.xml" Id="Rf51adaa3389342d6" /><Relationship Type="http://schemas.openxmlformats.org/officeDocument/2006/relationships/slide" Target="/ppt/slides/slide5.xml" Id="R3e0281565f8348c8" /><Relationship Type="http://schemas.openxmlformats.org/officeDocument/2006/relationships/slide" Target="/ppt/slides/slide6.xml" Id="R4c553eb716be427d" /><Relationship Type="http://schemas.openxmlformats.org/officeDocument/2006/relationships/slide" Target="/ppt/slides/slide7.xml" Id="R80a9bb5e6345409e" /><Relationship Type="http://schemas.openxmlformats.org/officeDocument/2006/relationships/slide" Target="/ppt/slides/slide8.xml" Id="R52bd94bfc0a84e7b" /><Relationship Type="http://schemas.openxmlformats.org/officeDocument/2006/relationships/slide" Target="/ppt/slides/slide9.xml" Id="Rfb1b161341f141c1" /><Relationship Type="http://schemas.openxmlformats.org/officeDocument/2006/relationships/slide" Target="/ppt/slides/slide10.xml" Id="R21dd76632d3545f2" /><Relationship Type="http://schemas.openxmlformats.org/officeDocument/2006/relationships/slide" Target="/ppt/slides/slide11.xml" Id="R3a0d0ea2192f47c8" /><Relationship Type="http://schemas.openxmlformats.org/officeDocument/2006/relationships/slide" Target="/ppt/slides/slide12.xml" Id="R950cdf33fa8f4a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1ee67f2d7c43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dbb23ad2f4abd" /><Relationship Type="http://schemas.openxmlformats.org/officeDocument/2006/relationships/notesMaster" Target="/ppt/notesMasters/notesMaster1.xml" Id="R3a1583007d714f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a3b2a28994976" /><Relationship Type="http://schemas.openxmlformats.org/officeDocument/2006/relationships/notesMaster" Target="/ppt/notesMasters/notesMaster1.xml" Id="Re21945d45e2443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dba8ee738c45c9" /><Relationship Type="http://schemas.openxmlformats.org/officeDocument/2006/relationships/notesMaster" Target="/ppt/notesMasters/notesMaster1.xml" Id="R05f5fa321f9941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a59b46553545df" /><Relationship Type="http://schemas.openxmlformats.org/officeDocument/2006/relationships/notesMaster" Target="/ppt/notesMasters/notesMaster1.xml" Id="R1b4cc696def94b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c46796247a4c9a" /><Relationship Type="http://schemas.openxmlformats.org/officeDocument/2006/relationships/notesMaster" Target="/ppt/notesMasters/notesMaster1.xml" Id="Rf9f1d518e8094e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64996d482c41bc" /><Relationship Type="http://schemas.openxmlformats.org/officeDocument/2006/relationships/notesMaster" Target="/ppt/notesMasters/notesMaster1.xml" Id="R378fddcecc6348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86532c94354e1d" /><Relationship Type="http://schemas.openxmlformats.org/officeDocument/2006/relationships/notesMaster" Target="/ppt/notesMasters/notesMaster1.xml" Id="R6fb279bab46d48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bbb7e02365421c" /><Relationship Type="http://schemas.openxmlformats.org/officeDocument/2006/relationships/notesMaster" Target="/ppt/notesMasters/notesMaster1.xml" Id="R4b3b11ad44ce46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b98076940d4d43" /><Relationship Type="http://schemas.openxmlformats.org/officeDocument/2006/relationships/notesMaster" Target="/ppt/notesMasters/notesMaster1.xml" Id="R38a36cd7248844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b755880a4c4361" /><Relationship Type="http://schemas.openxmlformats.org/officeDocument/2006/relationships/notesMaster" Target="/ppt/notesMasters/notesMaster1.xml" Id="R0bb4f446c25546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8cfef4716345f2" /><Relationship Type="http://schemas.openxmlformats.org/officeDocument/2006/relationships/notesMaster" Target="/ppt/notesMasters/notesMaster1.xml" Id="R8d9c19b10ca24f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e0f1f7053b4901" /><Relationship Type="http://schemas.openxmlformats.org/officeDocument/2006/relationships/notesMaster" Target="/ppt/notesMasters/notesMaster1.xml" Id="R95d79b8cbd514c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eb2c7249e41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8d201f3c51479f" /><Relationship Type="http://schemas.openxmlformats.org/officeDocument/2006/relationships/slideLayout" Target="/ppt/slideLayouts/slideLayout1.xml" Id="R08eb66e572564d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eb66e572564d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1ee1405a04b1c" /><Relationship Type="http://schemas.openxmlformats.org/officeDocument/2006/relationships/notesSlide" Target="/ppt/notesSlides/notesSlide1.xml" Id="R8051134c824140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80d5c54744275" /><Relationship Type="http://schemas.openxmlformats.org/officeDocument/2006/relationships/notesSlide" Target="/ppt/notesSlides/notesSlide2.xml" Id="R893779ce591e47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01039698d4e1a" /><Relationship Type="http://schemas.openxmlformats.org/officeDocument/2006/relationships/notesSlide" Target="/ppt/notesSlides/notesSlide3.xml" Id="R4e7a0f5a564c41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efdaa4d314c2a" /><Relationship Type="http://schemas.openxmlformats.org/officeDocument/2006/relationships/image" Target="/ppt/media/image.png" Id="R800b8d33743448e7" /><Relationship Type="http://schemas.openxmlformats.org/officeDocument/2006/relationships/notesSlide" Target="/ppt/notesSlides/notesSlide4.xml" Id="R7854bcef86544f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1da581ed44b64" /><Relationship Type="http://schemas.openxmlformats.org/officeDocument/2006/relationships/image" Target="/ppt/media/image2.png" Id="R5a7d84e8e8ab4b09" /><Relationship Type="http://schemas.openxmlformats.org/officeDocument/2006/relationships/notesSlide" Target="/ppt/notesSlides/notesSlide5.xml" Id="R4d971082657b48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2a2fcf0494395" /><Relationship Type="http://schemas.openxmlformats.org/officeDocument/2006/relationships/notesSlide" Target="/ppt/notesSlides/notesSlide6.xml" Id="R6bd9a8ece1404a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d4351d62d4d8e" /><Relationship Type="http://schemas.openxmlformats.org/officeDocument/2006/relationships/image" Target="/ppt/media/image3.png" Id="R41932cbce2da4edd" /><Relationship Type="http://schemas.openxmlformats.org/officeDocument/2006/relationships/notesSlide" Target="/ppt/notesSlides/notesSlide7.xml" Id="R616d0ec3a4874b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2db3825ff4594" /><Relationship Type="http://schemas.openxmlformats.org/officeDocument/2006/relationships/notesSlide" Target="/ppt/notesSlides/notesSlide8.xml" Id="Ra76406c5d0e644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499af798e4761" /><Relationship Type="http://schemas.openxmlformats.org/officeDocument/2006/relationships/notesSlide" Target="/ppt/notesSlides/notesSlide9.xml" Id="R1f54951035a148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f969b67104fec" /><Relationship Type="http://schemas.openxmlformats.org/officeDocument/2006/relationships/notesSlide" Target="/ppt/notesSlides/notesSlide10.xml" Id="R86516aacf0ba47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030ba2ac34810" /><Relationship Type="http://schemas.openxmlformats.org/officeDocument/2006/relationships/notesSlide" Target="/ppt/notesSlides/notesSlide11.xml" Id="R7a2eb141d4d149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de61421e04309" /><Relationship Type="http://schemas.openxmlformats.org/officeDocument/2006/relationships/notesSlide" Target="/ppt/notesSlides/notesSlide12.xml" Id="R738083d021e44d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cyan-orb">
            <a:extLst xmlns:a="http://schemas.openxmlformats.org/drawingml/2006/main">
              <a:ext uri="{FF2B5EF4-FFF2-40B4-BE49-F238E27FC236}">
                <a16:creationId xmlns:a16="http://schemas.microsoft.com/office/drawing/2014/main" id="{5156C24C-D1AE-491C-A925-E335ECF1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F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coral-orb">
            <a:extLst xmlns:a="http://schemas.openxmlformats.org/drawingml/2006/main">
              <a:ext uri="{FF2B5EF4-FFF2-40B4-BE49-F238E27FC236}">
                <a16:creationId xmlns:a16="http://schemas.microsoft.com/office/drawing/2014/main" id="{3E77E3A8-42B7-4B4A-A6A6-442857AA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B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line-a">
            <a:extLst xmlns:a="http://schemas.openxmlformats.org/drawingml/2006/main">
              <a:ext uri="{FF2B5EF4-FFF2-40B4-BE49-F238E27FC236}">
                <a16:creationId xmlns:a16="http://schemas.microsoft.com/office/drawing/2014/main" id="{D2E6B4E4-ACEA-43C6-A430-BE949EE5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line-b">
            <a:extLst xmlns:a="http://schemas.openxmlformats.org/drawingml/2006/main">
              <a:ext uri="{FF2B5EF4-FFF2-40B4-BE49-F238E27FC236}">
                <a16:creationId xmlns:a16="http://schemas.microsoft.com/office/drawing/2014/main" id="{4E588EEF-C63B-47C0-8AF5-7F09C87E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number">
            <a:extLst xmlns:a="http://schemas.openxmlformats.org/drawingml/2006/main">
              <a:ext uri="{FF2B5EF4-FFF2-40B4-BE49-F238E27FC236}">
                <a16:creationId xmlns:a16="http://schemas.microsoft.com/office/drawing/2014/main" id="{83F68170-5848-481A-85B6-855BBE92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7EDB3A85-DA61-4B34-A4DF-4B837073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高中数学 · 核心概念课</a:t>
            </a:r>
          </a:p>
        </p:txBody>
      </p:sp>
      <p:sp>
        <p:nvSpPr>
          <p:cNvPr id="7" name="title-main">
            <a:extLst xmlns:a="http://schemas.openxmlformats.org/drawingml/2006/main">
              <a:ext uri="{FF2B5EF4-FFF2-40B4-BE49-F238E27FC236}">
                <a16:creationId xmlns:a16="http://schemas.microsoft.com/office/drawing/2014/main" id="{0C46254E-31B0-4B53-B946-D3F59337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椭圆的定义与性质</a:t>
            </a:r>
          </a:p>
        </p:txBody>
      </p:sp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DBC862A-B310-450E-93D5-60480A75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24794C1C-2728-4C80-AB24-3F3530B0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从一根定长绳到标准方程——几何条件的代数化</a:t>
            </a:r>
          </a:p>
        </p:txBody>
      </p:sp>
      <p:sp>
        <p:nvSpPr>
          <p:cNvPr id="10" name="title-big-box">
            <a:extLst xmlns:a="http://schemas.openxmlformats.org/drawingml/2006/main">
              <a:ext uri="{FF2B5EF4-FFF2-40B4-BE49-F238E27FC236}">
                <a16:creationId xmlns:a16="http://schemas.microsoft.com/office/drawing/2014/main" id="{FFDC1514-4957-4066-B273-FC6EDC92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858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1" name="title-big-text">
            <a:extLst xmlns:a="http://schemas.openxmlformats.org/drawingml/2006/main">
              <a:ext uri="{FF2B5EF4-FFF2-40B4-BE49-F238E27FC236}">
                <a16:creationId xmlns:a16="http://schemas.microsoft.com/office/drawing/2014/main" id="{B2F06512-618B-49B9-92B3-5F8F6CA3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43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椭圆把到两焦点距离和不变的几何约束编码进标准方程。</a:t>
            </a:r>
          </a:p>
        </p:txBody>
      </p:sp>
      <p:sp>
        <p:nvSpPr>
          <p:cNvPr id="12" name="title-lesson">
            <a:extLst xmlns:a="http://schemas.openxmlformats.org/drawingml/2006/main">
              <a:ext uri="{FF2B5EF4-FFF2-40B4-BE49-F238E27FC236}">
                <a16:creationId xmlns:a16="http://schemas.microsoft.com/office/drawing/2014/main" id="{A19A2982-0434-430B-AF71-C0A67458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第 03 讲</a:t>
            </a:r>
          </a:p>
        </p:txBody>
      </p:sp>
    </p:spTree>
    <p:extLst>
      <p:ext uri="{BB962C8B-B14F-4D97-AF65-F5344CB8AC3E}">
        <p14:creationId xmlns:p14="http://schemas.microsoft.com/office/powerpoint/2010/main" val="813793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71288BCE-E0CE-40D8-B601-61613776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问题驱动</a:t>
            </a:r>
          </a:p>
        </p:txBody>
      </p:sp>
      <p:sp>
        <p:nvSpPr>
          <p:cNvPr id="2" name="heading-2">
            <a:extLst xmlns:a="http://schemas.openxmlformats.org/drawingml/2006/main">
              <a:ext uri="{FF2B5EF4-FFF2-40B4-BE49-F238E27FC236}">
                <a16:creationId xmlns:a16="http://schemas.microsoft.com/office/drawing/2014/main" id="{CE6D7194-4B44-47E5-878D-4FE44964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这一问，熟悉的方法为什么不够？</a:t>
            </a:r>
          </a:p>
        </p:txBody>
      </p:sp>
      <p:sp>
        <p:nvSpPr>
          <p:cNvPr id="3" name="heading-accent-2">
            <a:extLst xmlns:a="http://schemas.openxmlformats.org/drawingml/2006/main">
              <a:ext uri="{FF2B5EF4-FFF2-40B4-BE49-F238E27FC236}">
                <a16:creationId xmlns:a16="http://schemas.microsoft.com/office/drawing/2014/main" id="{C366F691-5223-42F6-921E-C266613B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ook-mark">
            <a:extLst xmlns:a="http://schemas.openxmlformats.org/drawingml/2006/main">
              <a:ext uri="{FF2B5EF4-FFF2-40B4-BE49-F238E27FC236}">
                <a16:creationId xmlns:a16="http://schemas.microsoft.com/office/drawing/2014/main" id="{2190D2D4-B273-44FD-8290-A40761A4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5" name="hook-question">
            <a:extLst xmlns:a="http://schemas.openxmlformats.org/drawingml/2006/main">
              <a:ext uri="{FF2B5EF4-FFF2-40B4-BE49-F238E27FC236}">
                <a16:creationId xmlns:a16="http://schemas.microsoft.com/office/drawing/2014/main" id="{B5298C7C-712B-487A-9A83-B8293E80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7524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两枚图钉和一根定长绳，为什么能画出一条封闭曲线？</a:t>
            </a:r>
          </a:p>
        </p:txBody>
      </p:sp>
      <p:sp>
        <p:nvSpPr>
          <p:cNvPr id="6" name="hook-note-box">
            <a:extLst xmlns:a="http://schemas.openxmlformats.org/drawingml/2006/main">
              <a:ext uri="{FF2B5EF4-FFF2-40B4-BE49-F238E27FC236}">
                <a16:creationId xmlns:a16="http://schemas.microsoft.com/office/drawing/2014/main" id="{63DDCB0F-C969-4975-B2E0-70916420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752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hook-note-text">
            <a:extLst xmlns:a="http://schemas.openxmlformats.org/drawingml/2006/main">
              <a:ext uri="{FF2B5EF4-FFF2-40B4-BE49-F238E27FC236}">
                <a16:creationId xmlns:a16="http://schemas.microsoft.com/office/drawing/2014/main" id="{586D6C98-E352-4B80-986D-02D14729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10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先说出你的直觉，再找出直觉中缺少的条件、参照对象或极限过程。</a:t>
            </a:r>
          </a:p>
        </p:txBody>
      </p:sp>
      <p:sp>
        <p:nvSpPr>
          <p:cNvPr id="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D207FF78-E50E-4050-895D-F751A9FF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0E740F94-41CD-426B-9063-CB098911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椭圆的定义与性质</a:t>
            </a:r>
          </a:p>
        </p:txBody>
      </p:sp>
      <p:sp>
        <p:nvSpPr>
          <p:cNvPr id="1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0407C92-8E0F-4CCC-BA9B-171737EB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6540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190FA49C-61A0-4537-997F-72C7527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学习路线</a:t>
            </a:r>
          </a:p>
        </p:txBody>
      </p:sp>
      <p:sp>
        <p:nvSpPr>
          <p:cNvPr id="2" name="heading-3">
            <a:extLst xmlns:a="http://schemas.openxmlformats.org/drawingml/2006/main">
              <a:ext uri="{FF2B5EF4-FFF2-40B4-BE49-F238E27FC236}">
                <a16:creationId xmlns:a16="http://schemas.microsoft.com/office/drawing/2014/main" id="{61008D45-14D3-48FC-88C2-AF0FB675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从直观图景走到可执行方法</a:t>
            </a:r>
          </a:p>
        </p:txBody>
      </p:sp>
      <p:sp>
        <p:nvSpPr>
          <p:cNvPr id="3" name="heading-accent-3">
            <a:extLst xmlns:a="http://schemas.openxmlformats.org/drawingml/2006/main">
              <a:ext uri="{FF2B5EF4-FFF2-40B4-BE49-F238E27FC236}">
                <a16:creationId xmlns:a16="http://schemas.microsoft.com/office/drawing/2014/main" id="{329EE1EA-8597-4FFE-8EE9-835E0FA7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3">
            <a:extLst xmlns:a="http://schemas.openxmlformats.org/drawingml/2006/main">
              <a:ext uri="{FF2B5EF4-FFF2-40B4-BE49-F238E27FC236}">
                <a16:creationId xmlns:a16="http://schemas.microsoft.com/office/drawing/2014/main" id="{BAE8155C-2D16-4E34-A3FA-584360B9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每一步都解决前一步留下的问题</a:t>
            </a:r>
          </a:p>
        </p:txBody>
      </p:sp>
      <p:sp>
        <p:nvSpPr>
          <p:cNvPr id="5" name="route-n-0">
            <a:extLst xmlns:a="http://schemas.openxmlformats.org/drawingml/2006/main">
              <a:ext uri="{FF2B5EF4-FFF2-40B4-BE49-F238E27FC236}">
                <a16:creationId xmlns:a16="http://schemas.microsoft.com/office/drawing/2014/main" id="{CF4A1534-D379-4DA5-84D9-57DCEF87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route-line-0">
            <a:extLst xmlns:a="http://schemas.openxmlformats.org/drawingml/2006/main">
              <a:ext uri="{FF2B5EF4-FFF2-40B4-BE49-F238E27FC236}">
                <a16:creationId xmlns:a16="http://schemas.microsoft.com/office/drawing/2014/main" id="{F808993E-9530-491C-826A-63BED01E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-h-0">
            <a:extLst xmlns:a="http://schemas.openxmlformats.org/drawingml/2006/main">
              <a:ext uri="{FF2B5EF4-FFF2-40B4-BE49-F238E27FC236}">
                <a16:creationId xmlns:a16="http://schemas.microsoft.com/office/drawing/2014/main" id="{4E98A426-4452-424D-88E1-C586364A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看见结构</a:t>
            </a:r>
          </a:p>
        </p:txBody>
      </p:sp>
      <p:sp>
        <p:nvSpPr>
          <p:cNvPr id="8" name="route-b-0">
            <a:extLst xmlns:a="http://schemas.openxmlformats.org/drawingml/2006/main">
              <a:ext uri="{FF2B5EF4-FFF2-40B4-BE49-F238E27FC236}">
                <a16:creationId xmlns:a16="http://schemas.microsoft.com/office/drawing/2014/main" id="{645BCAE3-3B87-4787-9696-597E5E23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用概念图识别对象、变化与约束。</a:t>
            </a:r>
          </a:p>
        </p:txBody>
      </p:sp>
      <p:sp>
        <p:nvSpPr>
          <p:cNvPr id="9" name="route-n-1">
            <a:extLst xmlns:a="http://schemas.openxmlformats.org/drawingml/2006/main">
              <a:ext uri="{FF2B5EF4-FFF2-40B4-BE49-F238E27FC236}">
                <a16:creationId xmlns:a16="http://schemas.microsoft.com/office/drawing/2014/main" id="{83046043-3F3F-420E-A702-24B78908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te-line-1">
            <a:extLst xmlns:a="http://schemas.openxmlformats.org/drawingml/2006/main">
              <a:ext uri="{FF2B5EF4-FFF2-40B4-BE49-F238E27FC236}">
                <a16:creationId xmlns:a16="http://schemas.microsoft.com/office/drawing/2014/main" id="{18C4C35D-97C6-428F-9894-B8965767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81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ute-h-1">
            <a:extLst xmlns:a="http://schemas.openxmlformats.org/drawingml/2006/main">
              <a:ext uri="{FF2B5EF4-FFF2-40B4-BE49-F238E27FC236}">
                <a16:creationId xmlns:a16="http://schemas.microsoft.com/office/drawing/2014/main" id="{F9953834-3E01-4470-AC18-71FCC65E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读懂表达</a:t>
            </a:r>
          </a:p>
        </p:txBody>
      </p:sp>
      <p:sp>
        <p:nvSpPr>
          <p:cNvPr id="12" name="route-b-1">
            <a:extLst xmlns:a="http://schemas.openxmlformats.org/drawingml/2006/main">
              <a:ext uri="{FF2B5EF4-FFF2-40B4-BE49-F238E27FC236}">
                <a16:creationId xmlns:a16="http://schemas.microsoft.com/office/drawing/2014/main" id="{C195C101-0FF2-4295-B260-1B5CC1A3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 Manim 把定义或定理中的关系拆开。</a:t>
            </a:r>
          </a:p>
        </p:txBody>
      </p:sp>
      <p:sp>
        <p:nvSpPr>
          <p:cNvPr id="13" name="route-n-2">
            <a:extLst xmlns:a="http://schemas.openxmlformats.org/drawingml/2006/main">
              <a:ext uri="{FF2B5EF4-FFF2-40B4-BE49-F238E27FC236}">
                <a16:creationId xmlns:a16="http://schemas.microsoft.com/office/drawing/2014/main" id="{495E736B-9A27-4043-AE9B-C5AF2D84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route-line-2">
            <a:extLst xmlns:a="http://schemas.openxmlformats.org/drawingml/2006/main">
              <a:ext uri="{FF2B5EF4-FFF2-40B4-BE49-F238E27FC236}">
                <a16:creationId xmlns:a16="http://schemas.microsoft.com/office/drawing/2014/main" id="{C592F546-F65F-4C03-9ABD-F3890215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006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ute-h-2">
            <a:extLst xmlns:a="http://schemas.openxmlformats.org/drawingml/2006/main">
              <a:ext uri="{FF2B5EF4-FFF2-40B4-BE49-F238E27FC236}">
                <a16:creationId xmlns:a16="http://schemas.microsoft.com/office/drawing/2014/main" id="{EE74536D-C41F-45FD-8F20-2C77B811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迁移解决</a:t>
            </a:r>
          </a:p>
        </p:txBody>
      </p:sp>
      <p:sp>
        <p:nvSpPr>
          <p:cNvPr id="16" name="route-b-2">
            <a:extLst xmlns:a="http://schemas.openxmlformats.org/drawingml/2006/main">
              <a:ext uri="{FF2B5EF4-FFF2-40B4-BE49-F238E27FC236}">
                <a16:creationId xmlns:a16="http://schemas.microsoft.com/office/drawing/2014/main" id="{CAB721AB-D9A1-40B1-B96D-810F6E3E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把方法用于例题、辨错与真实情境。</a:t>
            </a:r>
          </a:p>
        </p:txBody>
      </p:sp>
      <p:sp>
        <p:nvSpPr>
          <p:cNvPr id="1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8CAA64CA-80BC-4E21-B798-EA65800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title-3">
            <a:extLst xmlns:a="http://schemas.openxmlformats.org/drawingml/2006/main">
              <a:ext uri="{FF2B5EF4-FFF2-40B4-BE49-F238E27FC236}">
                <a16:creationId xmlns:a16="http://schemas.microsoft.com/office/drawing/2014/main" id="{CCBADA24-7F3F-4906-BECF-70771270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椭圆的定义与性质</a:t>
            </a:r>
          </a:p>
        </p:txBody>
      </p:sp>
      <p:sp>
        <p:nvSpPr>
          <p:cNvPr id="1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AF9FA3A0-859F-48EB-9965-8D35CDCA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9179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455B0CED-B471-4EF4-9F4A-1DB70936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概念理解</a:t>
            </a:r>
          </a:p>
        </p:txBody>
      </p:sp>
      <p:sp>
        <p:nvSpPr>
          <p:cNvPr id="2" name="heading-4">
            <a:extLst xmlns:a="http://schemas.openxmlformats.org/drawingml/2006/main">
              <a:ext uri="{FF2B5EF4-FFF2-40B4-BE49-F238E27FC236}">
                <a16:creationId xmlns:a16="http://schemas.microsoft.com/office/drawing/2014/main" id="{80C6E385-FFE0-4CC1-A740-994E352F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定长绳把“距离和不变”变成可见轨迹</a:t>
            </a:r>
          </a:p>
        </p:txBody>
      </p:sp>
      <p:sp>
        <p:nvSpPr>
          <p:cNvPr id="3" name="heading-accent-4">
            <a:extLst xmlns:a="http://schemas.openxmlformats.org/drawingml/2006/main">
              <a:ext uri="{FF2B5EF4-FFF2-40B4-BE49-F238E27FC236}">
                <a16:creationId xmlns:a16="http://schemas.microsoft.com/office/drawing/2014/main" id="{CCFED423-7FC3-4385-ACF0-3A507379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q-label">
            <a:extLst xmlns:a="http://schemas.openxmlformats.org/drawingml/2006/main">
              <a:ext uri="{FF2B5EF4-FFF2-40B4-BE49-F238E27FC236}">
                <a16:creationId xmlns:a16="http://schemas.microsoft.com/office/drawing/2014/main" id="{ED38921F-F62D-41B8-AED2-811E6DCC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观察问题</a:t>
            </a:r>
          </a:p>
        </p:txBody>
      </p:sp>
      <p:sp>
        <p:nvSpPr>
          <p:cNvPr id="5" name="concept-q">
            <a:extLst xmlns:a="http://schemas.openxmlformats.org/drawingml/2006/main">
              <a:ext uri="{FF2B5EF4-FFF2-40B4-BE49-F238E27FC236}">
                <a16:creationId xmlns:a16="http://schemas.microsoft.com/office/drawing/2014/main" id="{5DF772B1-085B-4E5E-92D1-392FB0A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铅笔移动时，哪一个量始终没有改变？</a:t>
            </a:r>
          </a:p>
        </p:txBody>
      </p:sp>
      <p:sp>
        <p:nvSpPr>
          <p:cNvPr id="6" name="concept-tip-box">
            <a:extLst xmlns:a="http://schemas.openxmlformats.org/drawingml/2006/main">
              <a:ext uri="{FF2B5EF4-FFF2-40B4-BE49-F238E27FC236}">
                <a16:creationId xmlns:a16="http://schemas.microsoft.com/office/drawing/2014/main" id="{91FAEA2B-A190-4189-BA80-6A309A0E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095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concept-tip-text">
            <a:extLst xmlns:a="http://schemas.openxmlformats.org/drawingml/2006/main">
              <a:ext uri="{FF2B5EF4-FFF2-40B4-BE49-F238E27FC236}">
                <a16:creationId xmlns:a16="http://schemas.microsoft.com/office/drawing/2014/main" id="{B02F2F03-74F6-4EE1-99EF-342887F0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3676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先用自己的话描述图中“不变的量”或“不断逼近的量”，再进入符号表达。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b8d33743448e7"/>
          <a:srcRect xmlns:a="http://schemas.openxmlformats.org/drawingml/2006/main" l="7201" t="0" r="7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790700"/>
            <a:ext cx="62293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0E5F5A1D-81BD-4229-A0AC-793773BD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51D660A5-5BB5-497A-8BE1-BD2ED991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椭圆的定义与性质</a:t>
            </a:r>
          </a:p>
        </p:txBody>
      </p:sp>
      <p:sp>
        <p:nvSpPr>
          <p:cNvPr id="1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AC7E0708-818D-4BE2-B4F0-FCE9B5F5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6408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d84e8e8ab4b0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366609BD-BC06-4114-8424-6A000E4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14711E58-C23B-4B5C-A278-08E4A5A3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椭圆的定义与性质 · 核心表达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FD0932CC-528D-4909-9569-F8EDBCDA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80528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47F7759A-9C4C-446B-AB87-C08AE44D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概念拆解</a:t>
            </a:r>
          </a:p>
        </p:txBody>
      </p:sp>
      <p:sp>
        <p:nvSpPr>
          <p:cNvPr id="2" name="heading-6">
            <a:extLst xmlns:a="http://schemas.openxmlformats.org/drawingml/2006/main">
              <a:ext uri="{FF2B5EF4-FFF2-40B4-BE49-F238E27FC236}">
                <a16:creationId xmlns:a16="http://schemas.microsoft.com/office/drawing/2014/main" id="{91D5866F-54BD-4A8C-B741-C769A598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三个关键词，搭起完整理解</a:t>
            </a:r>
          </a:p>
        </p:txBody>
      </p:sp>
      <p:sp>
        <p:nvSpPr>
          <p:cNvPr id="3" name="heading-accent-6">
            <a:extLst xmlns:a="http://schemas.openxmlformats.org/drawingml/2006/main">
              <a:ext uri="{FF2B5EF4-FFF2-40B4-BE49-F238E27FC236}">
                <a16:creationId xmlns:a16="http://schemas.microsoft.com/office/drawing/2014/main" id="{61A5F80A-F8C6-4ACD-9BAA-8DDF4A85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card-0">
            <a:extLst xmlns:a="http://schemas.openxmlformats.org/drawingml/2006/main">
              <a:ext uri="{FF2B5EF4-FFF2-40B4-BE49-F238E27FC236}">
                <a16:creationId xmlns:a16="http://schemas.microsoft.com/office/drawing/2014/main" id="{A2B6BD25-3DDD-4ED8-90EC-EA3FED7D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5" name="concept-index-0">
            <a:extLst xmlns:a="http://schemas.openxmlformats.org/drawingml/2006/main">
              <a:ext uri="{FF2B5EF4-FFF2-40B4-BE49-F238E27FC236}">
                <a16:creationId xmlns:a16="http://schemas.microsoft.com/office/drawing/2014/main" id="{F99CFE9E-9FB4-43DA-A538-30413B07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concept-head-0">
            <a:extLst xmlns:a="http://schemas.openxmlformats.org/drawingml/2006/main">
              <a:ext uri="{FF2B5EF4-FFF2-40B4-BE49-F238E27FC236}">
                <a16:creationId xmlns:a16="http://schemas.microsoft.com/office/drawing/2014/main" id="{5A1F38B6-C66B-4B26-9859-4801C55F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两个焦点</a:t>
            </a:r>
          </a:p>
        </p:txBody>
      </p:sp>
      <p:sp>
        <p:nvSpPr>
          <p:cNvPr id="7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948ACA1D-427D-4F34-863A-851D26BA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曲线上每一点都同时受到两个固定点的约束。</a:t>
            </a:r>
          </a:p>
        </p:txBody>
      </p:sp>
      <p:sp>
        <p:nvSpPr>
          <p:cNvPr id="8" name="concept-card-1">
            <a:extLst xmlns:a="http://schemas.openxmlformats.org/drawingml/2006/main">
              <a:ext uri="{FF2B5EF4-FFF2-40B4-BE49-F238E27FC236}">
                <a16:creationId xmlns:a16="http://schemas.microsoft.com/office/drawing/2014/main" id="{56E0EDBE-F022-4AD1-AA53-375A9588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9" name="concept-index-1">
            <a:extLst xmlns:a="http://schemas.openxmlformats.org/drawingml/2006/main">
              <a:ext uri="{FF2B5EF4-FFF2-40B4-BE49-F238E27FC236}">
                <a16:creationId xmlns:a16="http://schemas.microsoft.com/office/drawing/2014/main" id="{7A839A3F-B4FD-457B-A812-C19FE39D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ncept-head-1">
            <a:extLst xmlns:a="http://schemas.openxmlformats.org/drawingml/2006/main">
              <a:ext uri="{FF2B5EF4-FFF2-40B4-BE49-F238E27FC236}">
                <a16:creationId xmlns:a16="http://schemas.microsoft.com/office/drawing/2014/main" id="{38E6C446-CF57-4498-B921-CD047EC4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距离和不变</a:t>
            </a:r>
          </a:p>
        </p:txBody>
      </p:sp>
      <p:sp>
        <p:nvSpPr>
          <p:cNvPr id="11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F76082C5-2D83-4FCB-B32E-CCAF5DE0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到两个焦点的距离之和保持为固定常数。</a:t>
            </a:r>
          </a:p>
        </p:txBody>
      </p:sp>
      <p:sp>
        <p:nvSpPr>
          <p:cNvPr id="12" name="concept-card-2">
            <a:extLst xmlns:a="http://schemas.openxmlformats.org/drawingml/2006/main">
              <a:ext uri="{FF2B5EF4-FFF2-40B4-BE49-F238E27FC236}">
                <a16:creationId xmlns:a16="http://schemas.microsoft.com/office/drawing/2014/main" id="{E6BCF704-CCCF-4E20-B645-F7E2F36F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13" name="concept-index-2">
            <a:extLst xmlns:a="http://schemas.openxmlformats.org/drawingml/2006/main">
              <a:ext uri="{FF2B5EF4-FFF2-40B4-BE49-F238E27FC236}">
                <a16:creationId xmlns:a16="http://schemas.microsoft.com/office/drawing/2014/main" id="{6FAE5DD8-C215-4070-AC35-F199ED5E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concept-head-2">
            <a:extLst xmlns:a="http://schemas.openxmlformats.org/drawingml/2006/main">
              <a:ext uri="{FF2B5EF4-FFF2-40B4-BE49-F238E27FC236}">
                <a16:creationId xmlns:a16="http://schemas.microsoft.com/office/drawing/2014/main" id="{21CA2C8C-1FFD-49BB-96D1-C33B8C49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标准方程</a:t>
            </a:r>
          </a:p>
        </p:txBody>
      </p:sp>
      <p:sp>
        <p:nvSpPr>
          <p:cNvPr id="15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EAA277F6-859B-4B65-98A1-656002C2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坐标化后，长轴、短轴和焦距可从分母直接读取。</a:t>
            </a:r>
          </a:p>
        </p:txBody>
      </p:sp>
      <p:sp>
        <p:nvSpPr>
          <p:cNvPr id="16" name="concept-link-box">
            <a:extLst xmlns:a="http://schemas.openxmlformats.org/drawingml/2006/main">
              <a:ext uri="{FF2B5EF4-FFF2-40B4-BE49-F238E27FC236}">
                <a16:creationId xmlns:a16="http://schemas.microsoft.com/office/drawing/2014/main" id="{D9916105-132D-40EC-94B9-63DD9486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039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concept-link-text">
            <a:extLst xmlns:a="http://schemas.openxmlformats.org/drawingml/2006/main">
              <a:ext uri="{FF2B5EF4-FFF2-40B4-BE49-F238E27FC236}">
                <a16:creationId xmlns:a16="http://schemas.microsoft.com/office/drawing/2014/main" id="{FA3F2E8A-01F2-4A80-9605-9CCB11BC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椭圆把到两焦点距离和不变的几何约束编码进标准方程。</a:t>
            </a:r>
          </a:p>
        </p:txBody>
      </p:sp>
      <p:sp>
        <p:nvSpPr>
          <p:cNvPr id="1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BFE7372A-EBB5-4620-9D48-0FBA123E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E7525182-39EF-45F7-9140-4873EDF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椭圆的定义与性质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88CAF40B-B04F-4432-A9D1-29885728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3821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32cbce2da4ed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92388F04-74D1-4586-8B15-CFFDD82D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E4B96872-4EED-4E18-AF61-0D2CE086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椭圆的定义与性质 · 例题推导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900107EB-847E-4B8A-9E25-91C7F464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12338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8">
            <a:extLst xmlns:a="http://schemas.openxmlformats.org/drawingml/2006/main">
              <a:ext uri="{FF2B5EF4-FFF2-40B4-BE49-F238E27FC236}">
                <a16:creationId xmlns:a16="http://schemas.microsoft.com/office/drawing/2014/main" id="{0C874B1E-AF9E-47A8-81A9-D4D10363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方法清单</a:t>
            </a:r>
          </a:p>
        </p:txBody>
      </p:sp>
      <p:sp>
        <p:nvSpPr>
          <p:cNvPr id="2" name="heading-8">
            <a:extLst xmlns:a="http://schemas.openxmlformats.org/drawingml/2006/main">
              <a:ext uri="{FF2B5EF4-FFF2-40B4-BE49-F238E27FC236}">
                <a16:creationId xmlns:a16="http://schemas.microsoft.com/office/drawing/2014/main" id="{0CEF5F69-86E8-4086-9F0D-991ABBBC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把思路固定成可重复执行的四步</a:t>
            </a:r>
          </a:p>
        </p:txBody>
      </p:sp>
      <p:sp>
        <p:nvSpPr>
          <p:cNvPr id="3" name="heading-accent-8">
            <a:extLst xmlns:a="http://schemas.openxmlformats.org/drawingml/2006/main">
              <a:ext uri="{FF2B5EF4-FFF2-40B4-BE49-F238E27FC236}">
                <a16:creationId xmlns:a16="http://schemas.microsoft.com/office/drawing/2014/main" id="{7B52EF32-B1B6-44CC-A33C-E7C529C2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hod-n-0">
            <a:extLst xmlns:a="http://schemas.openxmlformats.org/drawingml/2006/main">
              <a:ext uri="{FF2B5EF4-FFF2-40B4-BE49-F238E27FC236}">
                <a16:creationId xmlns:a16="http://schemas.microsoft.com/office/drawing/2014/main" id="{48A04B2D-C907-44C2-8D97-887C08F6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method-rule-0">
            <a:extLst xmlns:a="http://schemas.openxmlformats.org/drawingml/2006/main">
              <a:ext uri="{FF2B5EF4-FFF2-40B4-BE49-F238E27FC236}">
                <a16:creationId xmlns:a16="http://schemas.microsoft.com/office/drawing/2014/main" id="{EF25E15E-5D65-4A47-8F5B-EDC97FC8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t-0">
            <a:extLst xmlns:a="http://schemas.openxmlformats.org/drawingml/2006/main">
              <a:ext uri="{FF2B5EF4-FFF2-40B4-BE49-F238E27FC236}">
                <a16:creationId xmlns:a16="http://schemas.microsoft.com/office/drawing/2014/main" id="{B335179C-B9CF-4C70-848C-1D51B26D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621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判断焦点所在坐标轴</a:t>
            </a:r>
          </a:p>
        </p:txBody>
      </p:sp>
      <p:sp>
        <p:nvSpPr>
          <p:cNvPr id="7" name="method-sep-0">
            <a:extLst xmlns:a="http://schemas.openxmlformats.org/drawingml/2006/main">
              <a:ext uri="{FF2B5EF4-FFF2-40B4-BE49-F238E27FC236}">
                <a16:creationId xmlns:a16="http://schemas.microsoft.com/office/drawing/2014/main" id="{486BFBDF-D190-4AF6-A951-82EE4897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n-1">
            <a:extLst xmlns:a="http://schemas.openxmlformats.org/drawingml/2006/main">
              <a:ext uri="{FF2B5EF4-FFF2-40B4-BE49-F238E27FC236}">
                <a16:creationId xmlns:a16="http://schemas.microsoft.com/office/drawing/2014/main" id="{B40DC43A-8691-44BB-9920-E28DAC30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method-rule-1">
            <a:extLst xmlns:a="http://schemas.openxmlformats.org/drawingml/2006/main">
              <a:ext uri="{FF2B5EF4-FFF2-40B4-BE49-F238E27FC236}">
                <a16:creationId xmlns:a16="http://schemas.microsoft.com/office/drawing/2014/main" id="{172D10EF-8EE5-407D-A695-A2ECA94F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t-1">
            <a:extLst xmlns:a="http://schemas.openxmlformats.org/drawingml/2006/main">
              <a:ext uri="{FF2B5EF4-FFF2-40B4-BE49-F238E27FC236}">
                <a16:creationId xmlns:a16="http://schemas.microsoft.com/office/drawing/2014/main" id="{061CC4C9-BD69-4FE3-B6F4-3DFC56D5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84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找出较大的分母</a:t>
            </a:r>
          </a:p>
        </p:txBody>
      </p:sp>
      <p:sp>
        <p:nvSpPr>
          <p:cNvPr id="11" name="method-sep-1">
            <a:extLst xmlns:a="http://schemas.openxmlformats.org/drawingml/2006/main">
              <a:ext uri="{FF2B5EF4-FFF2-40B4-BE49-F238E27FC236}">
                <a16:creationId xmlns:a16="http://schemas.microsoft.com/office/drawing/2014/main" id="{140BF8FB-A7FA-4F63-956D-63ACFF54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n-2">
            <a:extLst xmlns:a="http://schemas.openxmlformats.org/drawingml/2006/main">
              <a:ext uri="{FF2B5EF4-FFF2-40B4-BE49-F238E27FC236}">
                <a16:creationId xmlns:a16="http://schemas.microsoft.com/office/drawing/2014/main" id="{E278BECE-74F5-43CD-A271-9EB743C1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method-rule-2">
            <a:extLst xmlns:a="http://schemas.openxmlformats.org/drawingml/2006/main">
              <a:ext uri="{FF2B5EF4-FFF2-40B4-BE49-F238E27FC236}">
                <a16:creationId xmlns:a16="http://schemas.microsoft.com/office/drawing/2014/main" id="{1E889592-0E1F-40E5-B9A8-5300EB59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t-2">
            <a:extLst xmlns:a="http://schemas.openxmlformats.org/drawingml/2006/main">
              <a:ext uri="{FF2B5EF4-FFF2-40B4-BE49-F238E27FC236}">
                <a16:creationId xmlns:a16="http://schemas.microsoft.com/office/drawing/2014/main" id="{91648086-D2ED-4FB9-8805-DCC6661D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读取半长轴与半短轴</a:t>
            </a:r>
          </a:p>
        </p:txBody>
      </p:sp>
      <p:sp>
        <p:nvSpPr>
          <p:cNvPr id="15" name="method-sep-2">
            <a:extLst xmlns:a="http://schemas.openxmlformats.org/drawingml/2006/main">
              <a:ext uri="{FF2B5EF4-FFF2-40B4-BE49-F238E27FC236}">
                <a16:creationId xmlns:a16="http://schemas.microsoft.com/office/drawing/2014/main" id="{9FB2FF9F-CE3A-4681-AB1D-6308CA2B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n-3">
            <a:extLst xmlns:a="http://schemas.openxmlformats.org/drawingml/2006/main">
              <a:ext uri="{FF2B5EF4-FFF2-40B4-BE49-F238E27FC236}">
                <a16:creationId xmlns:a16="http://schemas.microsoft.com/office/drawing/2014/main" id="{FCAB9B15-084B-4A7D-B9FF-C393D75F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method-rule-3">
            <a:extLst xmlns:a="http://schemas.openxmlformats.org/drawingml/2006/main">
              <a:ext uri="{FF2B5EF4-FFF2-40B4-BE49-F238E27FC236}">
                <a16:creationId xmlns:a16="http://schemas.microsoft.com/office/drawing/2014/main" id="{9EB81C63-DD38-47DF-8553-C913B5BE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t-3">
            <a:extLst xmlns:a="http://schemas.openxmlformats.org/drawingml/2006/main">
              <a:ext uri="{FF2B5EF4-FFF2-40B4-BE49-F238E27FC236}">
                <a16:creationId xmlns:a16="http://schemas.microsoft.com/office/drawing/2014/main" id="{C147D8F4-9672-400E-ADCA-5058324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910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利用平方关系求焦半距</a:t>
            </a:r>
          </a:p>
        </p:txBody>
      </p:sp>
      <p:sp>
        <p:nvSpPr>
          <p:cNvPr id="19" name="method-note-box">
            <a:extLst xmlns:a="http://schemas.openxmlformats.org/drawingml/2006/main">
              <a:ext uri="{FF2B5EF4-FFF2-40B4-BE49-F238E27FC236}">
                <a16:creationId xmlns:a16="http://schemas.microsoft.com/office/drawing/2014/main" id="{7B524A62-5DBE-464B-97FC-5A684CD4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20" name="method-note-text">
            <a:extLst xmlns:a="http://schemas.openxmlformats.org/drawingml/2006/main">
              <a:ext uri="{FF2B5EF4-FFF2-40B4-BE49-F238E27FC236}">
                <a16:creationId xmlns:a16="http://schemas.microsoft.com/office/drawing/2014/main" id="{77921648-0EE9-46C4-87DE-56D1D025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先确认对象与条件，再开始计算；最后一定回到原问题解释结果。</a:t>
            </a:r>
          </a:p>
        </p:txBody>
      </p:sp>
      <p:sp>
        <p:nvSpPr>
          <p:cNvPr id="2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99BCA840-ACD6-4A47-AD32-27224F67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5E2D84D9-EDC0-4B00-8048-F17643C3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椭圆的定义与性质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8348AC1-6AD8-49F2-ACE4-70E4DE5F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274429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D238C040-723C-4296-B6F7-5E0E1BCA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易错辨析</a:t>
            </a:r>
          </a:p>
        </p:txBody>
      </p:sp>
      <p:sp>
        <p:nvSpPr>
          <p:cNvPr id="2" name="heading-9">
            <a:extLst xmlns:a="http://schemas.openxmlformats.org/drawingml/2006/main">
              <a:ext uri="{FF2B5EF4-FFF2-40B4-BE49-F238E27FC236}">
                <a16:creationId xmlns:a16="http://schemas.microsoft.com/office/drawing/2014/main" id="{9C288521-4410-4897-AE17-86755A19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错误往往不是算错，而是对象或条件看错</a:t>
            </a:r>
          </a:p>
        </p:txBody>
      </p:sp>
      <p:sp>
        <p:nvSpPr>
          <p:cNvPr id="3" name="heading-accent-9">
            <a:extLst xmlns:a="http://schemas.openxmlformats.org/drawingml/2006/main">
              <a:ext uri="{FF2B5EF4-FFF2-40B4-BE49-F238E27FC236}">
                <a16:creationId xmlns:a16="http://schemas.microsoft.com/office/drawing/2014/main" id="{6F6E8881-0CAC-4CBE-A845-C628983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rror-card-0">
            <a:extLst xmlns:a="http://schemas.openxmlformats.org/drawingml/2006/main">
              <a:ext uri="{FF2B5EF4-FFF2-40B4-BE49-F238E27FC236}">
                <a16:creationId xmlns:a16="http://schemas.microsoft.com/office/drawing/2014/main" id="{E73A6CA1-0C70-4AED-886B-27081B7E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5" name="error-no-0">
            <a:extLst xmlns:a="http://schemas.openxmlformats.org/drawingml/2006/main">
              <a:ext uri="{FF2B5EF4-FFF2-40B4-BE49-F238E27FC236}">
                <a16:creationId xmlns:a16="http://schemas.microsoft.com/office/drawing/2014/main" id="{2261F8CE-0657-4286-8E53-E8BBBBE2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error-h-0">
            <a:extLst xmlns:a="http://schemas.openxmlformats.org/drawingml/2006/main">
              <a:ext uri="{FF2B5EF4-FFF2-40B4-BE49-F238E27FC236}">
                <a16:creationId xmlns:a16="http://schemas.microsoft.com/office/drawing/2014/main" id="{4DAFFC96-7FB8-4B3C-97F5-D88EA76F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漏掉非退化条件</a:t>
            </a:r>
          </a:p>
        </p:txBody>
      </p:sp>
      <p:sp>
        <p:nvSpPr>
          <p:cNvPr id="7" name="error-b-0">
            <a:extLst xmlns:a="http://schemas.openxmlformats.org/drawingml/2006/main">
              <a:ext uri="{FF2B5EF4-FFF2-40B4-BE49-F238E27FC236}">
                <a16:creationId xmlns:a16="http://schemas.microsoft.com/office/drawing/2014/main" id="{A46B37CD-45CC-4B6F-884D-4563785F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距离和必须严格大于焦点间距离。</a:t>
            </a:r>
          </a:p>
        </p:txBody>
      </p:sp>
      <p:sp>
        <p:nvSpPr>
          <p:cNvPr id="8" name="error-card-1">
            <a:extLst xmlns:a="http://schemas.openxmlformats.org/drawingml/2006/main">
              <a:ext uri="{FF2B5EF4-FFF2-40B4-BE49-F238E27FC236}">
                <a16:creationId xmlns:a16="http://schemas.microsoft.com/office/drawing/2014/main" id="{C7AC0D3A-67B1-4A41-AEBE-711BA3B4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4288">
            <a:solidFill>
              <a:srgbClr val="EF6A5B"/>
            </a:solidFill>
            <a:prstDash val="dash"/>
          </a:ln>
        </p:spPr>
      </p:sp>
      <p:sp>
        <p:nvSpPr>
          <p:cNvPr id="9" name="error-no-1">
            <a:extLst xmlns:a="http://schemas.openxmlformats.org/drawingml/2006/main">
              <a:ext uri="{FF2B5EF4-FFF2-40B4-BE49-F238E27FC236}">
                <a16:creationId xmlns:a16="http://schemas.microsoft.com/office/drawing/2014/main" id="{3EF6E8DE-340B-43E6-B222-639D1E4E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error-h-1">
            <a:extLst xmlns:a="http://schemas.openxmlformats.org/drawingml/2006/main">
              <a:ext uri="{FF2B5EF4-FFF2-40B4-BE49-F238E27FC236}">
                <a16:creationId xmlns:a16="http://schemas.microsoft.com/office/drawing/2014/main" id="{94C29819-3363-4CAD-B1D9-1CF2C1AE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焦点轴方向看反</a:t>
            </a:r>
          </a:p>
        </p:txBody>
      </p:sp>
      <p:sp>
        <p:nvSpPr>
          <p:cNvPr id="11" name="error-b-1">
            <a:extLst xmlns:a="http://schemas.openxmlformats.org/drawingml/2006/main">
              <a:ext uri="{FF2B5EF4-FFF2-40B4-BE49-F238E27FC236}">
                <a16:creationId xmlns:a16="http://schemas.microsoft.com/office/drawing/2014/main" id="{13245852-7143-4370-B215-DD84457E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较大分母所在轴才是长轴。</a:t>
            </a:r>
          </a:p>
        </p:txBody>
      </p:sp>
      <p:sp>
        <p:nvSpPr>
          <p:cNvPr id="12" name="error-card-2">
            <a:extLst xmlns:a="http://schemas.openxmlformats.org/drawingml/2006/main">
              <a:ext uri="{FF2B5EF4-FFF2-40B4-BE49-F238E27FC236}">
                <a16:creationId xmlns:a16="http://schemas.microsoft.com/office/drawing/2014/main" id="{098F7907-1529-4E92-8E53-348845E3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13" name="error-no-2">
            <a:extLst xmlns:a="http://schemas.openxmlformats.org/drawingml/2006/main">
              <a:ext uri="{FF2B5EF4-FFF2-40B4-BE49-F238E27FC236}">
                <a16:creationId xmlns:a16="http://schemas.microsoft.com/office/drawing/2014/main" id="{C3230D8B-CD02-4EEE-B59A-37D95519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error-h-2">
            <a:extLst xmlns:a="http://schemas.openxmlformats.org/drawingml/2006/main">
              <a:ext uri="{FF2B5EF4-FFF2-40B4-BE49-F238E27FC236}">
                <a16:creationId xmlns:a16="http://schemas.microsoft.com/office/drawing/2014/main" id="{25B7F962-1DCE-4896-986C-B2C039CC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平方关系写反</a:t>
            </a:r>
          </a:p>
        </p:txBody>
      </p:sp>
      <p:sp>
        <p:nvSpPr>
          <p:cNvPr id="15" name="error-b-2">
            <a:extLst xmlns:a="http://schemas.openxmlformats.org/drawingml/2006/main">
              <a:ext uri="{FF2B5EF4-FFF2-40B4-BE49-F238E27FC236}">
                <a16:creationId xmlns:a16="http://schemas.microsoft.com/office/drawing/2014/main" id="{DA0D824E-ED9D-43DD-B667-59D0CF24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焦半距小于半长轴。</a:t>
            </a:r>
          </a:p>
        </p:txBody>
      </p:sp>
      <p:sp>
        <p:nvSpPr>
          <p:cNvPr id="16" name="error-check-box">
            <a:extLst xmlns:a="http://schemas.openxmlformats.org/drawingml/2006/main">
              <a:ext uri="{FF2B5EF4-FFF2-40B4-BE49-F238E27FC236}">
                <a16:creationId xmlns:a16="http://schemas.microsoft.com/office/drawing/2014/main" id="{BA7E9D89-236A-4A2D-A662-E8E7054B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error-check-text">
            <a:extLst xmlns:a="http://schemas.openxmlformats.org/drawingml/2006/main">
              <a:ext uri="{FF2B5EF4-FFF2-40B4-BE49-F238E27FC236}">
                <a16:creationId xmlns:a16="http://schemas.microsoft.com/office/drawing/2014/main" id="{0ECCB17D-8E96-474E-A14E-1F49D7C1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自检：我现在研究的是谁？参照范围有没有改变？结论是否满足定义中的全部条件？</a:t>
            </a:r>
          </a:p>
        </p:txBody>
      </p:sp>
      <p:sp>
        <p:nvSpPr>
          <p:cNvPr id="1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8C796AA9-6A4D-44EF-9E83-85294052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4973EB6A-3BC4-45B2-8179-A396BF7A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椭圆的定义与性质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C7BB650F-9A4D-43AF-B797-46EEF7B4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852696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0">
            <a:extLst xmlns:a="http://schemas.openxmlformats.org/drawingml/2006/main">
              <a:ext uri="{FF2B5EF4-FFF2-40B4-BE49-F238E27FC236}">
                <a16:creationId xmlns:a16="http://schemas.microsoft.com/office/drawing/2014/main" id="{77416A01-A569-4EE7-9BB4-0D2DD3BA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迁移应用</a:t>
            </a:r>
          </a:p>
        </p:txBody>
      </p:sp>
      <p:sp>
        <p:nvSpPr>
          <p:cNvPr id="2" name="heading-10">
            <a:extLst xmlns:a="http://schemas.openxmlformats.org/drawingml/2006/main">
              <a:ext uri="{FF2B5EF4-FFF2-40B4-BE49-F238E27FC236}">
                <a16:creationId xmlns:a16="http://schemas.microsoft.com/office/drawing/2014/main" id="{FC27079D-6415-4FF1-B8F3-DE1FF9AB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同一个数学结构，可以解释不同现实任务</a:t>
            </a:r>
          </a:p>
        </p:txBody>
      </p:sp>
      <p:sp>
        <p:nvSpPr>
          <p:cNvPr id="3" name="heading-accent-10">
            <a:extLst xmlns:a="http://schemas.openxmlformats.org/drawingml/2006/main">
              <a:ext uri="{FF2B5EF4-FFF2-40B4-BE49-F238E27FC236}">
                <a16:creationId xmlns:a16="http://schemas.microsoft.com/office/drawing/2014/main" id="{27BA7AB8-44C0-4B04-ACCF-5EE1283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p-tag-0">
            <a:extLst xmlns:a="http://schemas.openxmlformats.org/drawingml/2006/main">
              <a:ext uri="{FF2B5EF4-FFF2-40B4-BE49-F238E27FC236}">
                <a16:creationId xmlns:a16="http://schemas.microsoft.com/office/drawing/2014/main" id="{EFD0518E-C555-4181-BF6E-BD5192E3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绘图</a:t>
            </a:r>
          </a:p>
        </p:txBody>
      </p:sp>
      <p:sp>
        <p:nvSpPr>
          <p:cNvPr id="5" name="app-rule-0">
            <a:extLst xmlns:a="http://schemas.openxmlformats.org/drawingml/2006/main">
              <a:ext uri="{FF2B5EF4-FFF2-40B4-BE49-F238E27FC236}">
                <a16:creationId xmlns:a16="http://schemas.microsoft.com/office/drawing/2014/main" id="{AEA9E3AC-E81B-4CDE-8146-E5ADEBD1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-body-0">
            <a:extLst xmlns:a="http://schemas.openxmlformats.org/drawingml/2006/main">
              <a:ext uri="{FF2B5EF4-FFF2-40B4-BE49-F238E27FC236}">
                <a16:creationId xmlns:a16="http://schemas.microsoft.com/office/drawing/2014/main" id="{9C80BBBE-C841-438F-9AF5-D084C840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图钉与定长绳直接实现椭圆定义。</a:t>
            </a:r>
          </a:p>
        </p:txBody>
      </p:sp>
      <p:sp>
        <p:nvSpPr>
          <p:cNvPr id="7" name="app-tag-1">
            <a:extLst xmlns:a="http://schemas.openxmlformats.org/drawingml/2006/main">
              <a:ext uri="{FF2B5EF4-FFF2-40B4-BE49-F238E27FC236}">
                <a16:creationId xmlns:a16="http://schemas.microsoft.com/office/drawing/2014/main" id="{214B677F-3E27-4157-A5E6-E007516C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反射</a:t>
            </a:r>
          </a:p>
        </p:txBody>
      </p:sp>
      <p:sp>
        <p:nvSpPr>
          <p:cNvPr id="8" name="app-rule-1">
            <a:extLst xmlns:a="http://schemas.openxmlformats.org/drawingml/2006/main">
              <a:ext uri="{FF2B5EF4-FFF2-40B4-BE49-F238E27FC236}">
                <a16:creationId xmlns:a16="http://schemas.microsoft.com/office/drawing/2014/main" id="{411EE0C6-E299-4788-9116-ABED10CA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pp-body-1">
            <a:extLst xmlns:a="http://schemas.openxmlformats.org/drawingml/2006/main">
              <a:ext uri="{FF2B5EF4-FFF2-40B4-BE49-F238E27FC236}">
                <a16:creationId xmlns:a16="http://schemas.microsoft.com/office/drawing/2014/main" id="{3F2415A7-D8AE-4460-AE17-AD8C4A77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从一个焦点发出的光线，经椭圆反射后汇向另一焦点。</a:t>
            </a:r>
          </a:p>
        </p:txBody>
      </p:sp>
      <p:sp>
        <p:nvSpPr>
          <p:cNvPr id="10" name="app-tag-2">
            <a:extLst xmlns:a="http://schemas.openxmlformats.org/drawingml/2006/main">
              <a:ext uri="{FF2B5EF4-FFF2-40B4-BE49-F238E27FC236}">
                <a16:creationId xmlns:a16="http://schemas.microsoft.com/office/drawing/2014/main" id="{CBAB741A-7E7F-4AD5-B867-96261F8E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轨道</a:t>
            </a:r>
          </a:p>
        </p:txBody>
      </p:sp>
      <p:sp>
        <p:nvSpPr>
          <p:cNvPr id="11" name="app-rule-2">
            <a:extLst xmlns:a="http://schemas.openxmlformats.org/drawingml/2006/main">
              <a:ext uri="{FF2B5EF4-FFF2-40B4-BE49-F238E27FC236}">
                <a16:creationId xmlns:a16="http://schemas.microsoft.com/office/drawing/2014/main" id="{2B64B413-B804-4590-9D93-7D5C1A95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339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p-body-2">
            <a:extLst xmlns:a="http://schemas.openxmlformats.org/drawingml/2006/main">
              <a:ext uri="{FF2B5EF4-FFF2-40B4-BE49-F238E27FC236}">
                <a16:creationId xmlns:a16="http://schemas.microsoft.com/office/drawing/2014/main" id="{AE03BDA0-3514-450C-94D7-55624805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椭圆参数帮助描述近似的天体轨道形状。</a:t>
            </a:r>
          </a:p>
        </p:txBody>
      </p:sp>
      <p:sp>
        <p:nvSpPr>
          <p:cNvPr id="13" name="app-note-box">
            <a:extLst xmlns:a="http://schemas.openxmlformats.org/drawingml/2006/main">
              <a:ext uri="{FF2B5EF4-FFF2-40B4-BE49-F238E27FC236}">
                <a16:creationId xmlns:a16="http://schemas.microsoft.com/office/drawing/2014/main" id="{3E0C341D-B019-45EC-91E0-8853B810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67350"/>
            <a:ext cx="9639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4" name="app-note-text">
            <a:extLst xmlns:a="http://schemas.openxmlformats.org/drawingml/2006/main">
              <a:ext uri="{FF2B5EF4-FFF2-40B4-BE49-F238E27FC236}">
                <a16:creationId xmlns:a16="http://schemas.microsoft.com/office/drawing/2014/main" id="{78A828E1-01D0-43FF-9BA2-51FD61D8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007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迁移的关键不是换场景，而是保留同一组对象、关系与约束。</a:t>
            </a:r>
          </a:p>
        </p:txBody>
      </p:sp>
      <p:sp>
        <p:nvSpPr>
          <p:cNvPr id="1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912ADDAF-C116-4503-96C4-3ECB7097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title-10">
            <a:extLst xmlns:a="http://schemas.openxmlformats.org/drawingml/2006/main">
              <a:ext uri="{FF2B5EF4-FFF2-40B4-BE49-F238E27FC236}">
                <a16:creationId xmlns:a16="http://schemas.microsoft.com/office/drawing/2014/main" id="{C0D263EE-0C05-4923-B939-6BA760CE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椭圆的定义与性质</a:t>
            </a:r>
          </a:p>
        </p:txBody>
      </p:sp>
      <p:sp>
        <p:nvSpPr>
          <p:cNvPr id="17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BCDA2B54-EDB6-478F-A912-03C8DB38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996669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1">
            <a:extLst xmlns:a="http://schemas.openxmlformats.org/drawingml/2006/main">
              <a:ext uri="{FF2B5EF4-FFF2-40B4-BE49-F238E27FC236}">
                <a16:creationId xmlns:a16="http://schemas.microsoft.com/office/drawing/2014/main" id="{F3F52D9A-13EA-42F5-9FF8-467A0DF8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课堂练习</a:t>
            </a:r>
          </a:p>
        </p:txBody>
      </p:sp>
      <p:sp>
        <p:nvSpPr>
          <p:cNvPr id="2" name="heading-11">
            <a:extLst xmlns:a="http://schemas.openxmlformats.org/drawingml/2006/main">
              <a:ext uri="{FF2B5EF4-FFF2-40B4-BE49-F238E27FC236}">
                <a16:creationId xmlns:a16="http://schemas.microsoft.com/office/drawing/2014/main" id="{E54A5FD6-073B-4AC9-891A-BF92211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先说思路，再写表达</a:t>
            </a:r>
          </a:p>
        </p:txBody>
      </p:sp>
      <p:sp>
        <p:nvSpPr>
          <p:cNvPr id="3" name="heading-accent-11">
            <a:extLst xmlns:a="http://schemas.openxmlformats.org/drawingml/2006/main">
              <a:ext uri="{FF2B5EF4-FFF2-40B4-BE49-F238E27FC236}">
                <a16:creationId xmlns:a16="http://schemas.microsoft.com/office/drawing/2014/main" id="{3B34150A-BB46-46FD-8F70-BD8A39F4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11">
            <a:extLst xmlns:a="http://schemas.openxmlformats.org/drawingml/2006/main">
              <a:ext uri="{FF2B5EF4-FFF2-40B4-BE49-F238E27FC236}">
                <a16:creationId xmlns:a16="http://schemas.microsoft.com/office/drawing/2014/main" id="{60447F2E-8534-4713-B0F0-1D42C758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每题先用一句话说明准备使用的定义或方法</a:t>
            </a:r>
          </a:p>
        </p:txBody>
      </p:sp>
      <p:sp>
        <p:nvSpPr>
          <p:cNvPr id="5" name="practice-tag-0">
            <a:extLst xmlns:a="http://schemas.openxmlformats.org/drawingml/2006/main">
              <a:ext uri="{FF2B5EF4-FFF2-40B4-BE49-F238E27FC236}">
                <a16:creationId xmlns:a16="http://schemas.microsoft.com/office/drawing/2014/main" id="{186E02E6-F8DE-411A-93DA-34E82394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6" name="practice-card-0">
            <a:extLst xmlns:a="http://schemas.openxmlformats.org/drawingml/2006/main">
              <a:ext uri="{FF2B5EF4-FFF2-40B4-BE49-F238E27FC236}">
                <a16:creationId xmlns:a16="http://schemas.microsoft.com/office/drawing/2014/main" id="{3E6629AD-AF21-4722-A0B8-6CD18864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2A78D6"/>
            </a:solidFill>
            <a:prstDash val="solid"/>
          </a:ln>
        </p:spPr>
      </p:sp>
      <p:sp>
        <p:nvSpPr>
          <p:cNvPr id="7" name="practice-q-0">
            <a:extLst xmlns:a="http://schemas.openxmlformats.org/drawingml/2006/main">
              <a:ext uri="{FF2B5EF4-FFF2-40B4-BE49-F238E27FC236}">
                <a16:creationId xmlns:a16="http://schemas.microsoft.com/office/drawing/2014/main" id="{AE876BFE-4616-4A6D-9182-190F4843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已知椭圆焦点在横轴，说明如何从长轴和焦距得到标准方程。</a:t>
            </a:r>
          </a:p>
        </p:txBody>
      </p:sp>
      <p:sp>
        <p:nvSpPr>
          <p:cNvPr id="8" name="practice-tag-1">
            <a:extLst xmlns:a="http://schemas.openxmlformats.org/drawingml/2006/main">
              <a:ext uri="{FF2B5EF4-FFF2-40B4-BE49-F238E27FC236}">
                <a16:creationId xmlns:a16="http://schemas.microsoft.com/office/drawing/2014/main" id="{62E02160-60EF-4193-A021-52AC200A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practice-card-1">
            <a:extLst xmlns:a="http://schemas.openxmlformats.org/drawingml/2006/main">
              <a:ext uri="{FF2B5EF4-FFF2-40B4-BE49-F238E27FC236}">
                <a16:creationId xmlns:a16="http://schemas.microsoft.com/office/drawing/2014/main" id="{2D64FA79-C652-4E39-A559-E024CA68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5285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3335">
            <a:solidFill>
              <a:srgbClr val="EF6A5B"/>
            </a:solidFill>
            <a:prstDash val="solid"/>
          </a:ln>
        </p:spPr>
      </p:sp>
      <p:sp>
        <p:nvSpPr>
          <p:cNvPr id="10" name="practice-q-1">
            <a:extLst xmlns:a="http://schemas.openxmlformats.org/drawingml/2006/main">
              <a:ext uri="{FF2B5EF4-FFF2-40B4-BE49-F238E27FC236}">
                <a16:creationId xmlns:a16="http://schemas.microsoft.com/office/drawing/2014/main" id="{CB9AF93C-53EF-4917-8179-A92C330C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比较两个分母，判断长轴方向并描述顶点位置。</a:t>
            </a:r>
          </a:p>
        </p:txBody>
      </p:sp>
      <p:sp>
        <p:nvSpPr>
          <p:cNvPr id="11" name="practice-note-box">
            <a:extLst xmlns:a="http://schemas.openxmlformats.org/drawingml/2006/main">
              <a:ext uri="{FF2B5EF4-FFF2-40B4-BE49-F238E27FC236}">
                <a16:creationId xmlns:a16="http://schemas.microsoft.com/office/drawing/2014/main" id="{C67F518A-4530-4538-8FEC-86E6415A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24500"/>
            <a:ext cx="9163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2" name="practice-note-text">
            <a:extLst xmlns:a="http://schemas.openxmlformats.org/drawingml/2006/main">
              <a:ext uri="{FF2B5EF4-FFF2-40B4-BE49-F238E27FC236}">
                <a16:creationId xmlns:a16="http://schemas.microsoft.com/office/drawing/2014/main" id="{F89DA754-0158-4F22-A813-EEC9A3BB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874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检查顺序：对象 → 条件 → 方法 → 结果解释。</a:t>
            </a:r>
          </a:p>
        </p:txBody>
      </p:sp>
      <p:sp>
        <p:nvSpPr>
          <p:cNvPr id="1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38A083F9-A561-49DB-BD91-A061EEF1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title-11">
            <a:extLst xmlns:a="http://schemas.openxmlformats.org/drawingml/2006/main">
              <a:ext uri="{FF2B5EF4-FFF2-40B4-BE49-F238E27FC236}">
                <a16:creationId xmlns:a16="http://schemas.microsoft.com/office/drawing/2014/main" id="{2A3793C7-6349-4C32-B885-78CCFBE4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椭圆的定义与性质</a:t>
            </a:r>
          </a:p>
        </p:txBody>
      </p:sp>
      <p:sp>
        <p:nvSpPr>
          <p:cNvPr id="1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5A264A0B-4627-44B8-8A46-18D1E9B0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36226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2">
            <a:extLst xmlns:a="http://schemas.openxmlformats.org/drawingml/2006/main">
              <a:ext uri="{FF2B5EF4-FFF2-40B4-BE49-F238E27FC236}">
                <a16:creationId xmlns:a16="http://schemas.microsoft.com/office/drawing/2014/main" id="{C7ED0957-D222-4DEB-9D94-C324B61B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课堂总结</a:t>
            </a:r>
          </a:p>
        </p:txBody>
      </p:sp>
      <p:sp>
        <p:nvSpPr>
          <p:cNvPr id="2" name="heading-12">
            <a:extLst xmlns:a="http://schemas.openxmlformats.org/drawingml/2006/main">
              <a:ext uri="{FF2B5EF4-FFF2-40B4-BE49-F238E27FC236}">
                <a16:creationId xmlns:a16="http://schemas.microsoft.com/office/drawing/2014/main" id="{1B5467C0-C26D-4692-B6E4-393CF78A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把今天的主线压缩成三句话</a:t>
            </a:r>
          </a:p>
        </p:txBody>
      </p:sp>
      <p:sp>
        <p:nvSpPr>
          <p:cNvPr id="3" name="heading-accent-12">
            <a:extLst xmlns:a="http://schemas.openxmlformats.org/drawingml/2006/main">
              <a:ext uri="{FF2B5EF4-FFF2-40B4-BE49-F238E27FC236}">
                <a16:creationId xmlns:a16="http://schemas.microsoft.com/office/drawing/2014/main" id="{3E939A65-62C2-4911-BE95-54A1CA10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n-0">
            <a:extLst xmlns:a="http://schemas.openxmlformats.org/drawingml/2006/main">
              <a:ext uri="{FF2B5EF4-FFF2-40B4-BE49-F238E27FC236}">
                <a16:creationId xmlns:a16="http://schemas.microsoft.com/office/drawing/2014/main" id="{85287BAF-5C8D-4CE1-9012-3CC1F6CE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sum-t-0">
            <a:extLst xmlns:a="http://schemas.openxmlformats.org/drawingml/2006/main">
              <a:ext uri="{FF2B5EF4-FFF2-40B4-BE49-F238E27FC236}">
                <a16:creationId xmlns:a16="http://schemas.microsoft.com/office/drawing/2014/main" id="{327B514B-6A60-4392-BFEE-110DE15D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002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定义先给出距离约束</a:t>
            </a:r>
          </a:p>
        </p:txBody>
      </p:sp>
      <p:sp>
        <p:nvSpPr>
          <p:cNvPr id="6" name="sum-sep-0">
            <a:extLst xmlns:a="http://schemas.openxmlformats.org/drawingml/2006/main">
              <a:ext uri="{FF2B5EF4-FFF2-40B4-BE49-F238E27FC236}">
                <a16:creationId xmlns:a16="http://schemas.microsoft.com/office/drawing/2014/main" id="{0CA048D1-BF6A-49DE-BE51-D92DD40F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-n-1">
            <a:extLst xmlns:a="http://schemas.openxmlformats.org/drawingml/2006/main">
              <a:ext uri="{FF2B5EF4-FFF2-40B4-BE49-F238E27FC236}">
                <a16:creationId xmlns:a16="http://schemas.microsoft.com/office/drawing/2014/main" id="{B70A157F-48EA-4A50-9520-EC5CF57C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sum-t-1">
            <a:extLst xmlns:a="http://schemas.openxmlformats.org/drawingml/2006/main">
              <a:ext uri="{FF2B5EF4-FFF2-40B4-BE49-F238E27FC236}">
                <a16:creationId xmlns:a16="http://schemas.microsoft.com/office/drawing/2014/main" id="{43E78AB1-C04C-44B0-9A60-04FF3DBF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908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坐标化得到标准方程</a:t>
            </a:r>
          </a:p>
        </p:txBody>
      </p:sp>
      <p:sp>
        <p:nvSpPr>
          <p:cNvPr id="9" name="sum-sep-1">
            <a:extLst xmlns:a="http://schemas.openxmlformats.org/drawingml/2006/main">
              <a:ext uri="{FF2B5EF4-FFF2-40B4-BE49-F238E27FC236}">
                <a16:creationId xmlns:a16="http://schemas.microsoft.com/office/drawing/2014/main" id="{DB1DD1B8-6952-411B-9929-B6A8F59C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m-n-2">
            <a:extLst xmlns:a="http://schemas.openxmlformats.org/drawingml/2006/main">
              <a:ext uri="{FF2B5EF4-FFF2-40B4-BE49-F238E27FC236}">
                <a16:creationId xmlns:a16="http://schemas.microsoft.com/office/drawing/2014/main" id="{BD143558-52AE-4CEC-959D-D441A48E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sum-t-2">
            <a:extLst xmlns:a="http://schemas.openxmlformats.org/drawingml/2006/main">
              <a:ext uri="{FF2B5EF4-FFF2-40B4-BE49-F238E27FC236}">
                <a16:creationId xmlns:a16="http://schemas.microsoft.com/office/drawing/2014/main" id="{82485C3E-12B1-43D2-B9D9-A66D9152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814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参数揭示轴长、焦点与形状</a:t>
            </a:r>
          </a:p>
        </p:txBody>
      </p:sp>
      <p:sp>
        <p:nvSpPr>
          <p:cNvPr id="12" name="exit-box">
            <a:extLst xmlns:a="http://schemas.openxmlformats.org/drawingml/2006/main">
              <a:ext uri="{FF2B5EF4-FFF2-40B4-BE49-F238E27FC236}">
                <a16:creationId xmlns:a16="http://schemas.microsoft.com/office/drawing/2014/main" id="{2ED68C23-D6BE-4DF0-AB68-76B93F4D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3" name="exit-text">
            <a:extLst xmlns:a="http://schemas.openxmlformats.org/drawingml/2006/main">
              <a:ext uri="{FF2B5EF4-FFF2-40B4-BE49-F238E27FC236}">
                <a16:creationId xmlns:a16="http://schemas.microsoft.com/office/drawing/2014/main" id="{6470914E-D2BC-47DD-9B6D-F61B0982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891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离堂检验：用自己的话解释“椭圆把到两焦点距离和不变的几何约束编码进标准方程。”</a:t>
            </a:r>
          </a:p>
        </p:txBody>
      </p:sp>
      <p:sp>
        <p:nvSpPr>
          <p:cNvPr id="1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ECD4AA69-6872-44B9-817A-05B2ED35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title-12">
            <a:extLst xmlns:a="http://schemas.openxmlformats.org/drawingml/2006/main">
              <a:ext uri="{FF2B5EF4-FFF2-40B4-BE49-F238E27FC236}">
                <a16:creationId xmlns:a16="http://schemas.microsoft.com/office/drawing/2014/main" id="{42CCEF59-83EE-4148-971B-21704994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椭圆的定义与性质 · 总结</a:t>
            </a:r>
          </a:p>
        </p:txBody>
      </p:sp>
      <p:sp>
        <p:nvSpPr>
          <p:cNvPr id="1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3C9D4E36-6C18-4016-931E-D95659EE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3509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2026-07-22T03:48:50.5870000Z</dcterms:created>
  <dcterms:modified xsi:type="dcterms:W3CDTF">2026-07-22T03:48:50.5870000Z</dcterms:modified>
</coreProperties>
</file>