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上课。先不急着说课题，让画面停三秒——问：你看到了什么？（骆驼、商队、戈壁、落日）</a:t>
            </a:r>
          </a:p>
          <a:p>
            <a:r>
              <a:rPr lang="zh-CN"/>
              <a:t>追问：这些人背着货物，走在几乎没有水的地方，一走就是半年，是什么值得他们冒这个险？</a:t>
            </a:r>
          </a:p>
          <a:p>
            <a:r>
              <a:rPr lang="zh-CN"/>
              <a:t>把学生的猜测（钱、丝绸、命令）先记在黑板一角，本节课结束回来验证。</a:t>
            </a:r>
          </a:p>
          <a:p>
            <a:r>
              <a:rPr lang="zh-CN"/>
              <a:t>引出课题：这条路后来被德国学者李希霍芬命名为「丝绸之路」——注意，这是19世纪的人起的名字，汉代人自己并不这么叫。这一点先埋着，最后小结时点破。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读一遍，解释两个词：「凿空」＝开通前所未有的通道，是《史记》给张骞的评价；「殊方异物」＝远方的、不一样的东西。</a:t>
            </a:r>
          </a:p>
          <a:p>
            <a:r>
              <a:rPr lang="zh-CN"/>
              <a:t>本质问题（写在黑板，贯穿全课）：一条路，凭什么能改变两个世界？</a:t>
            </a:r>
          </a:p>
          <a:p>
            <a:r>
              <a:rPr lang="zh-CN"/>
              <a:t>提示学生带着三个小问题听课：谁走通的？走的是哪里？带来了什么？</a:t>
            </a:r>
          </a:p>
          <a:p>
            <a:r>
              <a:rPr lang="zh-CN"/>
              <a:t>注意时空定位：西汉，公元前2世纪，距今约2100年。让学生在时间轴上标一下，落实时空观念。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目标要读给学生听，别只投影。逐条问：这四件事，下课时你能做到吗？</a:t>
            </a:r>
          </a:p>
          <a:p>
            <a:r>
              <a:rPr lang="zh-CN"/>
              <a:t>强调「评价」那行小字就是本节课的成功标准——不是老师说你学会了，是你自己能做出来。</a:t>
            </a:r>
          </a:p>
          <a:p>
            <a:r>
              <a:rPr lang="zh-CN"/>
              <a:t>第三条是难点：很多学生会把「归属」讲成「打下来」。提前打预防针：史料能证明什么，就只说什么，这叫史料实证。</a:t>
            </a:r>
          </a:p>
          <a:p>
            <a:r>
              <a:rPr lang="zh-CN"/>
              <a:t>目标页停留不超过90秒，别耗时间。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过渡。先给「西域」下定义：汉代人把今天甘肃玉门关、阳关以西，包括新疆和更远的中亚地区，统称西域。</a:t>
            </a:r>
          </a:p>
          <a:p>
            <a:r>
              <a:rPr lang="zh-CN"/>
              <a:t>提醒：对汉朝人来说，玉门关以西是「未知世界」——没有地图，没有向导，不知道有多少国家、说什么话。</a:t>
            </a:r>
          </a:p>
          <a:p>
            <a:r>
              <a:rPr lang="zh-CN"/>
              <a:t>设问：如果派你去，你敢不敢去？带这个心情进下一页。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这页是本课的情感高点，慢讲。</a:t>
            </a:r>
          </a:p>
          <a:p>
            <a:r>
              <a:rPr lang="zh-CN"/>
              <a:t>第一步：注意动机——最初根本不是为了做生意，是军事结盟。丝路是「政治任务的意外收获」，这是本课最容易被忽略的因果。</a:t>
            </a:r>
          </a:p>
          <a:p>
            <a:r>
              <a:rPr lang="zh-CN"/>
              <a:t>第二步：十余年，扣了那么久还拿着汉节。问学生：他完全可以留下来，为什么不？（使命）</a:t>
            </a:r>
          </a:p>
          <a:p>
            <a:r>
              <a:rPr lang="zh-CN"/>
              <a:t>第四步：数字对比要念出来——去时一百多人，回来两个人。这十三年他没完成任务，但带回了西域的地理、物产、道路情报，这才是「凿空」的价值。</a:t>
            </a:r>
          </a:p>
          <a:p>
            <a:r>
              <a:rPr lang="zh-CN"/>
              <a:t>第五步：第二次出使性质变了，从探路变成建交。</a:t>
            </a:r>
          </a:p>
          <a:p>
            <a:r>
              <a:rPr lang="zh-CN"/>
              <a:t>学生易卡点：混淆两次出使的时间与目的。用「前138 找盟友／前119 交朋友」两句口诀区分。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这是场景还原图，不是文物照片，必须跟学生说清楚——这一点本身就是史料实证的训练。</a:t>
            </a:r>
          </a:p>
          <a:p>
            <a:r>
              <a:rPr lang="zh-CN"/>
              <a:t>引导：图能当证据吗？能当「后人怎么想象张骞」的证据，不能当「张骞长什么样」的证据。</a:t>
            </a:r>
          </a:p>
          <a:p>
            <a:r>
              <a:rPr lang="zh-CN"/>
              <a:t>讲汉节：竹竿加牦牛尾，代表皇帝。十几年不丢，是当时使者身份的全部。</a:t>
            </a:r>
          </a:p>
          <a:p>
            <a:r>
              <a:rPr lang="zh-CN"/>
              <a:t>落一句：司马迁在《史记》里评价张骞「其人强力，宽大信人」——有毅力、能容人、讲信用。这三条就是能走通这条路的人的样子。</a:t>
            </a:r>
          </a:p>
          <a:p>
            <a:r>
              <a:rPr lang="zh-CN"/>
              <a:t>控制在3分钟内，别讲成故事课。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路线不给地图，给「站名」——让学生跟着念一遍，念完自己在书上的地图册里指出来，这一步必须动手，不然记不住。</a:t>
            </a:r>
          </a:p>
          <a:p>
            <a:r>
              <a:rPr lang="zh-CN"/>
              <a:t>关键词：河西走廊是咽喉，敦煌是分岔口，出关之后分南北两道绕塔克拉玛干沙漠——沙漠不能穿，只能绕，这就是路线为什么是这个形状。</a:t>
            </a:r>
          </a:p>
          <a:p>
            <a:r>
              <a:rPr lang="zh-CN"/>
              <a:t>强调「转手」：没有一个商人是从长安走到罗马的。丝绸是接力式地一段段倒手过去，价格翻几十倍。这解释了为什么罗马人以为丝绸长在树上。</a:t>
            </a:r>
          </a:p>
          <a:p>
            <a:r>
              <a:rPr lang="zh-CN"/>
              <a:t>学生易卡点：以为丝路是一条固定的公路。要说清——它是一片路网，随季节、战乱、绿洲存亡而改道。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先让学生猜右栏：你今天吃的哪些东西是从这条路来的？（葡萄、核桃、石榴、黄瓜、胡萝卜——凡是带「胡」字的多半是这条路来的）这个梗一定要抛，全班会亮。</a:t>
            </a:r>
          </a:p>
          <a:p>
            <a:r>
              <a:rPr lang="zh-CN"/>
              <a:t>再点破对照的深意：往西走的多是「做出来的东西和方法」，往东来的多是「长出来的东西和信的东西」。两边缺什么就换什么，这就是交流的本质——不是谁赢了谁。</a:t>
            </a:r>
          </a:p>
          <a:p>
            <a:r>
              <a:rPr lang="zh-CN"/>
              <a:t>佛教单独强调：这是本课「文明交流」的最重要一项，影响持续两千年，比任何一批丝绸都久。</a:t>
            </a:r>
          </a:p>
          <a:p>
            <a:r>
              <a:rPr lang="zh-CN"/>
              <a:t>学生易卡点：把丝路理解成只运丝绸。板书一句：丝绸只是招牌，交流才是内容。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这张图用来把「交流」从名词变成画面。让学生找：图里有几种人？他们靠什么沟通？</a:t>
            </a:r>
          </a:p>
          <a:p>
            <a:r>
              <a:rPr lang="zh-CN"/>
              <a:t>点出一个常被忽略的事实：真正天天走这条路的，不是汉朝人，而是沿途的中亚商人（如粟特人）。他们是职业中间商。</a:t>
            </a:r>
          </a:p>
          <a:p>
            <a:r>
              <a:rPr lang="zh-CN"/>
              <a:t>追问：如果语言不通，怎么做生意？（手势、通用词、翻译、信用）由此引出——交流的前提是安全和信任，那谁来保证安全？自然过渡到西域都护府那一页。</a:t>
            </a:r>
          </a:p>
          <a:p>
            <a:r>
              <a:rPr lang="zh-CN"/>
              <a:t>这是本环节的收口，讲完直接翻页，不要停顿。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海上丝路本课只作了解，控制在3分钟，别铺开。</a:t>
            </a:r>
          </a:p>
          <a:p>
            <a:r>
              <a:rPr lang="zh-CN"/>
              <a:t>讲清一个关系：海陆两条路不是替代，是互补——陆路怕战乱和沙漠，海路怕季风和海盗。哪条安全走哪条。</a:t>
            </a:r>
          </a:p>
          <a:p>
            <a:r>
              <a:rPr lang="zh-CN"/>
              <a:t>埋一个伏笔：到了宋元，陆路衰、海路兴，你们下学期学到郑和下西洋时会再见到这条线。历史是连着的。</a:t>
            </a:r>
          </a:p>
          <a:p>
            <a:r>
              <a:rPr lang="zh-CN"/>
              <a:t>可提一问：为什么汉代主要靠陆路，后来却越来越靠海？（船大了，货多了，成本低了）不用深答，留个念头。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本课最重要的一个年份，必须记住：公元前60年。</a:t>
            </a:r>
          </a:p>
          <a:p>
            <a:r>
              <a:rPr lang="zh-CN"/>
              <a:t>结论句要让全班齐读一遍：西域都护府的设置，标志着今新疆地区正式归属中央政权管辖，成为我国不可分割的一部分。</a:t>
            </a:r>
          </a:p>
          <a:p>
            <a:r>
              <a:rPr lang="zh-CN"/>
              <a:t>讲清「管辖」的含义，避免两个误解：一不是把当地人赶走，各国仍存；二不是象征性的，都护有实权——颁号令、护商路、办屯田、断纠纷。</a:t>
            </a:r>
          </a:p>
          <a:p>
            <a:r>
              <a:rPr lang="zh-CN"/>
              <a:t>再回扣上一页的追问：商队的安全，就是靠这个机构。政治管辖是经济交流的前提，这条因果链要板书出来。</a:t>
            </a:r>
          </a:p>
          <a:p>
            <a:r>
              <a:rPr lang="zh-CN"/>
              <a:t>学生易卡点：把「西域都护府」和「张骞出使」的时间前后搞反。提醒：先有人走通（前138），后有官府管（前60），中间隔了近80年。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转入学生活动。收起讲课语气，明确宣布：接下来8分钟归你们。</a:t>
            </a:r>
          </a:p>
          <a:p>
            <a:r>
              <a:rPr lang="zh-CN"/>
              <a:t>先说规则再发材料，材料一发下去就没人听规则了。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计时8分钟，投屏计时器。前5分钟同桌讨论，后3分钟全班交流两组。</a:t>
            </a:r>
          </a:p>
          <a:p>
            <a:r>
              <a:rPr lang="zh-CN"/>
              <a:t>巡视时重点抓一类问题：学生喜欢写「因为汉朝很强大，所以管辖西域」——这是结论套结论，没有证据。要追问：材料哪一句话说了这件事？</a:t>
            </a:r>
          </a:p>
          <a:p>
            <a:r>
              <a:rPr lang="zh-CN"/>
              <a:t>第二类问题：过度推论，比如从「设都护」推出「西域人都说汉语」。这时候要表扬他敢想，同时明确：材料没说的，我们不能说。这就是史料实证的底线。</a:t>
            </a:r>
          </a:p>
          <a:p>
            <a:r>
              <a:rPr lang="zh-CN"/>
              <a:t>交流时用两句式追问：你的证据是哪一句？这句话最多能证明到什么程度？</a:t>
            </a:r>
          </a:p>
          <a:p>
            <a:r>
              <a:rPr lang="zh-CN"/>
              <a:t>如果时间紧，砍到5分钟，只交流一组，但绝不跳过——这是本课唯一的实证训练。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用这四步回收全课，让学生跟着说一遍：人走通—货流动—官护路—文明变。</a:t>
            </a:r>
          </a:p>
          <a:p>
            <a:r>
              <a:rPr lang="zh-CN"/>
              <a:t>回到开课时的本质问题：一条路，凭什么改变两个世界？答案不在路本身，在走路的人和护路的制度。</a:t>
            </a:r>
          </a:p>
          <a:p>
            <a:r>
              <a:rPr lang="zh-CN"/>
              <a:t>再兑现封面埋的伏笔：「丝绸之路」是19世纪德国人李希霍芬起的名字。汉代人只知道这是去西域的路。名字是后人给的，价值是当时人走出来的。</a:t>
            </a:r>
          </a:p>
          <a:p>
            <a:r>
              <a:rPr lang="zh-CN"/>
              <a:t>最后一句留白：今天的「一带一路」，走的还是这条路的方向吗？不答，留给作业。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双减纪律：明确宣布只做一项，总量15分钟以内，不得抄写课文，不额外买资料。</a:t>
            </a:r>
          </a:p>
          <a:p>
            <a:r>
              <a:rPr lang="zh-CN"/>
              <a:t>基础项是保底，必须做，就是把本课四个年份钉牢。</a:t>
            </a:r>
          </a:p>
          <a:p>
            <a:r>
              <a:rPr lang="zh-CN"/>
              <a:t>提升与拓展二选一，自愿。拓展项最容易出彩——葡萄、核桃、黄瓜、胡萝卜、琵琶都行，下节课花3分钟展示两份。</a:t>
            </a:r>
          </a:p>
          <a:p>
            <a:r>
              <a:rPr lang="zh-CN"/>
              <a:t>跟学生说明：选基础不丢人，选拓展不加分，选你今天真的想做的那个。</a:t>
            </a:r>
          </a:p>
          <a:p>
            <a:r>
              <a:rPr lang="zh-CN"/>
              <a:t>下课前收一下举手：谁选了哪项？心里有数即可，不记录。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结束语，一句就够：两千年前有人用十三年换来一条路的消息；今天你们打开手机就能看见世界。路一直在，敢不敢走，是每一代人自己的事。</a:t>
            </a:r>
          </a:p>
          <a:p>
            <a:r>
              <a:rPr lang="zh-CN"/>
              <a:t>预告下节课内容，提醒带地图册。</a:t>
            </a:r>
          </a:p>
          <a:p>
            <a:r>
              <a:rPr lang="zh-CN"/>
              <a:t>下课。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历史 · 七年级上册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沟通中外文明的丝绸之路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第14课　一条路，两个世界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凿空之后，殊方异物，四面而至。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《汉书·西域传》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本课学习目标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能在时间轴与示意图上说出张骞两次出使的时间、路线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评价：口头复述＋填时间轴，不看书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能各举三例说明丝路上东传与西传的物与文明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评价：完成东西对照表，无错项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能用一则史料证明西域正式归属中央管辖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评价：写出证据句＋结论句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能说明丝绸之路对今天的意义，不少于两点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评价：课末一句话发言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凿空：张骞通西域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张骞出使：两次西行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受命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公元前138年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汉武帝募使联络大月氏，夹击匈奴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被扣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途经匈奴被俘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扣留十余年，持汉节不失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抵达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逃脱西行至大月氏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对方已安居，无意东归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归汉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公元前126年返长安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出发百余人，归者二人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再使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公元前119年第二次出使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遍访西域各国，正式互通使者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持节者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从图里读三条信息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汉节：使者的身份凭证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风沙戈壁：路的真实代价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「不辱使命」的形象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后世想象，不是照片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陆上丝路：从东到西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长安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起点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今陕西西安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河西走廊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武威—张掖—酒泉—敦煌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出玉门关、阳关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西域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今新疆境内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沿塔里木盆地南北两道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中亚 · 西亚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今中亚各国、伊朗一带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商货在此转手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欧洲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终点大秦（罗马）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丝绸抵地中海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路上运的是什么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由东向西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丝绸、漆器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铁器、铜镜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凿井、冶铁技术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技术比货物走得更远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由西向东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汗血马、良种牲畜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葡萄、石榴、苜蓿、核桃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乐器、歌舞、佛教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东汉时佛教经此传入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驿站上的相遇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B3672A"/>
                </a:solidFill>
                <a:latin typeface="Calibri"/>
                <a:ea typeface="Microsoft YaHei"/>
              </a:rPr>
              <a:t>一个绿洲集市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不同面孔、不同语言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货换货，也换消息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000" b="0" i="0">
                <a:solidFill>
                  <a:srgbClr val="3A2F25"/>
                </a:solidFill>
                <a:latin typeface="Calibri"/>
                <a:ea typeface="Microsoft YaHei"/>
              </a:rPr>
              <a:t>路是人走出来的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700" b="0" i="0">
                <a:solidFill>
                  <a:srgbClr val="8A7E6F"/>
                </a:solidFill>
                <a:latin typeface="Calibri"/>
                <a:ea typeface="Microsoft YaHei"/>
              </a:rPr>
              <a:t>商人、使者、僧侣、士兵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还有一条：海上丝路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何时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汉武帝以后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随造船与航海术发展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何路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沿海港口出发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经中南半岛、马六甲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至印度半岛南端与锡兰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何用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陆路受阻时的替补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后世逐渐反超陆路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公元前60年：西域都护府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前60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设置年份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西汉宣帝时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1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都护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总管西域军政的最高长官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36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西域诸国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颁行汉朝号令，管理屯田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活动：从史料里找证据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史料研读 · 8分钟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材料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《汉书·西域传》节选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汉代西域出土汉文简牍图版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同桌两人一组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任务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找出一句能证明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「西域归汉朝管辖」的话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证据句＋结论句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各限一句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成功标准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证据来自材料原文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结论不超出材料能说的范围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超出＝推测，要标注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一条路，怎么成的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009775" y="2381250"/>
            <a:ext cx="817245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8002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人走通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张骞凿空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从军事结盟到互通有无</a:t>
            </a:r>
          </a:p>
        </p:txBody>
      </p:sp>
      <p:sp>
        <p:nvSpPr>
          <p:cNvPr id="15" name="step15"/>
          <p:cNvSpPr/>
          <p:nvPr/>
        </p:nvSpPr>
        <p:spPr>
          <a:xfrm>
            <a:off x="45243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4861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货流动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丝绸西去，物种东来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技术与宗教同行</a:t>
            </a:r>
          </a:p>
        </p:txBody>
      </p:sp>
      <p:sp>
        <p:nvSpPr>
          <p:cNvPr id="17" name="step17"/>
          <p:cNvSpPr/>
          <p:nvPr/>
        </p:nvSpPr>
        <p:spPr>
          <a:xfrm>
            <a:off x="724852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21030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官护路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前60年设西域都护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有管辖，才有安全</a:t>
            </a:r>
          </a:p>
        </p:txBody>
      </p:sp>
      <p:sp>
        <p:nvSpPr>
          <p:cNvPr id="19" name="step19"/>
          <p:cNvSpPr/>
          <p:nvPr/>
        </p:nvSpPr>
        <p:spPr>
          <a:xfrm>
            <a:off x="9972675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934450" y="2819400"/>
            <a:ext cx="249555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文明变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两个世界互相改写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影响延续至今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作业（三选一，15分钟内）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基础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在时间轴上标出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前138 / 前126 / 前119 / 前60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各配一句话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全体必做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提升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列一张东西对照表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东传西传各三项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各写一句影响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学有余力选做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拓展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查一样身边的西来之物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写100字小考据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感兴趣的同学选做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第14课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3A2F25"/>
                </a:solidFill>
                <a:latin typeface="Calibri"/>
                <a:ea typeface="Microsoft YaHei"/>
              </a:rPr>
              <a:t>路，因人而通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下节课：东汉的兴衰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