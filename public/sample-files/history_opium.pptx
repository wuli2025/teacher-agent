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开场先不出标题结论，让学生看图三十秒：这是十九世纪中期的中国口岸。提问：从画面里你能看出这时的中国是什么状态？（帆船、码头、忙碌但传统）</a:t>
            </a:r>
          </a:p>
          <a:p>
            <a:r>
              <a:rPr lang="zh-CN"/>
              <a:t>引出本课两条主线：一条是我们熟悉的故事线——林则徐虎门销烟、英国出兵；另一条是今天真正要弄清的问题线——英国为什么非打不可。</a:t>
            </a:r>
          </a:p>
          <a:p>
            <a:r>
              <a:rPr lang="zh-CN"/>
              <a:t>明确课时定位：这一课是中国近代史的第一课，「开端」两个字是本单元的钥匙，最后一页会回来解释它。</a:t>
            </a:r>
          </a:p>
          <a:p>
            <a:r>
              <a:rPr lang="zh-CN"/>
              <a:t>板书课题时留白：黑板右上角先写一个大问号，旁边写「英国为什么打？」，整节课围绕它推进。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这是全课的钩子，也是本质问题的入口。请一名学生朗读，再追问三个问题：</a:t>
            </a:r>
          </a:p>
          <a:p>
            <a:r>
              <a:rPr lang="zh-CN"/>
              <a:t>1. 说话的是谁？——不是英国国王，不是外交官，是曼彻斯特的纺织厂主。这个身份非常关键：曼彻斯特是英国工业革命的棉纺中心。</a:t>
            </a:r>
          </a:p>
          <a:p>
            <a:r>
              <a:rPr lang="zh-CN"/>
              <a:t>2. 他想要什么？——不是鸦片，是打开门户，是市场。</a:t>
            </a:r>
          </a:p>
          <a:p>
            <a:r>
              <a:rPr lang="zh-CN"/>
              <a:t>3. 时间点？——1840年前后，也就是英国工业革命基本完成、产品严重过剩的时候。</a:t>
            </a:r>
          </a:p>
          <a:p>
            <a:r>
              <a:rPr lang="zh-CN"/>
              <a:t/>
            </a:r>
          </a:p>
          <a:p>
            <a:r>
              <a:rPr lang="zh-CN"/>
              <a:t>这里先埋下本课的核心史观：工业革命后的英国需要原料产地和商品市场，中国是当时世界上人口最多、最诱人的市场，而清朝闭关自守只开广州一口——这个矛盾，才是战争的根本原因。</a:t>
            </a:r>
          </a:p>
          <a:p>
            <a:r>
              <a:rPr lang="zh-CN"/>
              <a:t>先不点破，只把问题挂出来：那鸦片和虎门销烟又算什么？留到第14页解决。</a:t>
            </a:r>
          </a:p>
          <a:p>
            <a:r>
              <a:rPr lang="zh-CN"/>
              <a:t>学生易错预警：多数学生上课前的答案是「林则徐禁烟惹怒了英国」，这句话在本页不要否定，记下来，让它成为后面被推翻的靶子。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目标要投出来并逐条读，学生要知道下课时会被检查什么。</a:t>
            </a:r>
          </a:p>
          <a:p>
            <a:r>
              <a:rPr lang="zh-CN"/>
              <a:t>强调三个可观察的动作词：说清、画出、辨析。不用「了解」「认识」这类无法评价的词。</a:t>
            </a:r>
          </a:p>
          <a:p>
            <a:r>
              <a:rPr lang="zh-CN"/>
              <a:t>第3条是本课的重点也是难点，提前给学生打预防针：今天下课如果只记住「林则徐销烟引发战争」，这节课就白上了。</a:t>
            </a:r>
          </a:p>
          <a:p>
            <a:r>
              <a:rPr lang="zh-CN"/>
              <a:t>第5条是拔高目标，允许部分学生在小结时才达成。</a:t>
            </a:r>
          </a:p>
          <a:p>
            <a:r>
              <a:rPr lang="zh-CN"/>
              <a:t>用时约1分钟，不要念太久，学生的注意力应留给正文。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过渡页，10秒。一句话带过：要弄清英国为什么打，得先离开中国，站到地球的另一边看一眼——同一个时刻，那里正在发生什么。</a:t>
            </a:r>
          </a:p>
          <a:p>
            <a:r>
              <a:rPr lang="zh-CN"/>
              <a:t>提醒学生笔记翻到对比表格，这是本环节唯一需要动笔的地方。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这一页是根本原因的地基，务必讲透，给足4分钟。</a:t>
            </a:r>
          </a:p>
          <a:p>
            <a:r>
              <a:rPr lang="zh-CN"/>
              <a:t>讲法：不要老师从上往下念，改成四轮对读——请两组学生分别扮演中英，一轮说一个方面（政治、经济、军事、外交），一句话对撞一句话，差距会被学生自己听出来。</a:t>
            </a:r>
          </a:p>
          <a:p>
            <a:r>
              <a:rPr lang="zh-CN"/>
              <a:t>经济一栏是关键：追问「英国的机器一天能织多少布？中国农民一天织多少？」再追问「布织出来卖给谁？」——引到市场问题。同时点明中国的自给自足小农经济不需要英国货，正常贸易里英国长期入超（茶叶丝绸大量买入，工业品卖不动），这才是它铤而走险的动因。</a:t>
            </a:r>
          </a:p>
          <a:p>
            <a:r>
              <a:rPr lang="zh-CN"/>
              <a:t>时空观念落点：黑板画一条横线标「19世纪三四十年代」，让学生意识到这不是两个时代的比较，是同一时刻地球上的两个世界。</a:t>
            </a:r>
          </a:p>
          <a:p>
            <a:r>
              <a:rPr lang="zh-CN"/>
              <a:t>学生常见困惑：中国那么大，为什么打不过？——提示这一页四栏里已经写了答案，先按下不表，第11页看图再解决。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先讲清逻辑链，再讲数字，否则数字只是数字。</a:t>
            </a:r>
          </a:p>
          <a:p>
            <a:r>
              <a:rPr lang="zh-CN"/>
              <a:t>逻辑链（板书箭头）：英国工业品在中国卖不动 → 英国对华贸易长期逆差、白银大量流入中国 → 英国用鸦片扭转贸易 → 白银倒流出中国。</a:t>
            </a:r>
          </a:p>
          <a:p>
            <a:r>
              <a:rPr lang="zh-CN"/>
              <a:t>关键提问：英国为什么卖鸦片？引导学生答出「因为正经货卖不出去」——这一句是把鸦片放回根本原因框架里的钥匙：鸦片是手段，市场才是目的。</a:t>
            </a:r>
          </a:p>
          <a:p>
            <a:r>
              <a:rPr lang="zh-CN"/>
              <a:t>第三个数字最难也最值得讲：清朝百姓交税要用白银，日常挣的是铜钱。白银涨价＝同样一亩地的税实际翻了一半多。请学生算一笔账，这是危害从抽象变具体的时刻。</a:t>
            </a:r>
          </a:p>
          <a:p>
            <a:r>
              <a:rPr lang="zh-CN"/>
              <a:t>再补三项危害口头带过（不上屏）：白银外流致国库空虚、军队吸食致战斗力下降、社会风气败坏。</a:t>
            </a:r>
          </a:p>
          <a:p>
            <a:r>
              <a:rPr lang="zh-CN"/>
              <a:t>学生易错：把「鸦片危害大」当成「所以英国要打仗」——注意，此刻鸦片正在替英国赚钱，英国并不需要打仗。这个反差留到销烟页引爆。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看图讲：注意池子在海边空地上、当众销毁、围观者众。追问：为什么不烧？为什么要当着这么多人？——不用火烧是因为鸦片遇火有残膏可收，改用盐卤石灰化开随潮入海；公开进行是要立信于民，也是做给外国商人看。这是林则徐的政治智慧，不是细节堆砌。</a:t>
            </a:r>
          </a:p>
          <a:p>
            <a:r>
              <a:rPr lang="zh-CN"/>
              <a:t>情感落点（家国情怀）：林则徐「若鸦片一日未绝，本大臣一日不回」的决心，可读原句加深印象；虎门销烟是中华民族反抗外来侵略的正义之举，这一点要讲得响。</a:t>
            </a:r>
          </a:p>
          <a:p>
            <a:r>
              <a:rPr lang="zh-CN"/>
              <a:t>然后立刻转折，这是本页最重要的一句：销烟合法、正义，且发生在中国自己的领土上。英国如果只是生意被断，最多是索赔，不至于跨越半个地球开战。</a:t>
            </a:r>
          </a:p>
          <a:p>
            <a:r>
              <a:rPr lang="zh-CN"/>
              <a:t>课堂提问定住这个矛盾：如果没有虎门销烟，英国就不会打中国了吗？让学生举手表态，记下正反人数，第14页回来对照。多数学生此刻会选「就不打了」——这正是要掰的地方，现在别急着纠正。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过渡页，10秒。一句话推进：借口有了，市场的野心也早就有了，接下来就是炮舰说话。</a:t>
            </a:r>
          </a:p>
          <a:p>
            <a:r>
              <a:rPr lang="zh-CN"/>
              <a:t>提示学生：接下来三页信息密度大，先听后记，时间轴我会留时间统一补。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本页只用3分钟，不要陷进战役细节——要的是过程走向，不是地名清单。</a:t>
            </a:r>
          </a:p>
          <a:p>
            <a:r>
              <a:rPr lang="zh-CN"/>
              <a:t>讲述抓两条暗线：</a:t>
            </a:r>
          </a:p>
          <a:p>
            <a:r>
              <a:rPr lang="zh-CN"/>
              <a:t>第一条，英军沿海北上，专挑清军防守薄弱、又能直接威胁京城的地方打——这是海权国家打陆权国家的典型方式，也再次印证战前对比页的军事差距。</a:t>
            </a:r>
          </a:p>
          <a:p>
            <a:r>
              <a:rPr lang="zh-CN"/>
              <a:t>第二条，清政府的反应是打—怕—和—再打—再怕。林则徐被撤职是最能说明问题的一笔：仗打输了不是因为林则徐禁烟，恰恰是他被拿掉之后败得更快。</a:t>
            </a:r>
          </a:p>
          <a:p>
            <a:r>
              <a:rPr lang="zh-CN"/>
              <a:t>家国情怀落点：关天培守虎门、陈化成守吴淞、三元里人民抗英——将士血战、百姓自发，中国人不是没有抵抗，是制度与器物的整体落后让抵抗无法改变结局。这句话要说完整，避免学生形成「清朝人都软弱」的粗暴印象。</a:t>
            </a:r>
          </a:p>
          <a:p>
            <a:r>
              <a:rPr lang="zh-CN"/>
              <a:t>提醒学生在时间轴笔记上标两个年份：1840年6月开始，1842年8月结束，前后两年。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回应第5页学生的困惑：中国那么大为什么打不过。</a:t>
            </a:r>
          </a:p>
          <a:p>
            <a:r>
              <a:rPr lang="zh-CN"/>
              <a:t>看图法：先只让学生描述两条船的差别（有没有烟囱、靠什么动力），再问「逆风的时候谁赢」——蒸汽船不看风向，可以在珠江口、长江里逆流直上，清军水师连追都追不上。这是最直观的降维打击。</a:t>
            </a:r>
          </a:p>
          <a:p>
            <a:r>
              <a:rPr lang="zh-CN"/>
              <a:t>然后把话往上提一层，这是本页真正的落点：如果只看船和炮，结论会变成「买船买炮就能赢」——三十年后洋务运动就是这么想的，结果甲午再败。差距的根子在船的背后：能造蒸汽机的是工业革命，能持续造的是整个工业体系和制度。</a:t>
            </a:r>
          </a:p>
          <a:p>
            <a:r>
              <a:rPr lang="zh-CN"/>
              <a:t>不要说「落后就该挨打」。准确的说法是：落后使中国失去了抵抗侵略的能力，而侵略本身始终是非正义的。这两句都要说。</a:t>
            </a:r>
          </a:p>
          <a:p>
            <a:r>
              <a:rPr lang="zh-CN"/>
              <a:t>学生若问「如果清朝早点买洋枪呢」——很好的问题，答：那是三十年后洋务派的答案，下学期我们会看它为什么还是不够。留个引子。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本页必须左右对读，一条款配一危害，别把条款念完再念危害——那样学生记下的是清单，不是因果。</a:t>
            </a:r>
          </a:p>
          <a:p>
            <a:r>
              <a:rPr lang="zh-CN"/>
              <a:t>重点在第三、四条，它们与第2页的曼彻斯特商人首尾呼应：英国开战想要的是市场，五口通商加协定关税恰恰把市场彻底打开了。这里回头指一下黑板上的问号「英国为什么打？」——答案就在这两条里。</a:t>
            </a:r>
          </a:p>
          <a:p>
            <a:r>
              <a:rPr lang="zh-CN"/>
              <a:t>协定关税为什么最狠：关税本是一国自定，用来保护本国产业。此后中国要收多少税得跟英国商量，英国货可以低价倾销，中国的手工业没有任何屏障。这一条比赔款影响深远得多，学生最容易忽略。</a:t>
            </a:r>
          </a:p>
          <a:p>
            <a:r>
              <a:rPr lang="zh-CN"/>
              <a:t>补充口头讲：割香港岛不等于割香港（九龙、新界是后来的条约割占的），别让学生混淆。</a:t>
            </a:r>
          </a:p>
          <a:p>
            <a:r>
              <a:rPr lang="zh-CN"/>
              <a:t>结论句板书：中国开始从封建社会沦为半殖民地半封建社会——把「开始」和「半」两个字圈起来，主权是部分丧失而非全失，这就是「半」的含义。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这页是把上一页的条款换成量感，一分半钟带过，不要重复讲条款内容。</a:t>
            </a:r>
          </a:p>
          <a:p>
            <a:r>
              <a:rPr lang="zh-CN"/>
              <a:t>算账环节：2100万银元，清政府一年财政收入约四千万两，这笔钱最终摊进田赋和各种加派，也就是摊到农民头上。追问：这笔钱谁出？学生答「皇帝」「国库」时纠正到「百姓」，这是理解此后太平天国运动为什么爆发的伏笔。</a:t>
            </a:r>
          </a:p>
          <a:p>
            <a:r>
              <a:rPr lang="zh-CN"/>
              <a:t>数字1提醒学生别小看：它是英国在远东的据点和跳板，是主权被切走的第一刀。</a:t>
            </a:r>
          </a:p>
          <a:p>
            <a:r>
              <a:rPr lang="zh-CN"/>
              <a:t>5%这一栏若时间紧可只点一句：税率不高，可怕的是「须与英方商定」六个字。</a:t>
            </a:r>
          </a:p>
          <a:p>
            <a:r>
              <a:rPr lang="zh-CN"/>
              <a:t>史料实证提示：这些数字都出自条约文本本身，属于一手材料，可信度高——顺势过渡到下一页的史料研读。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这是本课的史料实证主环节，共7分钟，务必留足，不要被前面的讲授挤掉。</a:t>
            </a:r>
          </a:p>
          <a:p>
            <a:r>
              <a:rPr lang="zh-CN"/>
              <a:t>组织方式：四人一组，材料提前印在学案上（屏幕只放骨架）。教师巡视时只问一句话：你的证据是材料里的哪一句？——不给结论。</a:t>
            </a:r>
          </a:p>
          <a:p>
            <a:r>
              <a:rPr lang="zh-CN"/>
              <a:t>预设生成：</a:t>
            </a:r>
          </a:p>
          <a:p>
            <a:r>
              <a:rPr lang="zh-CN"/>
              <a:t>· 学生大概率能答出「英国要的是市场」，这时追问：哪个词让你这么判断？逼他们回到原文。</a:t>
            </a:r>
          </a:p>
          <a:p>
            <a:r>
              <a:rPr lang="zh-CN"/>
              <a:t>· 材料A提到国家荣誉，会有学生说「所以是因为销烟丢了面子」——这是好答案，顺势讲史料的局限：议会辩词是说给国内选民听的，荣誉是包装，商业利益才是实质。读史料要看谁说的、对谁说的、为什么这么说。这一层比结论本身更值钱。</a:t>
            </a:r>
          </a:p>
          <a:p>
            <a:r>
              <a:rPr lang="zh-CN"/>
              <a:t>· 若学生说「材料是英国人写的，不可信」——纠正：正因为是英国人自己写的，才更能证明英国的动机，这叫敌证。</a:t>
            </a:r>
          </a:p>
          <a:p>
            <a:r>
              <a:rPr lang="zh-CN"/>
              <a:t>汇报时按成功标准三条逐项点评，达成两条即为合格。</a:t>
            </a:r>
          </a:p>
          <a:p>
            <a:r>
              <a:rPr lang="zh-CN"/>
              <a:t>收尾把两则材料的共同指向写上黑板：市场。为下一页的辨析铺好台阶。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本课的教学难点在这一页收口，给足4分钟，这是必须掰清的一件事。</a:t>
            </a:r>
          </a:p>
          <a:p>
            <a:r>
              <a:rPr lang="zh-CN"/>
              <a:t>先回到第7页的举手记录：刚才有几位同学认为没有虎门销烟就不会开战，现在还这么想的请举手。人数变化本身就是学习发生的证据。</a:t>
            </a:r>
          </a:p>
          <a:p>
            <a:r>
              <a:rPr lang="zh-CN"/>
              <a:t>讲透三个反问：</a:t>
            </a:r>
          </a:p>
          <a:p>
            <a:r>
              <a:rPr lang="zh-CN"/>
              <a:t>1. 如果销烟是主因，英国为什么不索赔了事，非要打两年、非要开五口、非要谈关税？——因为它要的从来不是那两万箱鸦片的钱。</a:t>
            </a:r>
          </a:p>
          <a:p>
            <a:r>
              <a:rPr lang="zh-CN"/>
              <a:t>2. 如果没有销烟，英国就不打了吗？——事实上销烟前马戛尔尼、阿美士德已两度来华要求通商而被拒，通商不成就动炮舰，这条路早就铺好了，缺的只是一个由头。</a:t>
            </a:r>
          </a:p>
          <a:p>
            <a:r>
              <a:rPr lang="zh-CN"/>
              <a:t>3. 战争叫「鸦片战争」，是不是说明鸦片是根本原因？——不是。名字来自导火索。就像一间屋子失火，火柴是导火索，屋里堆的汽油才是根本原因。这个比喻学生最容易接住，建议板书。</a:t>
            </a:r>
          </a:p>
          <a:p>
            <a:r>
              <a:rPr lang="zh-CN"/>
              <a:t>给学生一句可背可用的判定法：根本原因回答「为什么必然发生」，直接原因回答「为什么在此时以此名义发生」。</a:t>
            </a:r>
          </a:p>
          <a:p>
            <a:r>
              <a:rPr lang="zh-CN"/>
              <a:t>最后落一句史观：正义在中国这边，失败在实力与制度那边，二者并不矛盾。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按双减要求当堂布置并读一遍，明确总量控制在30分钟内，必做部分10分钟能完成。</a:t>
            </a:r>
          </a:p>
          <a:p>
            <a:r>
              <a:rPr lang="zh-CN"/>
              <a:t>必做第2条就是学习目标第3条的检查点，批改时只看两点：有没有区分开、有没有各举一证据。写「根本原因是英国要打开中国市场」即为达标，不要求辞藻。</a:t>
            </a:r>
          </a:p>
          <a:p>
            <a:r>
              <a:rPr lang="zh-CN"/>
              <a:t>选做的人物评价提醒学生：评价要有史实，不能只写「他是民族英雄」。可提示从禁烟决心、务实备战、放眼看世界三个角度择一。</a:t>
            </a:r>
          </a:p>
          <a:p>
            <a:r>
              <a:rPr lang="zh-CN"/>
              <a:t>拓展题不批改、不排名、不与成绩挂钩，只给下节课三分钟的发言机会——用兴趣驱动，不加负担。</a:t>
            </a:r>
          </a:p>
          <a:p>
            <a:r>
              <a:rPr lang="zh-CN"/>
              <a:t>特别说明：不布置抄写条约条款的作业。条款靠理解因果记住，不靠罚抄。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/>
              <a:t>别急着说下课，用一分钟把这两句话讲完，这是本课的家国情怀落点。</a:t>
            </a:r>
          </a:p>
          <a:p>
            <a:r>
              <a:rPr lang="zh-CN"/>
              <a:t>落后不该挨打——侵略永远是非正义的，鸦片战争的道义责任在英国，这一点不因中国的落后而改变。这句是价值判断，必须先说。</a:t>
            </a:r>
          </a:p>
          <a:p>
            <a:r>
              <a:rPr lang="zh-CN"/>
              <a:t>但落后就会挨打——历史不讲道理只讲结果。当一个国家在制度、经济、军事上整体落后于时代，正义救不了它。这句是历史规律，必须跟着说。</a:t>
            </a:r>
          </a:p>
          <a:p>
            <a:r>
              <a:rPr lang="zh-CN"/>
              <a:t>最后回扣课题上的「开端」二字：从1842年起，中国的主权开始被切割，社会性质开始改变；也正是从这一刻起，一代代中国人开始睁眼看世界、寻找出路——这条线会贯穿我们这一册书。今天是第一课，也是这场追赶的起点。</a:t>
            </a:r>
          </a:p>
          <a:p>
            <a:r>
              <a:rPr lang="zh-CN"/>
              <a:t>留个悬念给下节课：第一次战争打开了五口，英国的商品真的卖出去了吗？如果没有，会发生什么？（引出第二次鸦片战争）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crim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Calibri"/>
                <a:ea typeface="Microsoft YaHei"/>
              </a:rPr>
              <a:t>八年级上册 · 第一单元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FFFFFF"/>
                </a:solidFill>
                <a:latin typeface="Calibri"/>
                <a:ea typeface="Microsoft YaHei"/>
              </a:rPr>
              <a:t>鸦片战争</a:t>
            </a:r>
          </a:p>
        </p:txBody>
      </p:sp>
      <p:sp>
        <p:nvSpPr>
          <p:cNvPr id="14" name="bar14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E8E8E8"/>
                </a:solidFill>
                <a:latin typeface="Calibri"/>
                <a:ea typeface="Microsoft YaHei"/>
              </a:rPr>
              <a:t>中国近代史的开端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952500" y="1143000"/>
            <a:ext cx="19050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9600" b="1" i="0">
                <a:solidFill>
                  <a:srgbClr val="B3672A"/>
                </a:solidFill>
                <a:latin typeface="Calibri"/>
                <a:ea typeface="Microsoft YaHei"/>
              </a:rPr>
              <a:t>“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1524000" y="2381250"/>
            <a:ext cx="9144000" cy="2095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buNone/>
            </a:pPr>
            <a:r>
              <a:rPr lang="zh-CN" sz="4000" b="0" i="1">
                <a:solidFill>
                  <a:srgbClr val="3A2F25"/>
                </a:solidFill>
                <a:latin typeface="Calibri"/>
                <a:ea typeface="Microsoft YaHei"/>
              </a:rPr>
              <a:t>让中国给我们打开门户，让中国和我们通商——这个念头，比茶叶和丝绸更让人着迷。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524000" y="4667250"/>
            <a:ext cx="9144000" cy="381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800" b="0" i="0">
                <a:solidFill>
                  <a:srgbClr val="8A7E6F"/>
                </a:solidFill>
                <a:latin typeface="Calibri"/>
                <a:ea typeface="Microsoft YaHei"/>
              </a:rPr>
              <a:t>—— 英国曼彻斯特商人请愿书大意（1840年前后）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本课学习目标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说清战前中英差距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能从政治、经济、军事、外交四方面各举一例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画出战争时间轴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按序排出：鸦片走私→虎门销烟→英军入侵→南京条约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辨析根本原因与导火索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能用一句话说明两者区别，并各举一证据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读懂一则原始史料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能从材料中提取信息，并说明它能证明什么、不能证明什么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解释「近代史开端」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从主权与社会性质变化两个角度作答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环节一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3A2F25"/>
                </a:solidFill>
                <a:latin typeface="Calibri"/>
                <a:ea typeface="Microsoft YaHei"/>
              </a:rPr>
              <a:t>战前：两个世界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十九世纪的中国与英国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B3672A"/>
                </a:solidFill>
                <a:latin typeface="Calibri"/>
                <a:ea typeface="Microsoft YaHei"/>
              </a:rPr>
              <a:t>清朝（中国）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政治：君主专制顶峰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吏治腐败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经济：自给自足小农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男耕女织，不需外货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军事：冷兵器＋旧式帆船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外交：闭关自守，独口通商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1757年后只留广州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B3672A"/>
                </a:solidFill>
                <a:latin typeface="Calibri"/>
                <a:ea typeface="Microsoft YaHei"/>
              </a:rPr>
              <a:t>英国（工业革命后）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政治：君主立宪，资产阶级掌权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经济：机器大生产，产品过剩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急需市场与原料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军事：坚船利炮，海军称雄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外交：全球扩张，殖民争夺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三个数字看鸦片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4万箱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年输入量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1838年前后，走私入华</a:t>
            </a:r>
          </a:p>
        </p:txBody>
      </p:sp>
      <p:sp>
        <p:nvSpPr>
          <p:cNvPr id="14" name="card14"/>
          <p:cNvSpPr/>
          <p:nvPr/>
        </p:nvSpPr>
        <p:spPr>
          <a:xfrm>
            <a:off x="440055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459105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5800" b="1" i="0">
                <a:solidFill>
                  <a:srgbClr val="B3672A"/>
                </a:solidFill>
                <a:latin typeface="Calibri"/>
                <a:ea typeface="Microsoft YaHei"/>
              </a:rPr>
              <a:t>数百万两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年流失白银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由长期入超变为大量出超</a:t>
            </a:r>
          </a:p>
        </p:txBody>
      </p:sp>
      <p:sp>
        <p:nvSpPr>
          <p:cNvPr id="16" name="card16"/>
          <p:cNvSpPr/>
          <p:nvPr/>
        </p:nvSpPr>
        <p:spPr>
          <a:xfrm>
            <a:off x="8039100" y="2095500"/>
            <a:ext cx="337185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8229600" y="2324100"/>
            <a:ext cx="2990850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1600文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一两白银兑制钱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原约1000文，银贵钱贱，农民负担陡增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虎门销烟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62484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700" b="1" i="0">
                <a:solidFill>
                  <a:srgbClr val="B3672A"/>
                </a:solidFill>
                <a:latin typeface="Calibri"/>
                <a:ea typeface="Microsoft YaHei"/>
              </a:rPr>
              <a:t>1839年6月，广东虎门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林则徐奉命赴粤查禁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收缴鸦片 2万余箱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约237万斤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海滩挖池，盐卤石灰销毁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历时23天，当众进行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意义：禁烟壮举，显反侵略决心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性质：战争的导火索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不是根本原因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10"/>
          <p:cNvSpPr/>
          <p:nvPr/>
        </p:nvSpPr>
        <p:spPr>
          <a:xfrm>
            <a:off x="762000" y="2762250"/>
            <a:ext cx="76200" cy="123825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1" name="text11"/>
          <p:cNvSpPr txBox="1"/>
          <p:nvPr/>
        </p:nvSpPr>
        <p:spPr>
          <a:xfrm>
            <a:off x="1104900" y="281940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环节二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1104900" y="3200400"/>
            <a:ext cx="9906000" cy="857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4400" b="1" i="0">
                <a:solidFill>
                  <a:srgbClr val="3A2F25"/>
                </a:solidFill>
                <a:latin typeface="Calibri"/>
                <a:ea typeface="Microsoft YaHei"/>
              </a:rPr>
              <a:t>战火与条约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战争经过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bar12"/>
          <p:cNvSpPr/>
          <p:nvPr/>
        </p:nvSpPr>
        <p:spPr>
          <a:xfrm>
            <a:off x="1733550" y="2381250"/>
            <a:ext cx="8686800" cy="28575"/>
          </a:xfrm>
          <a:prstGeom prst="rect">
            <a:avLst/>
          </a:prstGeom>
          <a:solidFill>
            <a:srgbClr val="E5DCCB"/>
          </a:solidFill>
          <a:ln>
            <a:noFill/>
          </a:ln>
        </p:spPr>
        <p:txBody>
          <a:bodyPr/>
          <a:p/>
        </p:txBody>
      </p:sp>
      <p:sp>
        <p:nvSpPr>
          <p:cNvPr id="13" name="step13"/>
          <p:cNvSpPr/>
          <p:nvPr/>
        </p:nvSpPr>
        <p:spPr>
          <a:xfrm>
            <a:off x="15240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1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620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封锁珠江口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1840年6月，英舰队抵达广东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林则徐早有戒备，英军转攻他处</a:t>
            </a:r>
          </a:p>
        </p:txBody>
      </p:sp>
      <p:sp>
        <p:nvSpPr>
          <p:cNvPr id="15" name="step15"/>
          <p:cNvSpPr/>
          <p:nvPr/>
        </p:nvSpPr>
        <p:spPr>
          <a:xfrm>
            <a:off x="36957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2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29337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北上进逼天津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陷定海，抵大沽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道光帝惊惧，撤职林则徐，派琦善议和</a:t>
            </a:r>
          </a:p>
        </p:txBody>
      </p:sp>
      <p:sp>
        <p:nvSpPr>
          <p:cNvPr id="17" name="step17"/>
          <p:cNvSpPr/>
          <p:nvPr/>
        </p:nvSpPr>
        <p:spPr>
          <a:xfrm>
            <a:off x="58674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3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51054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再攻广州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1841年，强占香港岛，迫签城下之盟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三元里人民自发抗英</a:t>
            </a:r>
          </a:p>
        </p:txBody>
      </p:sp>
      <p:sp>
        <p:nvSpPr>
          <p:cNvPr id="19" name="step19"/>
          <p:cNvSpPr/>
          <p:nvPr/>
        </p:nvSpPr>
        <p:spPr>
          <a:xfrm>
            <a:off x="80391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4</a:t>
            </a:r>
          </a:p>
        </p:txBody>
      </p:sp>
      <p:sp>
        <p:nvSpPr>
          <p:cNvPr id="20" name="text20"/>
          <p:cNvSpPr txBox="1"/>
          <p:nvPr/>
        </p:nvSpPr>
        <p:spPr>
          <a:xfrm>
            <a:off x="72771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攻陷东南沿海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1841—1842年，破厦门、定海、镇海、宁波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陈化成守吴淞殉国</a:t>
            </a:r>
          </a:p>
        </p:txBody>
      </p:sp>
      <p:sp>
        <p:nvSpPr>
          <p:cNvPr id="21" name="step21"/>
          <p:cNvSpPr/>
          <p:nvPr/>
        </p:nvSpPr>
        <p:spPr>
          <a:xfrm>
            <a:off x="10210800" y="2190750"/>
            <a:ext cx="419100" cy="419100"/>
          </a:xfrm>
          <a:prstGeom prst="ellipse">
            <a:avLst/>
          </a:prstGeom>
          <a:solidFill>
            <a:srgbClr val="B3672A"/>
          </a:solidFill>
          <a:ln>
            <a:noFill/>
          </a:ln>
        </p:spPr>
        <p:txBody>
          <a:bodyPr anchor="ctr" lIns="0" tIns="0" rIns="0" bIns="0"/>
          <a:p>
            <a:pPr algn="ctr">
              <a:buNone/>
            </a:pPr>
            <a:r>
              <a:rPr lang="zh-CN" sz="1800" b="1" i="0">
                <a:solidFill>
                  <a:srgbClr val="FAF6EE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448800" y="2819400"/>
            <a:ext cx="1943100" cy="304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spcAft>
                <a:spcPts val="600"/>
              </a:spcAft>
              <a:buNone/>
            </a:pPr>
            <a:r>
              <a:rPr lang="zh-CN" sz="2300" b="1" i="0">
                <a:solidFill>
                  <a:srgbClr val="3A2F25"/>
                </a:solidFill>
                <a:latin typeface="Calibri"/>
                <a:ea typeface="Microsoft YaHei"/>
              </a:rPr>
              <a:t>兵临南京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1842年8月，舰队直抵下关江面</a:t>
            </a:r>
          </a:p>
          <a:p>
            <a:pPr algn="ctr">
              <a:spcAft>
                <a:spcPts val="400"/>
              </a:spcAft>
              <a:buNone/>
            </a:pPr>
            <a:r>
              <a:rPr lang="zh-CN" sz="2000" b="0" i="0">
                <a:solidFill>
                  <a:srgbClr val="8A7E6F"/>
                </a:solidFill>
                <a:latin typeface="Calibri"/>
                <a:ea typeface="Microsoft YaHei"/>
              </a:rPr>
              <a:t>清政府被迫求和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为什么打不赢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pic>
        <p:nvPicPr>
          <p:cNvPr id="12" name="图片12"/>
          <p:cNvPicPr>
            <a:picLocks noChangeAspect="1"/>
          </p:cNvPicPr>
          <p:nvPr/>
        </p:nvPicPr>
        <p:blipFill>
          <a:blip r:embed="rId3"/>
          <a:srcRect l="6596" t="0" r="6596" b="0"/>
          <a:stretch>
            <a:fillRect/>
          </a:stretch>
        </p:blipFill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</p:spPr>
      </p:pic>
      <p:sp>
        <p:nvSpPr>
          <p:cNvPr id="13" name="text13"/>
          <p:cNvSpPr txBox="1"/>
          <p:nvPr/>
        </p:nvSpPr>
        <p:spPr>
          <a:xfrm>
            <a:off x="762000" y="1714500"/>
            <a:ext cx="5181600" cy="42481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1000"/>
              </a:spcAft>
              <a:buNone/>
            </a:pPr>
            <a:r>
              <a:rPr lang="zh-CN" sz="2700" b="1" i="0">
                <a:solidFill>
                  <a:srgbClr val="B3672A"/>
                </a:solidFill>
                <a:latin typeface="Calibri"/>
                <a:ea typeface="Microsoft YaHei"/>
              </a:rPr>
              <a:t>同一片海上的两种船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清军：木质帆船，靠风靠桨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英军：蒸汽明轮舰，逆风可行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火炮：射程、精度、装填皆悬殊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兵制：绿营分散布防，处处设防处处薄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500" b="0" i="0">
                <a:solidFill>
                  <a:srgbClr val="3A2F25"/>
                </a:solidFill>
                <a:latin typeface="Calibri"/>
                <a:ea typeface="Microsoft YaHei"/>
              </a:rPr>
              <a:t>根子：不是船的差距，是时代的差距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200" b="0" i="0">
                <a:solidFill>
                  <a:srgbClr val="8A7E6F"/>
                </a:solidFill>
                <a:latin typeface="Calibri"/>
                <a:ea typeface="Microsoft YaHei"/>
              </a:rPr>
              <a:t>农业文明 对 工业文明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《南京条约》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0287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B3672A"/>
                </a:solidFill>
                <a:latin typeface="Calibri"/>
                <a:ea typeface="Microsoft YaHei"/>
              </a:rPr>
              <a:t>条款（1842年8月）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割地：香港岛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赔款：2100万银元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五口通商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广州、厦门、福州、宁波、上海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协定关税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英商纳税须与英国商定</a:t>
            </a:r>
          </a:p>
        </p:txBody>
      </p:sp>
      <p:sp>
        <p:nvSpPr>
          <p:cNvPr id="14" name="card14"/>
          <p:cNvSpPr/>
          <p:nvPr/>
        </p:nvSpPr>
        <p:spPr>
          <a:xfrm>
            <a:off x="6248400" y="1600200"/>
            <a:ext cx="5181600" cy="4476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515100" y="1866900"/>
            <a:ext cx="4648200" cy="39433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600" b="1" i="0">
                <a:solidFill>
                  <a:srgbClr val="B3672A"/>
                </a:solidFill>
                <a:latin typeface="Calibri"/>
                <a:ea typeface="Microsoft YaHei"/>
              </a:rPr>
              <a:t>危害（对着看）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领土主权遭破坏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赔款转嫁百姓，阶级矛盾激化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东南门户洞开，商品长驱直入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英国的目的达到了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400" b="0" i="0">
                <a:solidFill>
                  <a:srgbClr val="3A2F25"/>
                </a:solidFill>
                <a:latin typeface="Calibri"/>
                <a:ea typeface="Microsoft YaHei"/>
              </a:rPr>
              <a:t>关税主权丧失，最狠的一条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100" b="0" i="0">
                <a:solidFill>
                  <a:srgbClr val="8A7E6F"/>
                </a:solidFill>
                <a:latin typeface="Calibri"/>
                <a:ea typeface="Microsoft YaHei"/>
              </a:rPr>
              <a:t>从此无法保护本国市场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条约的代价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52500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5100" b="1" i="0">
                <a:solidFill>
                  <a:srgbClr val="B3672A"/>
                </a:solidFill>
                <a:latin typeface="Calibri"/>
                <a:ea typeface="Microsoft YaHei"/>
              </a:rPr>
              <a:t>2100万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银元赔款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约合1470万两，近清朝一年财政收入的三分之一</a:t>
            </a:r>
          </a:p>
        </p:txBody>
      </p:sp>
      <p:sp>
        <p:nvSpPr>
          <p:cNvPr id="14" name="card14"/>
          <p:cNvSpPr/>
          <p:nvPr/>
        </p:nvSpPr>
        <p:spPr>
          <a:xfrm>
            <a:off x="3495675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3686175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5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通商口岸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由一口独占变为东南全线开放</a:t>
            </a:r>
          </a:p>
        </p:txBody>
      </p:sp>
      <p:sp>
        <p:nvSpPr>
          <p:cNvPr id="16" name="card16"/>
          <p:cNvSpPr/>
          <p:nvPr/>
        </p:nvSpPr>
        <p:spPr>
          <a:xfrm>
            <a:off x="6229350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7" name="text17"/>
          <p:cNvSpPr txBox="1"/>
          <p:nvPr/>
        </p:nvSpPr>
        <p:spPr>
          <a:xfrm>
            <a:off x="6419850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1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割让岛屿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香港岛，英国在华的侵略据点</a:t>
            </a:r>
          </a:p>
        </p:txBody>
      </p:sp>
      <p:sp>
        <p:nvSpPr>
          <p:cNvPr id="18" name="card18"/>
          <p:cNvSpPr/>
          <p:nvPr/>
        </p:nvSpPr>
        <p:spPr>
          <a:xfrm>
            <a:off x="8963025" y="2095500"/>
            <a:ext cx="2466975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9" name="text19"/>
          <p:cNvSpPr txBox="1"/>
          <p:nvPr/>
        </p:nvSpPr>
        <p:spPr>
          <a:xfrm>
            <a:off x="9153525" y="2324100"/>
            <a:ext cx="2085975" cy="2590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ctr">
              <a:spcAft>
                <a:spcPts val="1000"/>
              </a:spcAft>
              <a:buNone/>
            </a:pPr>
            <a:r>
              <a:rPr lang="zh-CN" sz="6000" b="1" i="0">
                <a:solidFill>
                  <a:srgbClr val="B3672A"/>
                </a:solidFill>
                <a:latin typeface="Calibri"/>
                <a:ea typeface="Microsoft YaHei"/>
              </a:rPr>
              <a:t>5%</a:t>
            </a:r>
          </a:p>
          <a:p>
            <a:pPr algn="ctr">
              <a:spcAft>
                <a:spcPts val="600"/>
              </a:spcAft>
              <a:buNone/>
            </a:pPr>
            <a:r>
              <a:rPr lang="zh-CN" sz="2000" b="1" i="0">
                <a:solidFill>
                  <a:srgbClr val="3A2F25"/>
                </a:solidFill>
                <a:latin typeface="Calibri"/>
                <a:ea typeface="Microsoft YaHei"/>
              </a:rPr>
              <a:t>值百抽五关税</a:t>
            </a:r>
          </a:p>
          <a:p>
            <a:pPr algn="ctr">
              <a:buNone/>
            </a:pPr>
            <a:r>
              <a:rPr lang="zh-CN" sz="1600" b="0" i="0">
                <a:solidFill>
                  <a:srgbClr val="8A7E6F"/>
                </a:solidFill>
                <a:latin typeface="Calibri"/>
                <a:ea typeface="Microsoft YaHei"/>
              </a:rPr>
              <a:t>税率须与英方商定，关税自主权丧失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活动：读史料，判原因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000" b="0" i="0">
                <a:solidFill>
                  <a:srgbClr val="3A2F25"/>
                </a:solidFill>
                <a:latin typeface="Calibri"/>
                <a:ea typeface="Microsoft YaHei"/>
              </a:rPr>
              <a:t>材料A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1700" b="0" i="0">
                <a:solidFill>
                  <a:srgbClr val="8A7E6F"/>
                </a:solidFill>
                <a:latin typeface="Calibri"/>
                <a:ea typeface="Microsoft YaHei"/>
              </a:rPr>
              <a:t>英国议会1840年辩论：为商业利益、为国家荣誉而战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000" b="0" i="0">
                <a:solidFill>
                  <a:srgbClr val="3A2F25"/>
                </a:solidFill>
                <a:latin typeface="Calibri"/>
                <a:ea typeface="Microsoft YaHei"/>
              </a:rPr>
              <a:t>材料B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1700" b="0" i="0">
                <a:solidFill>
                  <a:srgbClr val="8A7E6F"/>
                </a:solidFill>
                <a:latin typeface="Calibri"/>
                <a:ea typeface="Microsoft YaHei"/>
              </a:rPr>
              <a:t>曼彻斯特商会呈文：中国四万万人，若每人多用一顶布帽……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000" b="0" i="0">
                <a:solidFill>
                  <a:srgbClr val="3A2F25"/>
                </a:solidFill>
                <a:latin typeface="Calibri"/>
                <a:ea typeface="Microsoft YaHei"/>
              </a:rPr>
              <a:t>任务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1700" b="0" i="0">
                <a:solidFill>
                  <a:srgbClr val="8A7E6F"/>
                </a:solidFill>
                <a:latin typeface="Calibri"/>
                <a:ea typeface="Microsoft YaHei"/>
              </a:rPr>
              <a:t>两则材料共同指向什么？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1700" b="0" i="0">
                <a:solidFill>
                  <a:srgbClr val="8A7E6F"/>
                </a:solidFill>
                <a:latin typeface="Calibri"/>
                <a:ea typeface="Microsoft YaHei"/>
              </a:rPr>
              <a:t>能否证明「销烟才是主因」？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000" b="0" i="0">
                <a:solidFill>
                  <a:srgbClr val="3A2F25"/>
                </a:solidFill>
                <a:latin typeface="Calibri"/>
                <a:ea typeface="Microsoft YaHei"/>
              </a:rPr>
              <a:t>成功标准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1700" b="0" i="0">
                <a:solidFill>
                  <a:srgbClr val="8A7E6F"/>
                </a:solidFill>
                <a:latin typeface="Calibri"/>
                <a:ea typeface="Microsoft YaHei"/>
              </a:rPr>
              <a:t>① 引材料原句作证据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1700" b="0" i="0">
                <a:solidFill>
                  <a:srgbClr val="8A7E6F"/>
                </a:solidFill>
                <a:latin typeface="Calibri"/>
                <a:ea typeface="Microsoft YaHei"/>
              </a:rPr>
              <a:t>② 说出材料能证明什么、不能证明什么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1700" b="0" i="0">
                <a:solidFill>
                  <a:srgbClr val="8A7E6F"/>
                </a:solidFill>
                <a:latin typeface="Calibri"/>
                <a:ea typeface="Microsoft YaHei"/>
              </a:rPr>
              <a:t>③ 一句话给出结论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000" b="0" i="0">
                <a:solidFill>
                  <a:srgbClr val="3A2F25"/>
                </a:solidFill>
                <a:latin typeface="Calibri"/>
                <a:ea typeface="Microsoft YaHei"/>
              </a:rPr>
              <a:t>时长：小组4分钟，汇报3分钟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掰清一件事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card12"/>
          <p:cNvSpPr/>
          <p:nvPr/>
        </p:nvSpPr>
        <p:spPr>
          <a:xfrm>
            <a:off x="762000" y="1714500"/>
            <a:ext cx="52006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990600" y="1943100"/>
            <a:ext cx="47434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根本原因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英国工业革命后，急需商品市场与原料产地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中国闭关自守、地广人多，是必争之地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没有它，战争不会发生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没有虎门销烟，也会有别的借口</a:t>
            </a:r>
          </a:p>
        </p:txBody>
      </p:sp>
      <p:sp>
        <p:nvSpPr>
          <p:cNvPr id="14" name="card14"/>
          <p:cNvSpPr/>
          <p:nvPr/>
        </p:nvSpPr>
        <p:spPr>
          <a:xfrm>
            <a:off x="6229350" y="1714500"/>
            <a:ext cx="5200650" cy="4095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CB"/>
            </a:solidFill>
          </a:ln>
        </p:spPr>
        <p:txBody>
          <a:bodyPr/>
          <a:p/>
        </p:txBody>
      </p:sp>
      <p:sp>
        <p:nvSpPr>
          <p:cNvPr id="15" name="text15"/>
          <p:cNvSpPr txBox="1"/>
          <p:nvPr/>
        </p:nvSpPr>
        <p:spPr>
          <a:xfrm>
            <a:off x="6457950" y="1943100"/>
            <a:ext cx="4743450" cy="36385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>
              <a:spcAft>
                <a:spcPts val="800"/>
              </a:spcAft>
              <a:buNone/>
            </a:pPr>
            <a:r>
              <a:rPr lang="zh-CN" sz="2500" b="1" i="0">
                <a:solidFill>
                  <a:srgbClr val="B3672A"/>
                </a:solidFill>
                <a:latin typeface="Calibri"/>
                <a:ea typeface="Microsoft YaHei"/>
              </a:rPr>
              <a:t>直接原因（导火索）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虎门销烟</a:t>
            </a:r>
          </a:p>
          <a:p>
            <a:pPr algn="l">
              <a:spcAft>
                <a:spcPts val="600"/>
              </a:spcAft>
              <a:buNone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给了英国发动战争的口实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它决定战争何时打、以什么名义打</a:t>
            </a:r>
          </a:p>
          <a:p>
            <a:pPr algn="l" marL="285750" indent="-285750">
              <a:spcAft>
                <a:spcPts val="8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2200" b="0" i="0">
                <a:solidFill>
                  <a:srgbClr val="3A2F25"/>
                </a:solidFill>
                <a:latin typeface="Calibri"/>
                <a:ea typeface="Microsoft YaHei"/>
              </a:rPr>
              <a:t>它不决定战争打不打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762000" y="476250"/>
            <a:ext cx="10668000" cy="609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l">
              <a:buNone/>
            </a:pPr>
            <a:r>
              <a:rPr lang="zh-CN" sz="3200" b="1" i="0">
                <a:solidFill>
                  <a:srgbClr val="3A2F25"/>
                </a:solidFill>
                <a:latin typeface="Calibri"/>
                <a:ea typeface="Microsoft YaHei"/>
              </a:rPr>
              <a:t>分层作业（总量30分钟内）</a:t>
            </a:r>
          </a:p>
        </p:txBody>
      </p:sp>
      <p:sp>
        <p:nvSpPr>
          <p:cNvPr id="11" name="bar11"/>
          <p:cNvSpPr/>
          <p:nvPr/>
        </p:nvSpPr>
        <p:spPr>
          <a:xfrm>
            <a:off x="762000" y="1162050"/>
            <a:ext cx="6858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2" name="text12"/>
          <p:cNvSpPr txBox="1"/>
          <p:nvPr/>
        </p:nvSpPr>
        <p:spPr>
          <a:xfrm>
            <a:off x="762000" y="1676400"/>
            <a:ext cx="10668000" cy="447675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必做 · 全体（约10分钟）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补全时间轴：走私—销烟—开战—签约，标出年份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用一句话区分本课的根本原因与导火索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选做 · 有余力（约10分钟）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为林则徐写80字人物评价，须有史实支撑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拓展 · 感兴趣（不计入检查）</a:t>
            </a:r>
          </a:p>
          <a:p>
            <a:pPr algn="l" marL="571500" indent="-285750" lvl="1">
              <a:spcAft>
                <a:spcPts val="400"/>
              </a:spcAft>
              <a:buClr>
                <a:srgbClr val="8A7E6F"/>
              </a:buClr>
              <a:buFont typeface="Arial"/>
              <a:buChar char="–"/>
            </a:pPr>
            <a:r>
              <a:rPr lang="zh-CN" sz="2800" b="0" i="0">
                <a:solidFill>
                  <a:srgbClr val="8A7E6F"/>
                </a:solidFill>
                <a:latin typeface="Calibri"/>
                <a:ea typeface="Microsoft YaHei"/>
              </a:rPr>
              <a:t>查一查：马戛尔尼来华为什么无功而返？下节课讲给大家听</a:t>
            </a:r>
          </a:p>
          <a:p>
            <a:pPr algn="l" marL="285750" indent="-285750">
              <a:spcAft>
                <a:spcPts val="400"/>
              </a:spcAft>
              <a:buClr>
                <a:srgbClr val="B3672A"/>
              </a:buClr>
              <a:buFont typeface="Arial"/>
              <a:buChar char="•"/>
            </a:pPr>
            <a:r>
              <a:rPr lang="zh-CN" sz="3100" b="0" i="0">
                <a:solidFill>
                  <a:srgbClr val="3A2F25"/>
                </a:solidFill>
                <a:latin typeface="Calibri"/>
                <a:ea typeface="Microsoft YaHei"/>
              </a:rPr>
              <a:t>不留抄写，不留重复练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6EE"/>
            </a:gs>
            <a:gs pos="100000">
              <a:srgbClr val="F3EDE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10"/>
          <p:cNvSpPr txBox="1"/>
          <p:nvPr/>
        </p:nvSpPr>
        <p:spPr>
          <a:xfrm>
            <a:off x="1524000" y="2076450"/>
            <a:ext cx="914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1700" b="1" i="0">
                <a:solidFill>
                  <a:srgbClr val="B3672A"/>
                </a:solidFill>
                <a:latin typeface="Calibri"/>
                <a:ea typeface="Microsoft YaHei"/>
              </a:rPr>
              <a:t>下课前一分钟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762000" y="2552700"/>
            <a:ext cx="10668000" cy="1047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5000" b="1" i="0">
                <a:solidFill>
                  <a:srgbClr val="3A2F25"/>
                </a:solidFill>
                <a:latin typeface="Calibri"/>
                <a:ea typeface="Microsoft YaHei"/>
              </a:rPr>
              <a:t>落后不该挨打</a:t>
            </a:r>
          </a:p>
        </p:txBody>
      </p:sp>
      <p:sp>
        <p:nvSpPr>
          <p:cNvPr id="12" name="bar12"/>
          <p:cNvSpPr/>
          <p:nvPr/>
        </p:nvSpPr>
        <p:spPr>
          <a:xfrm>
            <a:off x="5695950" y="3733800"/>
            <a:ext cx="800100" cy="38100"/>
          </a:xfrm>
          <a:prstGeom prst="rect">
            <a:avLst/>
          </a:prstGeom>
          <a:solidFill>
            <a:srgbClr val="B3672A"/>
          </a:solidFill>
          <a:ln>
            <a:noFill/>
          </a:ln>
        </p:spPr>
        <p:txBody>
          <a:bodyPr/>
          <a:p/>
        </p:txBody>
      </p:sp>
      <p:sp>
        <p:nvSpPr>
          <p:cNvPr id="13" name="text13"/>
          <p:cNvSpPr txBox="1"/>
          <p:nvPr/>
        </p:nvSpPr>
        <p:spPr>
          <a:xfrm>
            <a:off x="1524000" y="4000500"/>
            <a:ext cx="9144000" cy="6667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p>
            <a:pPr algn="ctr">
              <a:buNone/>
            </a:pPr>
            <a:r>
              <a:rPr lang="zh-CN" sz="2400" b="0" i="0">
                <a:solidFill>
                  <a:srgbClr val="8A7E6F"/>
                </a:solidFill>
                <a:latin typeface="Calibri"/>
                <a:ea typeface="Microsoft YaHei"/>
              </a:rPr>
              <a:t>但落后就会挨打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Polaris">
  <a:themeElements>
    <a:clrScheme name="Polaris">
      <a:dk1>
        <a:sysClr val="windowText" lastClr="000000"/>
      </a:dk1>
      <a:lt1>
        <a:sysClr val="window" lastClr="FFFFFF"/>
      </a:lt1>
      <a:dk2>
        <a:srgbClr val="1F2230"/>
      </a:dk2>
      <a:lt2>
        <a:srgbClr val="EEF1F8"/>
      </a:lt2>
      <a:accent1>
        <a:srgbClr val="7AA2F7"/>
      </a:accent1>
      <a:accent2>
        <a:srgbClr val="B794F6"/>
      </a:accent2>
      <a:accent3>
        <a:srgbClr val="5BE3B0"/>
      </a:accent3>
      <a:accent4>
        <a:srgbClr val="FFD166"/>
      </a:accent4>
      <a:accent5>
        <a:srgbClr val="FF7B8A"/>
      </a:accent5>
      <a:accent6>
        <a:srgbClr val="3B6FE0"/>
      </a:accent6>
      <a:hlink>
        <a:srgbClr val="0563C1"/>
      </a:hlink>
      <a:folHlink>
        <a:srgbClr val="954F72"/>
      </a:folHlink>
    </a:clrScheme>
    <a:fontScheme name="Polari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olar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