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开场不急着报课题。先关灯,把这张图放大,给学生 10 秒安静看:一颗蓝色星球,一半亮一半暗,悬在黑暗里。</a:t>
            </a:r>
          </a:p>
          <a:p>
            <a:r>
              <a:rPr lang="zh-CN"/>
              <a:t>提问引入:"这颗星球上,有人正穿短袖,也有人正穿羽绒服。为什么?"</a:t>
            </a:r>
          </a:p>
          <a:p>
            <a:r>
              <a:rPr lang="zh-CN"/>
              <a:t>不要收答案,让它悬着。板书课题:地球的公转与四季变化。</a:t>
            </a:r>
          </a:p>
          <a:p>
            <a:r>
              <a:rPr lang="zh-CN"/>
              <a:t>预告本节主线:我们要回答一个看起来很简单、其实全班一半人都答错的问题——四季到底是怎么来的。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这是本节的驱动性问题,必须先让学生把"前概念"暴露出来,否则后面讲什么都进不去。</a:t>
            </a:r>
          </a:p>
          <a:p>
            <a:r>
              <a:rPr lang="zh-CN"/>
              <a:t>操作:全班快速举手表决三个选项——A 地球离太阳时近时远;B 太阳自己时强时弱;C 阳光照到我们这里的角度和时间变了。</a:t>
            </a:r>
          </a:p>
          <a:p>
            <a:r>
              <a:rPr lang="zh-CN"/>
              <a:t>把三个数字写在黑板角落,先不评判对错,只说一句:"记住你刚才举的手,下课前我们回来算总账。"</a:t>
            </a:r>
          </a:p>
          <a:p>
            <a:r>
              <a:rPr lang="zh-CN"/>
              <a:t>经验:绝大多数班级 A 会占一半以上。这正是本节要专门破除的最大误区(见环节三)。此刻越多人选 A,后面破得越有力,所以老师千万别提前剧透答案。</a:t>
            </a:r>
          </a:p>
          <a:p>
            <a:r>
              <a:rPr lang="zh-CN"/>
              <a:t>过渡:要判断谁对,得先看清地球在怎么动。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目标要念,但只念 40 秒,重点是让学生知道"课末我要能做到什么"。</a:t>
            </a:r>
          </a:p>
          <a:p>
            <a:r>
              <a:rPr lang="zh-CN"/>
              <a:t>每条都是可观察可评价的:说得出、解释得清、判读得对、驳得倒。特别强调第 4 条——这不是知识点,是能力,课末的练习会直接考它。</a:t>
            </a:r>
          </a:p>
          <a:p>
            <a:r>
              <a:rPr lang="zh-CN"/>
              <a:t>引导语:"第四条最难。它要求你不只是记住正确答案,还要能说清楚别人错在哪。"</a:t>
            </a:r>
          </a:p>
          <a:p>
            <a:r>
              <a:rPr lang="zh-CN"/>
              <a:t>提示学生在笔记本上把这四条抄成清单,下课前自己打勾。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这三个数是本节的地基,必须记牢,后面每一页都在用。</a:t>
            </a:r>
          </a:p>
          <a:p>
            <a:r>
              <a:rPr lang="zh-CN"/>
              <a:t>讲法:一个一个砸。</a:t>
            </a:r>
          </a:p>
          <a:p>
            <a:r>
              <a:rPr lang="zh-CN"/>
              <a:t>365 天——一年,所以四季一年一轮回,不是一天一轮回(那是自转管的)。</a:t>
            </a:r>
          </a:p>
          <a:p>
            <a:r>
              <a:rPr lang="zh-CN"/>
              <a:t>23.5°——本节最重要的数。地轴不是直的,是歪的,歪了 23.5°。这个歪,一歪就歪出四季来。让学生用铅笔当地轴,斜着插在拳头上比划。</a:t>
            </a:r>
          </a:p>
          <a:p>
            <a:r>
              <a:rPr lang="zh-CN"/>
              <a:t>±23.5°——直射点只在这个范围内跑,跑到北边 23.5° 就是北回归线,南边就是南回归线。回归的意思就是"到这儿就得往回走"。</a:t>
            </a:r>
          </a:p>
          <a:p>
            <a:r>
              <a:rPr lang="zh-CN"/>
              <a:t>追问:为什么 23.5° 是开关?留到下一页揭晓。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这一页是防混淆用的,学生最爱把两者的"管辖范围"张冠李戴。</a:t>
            </a:r>
          </a:p>
          <a:p>
            <a:r>
              <a:rPr lang="zh-CN"/>
              <a:t>用手边动作演示:握拳当地球,原地转 = 自转;绕着讲台上的台灯走一圈 = 公转。边走边强调:地轴始终歪向同一个方向(北极星),走一圈也不扶正。</a:t>
            </a:r>
          </a:p>
          <a:p>
            <a:r>
              <a:rPr lang="zh-CN"/>
              <a:t>关键对照句:"自转管一天冷不冷,公转管一年热不热。"</a:t>
            </a:r>
          </a:p>
          <a:p>
            <a:r>
              <a:rPr lang="zh-CN"/>
              <a:t>易错点:学生常答"公转产生昼夜"。反问:如果地球不自转只公转,会不会有白天黑夜?会,但一天要一年那么长——所以昼夜交替归自转。</a:t>
            </a:r>
          </a:p>
          <a:p>
            <a:r>
              <a:rPr lang="zh-CN"/>
              <a:t>注意两栏第三行都是自西向东,这是相同点,学生容易漏答。</a:t>
            </a:r>
          </a:p>
          <a:p>
            <a:r>
              <a:rPr lang="zh-CN"/>
              <a:t>过渡:两者叠加起来,才有了直射点的移动。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本节的核心机制页,慢讲,至少 8 分钟。</a:t>
            </a:r>
          </a:p>
          <a:p>
            <a:r>
              <a:rPr lang="zh-CN"/>
              <a:t>先解释因果链:地轴歪 23.5° 且方向不变 → 地球绕日走一圈的过程中,阳光垂直照射的那个点就不能老待在赤道 → 它在南北回归线之间来回跑。这就是黄赤交角的作用。</a:t>
            </a:r>
          </a:p>
          <a:p>
            <a:r>
              <a:rPr lang="zh-CN"/>
              <a:t>演示不可省:一手举球(地轴斜指教室后墙固定不动),绕台灯走四个位置,每停一站问学生"现在光垂直打在哪条线上?"</a:t>
            </a:r>
          </a:p>
          <a:p>
            <a:r>
              <a:rPr lang="zh-CN"/>
              <a:t>易错点一:学生以为直射点是"跳"到四个位置。强调它是连续滑动的,二分二至只是四个特殊时刻的快照。</a:t>
            </a:r>
          </a:p>
          <a:p>
            <a:r>
              <a:rPr lang="zh-CN"/>
              <a:t>易错点二:以为地轴会摆动。反复说:地轴方向永远不变,变的是地球在轨道上的位置。</a:t>
            </a:r>
          </a:p>
          <a:p>
            <a:r>
              <a:rPr lang="zh-CN"/>
              <a:t>易错点三:把"直射"理解成"离太阳最近"。这里先埋一句:"直射说的是角度,不是距离。"环节三要引爆它。</a:t>
            </a:r>
          </a:p>
          <a:p>
            <a:r>
              <a:rPr lang="zh-CN"/>
              <a:t>口诀板书:春分赤道,夏至北回,秋分赤道,冬至南回。</a:t>
            </a:r>
          </a:p>
          <a:p>
            <a:r>
              <a:rPr lang="zh-CN"/>
              <a:t>南半球的同学请注意:昼长结论要反过来,提醒一句即可,不展开。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过渡页,20 秒。</a:t>
            </a:r>
          </a:p>
          <a:p>
            <a:r>
              <a:rPr lang="zh-CN"/>
              <a:t>承上:我们已经知道直射点在跑。启下:现在把镜头切到我们脚下——直射点跑到不同位置时,北半球的人到底经历了什么?</a:t>
            </a:r>
          </a:p>
          <a:p>
            <a:r>
              <a:rPr lang="zh-CN"/>
              <a:t>提醒学生翻开学案第二栏,接下来这一页要边听边填表格。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这是全课的"信息表",建议不讲、改练——让学生用上一页的机制自己推,老师只做校对。</a:t>
            </a:r>
          </a:p>
          <a:p>
            <a:r>
              <a:rPr lang="zh-CN"/>
              <a:t>方法:遮住卡片下半部分,只给日期和直射位置,让学生推昼夜长短和季节。推完再揭晓。能推出来才叫理解,背出来的两周就忘。</a:t>
            </a:r>
          </a:p>
          <a:p>
            <a:r>
              <a:rPr lang="zh-CN"/>
              <a:t>重点强调两句因果:</a:t>
            </a:r>
          </a:p>
          <a:p>
            <a:r>
              <a:rPr lang="zh-CN"/>
              <a:t>夏至为什么热?因为直射点在北回归线,我们这里正午太阳高度全年最大 + 白昼全年最长 → 单位面积得到的热量最多、受热时间最久。</a:t>
            </a:r>
          </a:p>
          <a:p>
            <a:r>
              <a:rPr lang="zh-CN"/>
              <a:t>冬至反过来:太阳斜射,光摊得薄;白天又短,收热时间少。</a:t>
            </a:r>
          </a:p>
          <a:p>
            <a:r>
              <a:rPr lang="zh-CN"/>
              <a:t>易错点:学生问"夏至最热为什么不是 7 月最热?"这是很好的问题——地面吸热放热有滞后,夏至是获热最多的日子,不是气温最高的日子。可用一句话答,不深挖。</a:t>
            </a:r>
          </a:p>
          <a:p>
            <a:r>
              <a:rPr lang="zh-CN"/>
              <a:t>再埋一颗雷:注意冬至(12月)时,地球其实离太阳更近。谁要提前发现了,请他先憋住,下一环节全班一起算。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配图先看后说。指着图问:"这四张是同一棵树,同一个机位。变的是什么?"引导学生说出:阳光角度变了、白天长短变了,所以树的样子变了。这就是四季的可见证据。</a:t>
            </a:r>
          </a:p>
          <a:p>
            <a:r>
              <a:rPr lang="zh-CN"/>
              <a:t>再把镜头拉远到全球:同样是一年,不是所有地方都能看到这四张照片。</a:t>
            </a:r>
          </a:p>
          <a:p>
            <a:r>
              <a:rPr lang="zh-CN"/>
              <a:t>热带的树没有落叶的冬天——因为那里全年都能被直射或接近直射;寒带的树几乎没有夏天——太阳永远斜挂,甚至半年不落半年不出。</a:t>
            </a:r>
          </a:p>
          <a:p>
            <a:r>
              <a:rPr lang="zh-CN"/>
              <a:t>只有温带,直射点的南北移动才转换成明显的四季。我们大部分同学住在北温带,所以四季分明是我们的"地方特色",不是全球标配。</a:t>
            </a:r>
          </a:p>
          <a:p>
            <a:r>
              <a:rPr lang="zh-CN"/>
              <a:t>分界线复习:回归线 23.5°(直射的边界),极圈 66.5°(极昼极夜的边界)。两个数加起来正好 90°,可以让学生自己发现这个巧合,印象深。</a:t>
            </a:r>
          </a:p>
          <a:p>
            <a:r>
              <a:rPr lang="zh-CN"/>
              <a:t>易错点:学生把五带分界记反。给一句锚:23.5 管直射,66.5 管极昼夜。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全课最重要的 8 分钟,请务必留足时间,宁可砍练习也不砍这里。</a:t>
            </a:r>
          </a:p>
          <a:p>
            <a:r>
              <a:rPr lang="zh-CN"/>
              <a:t>先把课初黑板角落那个统计数字念出来:"刚上课时,我们班有 XX 位同学选了 A——地球离太阳近所以夏天热。"</a:t>
            </a:r>
          </a:p>
          <a:p>
            <a:r>
              <a:rPr lang="zh-CN"/>
              <a:t>营造认知冲突:"这个答案听起来太合理了,所以它错得特别顽固。今天我们不靠老师说它错,我们用数据把它拆掉。"</a:t>
            </a:r>
          </a:p>
          <a:p>
            <a:r>
              <a:rPr lang="zh-CN"/>
              <a:t>提醒:选 A 的同学不丢人,人类想了几千年才想明白。但下课前你要能说清它为什么错。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本页是全课的靶心,采用"先杀死错误,再扶正确"的顺序,不要反过来。</a:t>
            </a:r>
          </a:p>
          <a:p>
            <a:r>
              <a:rPr lang="zh-CN"/>
              <a:t>第一枪(左栏第三条):地球公转轨道是近似正圆的椭圆,1 月初到达近日点约 1.47 亿千米,7 月初到达远日点约 1.52 亿千米。请全班一起看:近日点在 1 月。1 月我们这儿是什么季节?——冬天!</a:t>
            </a:r>
          </a:p>
          <a:p>
            <a:r>
              <a:rPr lang="zh-CN"/>
              <a:t>如果"近就热",1 月应该最热。事实正相反。这一枪打完,教室通常会安静几秒,让它安静。</a:t>
            </a:r>
          </a:p>
          <a:p>
            <a:r>
              <a:rPr lang="zh-CN"/>
              <a:t>第二枪(左栏第四条):同一天,北京冬天,悉尼夏天。可地球对这两个城市的日地距离是同一个数。同一个原因怎么可能推出两个相反的结果?——所以距离根本不是原因。这一枪是决定性的,一定要讲。</a:t>
            </a:r>
          </a:p>
          <a:p>
            <a:r>
              <a:rPr lang="zh-CN"/>
              <a:t>补充量级(可板书):远近差约 5 百万千米,只占 3%,对气温影响微乎其微;而正午太阳高度从冬至到夏至能变化 47°,这才是量级上的主角。</a:t>
            </a:r>
          </a:p>
          <a:p>
            <a:r>
              <a:rPr lang="zh-CN"/>
              <a:t>再扶正确(右栏):把因果链完整说一遍,让学生跟读——地轴倾斜 → 直射点移动 → 正午太阳高度和昼长变化 → 得到的热量变化 → 四季。</a:t>
            </a:r>
          </a:p>
          <a:p>
            <a:r>
              <a:rPr lang="zh-CN"/>
              <a:t>打比方(帮理解角度):手电筒垂直照桌面,光斑小而亮;斜着照,同样的光摊成一大片,就淡了。太阳光也一样,斜射就是把热量摊薄了。这个演示只要 30 秒,效果极好,建议真做。</a:t>
            </a:r>
          </a:p>
          <a:p>
            <a:r>
              <a:rPr lang="zh-CN"/>
              <a:t>收束:回到课初的举手,问选 A 的同学现在改不改。让一位改答案的学生用自己的话说一遍理由——他说清楚了,这一页才算讲成功。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这页是上一页的"证据留痕",给学生一个可以背走、可以引用的数字组合。</a:t>
            </a:r>
          </a:p>
          <a:p>
            <a:r>
              <a:rPr lang="zh-CN"/>
              <a:t>讲法:三个数连成一句话——最近的时候我们在过冬(1.47 亿/1 月),距离全年只差 3%,而阳光角度却能差 47°。哪个才是四季的原因,一目了然。</a:t>
            </a:r>
          </a:p>
          <a:p>
            <a:r>
              <a:rPr lang="zh-CN"/>
              <a:t>47° 从哪来?正好是 23.5° 的两倍(直射点从北回归线跑到南回归线,跨了 47°)。让学生自己算这一步,能把整节课的逻辑串起来。</a:t>
            </a:r>
          </a:p>
          <a:p>
            <a:r>
              <a:rPr lang="zh-CN"/>
              <a:t>学生常见追问:那 3% 完全没影响吗?——有,但很小,而且被地表海陆分布抹得几乎看不见。教师承认它存在但不重要,比一口否定更诚实,也更能防止学生以后遇到"近日点"就混乱。</a:t>
            </a:r>
          </a:p>
          <a:p>
            <a:r>
              <a:rPr lang="zh-CN"/>
              <a:t>如果时间紧,本页可只用 1 分钟快过,但那个 1.47 亿/1 月的组合必须念出来。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时间硬控 6 分钟:独立做 3 分钟,同桌互评 2 分钟,全班校对 1 分钟。计时器投屏,时间到就停。</a:t>
            </a:r>
          </a:p>
          <a:p>
            <a:r>
              <a:rPr lang="zh-CN"/>
              <a:t>第 1 题面向全体,保底题,应有 90% 以上正确率。答案:直射北回归线,北半球昼最长夜最短。</a:t>
            </a:r>
          </a:p>
          <a:p>
            <a:r>
              <a:rPr lang="zh-CN"/>
              <a:t>第 2 题是理解题。答案关键词:直射点在南半球,南半球正午太阳高度大、昼长,北半球反之。学生若只答"半球不同"不给分,必须说出直射点位置。</a:t>
            </a:r>
          </a:p>
          <a:p>
            <a:r>
              <a:rPr lang="zh-CN"/>
              <a:t>第 3 题是本节的达标题,直接对应学习目标第 4 条。合格标准写在卡片上了,请当堂朗读一遍,让学生知道"说到什么程度才算对"。</a:t>
            </a:r>
          </a:p>
          <a:p>
            <a:r>
              <a:rPr lang="zh-CN"/>
              <a:t>互评环节让同桌用成功标准互相打勾,老师巡视,专门找还在说"离太阳近"的本子——那是本节真正要救的人,请蹲下来单独听他说一遍。</a:t>
            </a:r>
          </a:p>
          <a:p>
            <a:r>
              <a:rPr lang="zh-CN"/>
              <a:t>校对时不要老师念答案,请一位第 3 题写得好的学生念,同伴语言比教师语言更有穿透力。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小结不做知识点罗列,只留这一条链。请全班齐读一遍,再合上课本让同桌互述一遍。</a:t>
            </a:r>
          </a:p>
          <a:p>
            <a:r>
              <a:rPr lang="zh-CN"/>
              <a:t>强调链条的起点:一切源于地轴那 23.5° 的歪。如果地轴不歪,地球照样绕太阳转,但全球没有四季——每天都是春分。这个反事实假设特别能检验理解,建议留 30 秒让学生想。</a:t>
            </a:r>
          </a:p>
          <a:p>
            <a:r>
              <a:rPr lang="zh-CN"/>
              <a:t>最后回收课初的问题:"为什么会有四季?"标准答案不是"因为公转",而是"因为地轴倾斜着公转"。这五个字"倾斜着"是本节的全部价值,请板书圈出。</a:t>
            </a:r>
          </a:p>
          <a:p>
            <a:r>
              <a:rPr lang="zh-CN"/>
              <a:t>再看一眼黑板角落的举手统计,请全班一起把 A 划掉。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作业要当堂讲清楚,不要让学生回家猜。</a:t>
            </a:r>
          </a:p>
          <a:p>
            <a:r>
              <a:rPr lang="zh-CN"/>
              <a:t>必做卡在 10 分钟内,严格执行双减,书面只有 5 道选择。第二项"口述给家人听"是零书面负担的高价值任务——能讲明白才是真懂,而且家长常常也是"远近说"的信徒,让学生去破一次,成就感极强。</a:t>
            </a:r>
          </a:p>
          <a:p>
            <a:r>
              <a:rPr lang="zh-CN"/>
              <a:t>选做是观察类,不收不批,只在下节课开头问一句"谁记了?"记的人举手说结论。地理的核心素养要靠真实观察养,不是靠卷子。</a:t>
            </a:r>
          </a:p>
          <a:p>
            <a:r>
              <a:rPr lang="zh-CN"/>
              <a:t>挑战题自愿,提前声明不计入评价,免得变成隐性加码。它的作用是给学有余力的孩子一个出口。</a:t>
            </a:r>
          </a:p>
          <a:p>
            <a:r>
              <a:rPr lang="zh-CN"/>
              <a:t>明确宣布:今天没有额外练习册,没有抄写。说到做到,这是双减的信用问题。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结尾留一句话就够:四季的秘密不在距离,在那 23.5° 的倾斜。</a:t>
            </a:r>
          </a:p>
          <a:p>
            <a:r>
              <a:rPr lang="zh-CN"/>
              <a:t>预告下节:今天我们说"夏至昼最长",到底长多少?北京、哈尔滨、海口一样长吗?下节课我们用数据把它量出来。</a:t>
            </a:r>
          </a:p>
          <a:p>
            <a:r>
              <a:rPr lang="zh-CN"/>
              <a:t>下课前提醒:学案带回,选做的同学今晚就开始记太阳落山时间,别等到第三天才想起。</a:t>
            </a:r>
          </a:p>
          <a:p>
            <a:r>
              <a:rPr lang="zh-CN"/>
              <a:t>如果还有 1 分钟,可以留个悬念:地球上有没有一个地方,一年里太阳会直射它两次?(答案:回归线之间的任何地方——但让他们自己想。)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地理 · 七年级上册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地球的公转与四季变化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第一课时　太阳直射点的秘密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本质问题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为什么会有四季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先说出你的答案,课末再回来看它对不对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3100" b="0" i="0">
                <a:solidFill>
                  <a:srgbClr val="E8ECF6"/>
                </a:solidFill>
                <a:latin typeface="Calibri"/>
                <a:ea typeface="Microsoft YaHei"/>
              </a:rPr>
              <a:t>说出公转特征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800" b="0" i="0">
                <a:solidFill>
                  <a:srgbClr val="93A0B8"/>
                </a:solidFill>
                <a:latin typeface="Calibri"/>
                <a:ea typeface="Microsoft YaHei"/>
              </a:rPr>
              <a:t>能指出方向、周期、地轴倾斜三点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3100" b="0" i="0">
                <a:solidFill>
                  <a:srgbClr val="E8ECF6"/>
                </a:solidFill>
                <a:latin typeface="Calibri"/>
                <a:ea typeface="Microsoft YaHei"/>
              </a:rPr>
              <a:t>解释直射点移动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800" b="0" i="0">
                <a:solidFill>
                  <a:srgbClr val="93A0B8"/>
                </a:solidFill>
                <a:latin typeface="Calibri"/>
                <a:ea typeface="Microsoft YaHei"/>
              </a:rPr>
              <a:t>能用黄赤交角说明直射点为何在南北回归线间往返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3100" b="0" i="0">
                <a:solidFill>
                  <a:srgbClr val="E8ECF6"/>
                </a:solidFill>
                <a:latin typeface="Calibri"/>
                <a:ea typeface="Microsoft YaHei"/>
              </a:rPr>
              <a:t>判读二分二至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800" b="0" i="0">
                <a:solidFill>
                  <a:srgbClr val="93A0B8"/>
                </a:solidFill>
                <a:latin typeface="Calibri"/>
                <a:ea typeface="Microsoft YaHei"/>
              </a:rPr>
              <a:t>给日期能说出直射位置、昼夜长短、所在季节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3100" b="0" i="0">
                <a:solidFill>
                  <a:srgbClr val="E8ECF6"/>
                </a:solidFill>
                <a:latin typeface="Calibri"/>
                <a:ea typeface="Microsoft YaHei"/>
              </a:rPr>
              <a:t>破除"远近说"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800" b="0" i="0">
                <a:solidFill>
                  <a:srgbClr val="93A0B8"/>
                </a:solidFill>
                <a:latin typeface="Calibri"/>
                <a:ea typeface="Microsoft YaHei"/>
              </a:rPr>
              <a:t>能用一条证据反驳"夏天热是因为离太阳近"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公转的三个数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7AA2F7"/>
                </a:solidFill>
                <a:latin typeface="Calibri"/>
                <a:ea typeface="Microsoft YaHei"/>
              </a:rPr>
              <a:t>365天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E8ECF6"/>
                </a:solidFill>
                <a:latin typeface="Calibri"/>
                <a:ea typeface="Microsoft YaHei"/>
              </a:rPr>
              <a:t>公转周期</a:t>
            </a:r>
          </a:p>
          <a:p>
            <a:pPr algn="ctr">
              <a:buNone/>
            </a:pPr>
            <a:r>
              <a:rPr lang="zh-CN" sz="1600" b="0" i="0">
                <a:solidFill>
                  <a:srgbClr val="93A0B8"/>
                </a:solidFill>
                <a:latin typeface="Calibri"/>
                <a:ea typeface="Microsoft YaHei"/>
              </a:rPr>
              <a:t>约 365 天 6 时,四年一闰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7AA2F7"/>
                </a:solidFill>
                <a:latin typeface="Calibri"/>
                <a:ea typeface="Microsoft YaHei"/>
              </a:rPr>
              <a:t>23.5°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E8ECF6"/>
                </a:solidFill>
                <a:latin typeface="Calibri"/>
                <a:ea typeface="Microsoft YaHei"/>
              </a:rPr>
              <a:t>黄赤交角</a:t>
            </a:r>
          </a:p>
          <a:p>
            <a:pPr algn="ctr">
              <a:buNone/>
            </a:pPr>
            <a:r>
              <a:rPr lang="zh-CN" sz="1600" b="0" i="0">
                <a:solidFill>
                  <a:srgbClr val="93A0B8"/>
                </a:solidFill>
                <a:latin typeface="Calibri"/>
                <a:ea typeface="Microsoft YaHei"/>
              </a:rPr>
              <a:t>地轴与轨道面垂线的夹角,四季的总开关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7AA2F7"/>
                </a:solidFill>
                <a:latin typeface="Calibri"/>
                <a:ea typeface="Microsoft YaHei"/>
              </a:rPr>
              <a:t>±23.5°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E8ECF6"/>
                </a:solidFill>
                <a:latin typeface="Calibri"/>
                <a:ea typeface="Microsoft YaHei"/>
              </a:rPr>
              <a:t>直射点范围</a:t>
            </a:r>
          </a:p>
          <a:p>
            <a:pPr algn="ctr">
              <a:buNone/>
            </a:pPr>
            <a:r>
              <a:rPr lang="zh-CN" sz="1600" b="0" i="0">
                <a:solidFill>
                  <a:srgbClr val="93A0B8"/>
                </a:solidFill>
                <a:latin typeface="Calibri"/>
                <a:ea typeface="Microsoft YaHei"/>
              </a:rPr>
              <a:t>南北回归线之间往返,绝不越界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自转 vs 公转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7AA2F7"/>
                </a:solidFill>
                <a:latin typeface="Calibri"/>
                <a:ea typeface="Microsoft YaHei"/>
              </a:rPr>
              <a:t>自转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400" b="0" i="0">
                <a:solidFill>
                  <a:srgbClr val="E8ECF6"/>
                </a:solidFill>
                <a:latin typeface="Calibri"/>
                <a:ea typeface="Microsoft YaHei"/>
              </a:rPr>
              <a:t>绕地轴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400" b="0" i="0">
                <a:solidFill>
                  <a:srgbClr val="E8ECF6"/>
                </a:solidFill>
                <a:latin typeface="Calibri"/>
                <a:ea typeface="Microsoft YaHei"/>
              </a:rPr>
              <a:t>一天一圈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400" b="0" i="0">
                <a:solidFill>
                  <a:srgbClr val="E8ECF6"/>
                </a:solidFill>
                <a:latin typeface="Calibri"/>
                <a:ea typeface="Microsoft YaHei"/>
              </a:rPr>
              <a:t>自西向东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400" b="0" i="0">
                <a:solidFill>
                  <a:srgbClr val="E8ECF6"/>
                </a:solidFill>
                <a:latin typeface="Calibri"/>
                <a:ea typeface="Microsoft YaHei"/>
              </a:rPr>
              <a:t>管昼夜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100" b="0" i="0">
                <a:solidFill>
                  <a:srgbClr val="93A0B8"/>
                </a:solidFill>
                <a:latin typeface="Calibri"/>
                <a:ea typeface="Microsoft YaHei"/>
              </a:rPr>
              <a:t>昼夜交替、时间差异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7AA2F7"/>
                </a:solidFill>
                <a:latin typeface="Calibri"/>
                <a:ea typeface="Microsoft YaHei"/>
              </a:rPr>
              <a:t>公转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400" b="0" i="0">
                <a:solidFill>
                  <a:srgbClr val="E8ECF6"/>
                </a:solidFill>
                <a:latin typeface="Calibri"/>
                <a:ea typeface="Microsoft YaHei"/>
              </a:rPr>
              <a:t>绕太阳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400" b="0" i="0">
                <a:solidFill>
                  <a:srgbClr val="E8ECF6"/>
                </a:solidFill>
                <a:latin typeface="Calibri"/>
                <a:ea typeface="Microsoft YaHei"/>
              </a:rPr>
              <a:t>一年一圈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400" b="0" i="0">
                <a:solidFill>
                  <a:srgbClr val="E8ECF6"/>
                </a:solidFill>
                <a:latin typeface="Calibri"/>
                <a:ea typeface="Microsoft YaHei"/>
              </a:rPr>
              <a:t>自西向东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400" b="0" i="0">
                <a:solidFill>
                  <a:srgbClr val="E8ECF6"/>
                </a:solidFill>
                <a:latin typeface="Calibri"/>
                <a:ea typeface="Microsoft YaHei"/>
              </a:rPr>
              <a:t>管四季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100" b="0" i="0">
                <a:solidFill>
                  <a:srgbClr val="93A0B8"/>
                </a:solidFill>
                <a:latin typeface="Calibri"/>
                <a:ea typeface="Microsoft YaHei"/>
              </a:rPr>
              <a:t>四季更替、昼夜长短、五带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直射点的一年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263250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7AA2F7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0B0F1A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E8ECF6"/>
                </a:solidFill>
                <a:latin typeface="Calibri"/>
                <a:ea typeface="Microsoft YaHei"/>
              </a:rPr>
              <a:t>3月21日前后　春分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直射赤道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全球昼夜等长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此后向北移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7AA2F7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0B0F1A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E8ECF6"/>
                </a:solidFill>
                <a:latin typeface="Calibri"/>
                <a:ea typeface="Microsoft YaHei"/>
              </a:rPr>
              <a:t>6月22日前后　夏至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直射北回归线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北半球昼最长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到北界,掉头向南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7AA2F7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0B0F1A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E8ECF6"/>
                </a:solidFill>
                <a:latin typeface="Calibri"/>
                <a:ea typeface="Microsoft YaHei"/>
              </a:rPr>
              <a:t>9月23日前后　秋分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回到赤道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全球昼夜等长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继续向南移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7AA2F7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0B0F1A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E8ECF6"/>
                </a:solidFill>
                <a:latin typeface="Calibri"/>
                <a:ea typeface="Microsoft YaHei"/>
              </a:rPr>
              <a:t>12月22日前后　冬至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直射南回归线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北半球昼最短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到南界,掉头向北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7AA2F7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0B0F1A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E8ECF6"/>
                </a:solidFill>
                <a:latin typeface="Calibri"/>
                <a:ea typeface="Microsoft YaHei"/>
              </a:rPr>
              <a:t>次年春分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再回赤道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一个回归年完成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周而复始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7AA2F7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E8ECF6"/>
                </a:solidFill>
                <a:latin typeface="Calibri"/>
                <a:ea typeface="Microsoft YaHei"/>
              </a:rPr>
              <a:t>二分二至与四季更替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二分二至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7AA2F7"/>
                </a:solidFill>
                <a:latin typeface="Calibri"/>
                <a:ea typeface="Microsoft YaHei"/>
              </a:rPr>
              <a:t>春分　3.21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直射赤道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昼夜等长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北半球入春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7AA2F7"/>
                </a:solidFill>
                <a:latin typeface="Calibri"/>
                <a:ea typeface="Microsoft YaHei"/>
              </a:rPr>
              <a:t>夏至　6.22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直射北回归线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昼最长夜最短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正午太阳最高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北半球盛夏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7AA2F7"/>
                </a:solidFill>
                <a:latin typeface="Calibri"/>
                <a:ea typeface="Microsoft YaHei"/>
              </a:rPr>
              <a:t>秋分　9.23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直射赤道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昼夜等长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北半球入秋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7AA2F7"/>
                </a:solidFill>
                <a:latin typeface="Calibri"/>
                <a:ea typeface="Microsoft YaHei"/>
              </a:rPr>
              <a:t>冬至　12.22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直射南回归线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昼最短夜最长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正午太阳最低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200" b="0" i="0">
                <a:solidFill>
                  <a:srgbClr val="E8ECF6"/>
                </a:solidFill>
                <a:latin typeface="Calibri"/>
                <a:ea typeface="Microsoft YaHei"/>
              </a:rPr>
              <a:t>北半球隆冬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四季与五带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700" b="1" i="0">
                <a:solidFill>
                  <a:srgbClr val="7AA2F7"/>
                </a:solidFill>
                <a:latin typeface="Calibri"/>
                <a:ea typeface="Microsoft YaHei"/>
              </a:rPr>
              <a:t>同一棵树,四种模样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500" b="0" i="0">
                <a:solidFill>
                  <a:srgbClr val="E8ECF6"/>
                </a:solidFill>
                <a:latin typeface="Calibri"/>
                <a:ea typeface="Microsoft YaHei"/>
              </a:rPr>
              <a:t>四季 = 热量的年节奏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200" b="0" i="0">
                <a:solidFill>
                  <a:srgbClr val="93A0B8"/>
                </a:solidFill>
                <a:latin typeface="Calibri"/>
                <a:ea typeface="Microsoft YaHei"/>
              </a:rPr>
              <a:t>随正午太阳高度与昼长同步变化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500" b="0" i="0">
                <a:solidFill>
                  <a:srgbClr val="E8ECF6"/>
                </a:solidFill>
                <a:latin typeface="Calibri"/>
                <a:ea typeface="Microsoft YaHei"/>
              </a:rPr>
              <a:t>热带:有直射,终年炎热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200" b="0" i="0">
                <a:solidFill>
                  <a:srgbClr val="93A0B8"/>
                </a:solidFill>
                <a:latin typeface="Calibri"/>
                <a:ea typeface="Microsoft YaHei"/>
              </a:rPr>
              <a:t>南北回归线之间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500" b="0" i="0">
                <a:solidFill>
                  <a:srgbClr val="E8ECF6"/>
                </a:solidFill>
                <a:latin typeface="Calibri"/>
                <a:ea typeface="Microsoft YaHei"/>
              </a:rPr>
              <a:t>温带:四季分明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200" b="0" i="0">
                <a:solidFill>
                  <a:srgbClr val="93A0B8"/>
                </a:solidFill>
                <a:latin typeface="Calibri"/>
                <a:ea typeface="Microsoft YaHei"/>
              </a:rPr>
              <a:t>回归线与极圈之间,无直射也无极昼夜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500" b="0" i="0">
                <a:solidFill>
                  <a:srgbClr val="E8ECF6"/>
                </a:solidFill>
                <a:latin typeface="Calibri"/>
                <a:ea typeface="Microsoft YaHei"/>
              </a:rPr>
              <a:t>寒带:有极昼极夜,终年寒冷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200" b="0" i="0">
                <a:solidFill>
                  <a:srgbClr val="93A0B8"/>
                </a:solidFill>
                <a:latin typeface="Calibri"/>
                <a:ea typeface="Microsoft YaHei"/>
              </a:rPr>
              <a:t>极圈以内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7AA2F7"/>
                </a:solidFill>
                <a:latin typeface="Calibri"/>
                <a:ea typeface="Microsoft YaHei"/>
              </a:rPr>
              <a:t>环节三 · 重点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E8ECF6"/>
                </a:solidFill>
                <a:latin typeface="Calibri"/>
                <a:ea typeface="Microsoft YaHei"/>
              </a:rPr>
              <a:t>破除"夏天热是因为离太阳近"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错在哪里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7AA2F7"/>
                </a:solidFill>
                <a:latin typeface="Calibri"/>
                <a:ea typeface="Microsoft YaHei"/>
              </a:rPr>
              <a:t>误区:远近说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300" b="0" i="0">
                <a:solidFill>
                  <a:srgbClr val="E8ECF6"/>
                </a:solidFill>
                <a:latin typeface="Calibri"/>
                <a:ea typeface="Microsoft YaHei"/>
              </a:rPr>
              <a:t>离太阳近 → 夏天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300" b="0" i="0">
                <a:solidFill>
                  <a:srgbClr val="E8ECF6"/>
                </a:solidFill>
                <a:latin typeface="Calibri"/>
                <a:ea typeface="Microsoft YaHei"/>
              </a:rPr>
              <a:t>离太阳远 → 冬天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300" b="0" i="0">
                <a:solidFill>
                  <a:srgbClr val="E8ECF6"/>
                </a:solidFill>
                <a:latin typeface="Calibri"/>
                <a:ea typeface="Microsoft YaHei"/>
              </a:rPr>
              <a:t>致命反证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1 月初地球离太阳最近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可 1 月北半球正是冬天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300" b="0" i="0">
                <a:solidFill>
                  <a:srgbClr val="E8ECF6"/>
                </a:solidFill>
                <a:latin typeface="Calibri"/>
                <a:ea typeface="Microsoft YaHei"/>
              </a:rPr>
              <a:t>第二反证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同一时刻南北半球季节相反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远近对两半球却完全相同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7AA2F7"/>
                </a:solidFill>
                <a:latin typeface="Calibri"/>
                <a:ea typeface="Microsoft YaHei"/>
              </a:rPr>
              <a:t>真相:角度与时长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300" b="0" i="0">
                <a:solidFill>
                  <a:srgbClr val="E8ECF6"/>
                </a:solidFill>
                <a:latin typeface="Calibri"/>
                <a:ea typeface="Microsoft YaHei"/>
              </a:rPr>
              <a:t>黄赤交角 23.5° 是总开关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300" b="0" i="0">
                <a:solidFill>
                  <a:srgbClr val="E8ECF6"/>
                </a:solidFill>
                <a:latin typeface="Calibri"/>
                <a:ea typeface="Microsoft YaHei"/>
              </a:rPr>
              <a:t>直射点南北移动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300" b="0" i="0">
                <a:solidFill>
                  <a:srgbClr val="E8ECF6"/>
                </a:solidFill>
                <a:latin typeface="Calibri"/>
                <a:ea typeface="Microsoft YaHei"/>
              </a:rPr>
              <a:t>正午太阳高度变了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直射光集中,斜射光摊薄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300" b="0" i="0">
                <a:solidFill>
                  <a:srgbClr val="E8ECF6"/>
                </a:solidFill>
                <a:latin typeface="Calibri"/>
                <a:ea typeface="Microsoft YaHei"/>
              </a:rPr>
              <a:t>昼长变了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000" b="0" i="0">
                <a:solidFill>
                  <a:srgbClr val="93A0B8"/>
                </a:solidFill>
                <a:latin typeface="Calibri"/>
                <a:ea typeface="Microsoft YaHei"/>
              </a:rPr>
              <a:t>白天越长,收到热量的时间越久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用数据说话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7AA2F7"/>
                </a:solidFill>
                <a:latin typeface="Calibri"/>
                <a:ea typeface="Microsoft YaHei"/>
              </a:rPr>
              <a:t>1.47亿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E8ECF6"/>
                </a:solidFill>
                <a:latin typeface="Calibri"/>
                <a:ea typeface="Microsoft YaHei"/>
              </a:rPr>
              <a:t>1月近日点 / 千米</a:t>
            </a:r>
          </a:p>
          <a:p>
            <a:pPr algn="ctr">
              <a:buNone/>
            </a:pPr>
            <a:r>
              <a:rPr lang="zh-CN" sz="1600" b="0" i="0">
                <a:solidFill>
                  <a:srgbClr val="93A0B8"/>
                </a:solidFill>
                <a:latin typeface="Calibri"/>
                <a:ea typeface="Microsoft YaHei"/>
              </a:rPr>
              <a:t>最近的时候,北半球正在过冬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7AA2F7"/>
                </a:solidFill>
                <a:latin typeface="Calibri"/>
                <a:ea typeface="Microsoft YaHei"/>
              </a:rPr>
              <a:t>3%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E8ECF6"/>
                </a:solidFill>
                <a:latin typeface="Calibri"/>
                <a:ea typeface="Microsoft YaHei"/>
              </a:rPr>
              <a:t>远近差异</a:t>
            </a:r>
          </a:p>
          <a:p>
            <a:pPr algn="ctr">
              <a:buNone/>
            </a:pPr>
            <a:r>
              <a:rPr lang="zh-CN" sz="1600" b="0" i="0">
                <a:solidFill>
                  <a:srgbClr val="93A0B8"/>
                </a:solidFill>
                <a:latin typeface="Calibri"/>
                <a:ea typeface="Microsoft YaHei"/>
              </a:rPr>
              <a:t>近远日点只差约 3%,不足以造成四季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16203A"/>
          </a:solidFill>
          <a:ln w="12700">
            <a:solidFill>
              <a:srgbClr val="263250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7AA2F7"/>
                </a:solidFill>
                <a:latin typeface="Calibri"/>
                <a:ea typeface="Microsoft YaHei"/>
              </a:rPr>
              <a:t>47°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E8ECF6"/>
                </a:solidFill>
                <a:latin typeface="Calibri"/>
                <a:ea typeface="Microsoft YaHei"/>
              </a:rPr>
              <a:t>正午太阳高度年变化</a:t>
            </a:r>
          </a:p>
          <a:p>
            <a:pPr algn="ctr">
              <a:buNone/>
            </a:pPr>
            <a:r>
              <a:rPr lang="zh-CN" sz="1600" b="0" i="0">
                <a:solidFill>
                  <a:srgbClr val="93A0B8"/>
                </a:solidFill>
                <a:latin typeface="Calibri"/>
                <a:ea typeface="Microsoft YaHei"/>
              </a:rPr>
              <a:t>同一地点冬至到夏至可差 47°,这才是主角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练一练 · 6分钟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800" b="0" i="0">
                <a:solidFill>
                  <a:srgbClr val="E8ECF6"/>
                </a:solidFill>
                <a:latin typeface="Calibri"/>
                <a:ea typeface="Microsoft YaHei"/>
              </a:rPr>
              <a:t>第1题　给日期,判位置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500" b="0" i="0">
                <a:solidFill>
                  <a:srgbClr val="93A0B8"/>
                </a:solidFill>
                <a:latin typeface="Calibri"/>
                <a:ea typeface="Microsoft YaHei"/>
              </a:rPr>
              <a:t>6月22日,直射哪条线?北半球昼夜如何?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800" b="0" i="0">
                <a:solidFill>
                  <a:srgbClr val="E8ECF6"/>
                </a:solidFill>
                <a:latin typeface="Calibri"/>
                <a:ea typeface="Microsoft YaHei"/>
              </a:rPr>
              <a:t>第2题　给现象,找原因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500" b="0" i="0">
                <a:solidFill>
                  <a:srgbClr val="93A0B8"/>
                </a:solidFill>
                <a:latin typeface="Calibri"/>
                <a:ea typeface="Microsoft YaHei"/>
              </a:rPr>
              <a:t>同一天北京穿棉袄、悉尼穿短袖,为什么?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800" b="0" i="0">
                <a:solidFill>
                  <a:srgbClr val="E8ECF6"/>
                </a:solidFill>
                <a:latin typeface="Calibri"/>
                <a:ea typeface="Microsoft YaHei"/>
              </a:rPr>
              <a:t>第3题　挑战:当小老师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500" b="0" i="0">
                <a:solidFill>
                  <a:srgbClr val="93A0B8"/>
                </a:solidFill>
                <a:latin typeface="Calibri"/>
                <a:ea typeface="Microsoft YaHei"/>
              </a:rPr>
              <a:t>同桌说"夏天热因为离太阳近",用一条证据反驳他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800" b="0" i="0">
                <a:solidFill>
                  <a:srgbClr val="E8ECF6"/>
                </a:solidFill>
                <a:latin typeface="Calibri"/>
                <a:ea typeface="Microsoft YaHei"/>
              </a:rPr>
              <a:t>成功标准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500" b="0" i="0">
                <a:solidFill>
                  <a:srgbClr val="93A0B8"/>
                </a:solidFill>
                <a:latin typeface="Calibri"/>
                <a:ea typeface="Microsoft YaHei"/>
              </a:rPr>
              <a:t>1、2 题答对且写出理由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500" b="0" i="0">
                <a:solidFill>
                  <a:srgbClr val="93A0B8"/>
                </a:solidFill>
                <a:latin typeface="Calibri"/>
                <a:ea typeface="Microsoft YaHei"/>
              </a:rPr>
              <a:t>第 3 题必须点出 1 月近日点却是冬天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一条因果链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3600" b="0" i="0">
                <a:solidFill>
                  <a:srgbClr val="E8ECF6"/>
                </a:solidFill>
                <a:latin typeface="Calibri"/>
                <a:ea typeface="Microsoft YaHei"/>
              </a:rPr>
              <a:t>地轴倾斜 23.5°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3600" b="0" i="0">
                <a:solidFill>
                  <a:srgbClr val="E8ECF6"/>
                </a:solidFill>
                <a:latin typeface="Calibri"/>
                <a:ea typeface="Microsoft YaHei"/>
              </a:rPr>
              <a:t>→ 太阳直射点南北移动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3600" b="0" i="0">
                <a:solidFill>
                  <a:srgbClr val="E8ECF6"/>
                </a:solidFill>
                <a:latin typeface="Calibri"/>
                <a:ea typeface="Microsoft YaHei"/>
              </a:rPr>
              <a:t>→ 正午太阳高度与昼长变化</a:t>
            </a:r>
          </a:p>
          <a:p>
            <a:pPr algn="l" marL="285750" indent="-285750">
              <a:spcAft>
                <a:spcPts val="8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3600" b="0" i="0">
                <a:solidFill>
                  <a:srgbClr val="E8ECF6"/>
                </a:solidFill>
                <a:latin typeface="Calibri"/>
                <a:ea typeface="Microsoft YaHei"/>
              </a:rPr>
              <a:t>→ 获得热量多少变化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3600" b="0" i="0">
                <a:solidFill>
                  <a:srgbClr val="E8ECF6"/>
                </a:solidFill>
                <a:latin typeface="Calibri"/>
                <a:ea typeface="Microsoft YaHei"/>
              </a:rPr>
              <a:t>→ 四季更替、五带划分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3300" b="0" i="0">
                <a:solidFill>
                  <a:srgbClr val="93A0B8"/>
                </a:solidFill>
                <a:latin typeface="Calibri"/>
                <a:ea typeface="Microsoft YaHei"/>
              </a:rPr>
              <a:t>与日地距离远近无关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E8ECF6"/>
                </a:solidFill>
                <a:latin typeface="Calibri"/>
                <a:ea typeface="Microsoft YaHei"/>
              </a:rPr>
              <a:t>作业 · 分层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800" b="0" i="0">
                <a:solidFill>
                  <a:srgbClr val="E8ECF6"/>
                </a:solidFill>
                <a:latin typeface="Calibri"/>
                <a:ea typeface="Microsoft YaHei"/>
              </a:rPr>
              <a:t>必做　10分钟以内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500" b="0" i="0">
                <a:solidFill>
                  <a:srgbClr val="93A0B8"/>
                </a:solidFill>
                <a:latin typeface="Calibri"/>
                <a:ea typeface="Microsoft YaHei"/>
              </a:rPr>
              <a:t>学案第 1 页 5 道选择,只做不抄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500" b="0" i="0">
                <a:solidFill>
                  <a:srgbClr val="93A0B8"/>
                </a:solidFill>
                <a:latin typeface="Calibri"/>
                <a:ea typeface="Microsoft YaHei"/>
              </a:rPr>
              <a:t>口述因果链给家人听一遍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800" b="0" i="0">
                <a:solidFill>
                  <a:srgbClr val="E8ECF6"/>
                </a:solidFill>
                <a:latin typeface="Calibri"/>
                <a:ea typeface="Microsoft YaHei"/>
              </a:rPr>
              <a:t>选做　观察类,不占笔头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500" b="0" i="0">
                <a:solidFill>
                  <a:srgbClr val="93A0B8"/>
                </a:solidFill>
                <a:latin typeface="Calibri"/>
                <a:ea typeface="Microsoft YaHei"/>
              </a:rPr>
              <a:t>连续三天记太阳落山时间,看看在变长还是变短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800" b="0" i="0">
                <a:solidFill>
                  <a:srgbClr val="E8ECF6"/>
                </a:solidFill>
                <a:latin typeface="Calibri"/>
                <a:ea typeface="Microsoft YaHei"/>
              </a:rPr>
              <a:t>挑战　自愿,不计入评价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500" b="0" i="0">
                <a:solidFill>
                  <a:srgbClr val="93A0B8"/>
                </a:solidFill>
                <a:latin typeface="Calibri"/>
                <a:ea typeface="Microsoft YaHei"/>
              </a:rPr>
              <a:t>查一查:如果地轴歪 45°,四季会变成什么样</a:t>
            </a:r>
          </a:p>
          <a:p>
            <a:pPr algn="l" marL="285750" indent="-285750">
              <a:spcAft>
                <a:spcPts val="400"/>
              </a:spcAft>
              <a:buClr>
                <a:srgbClr val="7AA2F7"/>
              </a:buClr>
              <a:buFont typeface="Arial"/>
              <a:buChar char="•"/>
            </a:pPr>
            <a:r>
              <a:rPr lang="zh-CN" sz="2800" b="0" i="0">
                <a:solidFill>
                  <a:srgbClr val="E8ECF6"/>
                </a:solidFill>
                <a:latin typeface="Calibri"/>
                <a:ea typeface="Microsoft YaHei"/>
              </a:rPr>
              <a:t>双减底线</a:t>
            </a:r>
          </a:p>
          <a:p>
            <a:pPr algn="l" marL="571500" indent="-285750" lvl="1">
              <a:spcAft>
                <a:spcPts val="400"/>
              </a:spcAft>
              <a:buClr>
                <a:srgbClr val="93A0B8"/>
              </a:buClr>
              <a:buFont typeface="Arial"/>
              <a:buChar char="–"/>
            </a:pPr>
            <a:r>
              <a:rPr lang="zh-CN" sz="2500" b="0" i="0">
                <a:solidFill>
                  <a:srgbClr val="93A0B8"/>
                </a:solidFill>
                <a:latin typeface="Calibri"/>
                <a:ea typeface="Microsoft YaHei"/>
              </a:rPr>
              <a:t>书面作业总量不超过 10 分钟,不加码不刷题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0F1A"/>
            </a:gs>
            <a:gs pos="100000">
              <a:srgbClr val="131A2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7AA2F7"/>
                </a:solidFill>
                <a:latin typeface="Calibri"/>
                <a:ea typeface="Microsoft YaHei"/>
              </a:rPr>
              <a:t>地球的公转与四季变化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E8ECF6"/>
                </a:solidFill>
                <a:latin typeface="Calibri"/>
                <a:ea typeface="Microsoft YaHei"/>
              </a:rPr>
              <a:t>不是远近,是倾斜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7AA2F7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93A0B8"/>
                </a:solidFill>
                <a:latin typeface="Calibri"/>
                <a:ea typeface="Microsoft YaHei"/>
              </a:rPr>
              <a:t>下节课:昼夜长短的变化规律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