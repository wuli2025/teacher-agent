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开场不要先报课题。先放这张火箭夜射的画面，静两秒，问一句：「真空里没有空气可推，火箭凭什么加速？」</a:t>
            </a:r>
          </a:p>
          <a:p>
            <a:r>
              <a:rPr lang="zh-CN"/>
              <a:t>收几个学生的回答，多半会说「靠气体推地面/推空气」——先不否定，板书记下来，告诉他们这节课结束时我们回来判它对错。</a:t>
            </a:r>
          </a:p>
          <a:p>
            <a:r>
              <a:rPr lang="zh-CN"/>
              <a:t>然后再亮课题：牛顿第一定律讲「不受力怎么动」，第二定律讲「受力怎么动」，都在说一个物体。今天补上最后一块：力在两个物体之间是怎么成对出现的。</a:t>
            </a:r>
          </a:p>
          <a:p>
            <a:r>
              <a:rPr lang="zh-CN"/>
              <a:t>本节课两个必须拿下的硬骨头，提前预告，让学生有靶心：①作用力与反作用力≠一对平衡力；②马拉车不是「马的力大」才拉得动。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从火箭切到划船，是把陌生情境换成学生有身体经验的情境。</a:t>
            </a:r>
          </a:p>
          <a:p>
            <a:r>
              <a:rPr lang="zh-CN"/>
              <a:t>提问链：桨对水施力，方向朝哪？（向后）船的运动方向？（向前）那推船向前的这个力，施力物体是谁？</a:t>
            </a:r>
          </a:p>
          <a:p>
            <a:r>
              <a:rPr lang="zh-CN"/>
              <a:t>多数学生会卡在这里——他们习惯了「A 对 B 施力」的单向图式，从没想过 B 同时也在对 A 施力。让他们说出「水推桨」这四个字，这节课就已经成功一半。</a:t>
            </a:r>
          </a:p>
          <a:p>
            <a:r>
              <a:rPr lang="zh-CN"/>
              <a:t>关键提法：施力物体本身也是受力物体。力不是一个物体的属性，是两个物体之间的相互作用。</a:t>
            </a:r>
          </a:p>
          <a:p>
            <a:r>
              <a:rPr lang="zh-CN"/>
              <a:t>引导语：「你推墙的时候，墙也在推你——不然你为什么会被推离墙？」可现场让一个学生站在滑板/转椅上推墙，让全班看见反冲。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目标要念，但只念动词——「会做、会说、会辨、会破、会用」，五个动作对应五个可检验的行为，不是「理解、掌握」这种无法验收的词。</a:t>
            </a:r>
          </a:p>
          <a:p>
            <a:r>
              <a:rPr lang="zh-CN"/>
              <a:t>特别点出第三条和第四条：这两条是本节课的检测点，下课前的当堂练习就考这两条，谁答对谁就算过关。</a:t>
            </a:r>
          </a:p>
          <a:p>
            <a:r>
              <a:rPr lang="zh-CN"/>
              <a:t>告诉学生评价方式：第 13 页练习的三道题，做对第 2 题（辨析）+ 第 3 题（马拉车）即达标。</a:t>
            </a:r>
          </a:p>
          <a:p>
            <a:r>
              <a:rPr lang="zh-CN"/>
              <a:t>用时约 1 分钟，不要展开，展开就成了讲义。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过渡页。一句话交代任务：不靠讲，靠测。</a:t>
            </a:r>
          </a:p>
          <a:p>
            <a:r>
              <a:rPr lang="zh-CN"/>
              <a:t>设问：如果力真是成对出现的，那这一对力谁大？凭直觉，力气大的那个大——今天我们用仪器来判这场官司。</a:t>
            </a:r>
          </a:p>
          <a:p>
            <a:r>
              <a:rPr lang="zh-CN"/>
              <a:t>提醒学生带着预判进实验：先在学案上写下自己的猜想（谁大/一样大），实验后回头对照。有过预判的错误认知，被数据推翻时印象最深；没预判，实验就只是抄数据。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四步的设计逻辑，讲给学生听：第 1 步测「大小」，第 2 步排除「谁主动谁被动」这个干扰变量，第 3 步把结论从接触力推广到非接触力，第 4 步测「时间」——而时间关系是弹簧测力计读不出来的，必须靠传感器。</a:t>
            </a:r>
          </a:p>
          <a:p>
            <a:r>
              <a:rPr lang="zh-CN"/>
              <a:t>操作提醒：①水平放置，避免测力计自重影响读数；②缓慢加力，读数时手要稳；③零点校准先做，否则一开始就差 0.2 N，学生会以为「不等大」。</a:t>
            </a:r>
          </a:p>
          <a:p>
            <a:r>
              <a:rPr lang="zh-CN"/>
              <a:t>第 2 步是防「主动方力大」这个隐性误区的关键——一定要做，且要让学生大声报数：甲主动 3.0，乙 3.0；反过来乙主动 3.0，甲还是 3.0。</a:t>
            </a:r>
          </a:p>
          <a:p>
            <a:r>
              <a:rPr lang="zh-CN"/>
              <a:t>巡视时重点看：有没有小组把两表示数抄成一样（不是测的是编的）。让他们故意拉到最大再放松，看曲线，编不出来。</a:t>
            </a:r>
          </a:p>
          <a:p>
            <a:r>
              <a:rPr lang="zh-CN"/>
              <a:t>约 10 分钟，超时就砍第 3 步，第 3 步可以演示替代。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这页配的是实拍装置，目的是让全班对齐同一套操作，不是装饰。</a:t>
            </a:r>
          </a:p>
          <a:p>
            <a:r>
              <a:rPr lang="zh-CN"/>
              <a:t>巡台时问的三个问题就是这三条：数一样吗？方向呢？松手的一瞬间，两个表是谁先归零？</a:t>
            </a:r>
          </a:p>
          <a:p>
            <a:r>
              <a:rPr lang="zh-CN"/>
              <a:t>「同时」这一条是学生最容易漏的，也是最反直觉的——很多人心里有一个「先有作用，后有反作用」的时序图式，仿佛反作用力是「回应」。要明确打掉：没有先后，是同一次相互作用的两个侧面，同生同灭。</a:t>
            </a:r>
          </a:p>
          <a:p>
            <a:r>
              <a:rPr lang="zh-CN"/>
              <a:t>误差三条让学生自查，不要老师替他们找。若某组数据差 0.3 N 以上，先问零点。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三个数就是三条结论的证据，念的时候把「实验事实」和「定律」分开：定律不是我说的，是这三个数逼出来的。</a:t>
            </a:r>
          </a:p>
          <a:p>
            <a:r>
              <a:rPr lang="zh-CN"/>
              <a:t>第一个数是重点：注意说「在仪器误差内相等」，不说「绝对相等」——这是科学表述的分寸，高中要开始讲究。顺带问：如果真有偏差，是定律错了还是仪器不准？（引出：更精密的实验只会让比值更接近 1）</a:t>
            </a:r>
          </a:p>
          <a:p>
            <a:r>
              <a:rPr lang="zh-CN"/>
              <a:t>第三个数最有杀伤力：Δt = 0 直接杀死「先作用后反作用」的时序误解。屏上放两条重合的曲线截图比任何语言都有效。</a:t>
            </a:r>
          </a:p>
          <a:p>
            <a:r>
              <a:rPr lang="zh-CN"/>
              <a:t>补一句史实：这条定律在极端情形（如高速运动的电荷之间）需要引入场的动量才严格成立，但在本课的力学范围内它是精确的。给学有余力的学生留个钩子，别展开。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先让学生自己把五要素说一遍，再上屏，不要先给答案。</a:t>
            </a:r>
          </a:p>
          <a:p>
            <a:r>
              <a:rPr lang="zh-CN"/>
              <a:t>逐条落锤：</a:t>
            </a:r>
          </a:p>
          <a:p>
            <a:r>
              <a:rPr lang="zh-CN"/>
              <a:t>「等大」——强调「恒」。不管大象踩蚂蚁还是蚂蚁顶大象，这一对力永远等大。学生会抗议「那蚂蚁不是被踩扁了吗」——答：力等大，但效果由质量决定（a = F/m），这是第二定律管的事，别混。这句话要板书。</a:t>
            </a:r>
          </a:p>
          <a:p>
            <a:r>
              <a:rPr lang="zh-CN"/>
              <a:t>「异体」——今天所有麻烦都出在这里，重点标记，下一页专门辨析。</a:t>
            </a:r>
          </a:p>
          <a:p>
            <a:r>
              <a:rPr lang="zh-CN"/>
              <a:t>「同时」——回指第 7 页的 Δt = 0。</a:t>
            </a:r>
          </a:p>
          <a:p>
            <a:r>
              <a:rPr lang="zh-CN"/>
              <a:t>「同性质」——补充要素，判断选择题常考：绳的拉力对应绳的拉力，不会一个是弹力一个是重力。</a:t>
            </a:r>
          </a:p>
          <a:p>
            <a:r>
              <a:rPr lang="zh-CN"/>
              <a:t>符号规范：F = -F′ 是矢量式，负号表示方向相反，不是「负的力」。若只写大小则 F = F′。这个分寸高中必须讲清。</a:t>
            </a:r>
          </a:p>
          <a:p>
            <a:r>
              <a:rPr lang="zh-CN"/>
              <a:t>本页停留 3 分钟，是全课的结论页，别赶。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语气要重。告诉学生：接下来的两页，是本节课唯一会让你在考试里丢分的地方，也是唯一必须靠想清楚、背不下来的地方。</a:t>
            </a:r>
          </a:p>
          <a:p>
            <a:r>
              <a:rPr lang="zh-CN"/>
              <a:t>先抛一个陷阱题热身：书静放在桌上，「书受的重力」和「桌对书的支持力」，是不是一对作用力与反作用力？</a:t>
            </a:r>
          </a:p>
          <a:p>
            <a:r>
              <a:rPr lang="zh-CN"/>
              <a:t>举手统计，大概率半数以上举手说「是」。不要立刻纠正，把错误暴露充分，然后翻页。</a:t>
            </a:r>
          </a:p>
          <a:p>
            <a:r>
              <a:rPr lang="zh-CN"/>
              <a:t>错误暴露得越彻底，纠正才越牢——直接给正确答案，他们下周照错不误。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本课核心页，讲 5 分钟不嫌多。</a:t>
            </a:r>
          </a:p>
          <a:p>
            <a:r>
              <a:rPr lang="zh-CN"/>
              <a:t>唯一判据先甩出来：数物体。一对力作用在两个物体上 → 相互作用力；作用在一个物体上 → 平衡力（若等大反向）。其余特征都是推论，只有「几个物体」是判据。</a:t>
            </a:r>
          </a:p>
          <a:p>
            <a:r>
              <a:rPr lang="zh-CN"/>
              <a:t>用书和桌的例子跑完整条链，一定要画三个箭头分清楚：</a:t>
            </a:r>
          </a:p>
          <a:p>
            <a:r>
              <a:rPr lang="zh-CN"/>
              <a:t>· 书受重力 G（地球给的）；书受支持力 N（桌给的）——这两个作用在「书」上，是平衡力。</a:t>
            </a:r>
          </a:p>
          <a:p>
            <a:r>
              <a:rPr lang="zh-CN"/>
              <a:t>· 书压桌的力 N′（书给桌的）；桌撑书的力 N（桌给书的）——这两个分别作用在「桌」和「书」上，是相互作用力。</a:t>
            </a:r>
          </a:p>
          <a:p>
            <a:r>
              <a:rPr lang="zh-CN"/>
              <a:t>· 那么 G 的反作用力是谁？是「书吸引地球的力」，作用在地球上，不在这张桌子上。这一问必问，能问出真水平。</a:t>
            </a:r>
          </a:p>
          <a:p>
            <a:r>
              <a:rPr lang="zh-CN"/>
              <a:t>第二个致命错误在这页也要点破：很多学生认为「N = G 是因为它们是相互作用力」——大错。N = G 是因为书处于平衡状态，是第二定律（a = 0）的结果。把桌子换成电梯地板，电梯加速上升时 N &gt; G，平衡关系立刻断裂；但书压地板的力和地板撑书的力，仍然严格相等。这个反例是检验学生是否真懂的试金石，务必讲。</a:t>
            </a:r>
          </a:p>
          <a:p>
            <a:r>
              <a:rPr lang="zh-CN"/>
              <a:t>板书留白：把「同体？异体？」六个字写在黑板正中，整节课不擦。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第二个致命误区的正面强攻。讲法：先让学生把错解读出来，问「这句话哪里不对」——他们说不出来，因为逻辑听起来很顺。</a:t>
            </a:r>
          </a:p>
          <a:p>
            <a:r>
              <a:rPr lang="zh-CN"/>
              <a:t>拆解的关键动作是「隔离」：请学生拿笔，在纸上只画「车」这一个物体，把车受的力全画上：马的拉力 F（向前）、地面摩擦 f 车（向后）、重力、支持力。问：车对马的那个反作用力，在这张图上吗？</a:t>
            </a:r>
          </a:p>
          <a:p>
            <a:r>
              <a:rPr lang="zh-CN"/>
              <a:t>答案是——不在。它作用在马身上，根本不在车的受力图里，凭什么参与决定车动不动？</a:t>
            </a:r>
          </a:p>
          <a:p>
            <a:r>
              <a:rPr lang="zh-CN"/>
              <a:t>这一问是全课的高光，务必让学生自己得出「不在图上」这个结论，别代劳。</a:t>
            </a:r>
          </a:p>
          <a:p>
            <a:r>
              <a:rPr lang="zh-CN"/>
              <a:t>错解的病根，一句话点透：把作用在两个不同物体上的力，画进了同一个受力图，然后拿去比大小。这和第 10 页「异体」是同一个病。</a:t>
            </a:r>
          </a:p>
          <a:p>
            <a:r>
              <a:rPr lang="zh-CN"/>
              <a:t>补完整逻辑闭环（学生会追问「那马为什么能动」）：再隔离「马」——马受车的拉力 F′ 向后、地面对马蹄的摩擦 f 马 向前。马能起步是因为 f 马 &gt; F′。所以系统能加速的真正原因是：地面对马的摩擦力，大于地面对车的摩擦力。</a:t>
            </a:r>
          </a:p>
          <a:p>
            <a:r>
              <a:rPr lang="zh-CN"/>
              <a:t>收尾金句：马和车之间的力永远打平；胜负是在地面上分出来的。</a:t>
            </a:r>
          </a:p>
          <a:p>
            <a:r>
              <a:rPr lang="zh-CN"/>
              <a:t>延伸问（有时间才问）：冰面上马拉车为什么拉不动？（f 马 ≈ 0，无地面助力）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回收第 1 页的悬念。翻回开场那个问题：真空里没有空气可推，火箭凭什么加速？</a:t>
            </a:r>
          </a:p>
          <a:p>
            <a:r>
              <a:rPr lang="zh-CN"/>
              <a:t>把黑板上开场记下的学生答案（「推空气」「推地面」）拿出来判：错。火箭推的是它自己喷出去的燃气；燃气推回火箭。这一对相互作用力，全程只发生在火箭和燃气之间，跟外界有没有空气毫无关系。</a:t>
            </a:r>
          </a:p>
          <a:p>
            <a:r>
              <a:rPr lang="zh-CN"/>
              <a:t>反问加深：那为什么有大气反而推力略小？（大气压和阻力，是另一回事，不展开）</a:t>
            </a:r>
          </a:p>
          <a:p>
            <a:r>
              <a:rPr lang="zh-CN"/>
              <a:t>行走一条要联系第 11 页的马拉车——原理一模一样：真正推你前进的都是地面摩擦力。这个类比要点明，让学生看见两个情境是同一个模型。</a:t>
            </a:r>
          </a:p>
          <a:p>
            <a:r>
              <a:rPr lang="zh-CN"/>
              <a:t>三例都用同一句话收：想向前，先向后推出点什么。</a:t>
            </a:r>
          </a:p>
          <a:p>
            <a:r>
              <a:rPr lang="zh-CN"/>
              <a:t>此页可让学生补第四例（游泳、洒水器旋转、直升机尾桨），检验迁移。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计时器上屏，说到做到，4 分钟就是 4 分钟。前 2 分钟绝对安静，这是给中下游学生的独立思考保护期。</a:t>
            </a:r>
          </a:p>
          <a:p>
            <a:r>
              <a:rPr lang="zh-CN"/>
              <a:t>巡视只看两件事：②有没有人还写「是」；③有没有人偷偷写「拉力大」。这两个是本课的诊断指标，直接反映两个致命误区破没破。</a:t>
            </a:r>
          </a:p>
          <a:p>
            <a:r>
              <a:rPr lang="zh-CN"/>
              <a:t>互评环节把成功标准投在屏上，让学生用标准判，不用感觉判——学生互评最大的问题是「看起来差不多就给对」，有标准就能压住。</a:t>
            </a:r>
          </a:p>
          <a:p>
            <a:r>
              <a:rPr lang="zh-CN"/>
              <a:t>统计举手：③ 达标率低于 70% 就现场重讲第 11 页的「隔离车」那一步，别硬赶进度到下一页。宁可砍作业讲解，不砍这里。</a:t>
            </a:r>
          </a:p>
          <a:p>
            <a:r>
              <a:rPr lang="zh-CN"/>
              <a:t>③ 的「不得使用『拉力更大』四字」这条限制是故意的，它逼学生走受力分析这条正路，绕开死记硬背的口诀。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小结页只投一句话，其余靠口播，让学生抬头看你不是看屏。</a:t>
            </a:r>
          </a:p>
          <a:p>
            <a:r>
              <a:rPr lang="zh-CN"/>
              <a:t>带全班复述五要素：等大、反向、共线、异体、同时（手势配合：两手对推=等大反向，两手分开指=异体，同时拍手=同时）。</a:t>
            </a:r>
          </a:p>
          <a:p>
            <a:r>
              <a:rPr lang="zh-CN"/>
              <a:t>然后回收三个坑，一个个问，让学生答：</a:t>
            </a:r>
          </a:p>
          <a:p>
            <a:r>
              <a:rPr lang="zh-CN"/>
              <a:t>① 相互作用力和平衡力，判据是什么？——数物体，同体还是异体。</a:t>
            </a:r>
          </a:p>
          <a:p>
            <a:r>
              <a:rPr lang="zh-CN"/>
              <a:t>② 大象踩蚂蚁，谁的力大？——一样大，效果不一样，因为质量不一样。</a:t>
            </a:r>
          </a:p>
          <a:p>
            <a:r>
              <a:rPr lang="zh-CN"/>
              <a:t>③ 马拉车，为什么能动？——车的合力向前，跟反作用力无关。</a:t>
            </a:r>
          </a:p>
          <a:p>
            <a:r>
              <a:rPr lang="zh-CN"/>
              <a:t>三问都答上来，这节课就成了。</a:t>
            </a:r>
          </a:p>
          <a:p>
            <a:r>
              <a:rPr lang="zh-CN"/>
              <a:t>最后一句留白式提问，为下节课埋钩：既然力总是成对的，那一对力对系统的总动量做了什么？——这就是动量守恒的入口，下节见。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三层不是难度递增的摆设，对应不同目标：必做保底（人人过关），提高衔接下一章（超重失重），拓展做课程延伸。</a:t>
            </a:r>
          </a:p>
          <a:p>
            <a:r>
              <a:rPr lang="zh-CN"/>
              <a:t>必做的「每题必画受力图、标出施力物体」是硬要求——本课所有错误的根源都是不画图或图上乱塞力，作业环节必须把这个习惯按住。</a:t>
            </a:r>
          </a:p>
          <a:p>
            <a:r>
              <a:rPr lang="zh-CN"/>
              <a:t>提高题特别提示：体重计示数读的不是重力，是人压计的力，即支持力的反作用力。这题是「异体」概念的实战检验，也是下节超重失重的引子。</a:t>
            </a:r>
          </a:p>
          <a:p>
            <a:r>
              <a:rPr lang="zh-CN"/>
              <a:t>拓展题下节课留 3 分钟分享，不分享等于没布置。</a:t>
            </a:r>
          </a:p>
          <a:p>
            <a:r>
              <a:rPr lang="zh-CN"/>
              <a:t>口头交代：必做全体，提高鼓励，拓展自愿；只做必做也是合格的，不要制造焦虑。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收尾 30 秒，不拖堂。</a:t>
            </a:r>
          </a:p>
          <a:p>
            <a:r>
              <a:rPr lang="zh-CN"/>
              <a:t>一句话回望：这节课我们把「力」从一个物体的属性，改写成两个物体之间的交换。这个视角的转变，比记住 F = -F′ 重要得多。</a:t>
            </a:r>
          </a:p>
          <a:p>
            <a:r>
              <a:rPr lang="zh-CN"/>
              <a:t>预告下节：如果两个物体之间的力永远等大反向、且同时作用同样长的时间，那它们各自动量的变化会怎么样？——回去想想，下节课我们从这里出发。</a:t>
            </a:r>
          </a:p>
          <a:p>
            <a:r>
              <a:rPr lang="zh-CN"/>
              <a:t>提醒交作业时间与分享名单。下课。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物理 · 必修一 · 第三章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牛顿第三定律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力，从来不是单方面的事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船为什么向前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D4B06A"/>
                </a:solidFill>
                <a:latin typeface="Calibri"/>
                <a:ea typeface="Microsoft YaHei"/>
              </a:rPr>
              <a:t>桨往后推水，船却往前走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3000" b="0" i="0">
                <a:solidFill>
                  <a:srgbClr val="F2F0E9"/>
                </a:solidFill>
                <a:latin typeface="Calibri"/>
                <a:ea typeface="Microsoft YaHei"/>
              </a:rPr>
              <a:t>桨对水：向后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3000" b="0" i="0">
                <a:solidFill>
                  <a:srgbClr val="F2F0E9"/>
                </a:solidFill>
                <a:latin typeface="Calibri"/>
                <a:ea typeface="Microsoft YaHei"/>
              </a:rPr>
              <a:t>船的加速度：向前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3000" b="0" i="0">
                <a:solidFill>
                  <a:srgbClr val="F2F0E9"/>
                </a:solidFill>
                <a:latin typeface="Calibri"/>
                <a:ea typeface="Microsoft YaHei"/>
              </a:rPr>
              <a:t>方向相反 —— 谁推的船？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700" b="0" i="0">
                <a:solidFill>
                  <a:srgbClr val="A8A49A"/>
                </a:solidFill>
                <a:latin typeface="Calibri"/>
                <a:ea typeface="Microsoft YaHei"/>
              </a:rPr>
              <a:t>答案只能在「水」身上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3000" b="0" i="0">
                <a:solidFill>
                  <a:srgbClr val="F2F0E9"/>
                </a:solidFill>
                <a:latin typeface="Calibri"/>
                <a:ea typeface="Microsoft YaHei"/>
              </a:rPr>
              <a:t>本质问题：力是单向的施加，还是双向的交换？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700" b="0" i="0">
                <a:solidFill>
                  <a:srgbClr val="F2F0E9"/>
                </a:solidFill>
                <a:latin typeface="Calibri"/>
                <a:ea typeface="Microsoft YaHei"/>
              </a:rPr>
              <a:t>会做：用测力计定量验证 F 与 F′ 的关系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400" b="0" i="0">
                <a:solidFill>
                  <a:srgbClr val="A8A49A"/>
                </a:solidFill>
                <a:latin typeface="Calibri"/>
                <a:ea typeface="Microsoft YaHei"/>
              </a:rPr>
              <a:t>能读出两表示数并说明「同时变化」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700" b="0" i="0">
                <a:solidFill>
                  <a:srgbClr val="F2F0E9"/>
                </a:solidFill>
                <a:latin typeface="Calibri"/>
                <a:ea typeface="Microsoft YaHei"/>
              </a:rPr>
              <a:t>会说：完整表述五要素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400" b="0" i="0">
                <a:solidFill>
                  <a:srgbClr val="A8A49A"/>
                </a:solidFill>
                <a:latin typeface="Calibri"/>
                <a:ea typeface="Microsoft YaHei"/>
              </a:rPr>
              <a:t>等大、反向、共线、异体、同时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700" b="0" i="0">
                <a:solidFill>
                  <a:srgbClr val="F2F0E9"/>
                </a:solidFill>
                <a:latin typeface="Calibri"/>
                <a:ea typeface="Microsoft YaHei"/>
              </a:rPr>
              <a:t>会辨：判定任意一对力是相互作用力还是平衡力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400" b="0" i="0">
                <a:solidFill>
                  <a:srgbClr val="A8A49A"/>
                </a:solidFill>
                <a:latin typeface="Calibri"/>
                <a:ea typeface="Microsoft YaHei"/>
              </a:rPr>
              <a:t>判据：是否作用在同一物体上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700" b="0" i="0">
                <a:solidFill>
                  <a:srgbClr val="F2F0E9"/>
                </a:solidFill>
                <a:latin typeface="Calibri"/>
                <a:ea typeface="Microsoft YaHei"/>
              </a:rPr>
              <a:t>会破：用定律 + 摩擦力解释「马拉车悖论」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400" b="0" i="0">
                <a:solidFill>
                  <a:srgbClr val="A8A49A"/>
                </a:solidFill>
                <a:latin typeface="Calibri"/>
                <a:ea typeface="Microsoft YaHei"/>
              </a:rPr>
              <a:t>能指出「拉力大于反作用力」错在哪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700" b="0" i="0">
                <a:solidFill>
                  <a:srgbClr val="F2F0E9"/>
                </a:solidFill>
                <a:latin typeface="Calibri"/>
                <a:ea typeface="Microsoft YaHei"/>
              </a:rPr>
              <a:t>会用：解释反冲、行走、火箭升空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D4B06A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F2F0E9"/>
                </a:solidFill>
                <a:latin typeface="Calibri"/>
                <a:ea typeface="Microsoft YaHei"/>
              </a:rPr>
              <a:t>探究：一对力，谁大谁小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探究步骤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2E333D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静态对拉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两只测力计挂钩相扣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水平缓慢对拉，同时读两表示数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变量控制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换角色：甲主动拉、乙只握住不动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再换：一个静止、一个加速拉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换材质换介质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改用橡皮筋、磁铁相吸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验证：非接触力是否同样成对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传感器加速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两力传感器对拉，屏上同屏出两条曲线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看极值，更要看「同时起、同时落」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读表：三个关注点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500" b="1" i="0">
                <a:solidFill>
                  <a:srgbClr val="D4B06A"/>
                </a:solidFill>
                <a:latin typeface="Calibri"/>
                <a:ea typeface="Microsoft YaHei"/>
              </a:rPr>
              <a:t>两只测力计相扣对拉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300" b="0" i="0">
                <a:solidFill>
                  <a:srgbClr val="F2F0E9"/>
                </a:solidFill>
                <a:latin typeface="Calibri"/>
                <a:ea typeface="Microsoft YaHei"/>
              </a:rPr>
              <a:t>看大小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两表示数始终相等，与谁主动无关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300" b="0" i="0">
                <a:solidFill>
                  <a:srgbClr val="F2F0E9"/>
                </a:solidFill>
                <a:latin typeface="Calibri"/>
                <a:ea typeface="Microsoft YaHei"/>
              </a:rPr>
              <a:t>看方向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沿同一直线，指向相反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300" b="0" i="0">
                <a:solidFill>
                  <a:srgbClr val="F2F0E9"/>
                </a:solidFill>
                <a:latin typeface="Calibri"/>
                <a:ea typeface="Microsoft YaHei"/>
              </a:rPr>
              <a:t>看时间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同增同减，无先后，不存在「先施力后反作用」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300" b="0" i="0">
                <a:solidFill>
                  <a:srgbClr val="F2F0E9"/>
                </a:solidFill>
                <a:latin typeface="Calibri"/>
                <a:ea typeface="Microsoft YaHei"/>
              </a:rPr>
              <a:t>误差：零点未校 / 未水平 / 读数不同步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数据说话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D4B06A"/>
                </a:solidFill>
                <a:latin typeface="Calibri"/>
                <a:ea typeface="Microsoft YaHei"/>
              </a:rPr>
              <a:t>1.00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F2F0E9"/>
                </a:solidFill>
                <a:latin typeface="Calibri"/>
                <a:ea typeface="Microsoft YaHei"/>
              </a:rPr>
              <a:t>示数之比 F / F′</a:t>
            </a:r>
          </a:p>
          <a:p>
            <a:pPr algn="ctr">
              <a:buNone/>
            </a:pPr>
            <a:r>
              <a:rPr lang="zh-CN" sz="1600" b="0" i="0">
                <a:solidFill>
                  <a:srgbClr val="A8A49A"/>
                </a:solidFill>
                <a:latin typeface="Calibri"/>
                <a:ea typeface="Microsoft YaHei"/>
              </a:rPr>
              <a:t>10 组数据，最大偏差 0.05 N，在仪器误差内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D4B06A"/>
                </a:solidFill>
                <a:latin typeface="Calibri"/>
                <a:ea typeface="Microsoft YaHei"/>
              </a:rPr>
              <a:t>180°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F2F0E9"/>
                </a:solidFill>
                <a:latin typeface="Calibri"/>
                <a:ea typeface="Microsoft YaHei"/>
              </a:rPr>
              <a:t>方向夹角</a:t>
            </a:r>
          </a:p>
          <a:p>
            <a:pPr algn="ctr">
              <a:buNone/>
            </a:pPr>
            <a:r>
              <a:rPr lang="zh-CN" sz="1600" b="0" i="0">
                <a:solidFill>
                  <a:srgbClr val="A8A49A"/>
                </a:solidFill>
                <a:latin typeface="Calibri"/>
                <a:ea typeface="Microsoft YaHei"/>
              </a:rPr>
              <a:t>沿同一直线，反向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D4B06A"/>
                </a:solidFill>
                <a:latin typeface="Calibri"/>
                <a:ea typeface="Microsoft YaHei"/>
              </a:rPr>
              <a:t>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F2F0E9"/>
                </a:solidFill>
                <a:latin typeface="Calibri"/>
                <a:ea typeface="Microsoft YaHei"/>
              </a:rPr>
              <a:t>时间差 Δt</a:t>
            </a:r>
          </a:p>
          <a:p>
            <a:pPr algn="ctr">
              <a:buNone/>
            </a:pPr>
            <a:r>
              <a:rPr lang="zh-CN" sz="1600" b="0" i="0">
                <a:solidFill>
                  <a:srgbClr val="A8A49A"/>
                </a:solidFill>
                <a:latin typeface="Calibri"/>
                <a:ea typeface="Microsoft YaHei"/>
              </a:rPr>
              <a:t>传感器双曲线完全同步，无先后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牛顿第三定律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F = -F′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两个物体之间的作用力与反作用力，总是大小相等、方向相反、作用在同一条直线上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等大 · 反向 · 共线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大小恒相等，与运动状态、质量、谁主动全无关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异体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分别作用在两个物体上 —— 本节最要命的一条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同时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同生、同灭、同变，无先后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同性质：一对力必是同一种力（都是弹力，或都是摩擦力）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D4B06A"/>
                </a:solidFill>
                <a:latin typeface="Calibri"/>
                <a:ea typeface="Microsoft YaHei"/>
              </a:rPr>
              <a:t>环节二 · 重点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F2F0E9"/>
                </a:solidFill>
                <a:latin typeface="Calibri"/>
                <a:ea typeface="Microsoft YaHei"/>
              </a:rPr>
              <a:t>辨析：它不是一对平衡力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相互作用力 vs 平衡力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D4B06A"/>
                </a:solidFill>
                <a:latin typeface="Calibri"/>
                <a:ea typeface="Microsoft YaHei"/>
              </a:rPr>
              <a:t>作用力与反作用力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异体：分别作用在两个物体上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100" b="0" i="0">
                <a:solidFill>
                  <a:srgbClr val="A8A49A"/>
                </a:solidFill>
                <a:latin typeface="Calibri"/>
                <a:ea typeface="Microsoft YaHei"/>
              </a:rPr>
              <a:t>书压桌 / 桌撑书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恒等大反向，与状态无关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100" b="0" i="0">
                <a:solidFill>
                  <a:srgbClr val="A8A49A"/>
                </a:solidFill>
                <a:latin typeface="Calibri"/>
                <a:ea typeface="Microsoft YaHei"/>
              </a:rPr>
              <a:t>撤掉一个，另一个同时消失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必为同性质力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不能求合力（不在同一物体，谈合力无意义）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D4B06A"/>
                </a:solidFill>
                <a:latin typeface="Calibri"/>
                <a:ea typeface="Microsoft YaHei"/>
              </a:rPr>
              <a:t>一对平衡力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同体：作用在同一个物体上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100" b="0" i="0">
                <a:solidFill>
                  <a:srgbClr val="A8A49A"/>
                </a:solidFill>
                <a:latin typeface="Calibri"/>
                <a:ea typeface="Microsoft YaHei"/>
              </a:rPr>
              <a:t>书受的重力 / 桌对书的支持力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等大反向仅在平衡时成立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100" b="0" i="0">
                <a:solidFill>
                  <a:srgbClr val="A8A49A"/>
                </a:solidFill>
                <a:latin typeface="Calibri"/>
                <a:ea typeface="Microsoft YaHei"/>
              </a:rPr>
              <a:t>撤掉一个，另一个照常存在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性质可以不同（重力 vs 弹力）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合力为零 —— 这才是「平衡」的含义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马拉车，到底怎么动的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200" b="1" i="0">
                <a:solidFill>
                  <a:srgbClr val="D4B06A"/>
                </a:solidFill>
                <a:latin typeface="Calibri"/>
                <a:ea typeface="Microsoft YaHei"/>
              </a:rPr>
              <a:t>常见错解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「马的拉力 &gt; 车对马的反作用力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所以车才被拉动」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直接违背第三定律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错因：把两个力画到了同一物体上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若成立，定律就该被推翻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200" b="1" i="0">
                <a:solidFill>
                  <a:srgbClr val="D4B06A"/>
                </a:solidFill>
                <a:latin typeface="Calibri"/>
                <a:ea typeface="Microsoft YaHei"/>
              </a:rPr>
              <a:t>定律说了什么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F 马对车 = -F 车对马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恒成立，加速、匀速、静止都一样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这两个力分属两个物体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永不抵消，也不能相加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谁也没资格「赢」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200" b="1" i="0">
                <a:solidFill>
                  <a:srgbClr val="D4B06A"/>
                </a:solidFill>
                <a:latin typeface="Calibri"/>
                <a:ea typeface="Microsoft YaHei"/>
              </a:rPr>
              <a:t>车为什么动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只看车这一个物体：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马的拉力 F 向前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地面对车的摩擦 f 车 向后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F &gt; f 车 → 车加速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决定车动的，是车的合力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1900" b="0" i="0">
                <a:solidFill>
                  <a:srgbClr val="F2F0E9"/>
                </a:solidFill>
                <a:latin typeface="Calibri"/>
                <a:ea typeface="Microsoft YaHei"/>
              </a:rPr>
              <a:t>与反作用力毫无关系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同一个原理，三处应用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D4B06A"/>
                </a:solidFill>
                <a:latin typeface="Calibri"/>
                <a:ea typeface="Microsoft YaHei"/>
              </a:rPr>
              <a:t>行走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脚向后蹬地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地给脚向前的摩擦力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推你前进的是地面，不是你的腿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冰面上蹬不动 → 摩擦力太小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D4B06A"/>
                </a:solidFill>
                <a:latin typeface="Calibri"/>
                <a:ea typeface="Microsoft YaHei"/>
              </a:rPr>
              <a:t>反冲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枪身后坐、章鱼喷水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喷出物向后，本体向前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向后推出质量 → 得到向前的力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与外界介质无关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D4B06A"/>
                </a:solidFill>
                <a:latin typeface="Calibri"/>
                <a:ea typeface="Microsoft YaHei"/>
              </a:rPr>
              <a:t>火箭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燃气以高速向下喷出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燃气对火箭的反作用力向上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真空中照样能飞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200" b="0" i="0">
                <a:solidFill>
                  <a:srgbClr val="F2F0E9"/>
                </a:solidFill>
                <a:latin typeface="Calibri"/>
                <a:ea typeface="Microsoft YaHei"/>
              </a:rPr>
              <a:t>不需要推空气或推地面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当堂检测 · 6 分钟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1. 独立完成，不许讨论（4 分钟）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① 静止的书：找出所有相互作用力对，并说明施力/受力物体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② 判断：「N = G 因为它们是一对相互作用力」对否，说明理由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③ 用受力分析说明「马拉车为何能加速」，不得使用「拉力更大」四字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2. 同桌互评（2 分钟）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对照成功标准打勾，错的当场改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成功标准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② 答「错」并指出 N = G 源于书处于平衡状态 → 达标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③ 只对车做受力分析，得出 F &gt; f 车 → 达标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两题全对 = 过关；错 ② 重看第 10 页，错 ③ 重看第 11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D4B06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F2F0E9"/>
                </a:solidFill>
                <a:latin typeface="Calibri"/>
                <a:ea typeface="Microsoft YaHei"/>
              </a:rPr>
              <a:t>力永远成对出现，从不单独存在；它们打成平手，胜负却在别处分出。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A8A49A"/>
                </a:solidFill>
                <a:latin typeface="Calibri"/>
                <a:ea typeface="Microsoft YaHei"/>
              </a:rPr>
              <a:t>—— 本课小结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分层作业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D4B06A"/>
                </a:solidFill>
                <a:latin typeface="Calibri"/>
                <a:ea typeface="Microsoft YaHei"/>
              </a:rPr>
              <a:t>必做 · 全体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教材 P.82 练习 1、2、4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约 15 分钟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每题必画受力图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标出施力物体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标准：能区分同体/异体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D4B06A"/>
                </a:solidFill>
                <a:latin typeface="Calibri"/>
                <a:ea typeface="Microsoft YaHei"/>
              </a:rPr>
              <a:t>选做 · 提高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分析：人站在体重计上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突然下蹲的瞬间，示数变小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约 15 分钟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用第二定律 + 第三定律双线解释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标准：说清「示数=人压计的力」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D4B06A"/>
                </a:solidFill>
                <a:latin typeface="Calibri"/>
                <a:ea typeface="Microsoft YaHei"/>
              </a:rPr>
              <a:t>拓展 · 学有余力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查资料 + 200 字短文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为什么火箭要多级？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约 30 分钟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从反冲与质量比切入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标准：能引用一条真实数据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下节课 3 分钟分享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D4B06A"/>
                </a:solidFill>
                <a:latin typeface="Calibri"/>
                <a:ea typeface="Microsoft YaHei"/>
              </a:rPr>
              <a:t>下节预告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2F0E9"/>
                </a:solidFill>
                <a:latin typeface="Calibri"/>
                <a:ea typeface="Microsoft YaHei"/>
              </a:rPr>
              <a:t>力成对，动量守恒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A8A49A"/>
                </a:solidFill>
                <a:latin typeface="Calibri"/>
                <a:ea typeface="Microsoft YaHei"/>
              </a:rPr>
              <a:t>第三定律 + 相互作用 → 系统的动量为何不变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