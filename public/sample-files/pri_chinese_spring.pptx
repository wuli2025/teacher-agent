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上课前先放这一页，让孩子看两三秒图，别急着讲。</a:t>
            </a:r>
          </a:p>
          <a:p>
            <a:r>
              <a:rPr lang="zh-CN"/>
              <a:t>口播："小朋友们，把眼睛睁大一点，看看这张图——你在图上看见了什么？"随机点两三个孩子说，说到'小草''花''小朋友在跑'都要点头肯定。</a:t>
            </a:r>
          </a:p>
          <a:p>
            <a:r>
              <a:rPr lang="zh-CN"/>
              <a:t>然后引出课题："这几个小朋友，是出来玩的吗？他们是出来——找春天的。"板书课题《找春天》，带读两遍，提醒'春'是翘舌音 chūn。</a:t>
            </a:r>
          </a:p>
          <a:p>
            <a:r>
              <a:rPr lang="zh-CN"/>
              <a:t>这页只要氛围，不要讲知识点，30 秒内翻页。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情境导入，用问题把孩子的生活经验勾出来。</a:t>
            </a:r>
          </a:p>
          <a:p>
            <a:r>
              <a:rPr lang="zh-CN"/>
              <a:t>口播："春天来了吗？谁来说说，你从哪里看出来春天来了？"</a:t>
            </a:r>
          </a:p>
          <a:p>
            <a:r>
              <a:rPr lang="zh-CN"/>
              <a:t>引导层次（孩子答不上来时按这个梯子递）：</a:t>
            </a:r>
          </a:p>
          <a:p>
            <a:r>
              <a:rPr lang="zh-CN"/>
              <a:t>1 先问眼睛看到的——树上有什么？地上有什么？</a:t>
            </a:r>
          </a:p>
          <a:p>
            <a:r>
              <a:rPr lang="zh-CN"/>
              <a:t>2 再问耳朵听到的——早上有没有听见鸟叫？</a:t>
            </a:r>
          </a:p>
          <a:p>
            <a:r>
              <a:rPr lang="zh-CN"/>
              <a:t>3 最后问身上感觉到的——还用穿厚棉袄吗？</a:t>
            </a:r>
          </a:p>
          <a:p>
            <a:r>
              <a:rPr lang="zh-CN"/>
              <a:t>学生常见的卡点：只会答'花开了'，别的说不出。这时老师补一句'除了花，还有小草、小燕子、小溪，都在偷偷告诉我们春天来了'，把注意力从'花'扩到别的事物，为后面找春天做铺垫。</a:t>
            </a:r>
          </a:p>
          <a:p>
            <a:r>
              <a:rPr lang="zh-CN"/>
              <a:t>控制在 2 分钟，不要变成聊天课。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学习目标要儿童化，读给孩子听，不要求他们抄。</a:t>
            </a:r>
          </a:p>
          <a:p>
            <a:r>
              <a:rPr lang="zh-CN"/>
              <a:t>口播："这节课下课的时候，你能做到这三件事，你就是找春天的小能手。"逐条读，读到第二条时故意加一句："课文里藏着好多个春天，看谁找得多。"制造一点期待。</a:t>
            </a:r>
          </a:p>
          <a:p>
            <a:r>
              <a:rPr lang="zh-CN"/>
              <a:t>给老师看的说明：本页对应的课标要求是识字与阅读理解并重，第三条是写字目标，评价点在'端正'而不是'快'。投影上不出现'素养''目标达成'这类词。</a:t>
            </a:r>
          </a:p>
          <a:p>
            <a:r>
              <a:rPr lang="zh-CN"/>
              <a:t>15 秒读完，不展开。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环节过渡页，停留 5 秒，用声音把孩子的注意力收回来。</a:t>
            </a:r>
          </a:p>
          <a:p>
            <a:r>
              <a:rPr lang="zh-CN"/>
              <a:t>口播："想找到春天，先得把课文读通。可是课文里藏着好多新朋友——生字宝宝。我们先跟它们打个招呼。"</a:t>
            </a:r>
          </a:p>
          <a:p>
            <a:r>
              <a:rPr lang="zh-CN"/>
              <a:t>给老师看的说明：本页只做环节切换，不讲内容。若前一环节讨论过热，可在此处加一个静息口令（如'小眼睛看黑板'）再翻页。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这页是正音，重点在'读'，不在'讲'。</a:t>
            </a:r>
          </a:p>
          <a:p>
            <a:r>
              <a:rPr lang="zh-CN"/>
              <a:t>流程：老师范读一遍 → 学生跟读一遍 → 开小火车（每排一个孩子读一个）→ 齐读一遍。全程不超过 3 分钟。</a:t>
            </a:r>
          </a:p>
          <a:p>
            <a:r>
              <a:rPr lang="zh-CN"/>
              <a:t>三组字按易错音分类，不是按课文顺序。翘舌组 chōng、chù、zhē，让孩子把舌尖翘起来顶住上颚再发音。</a:t>
            </a:r>
          </a:p>
          <a:p>
            <a:r>
              <a:rPr lang="zh-CN"/>
              <a:t>学生可能卡在哪：</a:t>
            </a:r>
          </a:p>
          <a:p>
            <a:r>
              <a:rPr lang="zh-CN"/>
              <a:t>1 后鼻音'杏 xìng'读成前鼻音'xìn'，'荡 dàng'读成'dàn'，方言区尤其明显。老师夸张范读，让孩子捏一下鼻子，感觉不到震动就是没读出后鼻音。</a:t>
            </a:r>
          </a:p>
          <a:p>
            <a:r>
              <a:rPr lang="zh-CN"/>
              <a:t>2 '寻 xún'和'冲 chōng'容易混，一个前鼻一个翘舌，可以对着读三遍。</a:t>
            </a:r>
          </a:p>
          <a:p>
            <a:r>
              <a:rPr lang="zh-CN"/>
              <a:t>给老师看的说明：本页只做易错音正音，其余生字随文识记；三组字可按班级学情替换成课文中的同类字。</a:t>
            </a:r>
          </a:p>
          <a:p>
            <a:r>
              <a:rPr lang="zh-CN"/>
              <a:t>读错不批评，请他再读一遍，读对了就表扬。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本课的核心句：'春天像一个害羞的小姑娘，遮遮掩掩，躲躲藏藏。'先让孩子齐读这句话，再看图。</a:t>
            </a:r>
          </a:p>
          <a:p>
            <a:r>
              <a:rPr lang="zh-CN"/>
              <a:t>口播："害羞是什么样子的？谁来做一个害羞的样子给大家看看？"请一个孩子上来演，用手捂脸、往后躲，全班笑一笑，这个词就懂了。</a:t>
            </a:r>
          </a:p>
          <a:p>
            <a:r>
              <a:rPr lang="zh-CN"/>
              <a:t>接着问："春天为什么要躲起来呀？"不追求标准答案，孩子说'她怕人''她在跟我们玩捉迷藏'都很好，顺势接："对，她在跟我们捉迷藏，所以我们要——找春天。"回扣课题。</a:t>
            </a:r>
          </a:p>
          <a:p>
            <a:r>
              <a:rPr lang="zh-CN"/>
              <a:t>学生常见的卡点：'遮遮掩掩''躲躲藏藏'是 AABB 式，孩子读得快就吞字。带着拍手读，一个字一拍，读清楚。</a:t>
            </a:r>
          </a:p>
          <a:p>
            <a:r>
              <a:rPr lang="zh-CN"/>
              <a:t>给老师看的说明：这是全课的比喻理解点，用动作和游戏体验代替讲解，不要跟二年级孩子分析'比喻的作用'。</a:t>
            </a:r>
          </a:p>
          <a:p>
            <a:r>
              <a:rPr lang="zh-CN"/>
              <a:t>约 4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回到课文，用眼睛在字里找春天。</a:t>
            </a:r>
          </a:p>
          <a:p>
            <a:r>
              <a:rPr lang="zh-CN"/>
              <a:t>口播："课文里的小朋友找到春天了吗？他们找到的春天是什么样子的？请你用手指着课文，一句一句找。"给 1 分钟自己找，再请人说。</a:t>
            </a:r>
          </a:p>
          <a:p>
            <a:r>
              <a:rPr lang="zh-CN"/>
              <a:t>四样东西读到哪个，就在图上指哪个，图文对上号孩子才有画面感。</a:t>
            </a:r>
          </a:p>
          <a:p>
            <a:r>
              <a:rPr lang="zh-CN"/>
              <a:t>特别提醒：课文用的是'一棵''一朵''一个''一眼'，量词各不相同，读的时候老师放慢，让孩子听出来不一样。可以顺口问："为什么小溪是'一眼'不是'一条'呀？"不用讲透，留个悬念，说'因为小溪就像春天的一只小眼睛'即可。</a:t>
            </a:r>
          </a:p>
          <a:p>
            <a:r>
              <a:rPr lang="zh-CN"/>
              <a:t>学生可能卡在哪：找到了但读不完整句，只蹦词。老师追问'把话说完整——春天藏在……'。</a:t>
            </a:r>
          </a:p>
          <a:p>
            <a:r>
              <a:rPr lang="zh-CN"/>
              <a:t>约 4 分钟。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这页是课文比喻句的集中呈现，投影上先只让孩子看左边的词。</a:t>
            </a:r>
          </a:p>
          <a:p>
            <a:r>
              <a:rPr lang="zh-CN"/>
              <a:t>玩法：老师读'小草探出头，那是春天的——'，全班接'眉毛！'四句都这么接，接完再整齐读一遍。</a:t>
            </a:r>
          </a:p>
          <a:p>
            <a:r>
              <a:rPr lang="zh-CN"/>
              <a:t>然后打乱来一次：老师说'琴声'，孩子抢答'小溪'。低年级喜欢这种抢答，注意力立刻回来。</a:t>
            </a:r>
          </a:p>
          <a:p>
            <a:r>
              <a:rPr lang="zh-CN"/>
              <a:t>口播追问（选一个问就行，别全问，会拖堂）："小草为什么像眉毛呀？"引导孩子发现——小草细细的、弯弯的，眉毛也是细细的、弯弯的。像不像，靠样子。</a:t>
            </a:r>
          </a:p>
          <a:p>
            <a:r>
              <a:rPr lang="zh-CN"/>
              <a:t>学生可能卡在哪：'音符'孩子不认识，指着图说'就是音乐课本上那个小蝌蚪一样的记号'，一句带过。</a:t>
            </a:r>
          </a:p>
          <a:p>
            <a:r>
              <a:rPr lang="zh-CN"/>
              <a:t>配套纸质练习纸上做真正的连线，投影只做示范。约 3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任务卡，同桌合作，计时 4 分钟（老师在黑板角落写个 4，或者用倒计时铃）。</a:t>
            </a:r>
          </a:p>
          <a:p>
            <a:r>
              <a:rPr lang="zh-CN"/>
              <a:t>口播交代成功标准，一定要说出来，孩子才知道做到什么算完成：</a:t>
            </a:r>
          </a:p>
          <a:p>
            <a:r>
              <a:rPr lang="zh-CN"/>
              <a:t>"做到这三件事，你就成功了——</a:t>
            </a:r>
          </a:p>
          <a:p>
            <a:r>
              <a:rPr lang="zh-CN"/>
              <a:t>一，圈的是一句话，不是一个词；</a:t>
            </a:r>
          </a:p>
          <a:p>
            <a:r>
              <a:rPr lang="zh-CN"/>
              <a:t>二，读的时候同桌听得见，别人听不见（小蜜蜂的声音）；</a:t>
            </a:r>
          </a:p>
          <a:p>
            <a:r>
              <a:rPr lang="zh-CN"/>
              <a:t>三，能把话说完整：我找到的春天是小草，小草是春天的眉毛。"</a:t>
            </a:r>
          </a:p>
          <a:p>
            <a:r>
              <a:rPr lang="zh-CN"/>
              <a:t>巡视重点：只圈词不圈句的孩子（提醒圈到句号）、光圈不读的孩子（催他读出声）、说话说半句的孩子（当场带他把句子说完整）。</a:t>
            </a:r>
          </a:p>
          <a:p>
            <a:r>
              <a:rPr lang="zh-CN"/>
              <a:t>给老师看的说明：这是本课的合作学习环节，评价用'成功标准'外显化，学困生只要能读一句就算达成。</a:t>
            </a:r>
          </a:p>
          <a:p>
            <a:r>
              <a:rPr lang="zh-CN"/>
              <a:t>时间到就停，不等所有人做完。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任务卡的展示环节，请 4 到 5 个孩子上台或起立说。</a:t>
            </a:r>
          </a:p>
          <a:p>
            <a:r>
              <a:rPr lang="zh-CN"/>
              <a:t>投影上的两个句式是拐杖，说不出来的孩子照着念也行。示范一遍："我看见了柳树，它像春天的头发。"</a:t>
            </a:r>
          </a:p>
          <a:p>
            <a:r>
              <a:rPr lang="zh-CN"/>
              <a:t>口播鼓励："你的春天跟课文里的不一样，太好了，说明你有一双自己的小眼睛。"要明确表扬创造，不要只表扬跟课文一样的答案。</a:t>
            </a:r>
          </a:p>
          <a:p>
            <a:r>
              <a:rPr lang="zh-CN"/>
              <a:t>学生可能卡在哪：</a:t>
            </a:r>
          </a:p>
          <a:p>
            <a:r>
              <a:rPr lang="zh-CN"/>
              <a:t>1 声音太小，全班听不见——请他站到讲台前，或者老师复述一遍再让他跟着说一遍；</a:t>
            </a:r>
          </a:p>
          <a:p>
            <a:r>
              <a:rPr lang="zh-CN"/>
              <a:t>2 说的不是春天（比如'我看见了汽车'）——不否定，追问："汽车旁边有没有春天呀？"把他引回来。</a:t>
            </a:r>
          </a:p>
          <a:p>
            <a:r>
              <a:rPr lang="zh-CN"/>
              <a:t>3 说得太长收不住——温和打断，谢谢他，请下一个。</a:t>
            </a:r>
          </a:p>
          <a:p>
            <a:r>
              <a:rPr lang="zh-CN"/>
              <a:t>约 4 分钟，是本课的高光时刻，别省。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从'说'转到'写'的过渡页，停留 5 秒。</a:t>
            </a:r>
          </a:p>
          <a:p>
            <a:r>
              <a:rPr lang="zh-CN"/>
              <a:t>口播："刚才我们用小嘴巴找到了春天，现在换小手来找——我们要把春天里的字，写得漂漂亮亮。"</a:t>
            </a:r>
          </a:p>
          <a:p>
            <a:r>
              <a:rPr lang="zh-CN"/>
              <a:t>给老师看的说明：说完这句就让孩子拿本子、摆好姿势，把动作指令放在这一页，下一页直接进入范写，不浪费时间。</a:t>
            </a:r>
          </a:p>
          <a:p>
            <a:r>
              <a:rPr lang="zh-CN"/>
              <a:t>如果前面的展示环节超时，本课时可只写'冲'字，'寻'字顺延到第二课时。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写字页，一节课只教一个字写透，比教五个字都强。</a:t>
            </a:r>
          </a:p>
          <a:p>
            <a:r>
              <a:rPr lang="zh-CN"/>
              <a:t>笔顺要点（老师范写时边写边说，让孩子伸出手指跟着空写）：</a:t>
            </a:r>
          </a:p>
          <a:p>
            <a:r>
              <a:rPr lang="zh-CN"/>
              <a:t>'冲'左右结构，左窄右宽。两点水：点、提，第二笔是提不是横，收笔往右上挑。右边'中'：竖、横折、横、竖。最后一笔竖要写在竖中线上，写正写直，这个字才立得住。</a:t>
            </a:r>
          </a:p>
          <a:p>
            <a:r>
              <a:rPr lang="zh-CN"/>
              <a:t>最容易写错的：两点水写成三点水（提醒——冲是用力，不是用水）；右边的'中'写得太小，挤在角落。</a:t>
            </a:r>
          </a:p>
          <a:p>
            <a:r>
              <a:rPr lang="zh-CN"/>
              <a:t>范写节奏：老师在田字格里慢写一遍，然后擦掉再写一遍，第二遍让孩子一起报笔画名。</a:t>
            </a:r>
          </a:p>
          <a:p>
            <a:r>
              <a:rPr lang="zh-CN"/>
              <a:t>写完请两个孩子的本子上投影（或举起来），全班评：正不正？在不在格子中间？</a:t>
            </a:r>
          </a:p>
          <a:p>
            <a:r>
              <a:rPr lang="zh-CN"/>
              <a:t>'寻'字放到第二课时或课后描红，本页不贪多。</a:t>
            </a:r>
          </a:p>
          <a:p>
            <a:r>
              <a:rPr lang="zh-CN"/>
              <a:t>约 5 分钟。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动笔前必念的口诀，全班一起念，一边念一边做动作，10 秒钟。</a:t>
            </a:r>
          </a:p>
          <a:p>
            <a:r>
              <a:rPr lang="zh-CN"/>
              <a:t>口播："写字之前，我们先坐好。跟老师念——头正，身直，臂开，足安！"念完老师快速扫一圈，把趴着的孩子扶起来。</a:t>
            </a:r>
          </a:p>
          <a:p>
            <a:r>
              <a:rPr lang="zh-CN"/>
              <a:t>'一尺一拳一寸'让孩子用自己的身体量一量：拳头顶在桌沿上，胸口靠上去，这就是一拳。手指捏笔的位置离笔尖一寸，大约是一个食指的宽度。</a:t>
            </a:r>
          </a:p>
          <a:p>
            <a:r>
              <a:rPr lang="zh-CN"/>
              <a:t>给老师看的说明：低年级写字姿势是长期习惯，每次动笔都要提醒，不能只讲一次。本页可在每节写字课复用。</a:t>
            </a:r>
          </a:p>
          <a:p>
            <a:r>
              <a:rPr lang="zh-CN"/>
              <a:t>学生常见问题：握笔手指压得太靠下，笔杆立得太直。老师逐个巡视纠正，重点看左撇子孩子。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小结，用回顾的口气说，不要用总结的口气。</a:t>
            </a:r>
          </a:p>
          <a:p>
            <a:r>
              <a:rPr lang="zh-CN"/>
              <a:t>口播："这节课我们认识了一个害羞的小姑娘，她是谁呀？（春天）她躲在哪儿？（学生齐答小草、野花、嫩芽、小溪）我们是用什么找到她的？（眼睛）"三问三答，30 秒结束。</a:t>
            </a:r>
          </a:p>
          <a:p>
            <a:r>
              <a:rPr lang="zh-CN"/>
              <a:t>最后一句留个钩子："其实呀，春天还可以用耳朵听、用鼻子闻、用手摸。下节课，我们换个办法再去找她。"</a:t>
            </a:r>
          </a:p>
          <a:p>
            <a:r>
              <a:rPr lang="zh-CN"/>
              <a:t>给老师看的说明：小结采用师问生答的方式，既是回顾也是即时评价，能听出全班对核心比喻的掌握情况。答得零散说明第 6、8 页要在第二课时补。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分层作业，严格遵守双减：二年级不布置书面家庭作业，总时长控制在 15 分钟以内。</a:t>
            </a:r>
          </a:p>
          <a:p>
            <a:r>
              <a:rPr lang="zh-CN"/>
              <a:t>口播："第一件事人人都做，很简单，就是读给爸爸妈妈听一遍。后面两件，谁想做谁做，不做也没关系。"一定要说'不做也没关系'，把选择权真的给孩子。</a:t>
            </a:r>
          </a:p>
          <a:p>
            <a:r>
              <a:rPr lang="zh-CN"/>
              <a:t>第二项'找一样春天'是本课的实践作业，只要求口头说，不要求拍照、不要求写、不要求家长签字——避免变成家长作业。</a:t>
            </a:r>
          </a:p>
          <a:p>
            <a:r>
              <a:rPr lang="zh-CN"/>
              <a:t>第三项是给学有余力的孩子，仿说一句就够，不写。</a:t>
            </a:r>
          </a:p>
          <a:p>
            <a:r>
              <a:rPr lang="zh-CN"/>
              <a:t>明天课前留 2 分钟收作业反馈：请三个孩子说说昨天找到的春天，接上第二课时的导入。</a:t>
            </a:r>
          </a:p>
          <a:p>
            <a:r>
              <a:rPr lang="zh-CN"/>
              <a:t>给老师看的说明：三层作业分别对应基础巩固、实践迁移、语言运用，均为非书面形式。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下课前 10 秒，制造期待。</a:t>
            </a:r>
          </a:p>
          <a:p>
            <a:r>
              <a:rPr lang="zh-CN"/>
              <a:t>口播："今天我们用眼睛找到了春天。下节课，我们要用耳朵去找——春天会唱歌，你信不信？回家路上竖起小耳朵，听听有没有小鸟在唱歌、小溪在弹琴，明天来告诉老师。"</a:t>
            </a:r>
          </a:p>
          <a:p>
            <a:r>
              <a:rPr lang="zh-CN"/>
              <a:t>然后正常下课。</a:t>
            </a:r>
          </a:p>
          <a:p>
            <a:r>
              <a:rPr lang="zh-CN"/>
              <a:t>给老师看的说明：第二课时重点是课文后半部分的听觉、触觉描写，以及'寻''躲'等剩余生字的书写，本页作为前后课时的衔接钩子。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语文 · 二年级下册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找春天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第一课时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看一看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春天来了吗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你从哪里看出来的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今天我能……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认识 15 个生字，读准课文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找到课文里的春天，说给大家听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会写「冲、寻」两个字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写得端正，写得好看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第一步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读一读，把字认准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生字，读一读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翘舌音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冲　触　遮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舌尖翘起来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前鼻音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寻　探　掩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舌尖抵上牙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后鼻音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杏　荡　藏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鼻子里出气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春天像小姑娘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她在做什么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害羞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躲躲藏藏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要我们仔细找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才能找到她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找一找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春天藏在哪儿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一棵小草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一朵野花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一个嫩芽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一眼小溪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连一连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小草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春天的眉毛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野花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春天的眼睛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嫩芽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春天的音符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小溪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春天的琴声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小任务：我是找春天的小眼睛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457450" y="2381250"/>
            <a:ext cx="725805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22479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找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在课文里圈出你最喜欢的一句</a:t>
            </a:r>
          </a:p>
        </p:txBody>
      </p:sp>
      <p:sp>
        <p:nvSpPr>
          <p:cNvPr id="15" name="step15"/>
          <p:cNvSpPr/>
          <p:nvPr/>
        </p:nvSpPr>
        <p:spPr>
          <a:xfrm>
            <a:off x="58769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391025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读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小声读给同桌听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读两遍</a:t>
            </a:r>
          </a:p>
        </p:txBody>
      </p:sp>
      <p:sp>
        <p:nvSpPr>
          <p:cNvPr id="17" name="step17"/>
          <p:cNvSpPr/>
          <p:nvPr/>
        </p:nvSpPr>
        <p:spPr>
          <a:xfrm>
            <a:off x="950595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020050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说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告诉同桌：我找到的春天是＿＿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说一说我的发现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我找到的春天是……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我看见了＿＿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它像＿＿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第二步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写一写，把字写好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写字：冲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457450" y="2381250"/>
            <a:ext cx="725805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22479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看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左窄右宽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两点水在左边，中在右边</a:t>
            </a:r>
          </a:p>
        </p:txBody>
      </p:sp>
      <p:sp>
        <p:nvSpPr>
          <p:cNvPr id="15" name="step15"/>
          <p:cNvSpPr/>
          <p:nvPr/>
        </p:nvSpPr>
        <p:spPr>
          <a:xfrm>
            <a:off x="58769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391025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记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先写两点水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再写中，竖要正</a:t>
            </a:r>
          </a:p>
        </p:txBody>
      </p:sp>
      <p:sp>
        <p:nvSpPr>
          <p:cNvPr id="17" name="step17"/>
          <p:cNvSpPr/>
          <p:nvPr/>
        </p:nvSpPr>
        <p:spPr>
          <a:xfrm>
            <a:off x="950595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020050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写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老师范写一遍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你在本子上写两个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写字姿势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头正　身直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臂开　足安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一尺　一拳　一寸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眼离本子一尺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胸离桌子一拳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3300" b="0" i="0">
                <a:solidFill>
                  <a:srgbClr val="8A7E6F"/>
                </a:solidFill>
                <a:latin typeface="Calibri"/>
                <a:ea typeface="Microsoft YaHei"/>
              </a:rPr>
              <a:t>手离笔尖一寸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这节课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春天像害羞的小姑娘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她躲在小草、野花、嫩芽、小溪里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600" b="0" i="0">
                <a:solidFill>
                  <a:srgbClr val="3A2F25"/>
                </a:solidFill>
                <a:latin typeface="Calibri"/>
                <a:ea typeface="Microsoft YaHei"/>
              </a:rPr>
              <a:t>我们用眼睛找到了她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回家做什么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人人都做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把课文读给爸爸妈妈听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读一遍就好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大约 5 分钟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你想做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到院子里、路边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找一样春天，明天带来说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不用写，说就行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挑战一下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照着课文说一句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我看见＿＿，那是春天的＿＿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说给同桌听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下一课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3A2F25"/>
                </a:solidFill>
                <a:latin typeface="Calibri"/>
                <a:ea typeface="Microsoft YaHei"/>
              </a:rPr>
              <a:t>用耳朵找春天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8A7E6F"/>
                </a:solidFill>
                <a:latin typeface="Calibri"/>
                <a:ea typeface="Microsoft YaHei"/>
              </a:rPr>
              <a:t>春天还会唱歌呢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