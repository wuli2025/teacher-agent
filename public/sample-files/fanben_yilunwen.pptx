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yiwen_hero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20242E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65960"/>
            <a:ext cx="82296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500">
                <a:solidFill>
                  <a:srgbClr val="F4F1EA"/>
                </a:solidFill>
                <a:latin typeface="Georgia"/>
                <a:ea typeface="Georgia"/>
              </a:rPr>
              <a:t>语文 · 高考写作专题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32888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4F1EA"/>
                </a:solidFill>
                <a:latin typeface="楷体"/>
                <a:ea typeface="楷体"/>
              </a:rPr>
              <a:t>议论文写作提升</a:t>
            </a:r>
          </a:p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4F1EA"/>
                </a:solidFill>
                <a:latin typeface="楷体"/>
                <a:ea typeface="楷体"/>
              </a:rPr>
              <a:t>——把观点写得清楚、深刻、有力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从审题立意到语言升格，搭一座能得高分的思辨之桥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9963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4F1EA"/>
                </a:solidFill>
                <a:latin typeface="Georgia"/>
                <a:ea typeface="Georgia"/>
              </a:rPr>
              <a:t>HIGH SCHOOL SENIOR · ARGUMENTATIVE WRITING · 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本课导航 · LESSON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0242E"/>
                </a:solidFill>
                <a:latin typeface="楷体"/>
                <a:ea typeface="楷体"/>
              </a:rPr>
              <a:t>这节课我们要解决五个问题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一、审题立意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读懂材料，找准角度，让立意“准、深、新”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二、结构搭建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掌握并列式、递进式、对照式三种经典骨架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三、论证方法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举例、引用、对比、比喻——把道理讲透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四、素材运用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同一素材如何多角度化用，避免堆砌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五、语言升格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让句子有思辨的张力与文采的光泽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yiwen_shenti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审题立意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写作的第一颗纽扣——扣错了，满盘皆输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yiwen_shenti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审题 · 三步法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怎样读懂一则材料？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第一步 · 抓关键：圈出材料中的核心词与关系词，找出对象与话题。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第二步 · 明关系：辨清材料中概念的关系——是并列、因果，还是对立、递进？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第三步 · 定角度：由果溯因、由现象到本质，追问“为什么”“怎么办”，锁定最能写深的角度。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一句话检验：把你的观点浓缩成一个判断句，若能斩钉截铁地说出来，立意就立住了。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立意 · 高下之分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好立意的三个层次：准、深、新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三个层次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准：不偏题、不泛化，紧扣材料核心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深：透过现象看本质，追问因果与价值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新：换角度、破常规，写出人所未见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四种常见失误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脱离材料，自说自话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面面俱到，观点游移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以叙代议，例多理少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5129783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口号堆砌，空喊无据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yiwen_jiegou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结构搭建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好文章是“搭”出来的——先有骨架，再有血肉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结构 · 三种经典骨架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选一种结构，把思路立起来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并列式 &amp; 递进式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并列式：从不同侧面并列展开，用“是什么/为什么/怎么办”统领分论点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递进式：由浅入深、层层推进，分论点之间有逻辑台阶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适合：论题内涵丰富、需要多角度或深层剖析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对照式 &amp; 总分总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对照式：正反对比，在破立之间凸显观点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总分总：开门见山提出中心论点，中间分论点支撑，结尾升华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口诀：凤头、猪肚、豹尾——开头亮、中间实、结尾响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yiwen_skeleton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20242E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1EA"/>
                </a:solidFill>
                <a:latin typeface="楷体"/>
                <a:ea typeface="楷体"/>
              </a:rPr>
              <a:t>议论文的骨架 · 中心论点统领，三个分论点支撑，事实与道理充实血肉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4F1EA"/>
                </a:solidFill>
                <a:latin typeface="微软雅黑"/>
                <a:ea typeface="微软雅黑"/>
              </a:rPr>
              <a:t>分论点要“并列而不重复、递进而有梯度”，每段首句即观点，段中即论证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4F1EA"/>
                </a:solidFill>
                <a:latin typeface="Georgia"/>
                <a:ea typeface="Georgia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yiwen_lunzhen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B8894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4F1EA"/>
                </a:solidFill>
                <a:latin typeface="楷体"/>
                <a:ea typeface="楷体"/>
              </a:rPr>
              <a:t>论证方法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4F1EA"/>
                </a:solidFill>
                <a:latin typeface="微软雅黑"/>
                <a:ea typeface="微软雅黑"/>
              </a:rPr>
              <a:t>有观点还不够——要让人心服口服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论证 · 四种利器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把道理讲透的四种方法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举例 &amp; 引用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举例论证：事实胜于雄辩，例子要典型、简洁、扣题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引用论证：借名言、经典增强权威，引后必须有分析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切忌：例子一摆就完，缺少“分析扣题”的临门一脚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对比 &amp; 比喻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对比论证：正反、古今、中外对照，观点在反差中鲜明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比喻论证：化抽象为形象，把深理讲得通俗可感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叠加使用：一段之内多法并用，论证更立体有力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yiwen_lunzheng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6842455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分论点 · 写法示范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一个好段落长什么样？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观点句：段首亮出分论点，一句话说清本段要证明什么。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阐释句：一两句解释这个观点，界定内涵，避免空泛。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材料句：摆事实或引名言，材料紧扣观点，简洁不拖沓。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分析句：这是关键——揭示材料与观点的逻辑联系，回扣中心。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小结句：收束本段，呼应分论点，自然过渡到下一段。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yiwen_quot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35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B8894B"/>
                </a:solidFill>
                <a:latin typeface="Georgia"/>
                <a:ea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9235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1">
                <a:solidFill>
                  <a:srgbClr val="F4F1EA"/>
                </a:solidFill>
                <a:latin typeface="楷体"/>
                <a:ea typeface="楷体"/>
              </a:rPr>
              <a:t>文章合为时而著，歌诗合为事而作。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521208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394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00">
                <a:solidFill>
                  <a:srgbClr val="F4F1EA"/>
                </a:solidFill>
                <a:latin typeface="微软雅黑"/>
                <a:ea typeface="微软雅黑"/>
              </a:rPr>
              <a:t>—— 白居易 · 好的议论，永远回应着时代与现实的追问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yiwen_sucai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素材 · 一材多用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20242E"/>
                </a:solidFill>
                <a:latin typeface="楷体"/>
                <a:ea typeface="楷体"/>
              </a:rPr>
              <a:t>让积累真正变成分数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同一素材可从不同角度切入：司马迁受辱著《史记》，既可论“坚韧”，也可论“选择”“价值”。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用材三原则：贴合观点、点到为止、夹叙夹议——叙述为分析服务，绝不为叙而叙。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新鲜与厚度并重：既要有时事热点显思考，也要有经典人物见底蕴。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20242E"/>
                </a:solidFill>
                <a:latin typeface="微软雅黑"/>
                <a:ea typeface="微软雅黑"/>
              </a:rPr>
              <a:t>建立你的“素材本”：按主题分类（家国、奋斗、理性、担当……），考场信手拈来。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语言 · 升格三招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E"/>
                </a:solidFill>
                <a:latin typeface="楷体"/>
                <a:ea typeface="楷体"/>
              </a:rPr>
              <a:t>让句子有思辨的张力与文采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让说理更有力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用整句造气势：排比、对偶让论证节奏铿锵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用关联词显逻辑：“不是……而是……”“惟其……才……”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多用判断句：把观点说得斩钉截铁、掷地有声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1EA"/>
                </a:solidFill>
                <a:latin typeface="微软雅黑"/>
                <a:ea typeface="微软雅黑"/>
              </a:rPr>
              <a:t>让文字更有味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善用比喻与化用：把道理写得可感可触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适度引用诗文：一句恰当的引用胜过十句空话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20242E"/>
                </a:solidFill>
                <a:latin typeface="微软雅黑"/>
                <a:ea typeface="微软雅黑"/>
              </a:rPr>
              <a:t>克制而精准：删去空洞形容词，留下有分量的表达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B8894B"/>
                </a:solidFill>
                <a:latin typeface="Georgia"/>
                <a:ea typeface="Georgia"/>
              </a:rPr>
              <a:t>考场 · 满分自检清单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0242E"/>
                </a:solidFill>
                <a:latin typeface="楷体"/>
                <a:ea typeface="楷体"/>
              </a:rPr>
              <a:t>落笔前后，问自己这几个问题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立意准不准？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观点是否紧扣材料，能否用一句判断句说清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结构清不清？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是否有明确的中心论点与三个分论点，层次分明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论证透不透？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每个例子后是否有分析，有没有“摆而不议”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33472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素材新不新？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是否避开人尽皆知的滥例，有没有自己的思考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621024"/>
            <a:ext cx="146304" cy="146304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E"/>
                </a:solidFill>
                <a:latin typeface="微软雅黑"/>
                <a:ea typeface="微软雅黑"/>
              </a:rPr>
              <a:t>语言亮不亮？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C626E"/>
                </a:solidFill>
                <a:latin typeface="微软雅黑"/>
                <a:ea typeface="微软雅黑"/>
              </a:rPr>
              <a:t>开头结尾是否出彩，有没有一两处令人眼前一亮的句子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C626E"/>
                </a:solidFill>
                <a:latin typeface="Georgia"/>
                <a:ea typeface="Georgia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yiwen_yugan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42E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4F1EA"/>
                </a:solidFill>
                <a:latin typeface="楷体"/>
                <a:ea typeface="楷体"/>
              </a:rPr>
              <a:t>把观点写清楚，就是把思想擦亮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2971800"/>
            <a:ext cx="822960" cy="38100"/>
          </a:xfrm>
          <a:prstGeom prst="rect">
            <a:avLst/>
          </a:prstGeom>
          <a:solidFill>
            <a:srgbClr val="B88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议论文考的从来不只是文采，而是你如何看待世界、如何有理有据地说服他人。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4F1EA"/>
                </a:solidFill>
                <a:latin typeface="微软雅黑"/>
                <a:ea typeface="微软雅黑"/>
              </a:rPr>
              <a:t>从今天起：多读、多思、多写、多改——让每一次落笔，都离“清楚、深刻、有力”更近一步。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4F1EA"/>
                </a:solidFill>
                <a:latin typeface="Georgia"/>
                <a:ea typeface="Georgia"/>
              </a:rPr>
              <a:t>语文组 · 高三写作专题 · 下课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