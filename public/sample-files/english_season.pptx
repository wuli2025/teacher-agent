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上课铃后先不急着讲，让画面停三秒：Look at the picture. Four seasons in one place.</a:t>
            </a:r>
          </a:p>
          <a:p>
            <a:r>
              <a:rPr lang="zh-CN"/>
              <a:t>开场口播：Good morning, everyone. Today we are going to talk about seasons —— 季节。</a:t>
            </a:r>
          </a:p>
          <a:p>
            <a:r>
              <a:rPr lang="zh-CN"/>
              <a:t>本课目标一句话交代：到下课时，每个人都能用英语说出「我最喜欢哪个季节，以及为什么」。</a:t>
            </a:r>
          </a:p>
          <a:p>
            <a:r>
              <a:rPr lang="zh-CN"/>
              <a:t>提示：先板书课题 My Favourite Season，把 favourite 这个词读两遍（英式拼写 favourite，美式 favorite，告诉学生两种拼法都对，本册用英式）。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情境导入，2 分钟，节奏要快。</a:t>
            </a:r>
          </a:p>
          <a:p>
            <a:r>
              <a:rPr lang="zh-CN"/>
              <a:t>口播：Look at the picture. What can you see? 学生可能只蹦名词：leaves, yellow, park —— 都接住，全部板书到黑板右侧当作后面的词汇池。</a:t>
            </a:r>
          </a:p>
          <a:p>
            <a:r>
              <a:rPr lang="zh-CN"/>
              <a:t>追问链：What's the weather like? → Is it hot or cool? → So which season is it?</a:t>
            </a:r>
          </a:p>
          <a:p>
            <a:r>
              <a:rPr lang="zh-CN"/>
              <a:t>预设卡点：学生想说「秋天」但只会说 autumn/fall 里的一个，此处顺势给出 autumn (BrE) = fall (AmE)，本册统一用 autumn。</a:t>
            </a:r>
          </a:p>
          <a:p>
            <a:r>
              <a:rPr lang="zh-CN"/>
              <a:t>不要在这页就纠正语法，只求敢开口。这一页的成功标准是：全班至少 8 个人说出了单词。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目标要「可观察、可评价」，所以每条都带一个学生自己能验证的标准，读的时候把 sub 里的标准念出来。</a:t>
            </a:r>
          </a:p>
          <a:p>
            <a:r>
              <a:rPr lang="zh-CN"/>
              <a:t>口播：三个目标，都不是听懂就算，是要「说出来」。第一个目标下课前我随机抽查；第二个目标 pair work 时我会走到你身边听；第三个目标最后一页的小短文就是检验。</a:t>
            </a:r>
          </a:p>
          <a:p>
            <a:r>
              <a:rPr lang="zh-CN"/>
              <a:t>把这页留在屏幕上 20 秒，让学生看完。别自己念完就翻页。</a:t>
            </a:r>
          </a:p>
          <a:p>
            <a:r>
              <a:rPr lang="zh-CN"/>
              <a:t>提示：objectives 用动词开头（Say / Ask / Talk），学生一眼看出「要我做什么」。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过渡页,10 秒带过。说：Now let's learn how to say the four seasons in English. 语气轻快,别停顿讲解——具体词汇下一页展开。可顺势问一句 What season is it now? 把学生的注意力拉回来。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四季并列，所以用对比卡而不是流水账列表 —— 让学生一眼看出「四个是同一层级的东西」。</a:t>
            </a:r>
          </a:p>
          <a:p>
            <a:r>
              <a:rPr lang="zh-CN"/>
              <a:t>教法：先领读四个季节名，each word 三遍（师读—生跟—个别抽读）。重音提醒：spring /sprɪŋ/ 注意 -ng 别读成 -n；autumn 的 n 不发音，读 /ˈɔːtəm/，这是本页最容易错的词。</a:t>
            </a:r>
          </a:p>
          <a:p>
            <a:r>
              <a:rPr lang="zh-CN"/>
              <a:t>**最大语法坑（务必点破）**：季节名词前一般不加冠词也不大写。说 I like summer. 不说 I like the summer. / I like Summer.（对比：月份 June 要大写，季节 summer 不用）。在黑板上写一组正误对照：❌ I like the Summer. ✅ I like summer.</a:t>
            </a:r>
          </a:p>
          <a:p>
            <a:r>
              <a:rPr lang="zh-CN"/>
              <a:t>口播 checking：I say Chinese, you say English —— 夏天！(summer) 秋天！(autumn) 打乱顺序快问快答 30 秒。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配图就是为了这页 —— 天气词讲不清，看一眼就懂，所以给图。</a:t>
            </a:r>
          </a:p>
          <a:p>
            <a:r>
              <a:rPr lang="zh-CN"/>
              <a:t>口播：指着图问 What's the weather like in this picture? 引出 It's sunny and warm.</a:t>
            </a:r>
          </a:p>
          <a:p>
            <a:r>
              <a:rPr lang="zh-CN"/>
              <a:t>构词法是本页的思维支点：sun/rain/wind/snow 是名词，加 -y 变形容词。板书 sun + y = sunny，让学生自己推 rain/wind/snow。注意拼写坑：sunny 双写 n，rainy 不双写（因为 rain 是两个元音字母）。</a:t>
            </a:r>
          </a:p>
          <a:p>
            <a:r>
              <a:rPr lang="zh-CN"/>
              <a:t>**第二个语法坑**：天气用形容词，不能说 It's sun. 必须 It's sunny. 中文「今天出太阳」直译过来学生十有八九说成 It's sun.，这里当场纠一次比后面纠十次管用。</a:t>
            </a:r>
          </a:p>
          <a:p>
            <a:r>
              <a:rPr lang="zh-CN"/>
              <a:t>句型操练：老师说季节，学生答天气 —— Winter! → It's cold and snowy!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这页是从「词」到「句」的桥：左边是理由，右边是活动，学生任意左右各挑一个就能拼出一句 Because it's warm and I can fly a kite.</a:t>
            </a:r>
          </a:p>
          <a:p>
            <a:r>
              <a:rPr lang="zh-CN"/>
              <a:t>教法：现场做「连线」—— 我念左边一条，你们抢答右边配哪条。故意配一个荒谬的（Because it's cold, I can swim.）让学生笑着纠错，印象最深。</a:t>
            </a:r>
          </a:p>
          <a:p>
            <a:r>
              <a:rPr lang="zh-CN"/>
              <a:t>**第三个语法坑**：I can 后跟动词原形，不加 to、不加 -s。学生高频错误 I can swimming / I can to swim。板书 can + do 这个公式。</a:t>
            </a:r>
          </a:p>
          <a:p>
            <a:r>
              <a:rPr lang="zh-CN"/>
              <a:t>另提醒 go 类短语固定搭配：go hiking / go camping / go swimming，go 后面是 -ing。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过渡页,10 秒带过。说：You know the words. Now let's learn how to ASK and ANSWER. 重音落在 ask 和 answer 上,预告本环节是句型操练不是背单词。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问答是有先后顺序的，所以用时间轴而不是罗列 —— 学生看得见「一问一答再追问」的对话流。</a:t>
            </a:r>
          </a:p>
          <a:p>
            <a:r>
              <a:rPr lang="zh-CN"/>
              <a:t>教师**必须亲自示范**：先找一个英语较好的学生跟你走一遍完整五步，再找一个中等的学生走一遍。老师示范一遍不够，同伴示范才让全班相信「我也能」。</a:t>
            </a:r>
          </a:p>
          <a:p>
            <a:r>
              <a:rPr lang="zh-CN"/>
              <a:t>口播模板（板书骨架，别擦）：</a:t>
            </a:r>
          </a:p>
          <a:p>
            <a:r>
              <a:rPr lang="zh-CN"/>
              <a:t>  A: What's your favourite season?</a:t>
            </a:r>
          </a:p>
          <a:p>
            <a:r>
              <a:rPr lang="zh-CN"/>
              <a:t>  B: My favourite season is ____.</a:t>
            </a:r>
          </a:p>
          <a:p>
            <a:r>
              <a:rPr lang="zh-CN"/>
              <a:t>  A: Why?</a:t>
            </a:r>
          </a:p>
          <a:p>
            <a:r>
              <a:rPr lang="zh-CN"/>
              <a:t>  B: Because it's ____. I can ____.</a:t>
            </a:r>
          </a:p>
          <a:p>
            <a:r>
              <a:rPr lang="zh-CN"/>
              <a:t>**卡点预判**：第 5 步「Add one more」最容易被跳过，学生答完 Because 就停。反复强调「两句才算完整」—— 一个理由 + 一个活动。</a:t>
            </a:r>
          </a:p>
          <a:p>
            <a:r>
              <a:rPr lang="zh-CN"/>
              <a:t>另注意 favourite 前要用 my/your，不说 The favourite season。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把活动规则做成三个数字，学生一眼记住，不用听我啰嗦一分钟。</a:t>
            </a:r>
          </a:p>
          <a:p>
            <a:r>
              <a:rPr lang="zh-CN"/>
              <a:t>口播（先说清再放人，说完立刻开始，不留空档）：Work in pairs. Four minutes. Two minutes for A, two minutes for B. Then change your partner and say it again.</a:t>
            </a:r>
          </a:p>
          <a:p>
            <a:r>
              <a:rPr lang="zh-CN"/>
              <a:t>计时器投影出来，让学生看得见剩余时间 —— 看得见时间的活动，学生才有节奏感。</a:t>
            </a:r>
          </a:p>
          <a:p>
            <a:r>
              <a:rPr lang="zh-CN"/>
              <a:t>教师动线：不要站讲台。前 2 分钟走中间组，后 2 分钟走后排（后排最容易划水）。听到好句子当场记下来，Production 环节点名让他复述，这是最好的正面示范。</a:t>
            </a:r>
          </a:p>
          <a:p>
            <a:r>
              <a:rPr lang="zh-CN"/>
              <a:t>第二轮要求「更流利」而不是「说更多」—— 同样的话说得顺，就是进步。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成功标准与常见错误左右对照 —— 让学生同时知道「什么样算好」和「踩哪些雷」。</a:t>
            </a:r>
          </a:p>
          <a:p>
            <a:r>
              <a:rPr lang="zh-CN"/>
              <a:t>这页在 pair work **之前**投出来，全程留在屏幕上不翻页，学生说的时候可以随时抬头看。这是脚手架，不是事后总结。</a:t>
            </a:r>
          </a:p>
          <a:p>
            <a:r>
              <a:rPr lang="zh-CN"/>
              <a:t>右栏三条正是前面埋的三个坑，此处收网。口播：这三句话我今天已经听到过了（如果真听到就点名不点姓：刚才有同学说 It's sun，全班一起纠 —— It's sunny!）。</a:t>
            </a:r>
          </a:p>
          <a:p>
            <a:r>
              <a:rPr lang="zh-CN"/>
              <a:t>互评机制：B 说完，A 用手势打分 —— 4 句都说到举 4 根手指。让学生用标准去听同伴，比老师一个个听效率高得多。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过渡页,10 秒带过。说：Time to use them yourself! 这里是从输入转输出的分水岭,语气要有推进感。提醒学生等下人人都要开口,先给 30 秒想一想自己最喜欢哪个季节、为什么。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从「说」到「写」的产出环节，5 分钟。图给一个具体画面，写不出来的学生可以照着图说。</a:t>
            </a:r>
          </a:p>
          <a:p>
            <a:r>
              <a:rPr lang="zh-CN"/>
              <a:t>口播：Now write it down. Four sentences. Use the frame on the screen. 五分钟，写完先自己小声读一遍。</a:t>
            </a:r>
          </a:p>
          <a:p>
            <a:r>
              <a:rPr lang="zh-CN"/>
              <a:t>**从说到写的两个新坑**（口语不显形，一写就露）：① 句首大写、句末句号 —— 中国学生高频漏；② and 连接两个形容词，It's cool and dry. 不写成 It's cool, dry.</a:t>
            </a:r>
          </a:p>
          <a:p>
            <a:r>
              <a:rPr lang="zh-CN"/>
              <a:t>分层照顾：写得快的学生给挑战 —— 再加一句 But I don't like ______, because ...（引入转折，为下节课埋伏笔）。写不出来的允许先照抄框架填空，能填对就是达标。</a:t>
            </a:r>
          </a:p>
          <a:p>
            <a:r>
              <a:rPr lang="zh-CN"/>
              <a:t>收尾：抽 3 位学生站起来读（pair work 时记下的那几位优先），全班鼓掌。听觉输入比老师点评更有用。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小结不是老师念一遍，是学生自己说。</a:t>
            </a:r>
          </a:p>
          <a:p>
            <a:r>
              <a:rPr lang="zh-CN"/>
              <a:t>做法：先只投这页的标题，把三张卡「盖住」（口头问），让学生回答 —— 今天学了哪几类东西？再翻出内容对照。学生说得出来的才是真学会的。</a:t>
            </a:r>
          </a:p>
          <a:p>
            <a:r>
              <a:rPr lang="zh-CN"/>
              <a:t>口播：Close your books. 抽三个人，一人说一张卡。第一个人说 words，第二个说 pattern，第三个说 rules。</a:t>
            </a:r>
          </a:p>
          <a:p>
            <a:r>
              <a:rPr lang="zh-CN"/>
              <a:t>第三张卡是本课的语法内核，明天上课前 2 分钟的默写就默这三条正误对照句。</a:t>
            </a:r>
          </a:p>
          <a:p>
            <a:r>
              <a:rPr lang="zh-CN"/>
              <a:t>情感收尾一句：Every season has something good. 每个季节都有它好的地方 —— 呼应课题，也给下节课的 comparative 留钩子。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双减合规说明（要当着学生的面讲清楚，让他们心里有数）：必做部分总时长控制在 10 分钟以内，只有朗读和订正，不加机械抄写；选做与挑战不计入检查、不评分、不通报，纯自愿。</a:t>
            </a:r>
          </a:p>
          <a:p>
            <a:r>
              <a:rPr lang="zh-CN"/>
              <a:t>口播：Homework is short today. 必做十分钟，读一遍、改一遍，就这些。后面两个想做就做，不做也没事。</a:t>
            </a:r>
          </a:p>
          <a:p>
            <a:r>
              <a:rPr lang="zh-CN"/>
              <a:t>设计意图：朗读作业是本课最有效的巩固 —— 口语课的作业就该用嘴做，不该用手抄。挑战题把英语带进真实对话场景（采访家人），也为下节课的「他人的季节」做素材准备。</a:t>
            </a:r>
          </a:p>
          <a:p>
            <a:r>
              <a:rPr lang="zh-CN"/>
              <a:t>提醒：明天课前 2 分钟默写三条语法正误对照句（见上一页第三张卡）。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结尾 30 秒，别拖堂。</a:t>
            </a:r>
          </a:p>
          <a:p>
            <a:r>
              <a:rPr lang="zh-CN"/>
              <a:t>口播：So — what's YOUR favourite season? 再随口问两三个学生，让课堂在英语里结束，而不是在「下课」两个字里结束。</a:t>
            </a:r>
          </a:p>
          <a:p>
            <a:r>
              <a:rPr lang="zh-CN"/>
              <a:t>下节课预告：今天说的是「我喜欢哪个」，下节课说「哪个更好」—— Which is better, spring or autumn? 引出比较级。让学生带着这个问题走。</a:t>
            </a:r>
          </a:p>
          <a:p>
            <a:r>
              <a:rPr lang="zh-CN"/>
              <a:t>最后：Class is over. Thank you, everyone. Enjoy every season!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English · Grade 7 (Book 2)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My Favourite Season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Talk about seasons, weather and what we 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Lead-in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Which one is this?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Look · Guess · Say one 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Learning Objectives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Say 4 seasons + 6 weather words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能听到即认出，看到即读出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自评：闭上书能说出 4 个季节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Ask &amp; answer the key question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What's your favourite season? Why?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Because ... / I can ...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Talk 4 sentences about your season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1 季节 + 1 天气 + 2 活动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同伴听得懂 = 达标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Part 1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Words: Seasons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Four Seasons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spring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March – May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warm, windy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fly a kite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go hiking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summer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June – August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hot, sunny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swim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eat ice cream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autumn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September – November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cool, dry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pick fruit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go camping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winter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December – February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cold, snowy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make a snowman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ski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What's the weather like?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800" b="1" i="0">
                <a:solidFill>
                  <a:srgbClr val="1F6FD6"/>
                </a:solidFill>
                <a:latin typeface="Calibri"/>
                <a:ea typeface="Microsoft YaHei"/>
              </a:rPr>
              <a:t>Weather words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600" b="0" i="0">
                <a:solidFill>
                  <a:srgbClr val="16324F"/>
                </a:solidFill>
                <a:latin typeface="Calibri"/>
                <a:ea typeface="Microsoft YaHei"/>
              </a:rPr>
              <a:t>hot / warm / cool / cold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300" b="0" i="0">
                <a:solidFill>
                  <a:srgbClr val="5D7187"/>
                </a:solidFill>
                <a:latin typeface="Calibri"/>
                <a:ea typeface="Microsoft YaHei"/>
              </a:rPr>
              <a:t>温度轴：hot → warm → cool → cold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600" b="0" i="0">
                <a:solidFill>
                  <a:srgbClr val="16324F"/>
                </a:solidFill>
                <a:latin typeface="Calibri"/>
                <a:ea typeface="Microsoft YaHei"/>
              </a:rPr>
              <a:t>sunny / rainy / windy / snowy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300" b="0" i="0">
                <a:solidFill>
                  <a:srgbClr val="5D7187"/>
                </a:solidFill>
                <a:latin typeface="Calibri"/>
                <a:ea typeface="Microsoft YaHei"/>
              </a:rPr>
              <a:t>名词 + y = 形容词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300" b="0" i="0">
                <a:solidFill>
                  <a:srgbClr val="5D7187"/>
                </a:solidFill>
                <a:latin typeface="Calibri"/>
                <a:ea typeface="Microsoft YaHei"/>
              </a:rPr>
              <a:t>sun → sunny, rain → rainy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600" b="0" i="0">
                <a:solidFill>
                  <a:srgbClr val="16324F"/>
                </a:solidFill>
                <a:latin typeface="Calibri"/>
                <a:ea typeface="Microsoft YaHei"/>
              </a:rPr>
              <a:t>It's ______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Weather + Activity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Because ... (weather)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it's warm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it's sunny and dry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there is a lot of snow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the flowers come out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天气 / 自然现象都能当理由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I can ... (activity)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fly a kite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swim in the river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make a snowman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go camping with my family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can 后面跟动词原形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Part 2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Sentence Pattern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How to Answer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Ask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What's your favourite season?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Answer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My favourite season is autumn.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Ask why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Why?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Give a reason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Because it's cool and dry.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Add one more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I can go camping with my friends.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Pair Work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4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minutes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2 min each · 计时器可见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2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rounds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换人再说一次，第二次要更流利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4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sentences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季节 1 + 天气 1 + 活动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Success Criteria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Good job if ...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说满 4 句，不看笔记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Because + 天气形容词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同伴能复述你的季节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听得懂 = 真正达标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Watch out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the summer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季节前不加冠词 → summer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It's sun.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天气要形容词 → It's sunny.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I can swimming.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can + 动词原形 → I can swim.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Part 3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Production: Say &amp; Write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Write 4 Sentences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000" b="1" i="0">
                <a:solidFill>
                  <a:srgbClr val="1F6FD6"/>
                </a:solidFill>
                <a:latin typeface="Calibri"/>
                <a:ea typeface="Microsoft YaHei"/>
              </a:rPr>
              <a:t>My Favourite Season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My favourite season is ______.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It's ______ and ______.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I can ______.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800" b="0" i="0">
                <a:solidFill>
                  <a:srgbClr val="16324F"/>
                </a:solidFill>
                <a:latin typeface="Calibri"/>
                <a:ea typeface="Microsoft YaHei"/>
              </a:rPr>
              <a:t>I like it because ______.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500" b="0" i="0">
                <a:solidFill>
                  <a:srgbClr val="5D7187"/>
                </a:solidFill>
                <a:latin typeface="Calibri"/>
                <a:ea typeface="Microsoft YaHei"/>
              </a:rPr>
              <a:t>写完读给同桌听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What We Got Today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Words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4 seasons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8 weather words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autumn 的 n 不发音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Pattern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What's your favourite season?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Why? — Because ...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理由 + 活动 = 完整回答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Rules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季节前不加冠词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天气用形容词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can + 动词原形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三条今天踩过的坑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Homework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200" b="0" i="0">
                <a:solidFill>
                  <a:srgbClr val="16324F"/>
                </a:solidFill>
                <a:latin typeface="Calibri"/>
                <a:ea typeface="Microsoft YaHei"/>
              </a:rPr>
              <a:t>必做 · 10 min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900" b="0" i="0">
                <a:solidFill>
                  <a:srgbClr val="5D7187"/>
                </a:solidFill>
                <a:latin typeface="Calibri"/>
                <a:ea typeface="Microsoft YaHei"/>
              </a:rPr>
              <a:t>朗读今天的 4 句短文，读给家人听一遍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900" b="0" i="0">
                <a:solidFill>
                  <a:srgbClr val="5D7187"/>
                </a:solidFill>
                <a:latin typeface="Calibri"/>
                <a:ea typeface="Microsoft YaHei"/>
              </a:rPr>
              <a:t>订正课上写的短文（大写 + 句号）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200" b="0" i="0">
                <a:solidFill>
                  <a:srgbClr val="16324F"/>
                </a:solidFill>
                <a:latin typeface="Calibri"/>
                <a:ea typeface="Microsoft YaHei"/>
              </a:rPr>
              <a:t>选做 · 5 min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900" b="0" i="0">
                <a:solidFill>
                  <a:srgbClr val="5D7187"/>
                </a:solidFill>
                <a:latin typeface="Calibri"/>
                <a:ea typeface="Microsoft YaHei"/>
              </a:rPr>
              <a:t>给你的短文配一幅画或找一张照片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200" b="0" i="0">
                <a:solidFill>
                  <a:srgbClr val="16324F"/>
                </a:solidFill>
                <a:latin typeface="Calibri"/>
                <a:ea typeface="Microsoft YaHei"/>
              </a:rPr>
              <a:t>挑战 · 不限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900" b="0" i="0">
                <a:solidFill>
                  <a:srgbClr val="5D7187"/>
                </a:solidFill>
                <a:latin typeface="Calibri"/>
                <a:ea typeface="Microsoft YaHei"/>
              </a:rPr>
              <a:t>问一位家人：What's your favourite season? 记下他的理由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See you next class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6324F"/>
                </a:solidFill>
                <a:latin typeface="Calibri"/>
                <a:ea typeface="Microsoft YaHei"/>
              </a:rPr>
              <a:t>Enjoy Every Season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Next: Which season is better? — 比较级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