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开场：初中我们会求直线斜率，但曲线上每一点的‘陡峭程度’不同。本节把‘斜率’从直线推广到曲线上一点，得到导数的几何意义。用 3 分钟回顾斜率 k=Δy/Δx。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用 2 分钟解读目标。重点是第 2 条——本节的核心结论 f′(x₀)=切线斜率。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过渡页。提问：过山车俯冲最陡的一瞬间，如何量化那一点的陡峭？这就是切线斜率。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单击1出坐标轴，2出抛物线 y=x²，3/4/5 依次在三点画切线段。引导学生观察：同一曲线不同点切线倾斜不同，所以需要‘每点一个斜率’。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核心动画环节。切线不是‘只碰一点的直线’这种直观定义，而是割线的极限位置。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讲清逻辑链：割线可算斜率→让 Q 逼近 P→割线趋于切线→切线斜率=割线斜率的极限。为下一页动画铺垫。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全场最关键一页。单击1出轴、曲线与定点P；2~5每击把Q向P挪近一步，报出割线斜率 3.6→3.1→2.6→2.25，一路逼近2；第6击画出切线并点明 k→2=f′(1)。让学生念出斜率数列的收敛趋势。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强调反例：y=x³ 在原点的切线与曲线还相交；圆的切线才是‘一个公共点’，一般曲线不能这样定义。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把上面的极限写成导数记号。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单击1轴+曲线+P；2画出Δx(绿)、Δy(橙)直角三角形与割线；3给出定义式 f′(x₀)=lim(Δx→0)Δy/Δx=切线斜率。把几何三角形和代数式对应起来讲。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三卡对照，落到一句话：f′(x₀)=切线斜率=tanα。α 是切线的倾斜角。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为后面单调性、极值埋线索。举 f′=0 例：y=x² 在 x=0 切线水平。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把几何意义落到会算切线方程。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强调切点必在曲线上，别忘算 y₀。板书三步框架。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例1完整板演。单击1轴+曲线，2标切点，3画切线，4逐行写解：f′(x)=2x→k=2→点斜式→y=2x−1。追问：切线与 x 轴交点？(0.5,0)。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与上页图对应，给出规范书写。提醒：只写 k=2 不写切点会丢分。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典型易错。强调：题中给的点不一定是切点。引出设切点参数 t 的通法。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单击1轴曲线，2标A，3/4画出两条切线(t=1、t=−1)，5给方程。核心方程：切线斜率2t，过A ⇒ (t²+1)/(t−0)=2t ⇒ t²=1。让学生体会‘设切点’通法与两解。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板书完整。强调曲线外一点可能有多条切线；解出 t 有几个就有几条。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拉练与踩坑提醒，撑起练习时段。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最高频失分点。让学生用一句话复述区别。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逐条点名。可现场出小判断题让学生举手。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留 8 分钟。巡视。答案：①y=2x−4；②y=½x+½；③设切点 (t,t²+1)，t²+1=2t·t⇒t=±1，y=±2x。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练习①讲评。逐击对答案：f′=2x−2→k=2→y=2x−4。图上验证切线在(2,0)处与曲线相切。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用数字收束。请学生分别解释每个数背后的含义。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串讲脉络，形成闭环。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学生齐述四句话。为下节‘导数与单调性’预告。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布置作业，说明思考题下节课提问。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收尾。一句话预告：既然 f′ 是斜率，f′ 的正负就决定曲线的升降。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400" b="1" i="0">
                <a:solidFill>
                  <a:srgbClr val="A07520"/>
                </a:solidFill>
                <a:latin typeface="Calibri"/>
                <a:ea typeface="Microsoft YaHei"/>
              </a:rPr>
              <a:t>高二数学 · 选择性必修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4000" b="1" i="0">
                <a:solidFill>
                  <a:srgbClr val="1F1F1F"/>
                </a:solidFill>
                <a:latin typeface="Calibri"/>
                <a:ea typeface="Microsoft YaHei"/>
              </a:rPr>
              <a:t>导数的几何意义</a:t>
            </a:r>
          </a:p>
        </p:txBody>
      </p:sp>
      <p:sp>
        <p:nvSpPr>
          <p:cNvPr id="12" name="bar12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0" i="0">
                <a:solidFill>
                  <a:srgbClr val="6B6B6B"/>
                </a:solidFill>
                <a:latin typeface="Calibri"/>
                <a:ea typeface="Microsoft YaHei"/>
              </a:rPr>
              <a:t>——从割线到切线，斜率的极限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学习目标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理解曲线在一点处切线的定义：割线的极限位置</a:t>
            </a:r>
          </a:p>
          <a:p>
            <a:pPr algn="l" marL="285750" indent="-285750">
              <a:spcAft>
                <a:spcPts val="4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掌握导数 f′(x₀) 的几何意义：切线斜率</a:t>
            </a:r>
          </a:p>
          <a:p>
            <a:pPr algn="l" marL="571500" indent="-285750" lvl="1">
              <a:spcAft>
                <a:spcPts val="400"/>
              </a:spcAft>
              <a:buClr>
                <a:srgbClr val="6B6B6B"/>
              </a:buClr>
              <a:buFont typeface="Arial"/>
              <a:buChar char="–"/>
            </a:pPr>
            <a:r>
              <a:rPr lang="zh-CN" sz="1400" b="0" i="0">
                <a:solidFill>
                  <a:srgbClr val="6B6B6B"/>
                </a:solidFill>
                <a:latin typeface="Calibri"/>
                <a:ea typeface="Microsoft YaHei"/>
              </a:rPr>
              <a:t>切线斜率 = 平均变化率的极限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会求曲线在某点处的切线方程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体会‘无限逼近’的极限思想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400" b="1" i="0">
                <a:solidFill>
                  <a:srgbClr val="A07520"/>
                </a:solidFill>
                <a:latin typeface="Calibri"/>
                <a:ea typeface="Microsoft YaHei"/>
              </a:rPr>
              <a:t>环节一 · 导入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400" b="1" i="0">
                <a:solidFill>
                  <a:srgbClr val="1F1F1F"/>
                </a:solidFill>
                <a:latin typeface="Calibri"/>
                <a:ea typeface="Microsoft YaHei"/>
              </a:rPr>
              <a:t>一、情境：如何刻画‘瞬时陡峭’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571500" y="323850"/>
            <a:ext cx="11049000" cy="419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同一条曲线，各点陡峭不同</a:t>
            </a:r>
          </a:p>
        </p:txBody>
      </p:sp>
      <p:sp>
        <p:nvSpPr>
          <p:cNvPr id="11" name="bar11"/>
          <p:cNvSpPr/>
          <p:nvPr/>
        </p:nvSpPr>
        <p:spPr>
          <a:xfrm>
            <a:off x="571500" y="819150"/>
            <a:ext cx="66675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cxnSp>
        <p:nvCxnSpPr>
          <p:cNvPr id="12" name="line12"/>
          <p:cNvCxnSpPr/>
          <p:nvPr/>
        </p:nvCxnSpPr>
        <p:spPr>
          <a:xfrm>
            <a:off x="2514600" y="5334000"/>
            <a:ext cx="3381375" cy="9525"/>
          </a:xfrm>
          <a:prstGeom prst="line">
            <a:avLst/>
          </a:prstGeom>
          <a:ln w="28575" cap="rnd">
            <a:solidFill>
              <a:srgbClr val="1F1F1F"/>
            </a:solidFill>
            <a:tailEnd type="triangle" w="med" len="med"/>
          </a:ln>
        </p:spPr>
      </p:cxnSp>
      <p:cxnSp>
        <p:nvCxnSpPr>
          <p:cNvPr id="13" name="line13"/>
          <p:cNvCxnSpPr/>
          <p:nvPr/>
        </p:nvCxnSpPr>
        <p:spPr>
          <a:xfrm flipV="1">
            <a:off x="2857500" y="1114425"/>
            <a:ext cx="9525" cy="4486275"/>
          </a:xfrm>
          <a:prstGeom prst="line">
            <a:avLst/>
          </a:prstGeom>
          <a:ln w="28575" cap="rnd">
            <a:solidFill>
              <a:srgbClr val="1F1F1F"/>
            </a:solidFill>
            <a:tailEnd type="triangle" w="med" len="med"/>
          </a:ln>
        </p:spPr>
      </p:cxnSp>
      <p:sp>
        <p:nvSpPr>
          <p:cNvPr id="14" name="text14"/>
          <p:cNvSpPr txBox="1"/>
          <p:nvPr/>
        </p:nvSpPr>
        <p:spPr>
          <a:xfrm>
            <a:off x="5753100" y="5410200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600" b="0" i="1">
                <a:solidFill>
                  <a:srgbClr val="1F1F1F"/>
                </a:solidFill>
                <a:latin typeface="Calibri"/>
                <a:ea typeface="Microsoft YaHei"/>
              </a:rPr>
              <a:t>x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2571750" y="1104900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600" b="0" i="1">
                <a:solidFill>
                  <a:srgbClr val="1F1F1F"/>
                </a:solidFill>
                <a:latin typeface="Calibri"/>
                <a:ea typeface="Microsoft YaHei"/>
              </a:rPr>
              <a:t>y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2609850" y="5391150"/>
            <a:ext cx="209550" cy="209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500" b="0" i="0">
                <a:solidFill>
                  <a:srgbClr val="1F1F1F"/>
                </a:solidFill>
                <a:latin typeface="Calibri"/>
                <a:ea typeface="Microsoft YaHei"/>
              </a:rPr>
              <a:t>O</a:t>
            </a:r>
          </a:p>
        </p:txBody>
      </p:sp>
      <p:sp>
        <p:nvSpPr>
          <p:cNvPr id="17" name="poly17"/>
          <p:cNvSpPr/>
          <p:nvPr/>
        </p:nvSpPr>
        <p:spPr>
          <a:xfrm>
            <a:off x="2857500" y="-95250"/>
            <a:ext cx="2400300" cy="5429250"/>
          </a:xfrm>
          <a:custGeom>
            <a:avLst/>
            <a:gdLst/>
            <a:ahLst/>
            <a:cxnLst/>
            <a:rect l="0" t="0" r="2400300" b="5429250"/>
            <a:pathLst>
              <a:path w="2400300" h="5429250">
                <a:moveTo>
                  <a:pt x="0" y="5429250"/>
                </a:moveTo>
                <a:lnTo>
                  <a:pt x="38100" y="5429250"/>
                </a:lnTo>
                <a:lnTo>
                  <a:pt x="76200" y="5419725"/>
                </a:lnTo>
                <a:lnTo>
                  <a:pt x="123825" y="5419725"/>
                </a:lnTo>
                <a:lnTo>
                  <a:pt x="161925" y="5400675"/>
                </a:lnTo>
                <a:lnTo>
                  <a:pt x="200025" y="5391150"/>
                </a:lnTo>
                <a:lnTo>
                  <a:pt x="238125" y="5372100"/>
                </a:lnTo>
                <a:lnTo>
                  <a:pt x="276225" y="5353050"/>
                </a:lnTo>
                <a:lnTo>
                  <a:pt x="323850" y="5334000"/>
                </a:lnTo>
                <a:lnTo>
                  <a:pt x="361950" y="5305425"/>
                </a:lnTo>
                <a:lnTo>
                  <a:pt x="400050" y="5276850"/>
                </a:lnTo>
                <a:lnTo>
                  <a:pt x="438150" y="5248275"/>
                </a:lnTo>
                <a:lnTo>
                  <a:pt x="476250" y="5210175"/>
                </a:lnTo>
                <a:lnTo>
                  <a:pt x="523875" y="5172075"/>
                </a:lnTo>
                <a:lnTo>
                  <a:pt x="561975" y="5133975"/>
                </a:lnTo>
                <a:lnTo>
                  <a:pt x="600075" y="5086350"/>
                </a:lnTo>
                <a:lnTo>
                  <a:pt x="638175" y="5038725"/>
                </a:lnTo>
                <a:lnTo>
                  <a:pt x="676275" y="4991100"/>
                </a:lnTo>
                <a:lnTo>
                  <a:pt x="723900" y="4943475"/>
                </a:lnTo>
                <a:lnTo>
                  <a:pt x="762000" y="4886325"/>
                </a:lnTo>
                <a:lnTo>
                  <a:pt x="800100" y="4829175"/>
                </a:lnTo>
                <a:lnTo>
                  <a:pt x="838200" y="4762500"/>
                </a:lnTo>
                <a:lnTo>
                  <a:pt x="876300" y="4695825"/>
                </a:lnTo>
                <a:lnTo>
                  <a:pt x="923925" y="4629150"/>
                </a:lnTo>
                <a:lnTo>
                  <a:pt x="962025" y="4562475"/>
                </a:lnTo>
                <a:lnTo>
                  <a:pt x="1000125" y="4486275"/>
                </a:lnTo>
                <a:lnTo>
                  <a:pt x="1038225" y="4410075"/>
                </a:lnTo>
                <a:lnTo>
                  <a:pt x="1076325" y="4333875"/>
                </a:lnTo>
                <a:lnTo>
                  <a:pt x="1123950" y="4248150"/>
                </a:lnTo>
                <a:lnTo>
                  <a:pt x="1162050" y="4162425"/>
                </a:lnTo>
                <a:lnTo>
                  <a:pt x="1200150" y="4067175"/>
                </a:lnTo>
                <a:lnTo>
                  <a:pt x="1238250" y="3981450"/>
                </a:lnTo>
                <a:lnTo>
                  <a:pt x="1276350" y="3886200"/>
                </a:lnTo>
                <a:lnTo>
                  <a:pt x="1323975" y="3790950"/>
                </a:lnTo>
                <a:lnTo>
                  <a:pt x="1362075" y="3686175"/>
                </a:lnTo>
                <a:lnTo>
                  <a:pt x="1400175" y="3581400"/>
                </a:lnTo>
                <a:lnTo>
                  <a:pt x="1438275" y="3476625"/>
                </a:lnTo>
                <a:lnTo>
                  <a:pt x="1476375" y="3362325"/>
                </a:lnTo>
                <a:lnTo>
                  <a:pt x="1524000" y="3248025"/>
                </a:lnTo>
                <a:lnTo>
                  <a:pt x="1562100" y="3133725"/>
                </a:lnTo>
                <a:lnTo>
                  <a:pt x="1600200" y="3019425"/>
                </a:lnTo>
                <a:lnTo>
                  <a:pt x="1638300" y="2895600"/>
                </a:lnTo>
                <a:lnTo>
                  <a:pt x="1676400" y="2771775"/>
                </a:lnTo>
                <a:lnTo>
                  <a:pt x="1724025" y="2638425"/>
                </a:lnTo>
                <a:lnTo>
                  <a:pt x="1762125" y="2505075"/>
                </a:lnTo>
                <a:lnTo>
                  <a:pt x="1800225" y="2371725"/>
                </a:lnTo>
                <a:lnTo>
                  <a:pt x="1838325" y="2238375"/>
                </a:lnTo>
                <a:lnTo>
                  <a:pt x="1876425" y="2095500"/>
                </a:lnTo>
                <a:lnTo>
                  <a:pt x="1924050" y="1952625"/>
                </a:lnTo>
                <a:lnTo>
                  <a:pt x="1962150" y="1809750"/>
                </a:lnTo>
                <a:lnTo>
                  <a:pt x="2000250" y="1657350"/>
                </a:lnTo>
                <a:lnTo>
                  <a:pt x="2038350" y="1504950"/>
                </a:lnTo>
                <a:lnTo>
                  <a:pt x="2076450" y="1352550"/>
                </a:lnTo>
                <a:lnTo>
                  <a:pt x="2124075" y="1190625"/>
                </a:lnTo>
                <a:lnTo>
                  <a:pt x="2162175" y="1028700"/>
                </a:lnTo>
                <a:lnTo>
                  <a:pt x="2200275" y="866775"/>
                </a:lnTo>
                <a:lnTo>
                  <a:pt x="2238375" y="695325"/>
                </a:lnTo>
                <a:lnTo>
                  <a:pt x="2276475" y="523875"/>
                </a:lnTo>
                <a:lnTo>
                  <a:pt x="2324100" y="352425"/>
                </a:lnTo>
                <a:lnTo>
                  <a:pt x="2362200" y="180975"/>
                </a:lnTo>
                <a:lnTo>
                  <a:pt x="2400300" y="0"/>
                </a:lnTo>
              </a:path>
            </a:pathLst>
          </a:custGeom>
          <a:noFill/>
          <a:ln w="38100" cap="rnd">
            <a:solidFill>
              <a:srgbClr val="2563EB"/>
            </a:solidFill>
          </a:ln>
        </p:spPr>
        <p:txBody>
          <a:bodyPr/>
          <a:p/>
        </p:txBody>
      </p:sp>
      <p:sp>
        <p:nvSpPr>
          <p:cNvPr id="18" name="ell18"/>
          <p:cNvSpPr/>
          <p:nvPr/>
        </p:nvSpPr>
        <p:spPr>
          <a:xfrm>
            <a:off x="3190875" y="5114925"/>
            <a:ext cx="133350" cy="133350"/>
          </a:xfrm>
          <a:prstGeom prst="ellipse">
            <a:avLst/>
          </a:prstGeom>
          <a:solidFill>
            <a:srgbClr val="D64545"/>
          </a:solidFill>
          <a:ln w="9525">
            <a:solidFill>
              <a:srgbClr val="D64545"/>
            </a:solidFill>
          </a:ln>
        </p:spPr>
        <p:txBody>
          <a:bodyPr/>
          <a:p/>
        </p:txBody>
      </p:sp>
      <p:cxnSp>
        <p:nvCxnSpPr>
          <p:cNvPr id="19" name="line19"/>
          <p:cNvCxnSpPr/>
          <p:nvPr/>
        </p:nvCxnSpPr>
        <p:spPr>
          <a:xfrm flipV="1">
            <a:off x="2924175" y="4933950"/>
            <a:ext cx="666750" cy="504825"/>
          </a:xfrm>
          <a:prstGeom prst="line">
            <a:avLst/>
          </a:prstGeom>
          <a:ln w="28575" cap="rnd">
            <a:solidFill>
              <a:srgbClr val="D64545"/>
            </a:solidFill>
          </a:ln>
        </p:spPr>
      </p:cxnSp>
      <p:sp>
        <p:nvSpPr>
          <p:cNvPr id="20" name="ell20"/>
          <p:cNvSpPr/>
          <p:nvPr/>
        </p:nvSpPr>
        <p:spPr>
          <a:xfrm>
            <a:off x="3857625" y="4191000"/>
            <a:ext cx="133350" cy="133350"/>
          </a:xfrm>
          <a:prstGeom prst="ellipse">
            <a:avLst/>
          </a:prstGeom>
          <a:solidFill>
            <a:srgbClr val="D64545"/>
          </a:solidFill>
          <a:ln w="9525">
            <a:solidFill>
              <a:srgbClr val="D64545"/>
            </a:solidFill>
          </a:ln>
        </p:spPr>
        <p:txBody>
          <a:bodyPr/>
          <a:p/>
        </p:txBody>
      </p:sp>
      <p:cxnSp>
        <p:nvCxnSpPr>
          <p:cNvPr id="21" name="line21"/>
          <p:cNvCxnSpPr/>
          <p:nvPr/>
        </p:nvCxnSpPr>
        <p:spPr>
          <a:xfrm flipV="1">
            <a:off x="3590925" y="3590925"/>
            <a:ext cx="666750" cy="1343025"/>
          </a:xfrm>
          <a:prstGeom prst="line">
            <a:avLst/>
          </a:prstGeom>
          <a:ln w="28575" cap="rnd">
            <a:solidFill>
              <a:srgbClr val="D64545"/>
            </a:solidFill>
          </a:ln>
        </p:spPr>
      </p:cxnSp>
      <p:sp>
        <p:nvSpPr>
          <p:cNvPr id="22" name="ell22"/>
          <p:cNvSpPr/>
          <p:nvPr/>
        </p:nvSpPr>
        <p:spPr>
          <a:xfrm>
            <a:off x="4657725" y="1981200"/>
            <a:ext cx="133350" cy="133350"/>
          </a:xfrm>
          <a:prstGeom prst="ellipse">
            <a:avLst/>
          </a:prstGeom>
          <a:solidFill>
            <a:srgbClr val="D64545"/>
          </a:solidFill>
          <a:ln w="9525">
            <a:solidFill>
              <a:srgbClr val="D64545"/>
            </a:solidFill>
          </a:ln>
        </p:spPr>
        <p:txBody>
          <a:bodyPr/>
          <a:p/>
        </p:txBody>
      </p:sp>
      <p:cxnSp>
        <p:nvCxnSpPr>
          <p:cNvPr id="23" name="line23"/>
          <p:cNvCxnSpPr/>
          <p:nvPr/>
        </p:nvCxnSpPr>
        <p:spPr>
          <a:xfrm flipV="1">
            <a:off x="4391025" y="876300"/>
            <a:ext cx="666750" cy="2343150"/>
          </a:xfrm>
          <a:prstGeom prst="line">
            <a:avLst/>
          </a:prstGeom>
          <a:ln w="28575" cap="rnd">
            <a:solidFill>
              <a:srgbClr val="D64545"/>
            </a:solidFill>
          </a:ln>
        </p:spPr>
      </p:cxnSp>
      <p:sp>
        <p:nvSpPr>
          <p:cNvPr id="24" name="text24"/>
          <p:cNvSpPr txBox="1"/>
          <p:nvPr/>
        </p:nvSpPr>
        <p:spPr>
          <a:xfrm>
            <a:off x="6858000" y="1428750"/>
            <a:ext cx="4476750" cy="1143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000" b="0" i="0">
                <a:solidFill>
                  <a:srgbClr val="6B6B6B"/>
                </a:solidFill>
                <a:latin typeface="Calibri"/>
                <a:ea typeface="Microsoft YaHei"/>
              </a:rPr>
              <a:t>越往右，曲线越陡；</a:t>
            </a:r>
          </a:p>
          <a:p>
            <a:pPr algn="l">
              <a:buNone/>
            </a:pPr>
            <a:r>
              <a:rPr lang="zh-CN" sz="2000" b="0" i="0">
                <a:solidFill>
                  <a:srgbClr val="6B6B6B"/>
                </a:solidFill>
                <a:latin typeface="Calibri"/>
                <a:ea typeface="Microsoft YaHei"/>
              </a:rPr>
              <a:t>切线越来越‘立’。</a:t>
            </a:r>
          </a:p>
          <a:p>
            <a:pPr algn="l">
              <a:buNone/>
            </a:pPr>
            <a:r>
              <a:rPr lang="zh-CN" sz="2000" b="0" i="0">
                <a:solidFill>
                  <a:srgbClr val="6B6B6B"/>
                </a:solidFill>
                <a:latin typeface="Calibri"/>
                <a:ea typeface="Microsoft YaHei"/>
              </a:rPr>
              <a:t>斜率就是陡峭程度的度量。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400" b="1" i="0">
                <a:solidFill>
                  <a:srgbClr val="A07520"/>
                </a:solidFill>
                <a:latin typeface="Calibri"/>
                <a:ea typeface="Microsoft YaHei"/>
              </a:rPr>
              <a:t>环节二 · 建构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400" b="1" i="0">
                <a:solidFill>
                  <a:srgbClr val="1F1F1F"/>
                </a:solidFill>
                <a:latin typeface="Calibri"/>
                <a:ea typeface="Microsoft YaHei"/>
              </a:rPr>
              <a:t>二、割线逼近切线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从割线到切线的思路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在曲线上取定点 P，另取动点 Q</a:t>
            </a:r>
          </a:p>
          <a:p>
            <a:pPr algn="l" marL="285750" indent="-285750">
              <a:spcAft>
                <a:spcPts val="4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连 PQ 得割线，斜率 k=Δy/Δx</a:t>
            </a:r>
          </a:p>
          <a:p>
            <a:pPr algn="l" marL="571500" indent="-285750" lvl="1">
              <a:spcAft>
                <a:spcPts val="400"/>
              </a:spcAft>
              <a:buClr>
                <a:srgbClr val="6B6B6B"/>
              </a:buClr>
              <a:buFont typeface="Arial"/>
              <a:buChar char="–"/>
            </a:pPr>
            <a:r>
              <a:rPr lang="zh-CN" sz="1400" b="0" i="0">
                <a:solidFill>
                  <a:srgbClr val="6B6B6B"/>
                </a:solidFill>
                <a:latin typeface="Calibri"/>
                <a:ea typeface="Microsoft YaHei"/>
              </a:rPr>
              <a:t>Δy=f(x₀+Δx)−f(x₀)，Δx=Q 与 P 横坐标之差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让 Q 沿曲线滑向 P（Δx→0）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割线的极限位置，就是 P 处的切线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571500" y="323850"/>
            <a:ext cx="11049000" cy="419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割线 PQ 如何逼近切线（点击演示）</a:t>
            </a:r>
          </a:p>
        </p:txBody>
      </p:sp>
      <p:sp>
        <p:nvSpPr>
          <p:cNvPr id="11" name="bar11"/>
          <p:cNvSpPr/>
          <p:nvPr/>
        </p:nvSpPr>
        <p:spPr>
          <a:xfrm>
            <a:off x="571500" y="819150"/>
            <a:ext cx="66675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cxnSp>
        <p:nvCxnSpPr>
          <p:cNvPr id="12" name="line12"/>
          <p:cNvCxnSpPr/>
          <p:nvPr/>
        </p:nvCxnSpPr>
        <p:spPr>
          <a:xfrm>
            <a:off x="2238375" y="5429250"/>
            <a:ext cx="5238750" cy="9525"/>
          </a:xfrm>
          <a:prstGeom prst="line">
            <a:avLst/>
          </a:prstGeom>
          <a:ln w="28575" cap="rnd">
            <a:solidFill>
              <a:srgbClr val="1F1F1F"/>
            </a:solidFill>
            <a:tailEnd type="triangle" w="med" len="med"/>
          </a:ln>
        </p:spPr>
      </p:cxnSp>
      <p:cxnSp>
        <p:nvCxnSpPr>
          <p:cNvPr id="13" name="line13"/>
          <p:cNvCxnSpPr/>
          <p:nvPr/>
        </p:nvCxnSpPr>
        <p:spPr>
          <a:xfrm flipV="1">
            <a:off x="2667000" y="485775"/>
            <a:ext cx="9525" cy="5267325"/>
          </a:xfrm>
          <a:prstGeom prst="line">
            <a:avLst/>
          </a:prstGeom>
          <a:ln w="28575" cap="rnd">
            <a:solidFill>
              <a:srgbClr val="1F1F1F"/>
            </a:solidFill>
            <a:tailEnd type="triangle" w="med" len="med"/>
          </a:ln>
        </p:spPr>
      </p:cxnSp>
      <p:sp>
        <p:nvSpPr>
          <p:cNvPr id="14" name="text14"/>
          <p:cNvSpPr txBox="1"/>
          <p:nvPr/>
        </p:nvSpPr>
        <p:spPr>
          <a:xfrm>
            <a:off x="7334250" y="5505450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600" b="0" i="1">
                <a:solidFill>
                  <a:srgbClr val="1F1F1F"/>
                </a:solidFill>
                <a:latin typeface="Calibri"/>
                <a:ea typeface="Microsoft YaHei"/>
              </a:rPr>
              <a:t>x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2381250" y="476250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600" b="0" i="1">
                <a:solidFill>
                  <a:srgbClr val="1F1F1F"/>
                </a:solidFill>
                <a:latin typeface="Calibri"/>
                <a:ea typeface="Microsoft YaHei"/>
              </a:rPr>
              <a:t>y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2419350" y="5486400"/>
            <a:ext cx="209550" cy="209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500" b="0" i="0">
                <a:solidFill>
                  <a:srgbClr val="1F1F1F"/>
                </a:solidFill>
                <a:latin typeface="Calibri"/>
                <a:ea typeface="Microsoft YaHei"/>
              </a:rPr>
              <a:t>O</a:t>
            </a:r>
          </a:p>
        </p:txBody>
      </p:sp>
      <p:sp>
        <p:nvSpPr>
          <p:cNvPr id="17" name="poly17"/>
          <p:cNvSpPr/>
          <p:nvPr/>
        </p:nvSpPr>
        <p:spPr>
          <a:xfrm>
            <a:off x="2667000" y="638175"/>
            <a:ext cx="3286125" cy="4791075"/>
          </a:xfrm>
          <a:custGeom>
            <a:avLst/>
            <a:gdLst/>
            <a:ahLst/>
            <a:cxnLst/>
            <a:rect l="0" t="0" r="3286125" b="4791075"/>
            <a:pathLst>
              <a:path w="3286125" h="4791075">
                <a:moveTo>
                  <a:pt x="0" y="4791075"/>
                </a:moveTo>
                <a:lnTo>
                  <a:pt x="57150" y="4791075"/>
                </a:lnTo>
                <a:lnTo>
                  <a:pt x="114300" y="4781550"/>
                </a:lnTo>
                <a:lnTo>
                  <a:pt x="161925" y="4781550"/>
                </a:lnTo>
                <a:lnTo>
                  <a:pt x="219075" y="4772025"/>
                </a:lnTo>
                <a:lnTo>
                  <a:pt x="276225" y="4762500"/>
                </a:lnTo>
                <a:lnTo>
                  <a:pt x="323850" y="4743450"/>
                </a:lnTo>
                <a:lnTo>
                  <a:pt x="381000" y="4724400"/>
                </a:lnTo>
                <a:lnTo>
                  <a:pt x="438150" y="4705350"/>
                </a:lnTo>
                <a:lnTo>
                  <a:pt x="495300" y="4686300"/>
                </a:lnTo>
                <a:lnTo>
                  <a:pt x="552450" y="4657725"/>
                </a:lnTo>
                <a:lnTo>
                  <a:pt x="600075" y="4629150"/>
                </a:lnTo>
                <a:lnTo>
                  <a:pt x="657225" y="4600575"/>
                </a:lnTo>
                <a:lnTo>
                  <a:pt x="714375" y="4562475"/>
                </a:lnTo>
                <a:lnTo>
                  <a:pt x="762000" y="4533900"/>
                </a:lnTo>
                <a:lnTo>
                  <a:pt x="819150" y="4495800"/>
                </a:lnTo>
                <a:lnTo>
                  <a:pt x="876300" y="4448175"/>
                </a:lnTo>
                <a:lnTo>
                  <a:pt x="933450" y="4410075"/>
                </a:lnTo>
                <a:lnTo>
                  <a:pt x="990600" y="4362450"/>
                </a:lnTo>
                <a:lnTo>
                  <a:pt x="1038225" y="4314825"/>
                </a:lnTo>
                <a:lnTo>
                  <a:pt x="1095375" y="4257675"/>
                </a:lnTo>
                <a:lnTo>
                  <a:pt x="1152525" y="4200525"/>
                </a:lnTo>
                <a:lnTo>
                  <a:pt x="1200150" y="4143375"/>
                </a:lnTo>
                <a:lnTo>
                  <a:pt x="1257300" y="4086225"/>
                </a:lnTo>
                <a:lnTo>
                  <a:pt x="1314450" y="4029075"/>
                </a:lnTo>
                <a:lnTo>
                  <a:pt x="1371600" y="3962400"/>
                </a:lnTo>
                <a:lnTo>
                  <a:pt x="1428750" y="3895725"/>
                </a:lnTo>
                <a:lnTo>
                  <a:pt x="1476375" y="3819525"/>
                </a:lnTo>
                <a:lnTo>
                  <a:pt x="1533525" y="3752850"/>
                </a:lnTo>
                <a:lnTo>
                  <a:pt x="1590675" y="3676650"/>
                </a:lnTo>
                <a:lnTo>
                  <a:pt x="1638300" y="3590925"/>
                </a:lnTo>
                <a:lnTo>
                  <a:pt x="1695450" y="3514725"/>
                </a:lnTo>
                <a:lnTo>
                  <a:pt x="1752600" y="3429000"/>
                </a:lnTo>
                <a:lnTo>
                  <a:pt x="1809750" y="3343275"/>
                </a:lnTo>
                <a:lnTo>
                  <a:pt x="1866900" y="3257550"/>
                </a:lnTo>
                <a:lnTo>
                  <a:pt x="1914525" y="3162300"/>
                </a:lnTo>
                <a:lnTo>
                  <a:pt x="1971675" y="3067050"/>
                </a:lnTo>
                <a:lnTo>
                  <a:pt x="2028825" y="2971800"/>
                </a:lnTo>
                <a:lnTo>
                  <a:pt x="2076450" y="2867025"/>
                </a:lnTo>
                <a:lnTo>
                  <a:pt x="2133600" y="2771775"/>
                </a:lnTo>
                <a:lnTo>
                  <a:pt x="2190750" y="2667000"/>
                </a:lnTo>
                <a:lnTo>
                  <a:pt x="2247900" y="2552700"/>
                </a:lnTo>
                <a:lnTo>
                  <a:pt x="2305050" y="2447925"/>
                </a:lnTo>
                <a:lnTo>
                  <a:pt x="2352675" y="2333625"/>
                </a:lnTo>
                <a:lnTo>
                  <a:pt x="2409825" y="2219325"/>
                </a:lnTo>
                <a:lnTo>
                  <a:pt x="2466975" y="2095500"/>
                </a:lnTo>
                <a:lnTo>
                  <a:pt x="2514600" y="1981200"/>
                </a:lnTo>
                <a:lnTo>
                  <a:pt x="2571750" y="1857375"/>
                </a:lnTo>
                <a:lnTo>
                  <a:pt x="2628900" y="1724025"/>
                </a:lnTo>
                <a:lnTo>
                  <a:pt x="2686050" y="1600200"/>
                </a:lnTo>
                <a:lnTo>
                  <a:pt x="2743200" y="1466850"/>
                </a:lnTo>
                <a:lnTo>
                  <a:pt x="2790825" y="1333500"/>
                </a:lnTo>
                <a:lnTo>
                  <a:pt x="2847975" y="1200150"/>
                </a:lnTo>
                <a:lnTo>
                  <a:pt x="2905125" y="1057275"/>
                </a:lnTo>
                <a:lnTo>
                  <a:pt x="2952750" y="914400"/>
                </a:lnTo>
                <a:lnTo>
                  <a:pt x="3009900" y="771525"/>
                </a:lnTo>
                <a:lnTo>
                  <a:pt x="3067050" y="619125"/>
                </a:lnTo>
                <a:lnTo>
                  <a:pt x="3124200" y="466725"/>
                </a:lnTo>
                <a:lnTo>
                  <a:pt x="3181350" y="314325"/>
                </a:lnTo>
                <a:lnTo>
                  <a:pt x="3228975" y="161925"/>
                </a:lnTo>
                <a:lnTo>
                  <a:pt x="3286125" y="0"/>
                </a:lnTo>
              </a:path>
            </a:pathLst>
          </a:custGeom>
          <a:noFill/>
          <a:ln w="38100" cap="rnd">
            <a:solidFill>
              <a:srgbClr val="2563EB"/>
            </a:solidFill>
          </a:ln>
        </p:spPr>
        <p:txBody>
          <a:bodyPr/>
          <a:p/>
        </p:txBody>
      </p:sp>
      <p:sp>
        <p:nvSpPr>
          <p:cNvPr id="18" name="ell18"/>
          <p:cNvSpPr/>
          <p:nvPr/>
        </p:nvSpPr>
        <p:spPr>
          <a:xfrm>
            <a:off x="4029075" y="4457700"/>
            <a:ext cx="133350" cy="13335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</a:ln>
        </p:spPr>
        <p:txBody>
          <a:bodyPr/>
          <a:p/>
        </p:txBody>
      </p:sp>
      <p:sp>
        <p:nvSpPr>
          <p:cNvPr id="19" name="text19"/>
          <p:cNvSpPr txBox="1"/>
          <p:nvPr/>
        </p:nvSpPr>
        <p:spPr>
          <a:xfrm>
            <a:off x="3771900" y="4467225"/>
            <a:ext cx="152400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600" b="1" i="0">
                <a:solidFill>
                  <a:srgbClr val="1F1F1F"/>
                </a:solidFill>
                <a:latin typeface="Calibri"/>
                <a:ea typeface="Microsoft YaHei"/>
              </a:rPr>
              <a:t>P</a:t>
            </a:r>
          </a:p>
        </p:txBody>
      </p:sp>
      <p:cxnSp>
        <p:nvCxnSpPr>
          <p:cNvPr id="20" name="line20"/>
          <p:cNvCxnSpPr/>
          <p:nvPr/>
        </p:nvCxnSpPr>
        <p:spPr>
          <a:xfrm flipV="1">
            <a:off x="3810000" y="-1181100"/>
            <a:ext cx="2790825" cy="6353175"/>
          </a:xfrm>
          <a:prstGeom prst="line">
            <a:avLst/>
          </a:prstGeom>
          <a:ln w="19050" cap="rnd">
            <a:solidFill>
              <a:srgbClr val="9AA0A6"/>
            </a:solidFill>
            <a:prstDash val="dash"/>
          </a:ln>
        </p:spPr>
      </p:cxnSp>
      <p:sp>
        <p:nvSpPr>
          <p:cNvPr id="21" name="ell21"/>
          <p:cNvSpPr/>
          <p:nvPr/>
        </p:nvSpPr>
        <p:spPr>
          <a:xfrm>
            <a:off x="6324600" y="-742950"/>
            <a:ext cx="114300" cy="114300"/>
          </a:xfrm>
          <a:prstGeom prst="ellipse">
            <a:avLst/>
          </a:prstGeom>
          <a:solidFill>
            <a:srgbClr val="D64545"/>
          </a:solidFill>
          <a:ln w="9525">
            <a:solidFill>
              <a:srgbClr val="D64545"/>
            </a:solidFill>
          </a:ln>
        </p:spPr>
        <p:txBody>
          <a:bodyPr/>
          <a:p/>
        </p:txBody>
      </p:sp>
      <p:sp>
        <p:nvSpPr>
          <p:cNvPr id="22" name="text22"/>
          <p:cNvSpPr txBox="1"/>
          <p:nvPr/>
        </p:nvSpPr>
        <p:spPr>
          <a:xfrm>
            <a:off x="5334000" y="1143000"/>
            <a:ext cx="590550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600" b="0" i="0">
                <a:solidFill>
                  <a:srgbClr val="6B6B6B"/>
                </a:solidFill>
                <a:latin typeface="Calibri"/>
                <a:ea typeface="Microsoft YaHei"/>
              </a:rPr>
              <a:t>Q1: x=2.6，割线斜率 k=3.60</a:t>
            </a:r>
          </a:p>
        </p:txBody>
      </p:sp>
      <p:cxnSp>
        <p:nvCxnSpPr>
          <p:cNvPr id="23" name="line23"/>
          <p:cNvCxnSpPr/>
          <p:nvPr/>
        </p:nvCxnSpPr>
        <p:spPr>
          <a:xfrm flipV="1">
            <a:off x="3810000" y="1019175"/>
            <a:ext cx="2076450" cy="4067175"/>
          </a:xfrm>
          <a:prstGeom prst="line">
            <a:avLst/>
          </a:prstGeom>
          <a:ln w="19050" cap="rnd">
            <a:solidFill>
              <a:srgbClr val="9AA0A6"/>
            </a:solidFill>
            <a:prstDash val="dash"/>
          </a:ln>
        </p:spPr>
      </p:cxnSp>
      <p:sp>
        <p:nvSpPr>
          <p:cNvPr id="24" name="ell24"/>
          <p:cNvSpPr/>
          <p:nvPr/>
        </p:nvSpPr>
        <p:spPr>
          <a:xfrm>
            <a:off x="5610225" y="1381125"/>
            <a:ext cx="114300" cy="114300"/>
          </a:xfrm>
          <a:prstGeom prst="ellipse">
            <a:avLst/>
          </a:prstGeom>
          <a:solidFill>
            <a:srgbClr val="D64545"/>
          </a:solidFill>
          <a:ln w="9525">
            <a:solidFill>
              <a:srgbClr val="D64545"/>
            </a:solidFill>
          </a:ln>
        </p:spPr>
        <p:txBody>
          <a:bodyPr/>
          <a:p/>
        </p:txBody>
      </p:sp>
      <p:sp>
        <p:nvSpPr>
          <p:cNvPr id="25" name="text25"/>
          <p:cNvSpPr txBox="1"/>
          <p:nvPr/>
        </p:nvSpPr>
        <p:spPr>
          <a:xfrm>
            <a:off x="5334000" y="1390650"/>
            <a:ext cx="590550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600" b="0" i="0">
                <a:solidFill>
                  <a:srgbClr val="6B6B6B"/>
                </a:solidFill>
                <a:latin typeface="Calibri"/>
                <a:ea typeface="Microsoft YaHei"/>
              </a:rPr>
              <a:t>Q2: x=2.1，割线斜率 k=3.10</a:t>
            </a:r>
          </a:p>
        </p:txBody>
      </p:sp>
      <p:cxnSp>
        <p:nvCxnSpPr>
          <p:cNvPr id="26" name="line26"/>
          <p:cNvCxnSpPr/>
          <p:nvPr/>
        </p:nvCxnSpPr>
        <p:spPr>
          <a:xfrm flipV="1">
            <a:off x="3810000" y="2762250"/>
            <a:ext cx="1362075" cy="2228850"/>
          </a:xfrm>
          <a:prstGeom prst="line">
            <a:avLst/>
          </a:prstGeom>
          <a:ln w="19050" cap="rnd">
            <a:solidFill>
              <a:srgbClr val="9AA0A6"/>
            </a:solidFill>
            <a:prstDash val="dash"/>
          </a:ln>
        </p:spPr>
      </p:cxnSp>
      <p:sp>
        <p:nvSpPr>
          <p:cNvPr id="27" name="ell27"/>
          <p:cNvSpPr/>
          <p:nvPr/>
        </p:nvSpPr>
        <p:spPr>
          <a:xfrm>
            <a:off x="4895850" y="3057525"/>
            <a:ext cx="114300" cy="114300"/>
          </a:xfrm>
          <a:prstGeom prst="ellipse">
            <a:avLst/>
          </a:prstGeom>
          <a:solidFill>
            <a:srgbClr val="D64545"/>
          </a:solidFill>
          <a:ln w="9525">
            <a:solidFill>
              <a:srgbClr val="D64545"/>
            </a:solidFill>
          </a:ln>
        </p:spPr>
        <p:txBody>
          <a:bodyPr/>
          <a:p/>
        </p:txBody>
      </p:sp>
      <p:sp>
        <p:nvSpPr>
          <p:cNvPr id="28" name="text28"/>
          <p:cNvSpPr txBox="1"/>
          <p:nvPr/>
        </p:nvSpPr>
        <p:spPr>
          <a:xfrm>
            <a:off x="5334000" y="1638300"/>
            <a:ext cx="590550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600" b="0" i="0">
                <a:solidFill>
                  <a:srgbClr val="6B6B6B"/>
                </a:solidFill>
                <a:latin typeface="Calibri"/>
                <a:ea typeface="Microsoft YaHei"/>
              </a:rPr>
              <a:t>Q3: x=1.6，割线斜率 k=2.60</a:t>
            </a:r>
          </a:p>
        </p:txBody>
      </p:sp>
      <p:cxnSp>
        <p:nvCxnSpPr>
          <p:cNvPr id="29" name="line29"/>
          <p:cNvCxnSpPr/>
          <p:nvPr/>
        </p:nvCxnSpPr>
        <p:spPr>
          <a:xfrm flipV="1">
            <a:off x="3810000" y="3714750"/>
            <a:ext cx="857250" cy="1219200"/>
          </a:xfrm>
          <a:prstGeom prst="line">
            <a:avLst/>
          </a:prstGeom>
          <a:ln w="19050" cap="rnd">
            <a:solidFill>
              <a:srgbClr val="9AA0A6"/>
            </a:solidFill>
            <a:prstDash val="dash"/>
          </a:ln>
        </p:spPr>
      </p:cxnSp>
      <p:sp>
        <p:nvSpPr>
          <p:cNvPr id="30" name="ell30"/>
          <p:cNvSpPr/>
          <p:nvPr/>
        </p:nvSpPr>
        <p:spPr>
          <a:xfrm>
            <a:off x="4400550" y="3962400"/>
            <a:ext cx="114300" cy="114300"/>
          </a:xfrm>
          <a:prstGeom prst="ellipse">
            <a:avLst/>
          </a:prstGeom>
          <a:solidFill>
            <a:srgbClr val="D64545"/>
          </a:solidFill>
          <a:ln w="9525">
            <a:solidFill>
              <a:srgbClr val="D64545"/>
            </a:solidFill>
          </a:ln>
        </p:spPr>
        <p:txBody>
          <a:bodyPr/>
          <a:p/>
        </p:txBody>
      </p:sp>
      <p:sp>
        <p:nvSpPr>
          <p:cNvPr id="31" name="text31"/>
          <p:cNvSpPr txBox="1"/>
          <p:nvPr/>
        </p:nvSpPr>
        <p:spPr>
          <a:xfrm>
            <a:off x="5334000" y="1885950"/>
            <a:ext cx="590550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600" b="0" i="0">
                <a:solidFill>
                  <a:srgbClr val="6B6B6B"/>
                </a:solidFill>
                <a:latin typeface="Calibri"/>
                <a:ea typeface="Microsoft YaHei"/>
              </a:rPr>
              <a:t>Q4: x=1.25，割线斜率 k=2.25</a:t>
            </a:r>
          </a:p>
        </p:txBody>
      </p:sp>
      <p:cxnSp>
        <p:nvCxnSpPr>
          <p:cNvPr id="32" name="line32"/>
          <p:cNvCxnSpPr/>
          <p:nvPr/>
        </p:nvCxnSpPr>
        <p:spPr>
          <a:xfrm flipV="1">
            <a:off x="3238500" y="2895600"/>
            <a:ext cx="2143125" cy="2714625"/>
          </a:xfrm>
          <a:prstGeom prst="line">
            <a:avLst/>
          </a:prstGeom>
          <a:ln w="38100" cap="rnd">
            <a:solidFill>
              <a:srgbClr val="D64545"/>
            </a:solidFill>
          </a:ln>
        </p:spPr>
      </p:cxnSp>
      <p:sp>
        <p:nvSpPr>
          <p:cNvPr id="33" name="text33"/>
          <p:cNvSpPr txBox="1"/>
          <p:nvPr/>
        </p:nvSpPr>
        <p:spPr>
          <a:xfrm>
            <a:off x="5334000" y="2286000"/>
            <a:ext cx="5905500" cy="571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000" b="1" i="0">
                <a:solidFill>
                  <a:srgbClr val="A07520"/>
                </a:solidFill>
                <a:latin typeface="Calibri"/>
                <a:ea typeface="Microsoft YaHei"/>
              </a:rPr>
              <a:t>Q→P 时 k→2，切线斜率 = 2 = f′(1)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切线的严格定义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设 P(x₀, f(x₀)) 是曲线 y=f(x) 上一点</a:t>
            </a:r>
          </a:p>
          <a:p>
            <a:pPr algn="l" marL="285750" indent="-285750">
              <a:spcAft>
                <a:spcPts val="4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当 Δx→0 时，若割线 PQ 的斜率趋于确定值 k</a:t>
            </a:r>
          </a:p>
          <a:p>
            <a:pPr algn="l" marL="571500" indent="-285750" lvl="1">
              <a:spcAft>
                <a:spcPts val="400"/>
              </a:spcAft>
              <a:buClr>
                <a:srgbClr val="6B6B6B"/>
              </a:buClr>
              <a:buFont typeface="Arial"/>
              <a:buChar char="–"/>
            </a:pPr>
            <a:r>
              <a:rPr lang="zh-CN" sz="1400" b="0" i="0">
                <a:solidFill>
                  <a:srgbClr val="6B6B6B"/>
                </a:solidFill>
                <a:latin typeface="Calibri"/>
                <a:ea typeface="Microsoft YaHei"/>
              </a:rPr>
              <a:t>则称直线：过 P 且斜率为 k 的直线为曲线在 P 处的切线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切线是割线的极限位置，不是‘只有一个公共点’的直线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400" b="1" i="0">
                <a:solidFill>
                  <a:srgbClr val="A07520"/>
                </a:solidFill>
                <a:latin typeface="Calibri"/>
                <a:ea typeface="Microsoft YaHei"/>
              </a:rPr>
              <a:t>环节三 · 核心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400" b="1" i="0">
                <a:solidFill>
                  <a:srgbClr val="1F1F1F"/>
                </a:solidFill>
                <a:latin typeface="Calibri"/>
                <a:ea typeface="Microsoft YaHei"/>
              </a:rPr>
              <a:t>三、导数的几何意义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571500" y="323850"/>
            <a:ext cx="11049000" cy="419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平均变化率 → 瞬时变化率</a:t>
            </a:r>
          </a:p>
        </p:txBody>
      </p:sp>
      <p:sp>
        <p:nvSpPr>
          <p:cNvPr id="11" name="bar11"/>
          <p:cNvSpPr/>
          <p:nvPr/>
        </p:nvSpPr>
        <p:spPr>
          <a:xfrm>
            <a:off x="571500" y="819150"/>
            <a:ext cx="66675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cxnSp>
        <p:nvCxnSpPr>
          <p:cNvPr id="12" name="line12"/>
          <p:cNvCxnSpPr/>
          <p:nvPr/>
        </p:nvCxnSpPr>
        <p:spPr>
          <a:xfrm>
            <a:off x="2390775" y="5334000"/>
            <a:ext cx="5562600" cy="9525"/>
          </a:xfrm>
          <a:prstGeom prst="line">
            <a:avLst/>
          </a:prstGeom>
          <a:ln w="28575" cap="rnd">
            <a:solidFill>
              <a:srgbClr val="1F1F1F"/>
            </a:solidFill>
            <a:tailEnd type="triangle" w="med" len="med"/>
          </a:ln>
        </p:spPr>
      </p:cxnSp>
      <p:cxnSp>
        <p:nvCxnSpPr>
          <p:cNvPr id="13" name="line13"/>
          <p:cNvCxnSpPr/>
          <p:nvPr/>
        </p:nvCxnSpPr>
        <p:spPr>
          <a:xfrm flipV="1">
            <a:off x="2857500" y="571500"/>
            <a:ext cx="9525" cy="5086350"/>
          </a:xfrm>
          <a:prstGeom prst="line">
            <a:avLst/>
          </a:prstGeom>
          <a:ln w="28575" cap="rnd">
            <a:solidFill>
              <a:srgbClr val="1F1F1F"/>
            </a:solidFill>
            <a:tailEnd type="triangle" w="med" len="med"/>
          </a:ln>
        </p:spPr>
      </p:cxnSp>
      <p:sp>
        <p:nvSpPr>
          <p:cNvPr id="14" name="text14"/>
          <p:cNvSpPr txBox="1"/>
          <p:nvPr/>
        </p:nvSpPr>
        <p:spPr>
          <a:xfrm>
            <a:off x="7810500" y="5410200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600" b="0" i="1">
                <a:solidFill>
                  <a:srgbClr val="1F1F1F"/>
                </a:solidFill>
                <a:latin typeface="Calibri"/>
                <a:ea typeface="Microsoft YaHei"/>
              </a:rPr>
              <a:t>x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2571750" y="561975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600" b="0" i="1">
                <a:solidFill>
                  <a:srgbClr val="1F1F1F"/>
                </a:solidFill>
                <a:latin typeface="Calibri"/>
                <a:ea typeface="Microsoft YaHei"/>
              </a:rPr>
              <a:t>y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2609850" y="5391150"/>
            <a:ext cx="209550" cy="209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500" b="0" i="0">
                <a:solidFill>
                  <a:srgbClr val="1F1F1F"/>
                </a:solidFill>
                <a:latin typeface="Calibri"/>
                <a:ea typeface="Microsoft YaHei"/>
              </a:rPr>
              <a:t>O</a:t>
            </a:r>
          </a:p>
        </p:txBody>
      </p:sp>
      <p:sp>
        <p:nvSpPr>
          <p:cNvPr id="17" name="poly17"/>
          <p:cNvSpPr/>
          <p:nvPr/>
        </p:nvSpPr>
        <p:spPr>
          <a:xfrm>
            <a:off x="2857500" y="1343025"/>
            <a:ext cx="3400425" cy="3990975"/>
          </a:xfrm>
          <a:custGeom>
            <a:avLst/>
            <a:gdLst/>
            <a:ahLst/>
            <a:cxnLst/>
            <a:rect l="0" t="0" r="3400425" b="3990975"/>
            <a:pathLst>
              <a:path w="3400425" h="3990975">
                <a:moveTo>
                  <a:pt x="0" y="3990975"/>
                </a:moveTo>
                <a:lnTo>
                  <a:pt x="57150" y="3990975"/>
                </a:lnTo>
                <a:lnTo>
                  <a:pt x="114300" y="3990975"/>
                </a:lnTo>
                <a:lnTo>
                  <a:pt x="171450" y="3981450"/>
                </a:lnTo>
                <a:lnTo>
                  <a:pt x="228600" y="3971925"/>
                </a:lnTo>
                <a:lnTo>
                  <a:pt x="285750" y="3962400"/>
                </a:lnTo>
                <a:lnTo>
                  <a:pt x="342900" y="3952875"/>
                </a:lnTo>
                <a:lnTo>
                  <a:pt x="400050" y="3933825"/>
                </a:lnTo>
                <a:lnTo>
                  <a:pt x="457200" y="3924300"/>
                </a:lnTo>
                <a:lnTo>
                  <a:pt x="514350" y="3905250"/>
                </a:lnTo>
                <a:lnTo>
                  <a:pt x="571500" y="3876675"/>
                </a:lnTo>
                <a:lnTo>
                  <a:pt x="619125" y="3857625"/>
                </a:lnTo>
                <a:lnTo>
                  <a:pt x="676275" y="3829050"/>
                </a:lnTo>
                <a:lnTo>
                  <a:pt x="733425" y="3800475"/>
                </a:lnTo>
                <a:lnTo>
                  <a:pt x="790575" y="3771900"/>
                </a:lnTo>
                <a:lnTo>
                  <a:pt x="847725" y="3743325"/>
                </a:lnTo>
                <a:lnTo>
                  <a:pt x="904875" y="3705225"/>
                </a:lnTo>
                <a:lnTo>
                  <a:pt x="962025" y="3667125"/>
                </a:lnTo>
                <a:lnTo>
                  <a:pt x="1019175" y="3629025"/>
                </a:lnTo>
                <a:lnTo>
                  <a:pt x="1076325" y="3590925"/>
                </a:lnTo>
                <a:lnTo>
                  <a:pt x="1133475" y="3543300"/>
                </a:lnTo>
                <a:lnTo>
                  <a:pt x="1190625" y="3505200"/>
                </a:lnTo>
                <a:lnTo>
                  <a:pt x="1247775" y="3457575"/>
                </a:lnTo>
                <a:lnTo>
                  <a:pt x="1304925" y="3400425"/>
                </a:lnTo>
                <a:lnTo>
                  <a:pt x="1362075" y="3352800"/>
                </a:lnTo>
                <a:lnTo>
                  <a:pt x="1419225" y="3295650"/>
                </a:lnTo>
                <a:lnTo>
                  <a:pt x="1476375" y="3238500"/>
                </a:lnTo>
                <a:lnTo>
                  <a:pt x="1533525" y="3181350"/>
                </a:lnTo>
                <a:lnTo>
                  <a:pt x="1590675" y="3124200"/>
                </a:lnTo>
                <a:lnTo>
                  <a:pt x="1647825" y="3057525"/>
                </a:lnTo>
                <a:lnTo>
                  <a:pt x="1695450" y="2990850"/>
                </a:lnTo>
                <a:lnTo>
                  <a:pt x="1752600" y="2924175"/>
                </a:lnTo>
                <a:lnTo>
                  <a:pt x="1809750" y="2857500"/>
                </a:lnTo>
                <a:lnTo>
                  <a:pt x="1866900" y="2781300"/>
                </a:lnTo>
                <a:lnTo>
                  <a:pt x="1924050" y="2705100"/>
                </a:lnTo>
                <a:lnTo>
                  <a:pt x="1981200" y="2628900"/>
                </a:lnTo>
                <a:lnTo>
                  <a:pt x="2038350" y="2552700"/>
                </a:lnTo>
                <a:lnTo>
                  <a:pt x="2095500" y="2476500"/>
                </a:lnTo>
                <a:lnTo>
                  <a:pt x="2152650" y="2390775"/>
                </a:lnTo>
                <a:lnTo>
                  <a:pt x="2209800" y="2305050"/>
                </a:lnTo>
                <a:lnTo>
                  <a:pt x="2266950" y="2219325"/>
                </a:lnTo>
                <a:lnTo>
                  <a:pt x="2324100" y="2124075"/>
                </a:lnTo>
                <a:lnTo>
                  <a:pt x="2381250" y="2038350"/>
                </a:lnTo>
                <a:lnTo>
                  <a:pt x="2438400" y="1943100"/>
                </a:lnTo>
                <a:lnTo>
                  <a:pt x="2495550" y="1847850"/>
                </a:lnTo>
                <a:lnTo>
                  <a:pt x="2552700" y="1743075"/>
                </a:lnTo>
                <a:lnTo>
                  <a:pt x="2609850" y="1647825"/>
                </a:lnTo>
                <a:lnTo>
                  <a:pt x="2667000" y="1543050"/>
                </a:lnTo>
                <a:lnTo>
                  <a:pt x="2724150" y="1438275"/>
                </a:lnTo>
                <a:lnTo>
                  <a:pt x="2781300" y="1333500"/>
                </a:lnTo>
                <a:lnTo>
                  <a:pt x="2838450" y="1219200"/>
                </a:lnTo>
                <a:lnTo>
                  <a:pt x="2886075" y="1104900"/>
                </a:lnTo>
                <a:lnTo>
                  <a:pt x="2943225" y="990600"/>
                </a:lnTo>
                <a:lnTo>
                  <a:pt x="3000375" y="876300"/>
                </a:lnTo>
                <a:lnTo>
                  <a:pt x="3057525" y="762000"/>
                </a:lnTo>
                <a:lnTo>
                  <a:pt x="3114675" y="638175"/>
                </a:lnTo>
                <a:lnTo>
                  <a:pt x="3171825" y="514350"/>
                </a:lnTo>
                <a:lnTo>
                  <a:pt x="3228975" y="390525"/>
                </a:lnTo>
                <a:lnTo>
                  <a:pt x="3286125" y="266700"/>
                </a:lnTo>
                <a:lnTo>
                  <a:pt x="3343275" y="133350"/>
                </a:lnTo>
                <a:lnTo>
                  <a:pt x="3400425" y="0"/>
                </a:lnTo>
              </a:path>
            </a:pathLst>
          </a:custGeom>
          <a:noFill/>
          <a:ln w="38100" cap="rnd">
            <a:solidFill>
              <a:srgbClr val="2563EB"/>
            </a:solidFill>
          </a:ln>
        </p:spPr>
        <p:txBody>
          <a:bodyPr/>
          <a:p/>
        </p:txBody>
      </p:sp>
      <p:sp>
        <p:nvSpPr>
          <p:cNvPr id="18" name="ell18"/>
          <p:cNvSpPr/>
          <p:nvPr/>
        </p:nvSpPr>
        <p:spPr>
          <a:xfrm>
            <a:off x="4410075" y="4362450"/>
            <a:ext cx="133350" cy="13335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</a:ln>
        </p:spPr>
        <p:txBody>
          <a:bodyPr/>
          <a:p/>
        </p:txBody>
      </p:sp>
      <p:sp>
        <p:nvSpPr>
          <p:cNvPr id="19" name="ell19"/>
          <p:cNvSpPr/>
          <p:nvPr/>
        </p:nvSpPr>
        <p:spPr>
          <a:xfrm>
            <a:off x="5705475" y="2333625"/>
            <a:ext cx="133350" cy="133350"/>
          </a:xfrm>
          <a:prstGeom prst="ellipse">
            <a:avLst/>
          </a:prstGeom>
          <a:solidFill>
            <a:srgbClr val="D64545"/>
          </a:solidFill>
          <a:ln w="9525">
            <a:solidFill>
              <a:srgbClr val="D64545"/>
            </a:solidFill>
          </a:ln>
        </p:spPr>
        <p:txBody>
          <a:bodyPr/>
          <a:p/>
        </p:txBody>
      </p:sp>
      <p:cxnSp>
        <p:nvCxnSpPr>
          <p:cNvPr id="20" name="line20"/>
          <p:cNvCxnSpPr/>
          <p:nvPr/>
        </p:nvCxnSpPr>
        <p:spPr>
          <a:xfrm>
            <a:off x="4476750" y="4429125"/>
            <a:ext cx="1295400" cy="9525"/>
          </a:xfrm>
          <a:prstGeom prst="line">
            <a:avLst/>
          </a:prstGeom>
          <a:ln w="28575" cap="rnd">
            <a:solidFill>
              <a:srgbClr val="2E7D32"/>
            </a:solidFill>
          </a:ln>
        </p:spPr>
      </p:cxnSp>
      <p:cxnSp>
        <p:nvCxnSpPr>
          <p:cNvPr id="21" name="line21"/>
          <p:cNvCxnSpPr/>
          <p:nvPr/>
        </p:nvCxnSpPr>
        <p:spPr>
          <a:xfrm flipV="1">
            <a:off x="5772150" y="2400300"/>
            <a:ext cx="9525" cy="2028825"/>
          </a:xfrm>
          <a:prstGeom prst="line">
            <a:avLst/>
          </a:prstGeom>
          <a:ln w="28575" cap="rnd">
            <a:solidFill>
              <a:srgbClr val="B5651D"/>
            </a:solidFill>
          </a:ln>
        </p:spPr>
      </p:cxnSp>
      <p:sp>
        <p:nvSpPr>
          <p:cNvPr id="22" name="text22"/>
          <p:cNvSpPr txBox="1"/>
          <p:nvPr/>
        </p:nvSpPr>
        <p:spPr>
          <a:xfrm>
            <a:off x="5029200" y="4486275"/>
            <a:ext cx="152400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600" b="0" i="0">
                <a:solidFill>
                  <a:srgbClr val="2E7D32"/>
                </a:solidFill>
                <a:latin typeface="Calibri"/>
                <a:ea typeface="Microsoft YaHei"/>
              </a:rPr>
              <a:t>Δx</a:t>
            </a:r>
          </a:p>
        </p:txBody>
      </p:sp>
      <p:sp>
        <p:nvSpPr>
          <p:cNvPr id="23" name="text23"/>
          <p:cNvSpPr txBox="1"/>
          <p:nvPr/>
        </p:nvSpPr>
        <p:spPr>
          <a:xfrm>
            <a:off x="5848350" y="3343275"/>
            <a:ext cx="152400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600" b="0" i="0">
                <a:solidFill>
                  <a:srgbClr val="B5651D"/>
                </a:solidFill>
                <a:latin typeface="Calibri"/>
                <a:ea typeface="Microsoft YaHei"/>
              </a:rPr>
              <a:t>Δy</a:t>
            </a:r>
          </a:p>
        </p:txBody>
      </p:sp>
      <p:cxnSp>
        <p:nvCxnSpPr>
          <p:cNvPr id="24" name="line24"/>
          <p:cNvCxnSpPr/>
          <p:nvPr/>
        </p:nvCxnSpPr>
        <p:spPr>
          <a:xfrm flipV="1">
            <a:off x="4476750" y="2400300"/>
            <a:ext cx="1295400" cy="2028825"/>
          </a:xfrm>
          <a:prstGeom prst="line">
            <a:avLst/>
          </a:prstGeom>
          <a:ln w="19050" cap="rnd">
            <a:solidFill>
              <a:srgbClr val="9AA0A6"/>
            </a:solidFill>
            <a:prstDash val="dash"/>
          </a:ln>
        </p:spPr>
      </p:cxnSp>
      <p:sp>
        <p:nvSpPr>
          <p:cNvPr id="25" name="text25"/>
          <p:cNvSpPr txBox="1"/>
          <p:nvPr/>
        </p:nvSpPr>
        <p:spPr>
          <a:xfrm>
            <a:off x="6858000" y="2857500"/>
            <a:ext cx="4476750" cy="1428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000" b="0" i="0">
                <a:solidFill>
                  <a:srgbClr val="1F1F1F"/>
                </a:solidFill>
                <a:latin typeface="Calibri"/>
                <a:ea typeface="Microsoft YaHei"/>
              </a:rPr>
              <a:t>平均变化率 Δy/Δx</a:t>
            </a:r>
          </a:p>
          <a:p>
            <a:pPr algn="l">
              <a:buNone/>
            </a:pPr>
            <a:r>
              <a:rPr lang="zh-CN" sz="2000" b="0" i="0">
                <a:solidFill>
                  <a:srgbClr val="1F1F1F"/>
                </a:solidFill>
                <a:latin typeface="Calibri"/>
                <a:ea typeface="Microsoft YaHei"/>
              </a:rPr>
              <a:t>= 割线斜率</a:t>
            </a:r>
          </a:p>
          <a:p>
            <a:pPr algn="l">
              <a:buNone/>
            </a:pPr>
            <a:r>
              <a:rPr lang="zh-CN" sz="2000" b="0" i="0">
                <a:solidFill>
                  <a:srgbClr val="1F1F1F"/>
                </a:solidFill>
                <a:latin typeface="Calibri"/>
                <a:ea typeface="Microsoft YaHei"/>
              </a:rPr>
              <a:t/>
            </a:r>
          </a:p>
          <a:p>
            <a:pPr algn="l">
              <a:buNone/>
            </a:pPr>
            <a:r>
              <a:rPr lang="zh-CN" sz="2000" b="0" i="0">
                <a:solidFill>
                  <a:srgbClr val="1F1F1F"/>
                </a:solidFill>
                <a:latin typeface="Calibri"/>
                <a:ea typeface="Microsoft YaHei"/>
              </a:rPr>
              <a:t>令 Δx→0：</a:t>
            </a:r>
          </a:p>
          <a:p>
            <a:pPr algn="l">
              <a:buNone/>
            </a:pPr>
            <a:r>
              <a:rPr lang="zh-CN" sz="2000" b="0" i="0">
                <a:solidFill>
                  <a:srgbClr val="1F1F1F"/>
                </a:solidFill>
                <a:latin typeface="Calibri"/>
                <a:ea typeface="Microsoft YaHei"/>
              </a:rPr>
              <a:t>f′(x₀)=lim Δy/Δx</a:t>
            </a:r>
          </a:p>
          <a:p>
            <a:pPr algn="l">
              <a:buNone/>
            </a:pPr>
            <a:r>
              <a:rPr lang="zh-CN" sz="2000" b="0" i="0">
                <a:solidFill>
                  <a:srgbClr val="1F1F1F"/>
                </a:solidFill>
                <a:latin typeface="Calibri"/>
                <a:ea typeface="Microsoft YaHei"/>
              </a:rPr>
              <a:t>= 切线斜率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三个说法是一回事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3D8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1700" b="1" i="0">
                <a:solidFill>
                  <a:srgbClr val="A07520"/>
                </a:solidFill>
                <a:latin typeface="Calibri"/>
                <a:ea typeface="Microsoft YaHei"/>
              </a:rPr>
              <a:t>平均变化率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1400" b="0" i="0">
                <a:solidFill>
                  <a:srgbClr val="1F1F1F"/>
                </a:solidFill>
                <a:latin typeface="Calibri"/>
                <a:ea typeface="Microsoft YaHei"/>
              </a:rPr>
              <a:t>Δy/Δx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1400" b="0" i="0">
                <a:solidFill>
                  <a:srgbClr val="1F1F1F"/>
                </a:solidFill>
                <a:latin typeface="Calibri"/>
                <a:ea typeface="Microsoft YaHei"/>
              </a:rPr>
              <a:t>割线斜率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3D8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1700" b="1" i="0">
                <a:solidFill>
                  <a:srgbClr val="A07520"/>
                </a:solidFill>
                <a:latin typeface="Calibri"/>
                <a:ea typeface="Microsoft YaHei"/>
              </a:rPr>
              <a:t>瞬时变化率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1400" b="0" i="0">
                <a:solidFill>
                  <a:srgbClr val="1F1F1F"/>
                </a:solidFill>
                <a:latin typeface="Calibri"/>
                <a:ea typeface="Microsoft YaHei"/>
              </a:rPr>
              <a:t>Δx→0 的极限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1400" b="0" i="0">
                <a:solidFill>
                  <a:srgbClr val="1F1F1F"/>
                </a:solidFill>
                <a:latin typeface="Calibri"/>
                <a:ea typeface="Microsoft YaHei"/>
              </a:rPr>
              <a:t>f′(x₀)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3D8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1700" b="1" i="0">
                <a:solidFill>
                  <a:srgbClr val="A07520"/>
                </a:solidFill>
                <a:latin typeface="Calibri"/>
                <a:ea typeface="Microsoft YaHei"/>
              </a:rPr>
              <a:t>几何意义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1400" b="0" i="0">
                <a:solidFill>
                  <a:srgbClr val="1F1F1F"/>
                </a:solidFill>
                <a:latin typeface="Calibri"/>
                <a:ea typeface="Microsoft YaHei"/>
              </a:rPr>
              <a:t>切线斜率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1400" b="0" i="0">
                <a:solidFill>
                  <a:srgbClr val="1F1F1F"/>
                </a:solidFill>
                <a:latin typeface="Calibri"/>
                <a:ea typeface="Microsoft YaHei"/>
              </a:rPr>
              <a:t>tan α（倾斜角）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由导数看切线的‘走向’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 marL="285750" indent="-285750">
              <a:spcAft>
                <a:spcPts val="4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f′(x₀)&gt;0：切线上升，函数在该点附近递增</a:t>
            </a:r>
          </a:p>
          <a:p>
            <a:pPr algn="l" marL="571500" indent="-285750" lvl="1">
              <a:spcAft>
                <a:spcPts val="400"/>
              </a:spcAft>
              <a:buClr>
                <a:srgbClr val="6B6B6B"/>
              </a:buClr>
              <a:buFont typeface="Arial"/>
              <a:buChar char="–"/>
            </a:pPr>
            <a:r>
              <a:rPr lang="zh-CN" sz="1400" b="0" i="0">
                <a:solidFill>
                  <a:srgbClr val="6B6B6B"/>
                </a:solidFill>
                <a:latin typeface="Calibri"/>
                <a:ea typeface="Microsoft YaHei"/>
              </a:rPr>
              <a:t>斜率越大越陡</a:t>
            </a:r>
          </a:p>
          <a:p>
            <a:pPr algn="l" marL="285750" indent="-285750">
              <a:spcAft>
                <a:spcPts val="4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f′(x₀)&lt;0：切线下降，函数递减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f′(x₀)=0：切线水平，常是极值点的候选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f′(x₀) 不存在：如尖点、竖直切线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400" b="1" i="0">
                <a:solidFill>
                  <a:srgbClr val="A07520"/>
                </a:solidFill>
                <a:latin typeface="Calibri"/>
                <a:ea typeface="Microsoft YaHei"/>
              </a:rPr>
              <a:t>环节四 · 方法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400" b="1" i="0">
                <a:solidFill>
                  <a:srgbClr val="1F1F1F"/>
                </a:solidFill>
                <a:latin typeface="Calibri"/>
                <a:ea typeface="Microsoft YaHei"/>
              </a:rPr>
              <a:t>四、求切线方程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求切线方程三步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① 求导，代入得斜率 k=f′(x₀)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② 求切点纵坐标 y₀=f(x₀)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③ 点斜式：y−y₀=k(x−x₀)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571500" y="323850"/>
            <a:ext cx="11049000" cy="419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例1  求 y=x² 在 P(1,1) 处的切线</a:t>
            </a:r>
          </a:p>
        </p:txBody>
      </p:sp>
      <p:sp>
        <p:nvSpPr>
          <p:cNvPr id="11" name="bar11"/>
          <p:cNvSpPr/>
          <p:nvPr/>
        </p:nvSpPr>
        <p:spPr>
          <a:xfrm>
            <a:off x="571500" y="819150"/>
            <a:ext cx="66675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cxnSp>
        <p:nvCxnSpPr>
          <p:cNvPr id="12" name="line12"/>
          <p:cNvCxnSpPr/>
          <p:nvPr/>
        </p:nvCxnSpPr>
        <p:spPr>
          <a:xfrm>
            <a:off x="2381250" y="5334000"/>
            <a:ext cx="3552825" cy="9525"/>
          </a:xfrm>
          <a:prstGeom prst="line">
            <a:avLst/>
          </a:prstGeom>
          <a:ln w="28575" cap="rnd">
            <a:solidFill>
              <a:srgbClr val="1F1F1F"/>
            </a:solidFill>
            <a:tailEnd type="triangle" w="med" len="med"/>
          </a:ln>
        </p:spPr>
      </p:cxnSp>
      <p:cxnSp>
        <p:nvCxnSpPr>
          <p:cNvPr id="13" name="line13"/>
          <p:cNvCxnSpPr/>
          <p:nvPr/>
        </p:nvCxnSpPr>
        <p:spPr>
          <a:xfrm flipV="1">
            <a:off x="2952750" y="2124075"/>
            <a:ext cx="9525" cy="3600450"/>
          </a:xfrm>
          <a:prstGeom prst="line">
            <a:avLst/>
          </a:prstGeom>
          <a:ln w="28575" cap="rnd">
            <a:solidFill>
              <a:srgbClr val="1F1F1F"/>
            </a:solidFill>
            <a:tailEnd type="triangle" w="med" len="med"/>
          </a:ln>
        </p:spPr>
      </p:cxnSp>
      <p:sp>
        <p:nvSpPr>
          <p:cNvPr id="14" name="text14"/>
          <p:cNvSpPr txBox="1"/>
          <p:nvPr/>
        </p:nvSpPr>
        <p:spPr>
          <a:xfrm>
            <a:off x="5791200" y="5410200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600" b="0" i="1">
                <a:solidFill>
                  <a:srgbClr val="1F1F1F"/>
                </a:solidFill>
                <a:latin typeface="Calibri"/>
                <a:ea typeface="Microsoft YaHei"/>
              </a:rPr>
              <a:t>x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2667000" y="2114550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600" b="0" i="1">
                <a:solidFill>
                  <a:srgbClr val="1F1F1F"/>
                </a:solidFill>
                <a:latin typeface="Calibri"/>
                <a:ea typeface="Microsoft YaHei"/>
              </a:rPr>
              <a:t>y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2705100" y="5391150"/>
            <a:ext cx="209550" cy="209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500" b="0" i="0">
                <a:solidFill>
                  <a:srgbClr val="1F1F1F"/>
                </a:solidFill>
                <a:latin typeface="Calibri"/>
                <a:ea typeface="Microsoft YaHei"/>
              </a:rPr>
              <a:t>O</a:t>
            </a:r>
          </a:p>
        </p:txBody>
      </p:sp>
      <p:sp>
        <p:nvSpPr>
          <p:cNvPr id="17" name="poly17"/>
          <p:cNvSpPr/>
          <p:nvPr/>
        </p:nvSpPr>
        <p:spPr>
          <a:xfrm>
            <a:off x="2438400" y="1981200"/>
            <a:ext cx="2743200" cy="3352800"/>
          </a:xfrm>
          <a:custGeom>
            <a:avLst/>
            <a:gdLst/>
            <a:ahLst/>
            <a:cxnLst/>
            <a:rect l="0" t="0" r="2743200" b="3352800"/>
            <a:pathLst>
              <a:path w="2743200" h="3352800">
                <a:moveTo>
                  <a:pt x="0" y="3171825"/>
                </a:moveTo>
                <a:lnTo>
                  <a:pt x="47625" y="3200400"/>
                </a:lnTo>
                <a:lnTo>
                  <a:pt x="95250" y="3228975"/>
                </a:lnTo>
                <a:lnTo>
                  <a:pt x="133350" y="3257550"/>
                </a:lnTo>
                <a:lnTo>
                  <a:pt x="180975" y="3276600"/>
                </a:lnTo>
                <a:lnTo>
                  <a:pt x="228600" y="3295650"/>
                </a:lnTo>
                <a:lnTo>
                  <a:pt x="276225" y="3314700"/>
                </a:lnTo>
                <a:lnTo>
                  <a:pt x="323850" y="3324225"/>
                </a:lnTo>
                <a:lnTo>
                  <a:pt x="361950" y="3333750"/>
                </a:lnTo>
                <a:lnTo>
                  <a:pt x="409575" y="3343275"/>
                </a:lnTo>
                <a:lnTo>
                  <a:pt x="457200" y="3352800"/>
                </a:lnTo>
                <a:lnTo>
                  <a:pt x="504825" y="3352800"/>
                </a:lnTo>
                <a:lnTo>
                  <a:pt x="552450" y="3352800"/>
                </a:lnTo>
                <a:lnTo>
                  <a:pt x="590550" y="3352800"/>
                </a:lnTo>
                <a:lnTo>
                  <a:pt x="638175" y="3343275"/>
                </a:lnTo>
                <a:lnTo>
                  <a:pt x="685800" y="3333750"/>
                </a:lnTo>
                <a:lnTo>
                  <a:pt x="733425" y="3324225"/>
                </a:lnTo>
                <a:lnTo>
                  <a:pt x="781050" y="3305175"/>
                </a:lnTo>
                <a:lnTo>
                  <a:pt x="819150" y="3286125"/>
                </a:lnTo>
                <a:lnTo>
                  <a:pt x="866775" y="3267075"/>
                </a:lnTo>
                <a:lnTo>
                  <a:pt x="914400" y="3248025"/>
                </a:lnTo>
                <a:lnTo>
                  <a:pt x="962025" y="3219450"/>
                </a:lnTo>
                <a:lnTo>
                  <a:pt x="1009650" y="3190875"/>
                </a:lnTo>
                <a:lnTo>
                  <a:pt x="1047750" y="3162300"/>
                </a:lnTo>
                <a:lnTo>
                  <a:pt x="1095375" y="3124200"/>
                </a:lnTo>
                <a:lnTo>
                  <a:pt x="1143000" y="3086100"/>
                </a:lnTo>
                <a:lnTo>
                  <a:pt x="1190625" y="3048000"/>
                </a:lnTo>
                <a:lnTo>
                  <a:pt x="1238250" y="3000375"/>
                </a:lnTo>
                <a:lnTo>
                  <a:pt x="1276350" y="2962275"/>
                </a:lnTo>
                <a:lnTo>
                  <a:pt x="1323975" y="2905125"/>
                </a:lnTo>
                <a:lnTo>
                  <a:pt x="1371600" y="2857500"/>
                </a:lnTo>
                <a:lnTo>
                  <a:pt x="1419225" y="2800350"/>
                </a:lnTo>
                <a:lnTo>
                  <a:pt x="1466850" y="2743200"/>
                </a:lnTo>
                <a:lnTo>
                  <a:pt x="1504950" y="2686050"/>
                </a:lnTo>
                <a:lnTo>
                  <a:pt x="1552575" y="2619375"/>
                </a:lnTo>
                <a:lnTo>
                  <a:pt x="1600200" y="2562225"/>
                </a:lnTo>
                <a:lnTo>
                  <a:pt x="1647825" y="2486025"/>
                </a:lnTo>
                <a:lnTo>
                  <a:pt x="1695450" y="2419350"/>
                </a:lnTo>
                <a:lnTo>
                  <a:pt x="1733550" y="2343150"/>
                </a:lnTo>
                <a:lnTo>
                  <a:pt x="1781175" y="2266950"/>
                </a:lnTo>
                <a:lnTo>
                  <a:pt x="1828800" y="2190750"/>
                </a:lnTo>
                <a:lnTo>
                  <a:pt x="1876425" y="2105025"/>
                </a:lnTo>
                <a:lnTo>
                  <a:pt x="1924050" y="2019300"/>
                </a:lnTo>
                <a:lnTo>
                  <a:pt x="1962150" y="1933575"/>
                </a:lnTo>
                <a:lnTo>
                  <a:pt x="2009775" y="1838325"/>
                </a:lnTo>
                <a:lnTo>
                  <a:pt x="2057400" y="1752600"/>
                </a:lnTo>
                <a:lnTo>
                  <a:pt x="2105025" y="1647825"/>
                </a:lnTo>
                <a:lnTo>
                  <a:pt x="2152650" y="1552575"/>
                </a:lnTo>
                <a:lnTo>
                  <a:pt x="2190750" y="1447800"/>
                </a:lnTo>
                <a:lnTo>
                  <a:pt x="2238375" y="1343025"/>
                </a:lnTo>
                <a:lnTo>
                  <a:pt x="2286000" y="1238250"/>
                </a:lnTo>
                <a:lnTo>
                  <a:pt x="2333625" y="1123950"/>
                </a:lnTo>
                <a:lnTo>
                  <a:pt x="2381250" y="1009650"/>
                </a:lnTo>
                <a:lnTo>
                  <a:pt x="2419350" y="895350"/>
                </a:lnTo>
                <a:lnTo>
                  <a:pt x="2466975" y="781050"/>
                </a:lnTo>
                <a:lnTo>
                  <a:pt x="2514600" y="657225"/>
                </a:lnTo>
                <a:lnTo>
                  <a:pt x="2562225" y="533400"/>
                </a:lnTo>
                <a:lnTo>
                  <a:pt x="2609850" y="400050"/>
                </a:lnTo>
                <a:lnTo>
                  <a:pt x="2647950" y="276225"/>
                </a:lnTo>
                <a:lnTo>
                  <a:pt x="2695575" y="142875"/>
                </a:lnTo>
                <a:lnTo>
                  <a:pt x="2743200" y="0"/>
                </a:lnTo>
              </a:path>
            </a:pathLst>
          </a:custGeom>
          <a:noFill/>
          <a:ln w="38100" cap="rnd">
            <a:solidFill>
              <a:srgbClr val="2563EB"/>
            </a:solidFill>
          </a:ln>
        </p:spPr>
        <p:txBody>
          <a:bodyPr/>
          <a:p/>
        </p:txBody>
      </p:sp>
      <p:sp>
        <p:nvSpPr>
          <p:cNvPr id="18" name="ell18"/>
          <p:cNvSpPr/>
          <p:nvPr/>
        </p:nvSpPr>
        <p:spPr>
          <a:xfrm>
            <a:off x="3743325" y="4772025"/>
            <a:ext cx="133350" cy="13335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</a:ln>
        </p:spPr>
        <p:txBody>
          <a:bodyPr/>
          <a:p/>
        </p:txBody>
      </p:sp>
      <p:sp>
        <p:nvSpPr>
          <p:cNvPr id="19" name="text19"/>
          <p:cNvSpPr txBox="1"/>
          <p:nvPr/>
        </p:nvSpPr>
        <p:spPr>
          <a:xfrm>
            <a:off x="3905250" y="4800600"/>
            <a:ext cx="152400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600" b="1" i="0">
                <a:solidFill>
                  <a:srgbClr val="1F1F1F"/>
                </a:solidFill>
                <a:latin typeface="Calibri"/>
                <a:ea typeface="Microsoft YaHei"/>
              </a:rPr>
              <a:t>P(1,1)</a:t>
            </a:r>
          </a:p>
        </p:txBody>
      </p:sp>
      <p:cxnSp>
        <p:nvCxnSpPr>
          <p:cNvPr id="20" name="line20"/>
          <p:cNvCxnSpPr/>
          <p:nvPr/>
        </p:nvCxnSpPr>
        <p:spPr>
          <a:xfrm flipV="1">
            <a:off x="2695575" y="3648075"/>
            <a:ext cx="2143125" cy="2476500"/>
          </a:xfrm>
          <a:prstGeom prst="line">
            <a:avLst/>
          </a:prstGeom>
          <a:ln w="38100" cap="rnd">
            <a:solidFill>
              <a:srgbClr val="D64545"/>
            </a:solidFill>
          </a:ln>
        </p:spPr>
      </p:cxnSp>
      <p:sp>
        <p:nvSpPr>
          <p:cNvPr id="21" name="text21"/>
          <p:cNvSpPr txBox="1"/>
          <p:nvPr/>
        </p:nvSpPr>
        <p:spPr>
          <a:xfrm>
            <a:off x="6858000" y="1428750"/>
            <a:ext cx="4476750" cy="2476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200" b="0" i="0">
                <a:solidFill>
                  <a:srgbClr val="1F1F1F"/>
                </a:solidFill>
                <a:latin typeface="Calibri"/>
                <a:ea typeface="Microsoft YaHei"/>
              </a:rPr>
              <a:t>f(x)=x² ⇒ f′(x)=2x</a:t>
            </a:r>
          </a:p>
          <a:p>
            <a:pPr algn="l">
              <a:buNone/>
            </a:pPr>
            <a:r>
              <a:rPr lang="zh-CN" sz="2200" b="0" i="0">
                <a:solidFill>
                  <a:srgbClr val="1F1F1F"/>
                </a:solidFill>
                <a:latin typeface="Calibri"/>
                <a:ea typeface="Microsoft YaHei"/>
              </a:rPr>
              <a:t>k=f′(1)=2</a:t>
            </a:r>
          </a:p>
          <a:p>
            <a:pPr algn="l">
              <a:buNone/>
            </a:pPr>
            <a:r>
              <a:rPr lang="zh-CN" sz="2200" b="0" i="0">
                <a:solidFill>
                  <a:srgbClr val="1F1F1F"/>
                </a:solidFill>
                <a:latin typeface="Calibri"/>
                <a:ea typeface="Microsoft YaHei"/>
              </a:rPr>
              <a:t>切点 (1,1)</a:t>
            </a:r>
          </a:p>
          <a:p>
            <a:pPr algn="l">
              <a:buNone/>
            </a:pPr>
            <a:r>
              <a:rPr lang="zh-CN" sz="2200" b="0" i="0">
                <a:solidFill>
                  <a:srgbClr val="1F1F1F"/>
                </a:solidFill>
                <a:latin typeface="Calibri"/>
                <a:ea typeface="Microsoft YaHei"/>
              </a:rPr>
              <a:t>切线：y−1=2(x−1)</a:t>
            </a:r>
          </a:p>
          <a:p>
            <a:pPr algn="l">
              <a:buNone/>
            </a:pPr>
            <a:r>
              <a:rPr lang="zh-CN" sz="2200" b="0" i="0">
                <a:solidFill>
                  <a:srgbClr val="1F1F1F"/>
                </a:solidFill>
                <a:latin typeface="Calibri"/>
                <a:ea typeface="Microsoft YaHei"/>
              </a:rPr>
              <a:t>即 y=2x−1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例1 解答（详解）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求导：f′(x)=2x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斜率：k=f′(1)=2×1=2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切点：(1, 1)（已在曲线上）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点斜式：y−1=2(x−1) ⇒ y=2x−1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例2  过点作切线（切点未知）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求曲线 y=x² 过点 A(0,−1) 的切线方程</a:t>
            </a:r>
          </a:p>
          <a:p>
            <a:pPr algn="l" marL="285750" indent="-285750">
              <a:spcAft>
                <a:spcPts val="4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陷阱：A 不在曲线上，不能直接代！</a:t>
            </a:r>
          </a:p>
          <a:p>
            <a:pPr algn="l" marL="571500" indent="-285750" lvl="1">
              <a:spcAft>
                <a:spcPts val="400"/>
              </a:spcAft>
              <a:buClr>
                <a:srgbClr val="6B6B6B"/>
              </a:buClr>
              <a:buFont typeface="Arial"/>
              <a:buChar char="–"/>
            </a:pPr>
            <a:r>
              <a:rPr lang="zh-CN" sz="1400" b="0" i="0">
                <a:solidFill>
                  <a:srgbClr val="6B6B6B"/>
                </a:solidFill>
                <a:latin typeface="Calibri"/>
                <a:ea typeface="Microsoft YaHei"/>
              </a:rPr>
              <a:t>设切点 (t, t²) 为未知量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571500" y="323850"/>
            <a:ext cx="11049000" cy="419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例2  设切点 (t, t²)，两条切线</a:t>
            </a:r>
          </a:p>
        </p:txBody>
      </p:sp>
      <p:sp>
        <p:nvSpPr>
          <p:cNvPr id="11" name="bar11"/>
          <p:cNvSpPr/>
          <p:nvPr/>
        </p:nvSpPr>
        <p:spPr>
          <a:xfrm>
            <a:off x="571500" y="819150"/>
            <a:ext cx="66675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cxnSp>
        <p:nvCxnSpPr>
          <p:cNvPr id="12" name="line12"/>
          <p:cNvCxnSpPr/>
          <p:nvPr/>
        </p:nvCxnSpPr>
        <p:spPr>
          <a:xfrm>
            <a:off x="933450" y="4476750"/>
            <a:ext cx="5267325" cy="9525"/>
          </a:xfrm>
          <a:prstGeom prst="line">
            <a:avLst/>
          </a:prstGeom>
          <a:ln w="28575" cap="rnd">
            <a:solidFill>
              <a:srgbClr val="1F1F1F"/>
            </a:solidFill>
            <a:tailEnd type="triangle" w="med" len="med"/>
          </a:ln>
        </p:spPr>
      </p:cxnSp>
      <p:cxnSp>
        <p:nvCxnSpPr>
          <p:cNvPr id="13" name="line13"/>
          <p:cNvCxnSpPr/>
          <p:nvPr/>
        </p:nvCxnSpPr>
        <p:spPr>
          <a:xfrm flipV="1">
            <a:off x="3429000" y="2162175"/>
            <a:ext cx="9525" cy="3057525"/>
          </a:xfrm>
          <a:prstGeom prst="line">
            <a:avLst/>
          </a:prstGeom>
          <a:ln w="28575" cap="rnd">
            <a:solidFill>
              <a:srgbClr val="1F1F1F"/>
            </a:solidFill>
            <a:tailEnd type="triangle" w="med" len="med"/>
          </a:ln>
        </p:spPr>
      </p:cxnSp>
      <p:sp>
        <p:nvSpPr>
          <p:cNvPr id="14" name="text14"/>
          <p:cNvSpPr txBox="1"/>
          <p:nvPr/>
        </p:nvSpPr>
        <p:spPr>
          <a:xfrm>
            <a:off x="6057900" y="4552950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600" b="0" i="1">
                <a:solidFill>
                  <a:srgbClr val="1F1F1F"/>
                </a:solidFill>
                <a:latin typeface="Calibri"/>
                <a:ea typeface="Microsoft YaHei"/>
              </a:rPr>
              <a:t>x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3143250" y="2152650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600" b="0" i="1">
                <a:solidFill>
                  <a:srgbClr val="1F1F1F"/>
                </a:solidFill>
                <a:latin typeface="Calibri"/>
                <a:ea typeface="Microsoft YaHei"/>
              </a:rPr>
              <a:t>y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3181350" y="4533900"/>
            <a:ext cx="209550" cy="209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500" b="0" i="0">
                <a:solidFill>
                  <a:srgbClr val="1F1F1F"/>
                </a:solidFill>
                <a:latin typeface="Calibri"/>
                <a:ea typeface="Microsoft YaHei"/>
              </a:rPr>
              <a:t>O</a:t>
            </a:r>
          </a:p>
        </p:txBody>
      </p:sp>
      <p:sp>
        <p:nvSpPr>
          <p:cNvPr id="17" name="poly17"/>
          <p:cNvSpPr/>
          <p:nvPr/>
        </p:nvSpPr>
        <p:spPr>
          <a:xfrm>
            <a:off x="1352550" y="2362200"/>
            <a:ext cx="4152900" cy="2114550"/>
          </a:xfrm>
          <a:custGeom>
            <a:avLst/>
            <a:gdLst/>
            <a:ahLst/>
            <a:cxnLst/>
            <a:rect l="0" t="0" r="4152900" b="2114550"/>
            <a:pathLst>
              <a:path w="4152900" h="2114550">
                <a:moveTo>
                  <a:pt x="0" y="0"/>
                </a:moveTo>
                <a:lnTo>
                  <a:pt x="66675" y="133350"/>
                </a:lnTo>
                <a:lnTo>
                  <a:pt x="133350" y="266700"/>
                </a:lnTo>
                <a:lnTo>
                  <a:pt x="200025" y="400050"/>
                </a:lnTo>
                <a:lnTo>
                  <a:pt x="276225" y="523875"/>
                </a:lnTo>
                <a:lnTo>
                  <a:pt x="342900" y="647700"/>
                </a:lnTo>
                <a:lnTo>
                  <a:pt x="409575" y="762000"/>
                </a:lnTo>
                <a:lnTo>
                  <a:pt x="476250" y="866775"/>
                </a:lnTo>
                <a:lnTo>
                  <a:pt x="552450" y="981075"/>
                </a:lnTo>
                <a:lnTo>
                  <a:pt x="619125" y="1076325"/>
                </a:lnTo>
                <a:lnTo>
                  <a:pt x="685800" y="1171575"/>
                </a:lnTo>
                <a:lnTo>
                  <a:pt x="762000" y="1266825"/>
                </a:lnTo>
                <a:lnTo>
                  <a:pt x="828675" y="1352550"/>
                </a:lnTo>
                <a:lnTo>
                  <a:pt x="895350" y="1438275"/>
                </a:lnTo>
                <a:lnTo>
                  <a:pt x="962025" y="1514475"/>
                </a:lnTo>
                <a:lnTo>
                  <a:pt x="1038225" y="1581150"/>
                </a:lnTo>
                <a:lnTo>
                  <a:pt x="1104900" y="1657350"/>
                </a:lnTo>
                <a:lnTo>
                  <a:pt x="1171575" y="1714500"/>
                </a:lnTo>
                <a:lnTo>
                  <a:pt x="1247775" y="1771650"/>
                </a:lnTo>
                <a:lnTo>
                  <a:pt x="1314450" y="1828800"/>
                </a:lnTo>
                <a:lnTo>
                  <a:pt x="1381125" y="1876425"/>
                </a:lnTo>
                <a:lnTo>
                  <a:pt x="1447800" y="1924050"/>
                </a:lnTo>
                <a:lnTo>
                  <a:pt x="1524000" y="1962150"/>
                </a:lnTo>
                <a:lnTo>
                  <a:pt x="1590675" y="2000250"/>
                </a:lnTo>
                <a:lnTo>
                  <a:pt x="1657350" y="2028825"/>
                </a:lnTo>
                <a:lnTo>
                  <a:pt x="1733550" y="2057400"/>
                </a:lnTo>
                <a:lnTo>
                  <a:pt x="1800225" y="2076450"/>
                </a:lnTo>
                <a:lnTo>
                  <a:pt x="1866900" y="2095500"/>
                </a:lnTo>
                <a:lnTo>
                  <a:pt x="1933575" y="2105025"/>
                </a:lnTo>
                <a:lnTo>
                  <a:pt x="2009775" y="2114550"/>
                </a:lnTo>
                <a:lnTo>
                  <a:pt x="2076450" y="2114550"/>
                </a:lnTo>
                <a:lnTo>
                  <a:pt x="2143125" y="2114550"/>
                </a:lnTo>
                <a:lnTo>
                  <a:pt x="2219325" y="2105025"/>
                </a:lnTo>
                <a:lnTo>
                  <a:pt x="2286000" y="2095500"/>
                </a:lnTo>
                <a:lnTo>
                  <a:pt x="2352675" y="2076450"/>
                </a:lnTo>
                <a:lnTo>
                  <a:pt x="2419350" y="2057400"/>
                </a:lnTo>
                <a:lnTo>
                  <a:pt x="2495550" y="2028825"/>
                </a:lnTo>
                <a:lnTo>
                  <a:pt x="2562225" y="2000250"/>
                </a:lnTo>
                <a:lnTo>
                  <a:pt x="2628900" y="1962150"/>
                </a:lnTo>
                <a:lnTo>
                  <a:pt x="2705100" y="1924050"/>
                </a:lnTo>
                <a:lnTo>
                  <a:pt x="2771775" y="1876425"/>
                </a:lnTo>
                <a:lnTo>
                  <a:pt x="2838450" y="1828800"/>
                </a:lnTo>
                <a:lnTo>
                  <a:pt x="2905125" y="1771650"/>
                </a:lnTo>
                <a:lnTo>
                  <a:pt x="2981325" y="1714500"/>
                </a:lnTo>
                <a:lnTo>
                  <a:pt x="3048000" y="1657350"/>
                </a:lnTo>
                <a:lnTo>
                  <a:pt x="3114675" y="1581150"/>
                </a:lnTo>
                <a:lnTo>
                  <a:pt x="3190875" y="1514475"/>
                </a:lnTo>
                <a:lnTo>
                  <a:pt x="3257550" y="1438275"/>
                </a:lnTo>
                <a:lnTo>
                  <a:pt x="3324225" y="1352550"/>
                </a:lnTo>
                <a:lnTo>
                  <a:pt x="3390900" y="1266825"/>
                </a:lnTo>
                <a:lnTo>
                  <a:pt x="3467100" y="1171575"/>
                </a:lnTo>
                <a:lnTo>
                  <a:pt x="3533775" y="1076325"/>
                </a:lnTo>
                <a:lnTo>
                  <a:pt x="3600450" y="981075"/>
                </a:lnTo>
                <a:lnTo>
                  <a:pt x="3676650" y="866775"/>
                </a:lnTo>
                <a:lnTo>
                  <a:pt x="3743325" y="762000"/>
                </a:lnTo>
                <a:lnTo>
                  <a:pt x="3810000" y="647700"/>
                </a:lnTo>
                <a:lnTo>
                  <a:pt x="3876675" y="523875"/>
                </a:lnTo>
                <a:lnTo>
                  <a:pt x="3952875" y="400050"/>
                </a:lnTo>
                <a:lnTo>
                  <a:pt x="4019550" y="266700"/>
                </a:lnTo>
                <a:lnTo>
                  <a:pt x="4086225" y="133350"/>
                </a:lnTo>
                <a:lnTo>
                  <a:pt x="4152900" y="0"/>
                </a:lnTo>
              </a:path>
            </a:pathLst>
          </a:custGeom>
          <a:noFill/>
          <a:ln w="38100" cap="rnd">
            <a:solidFill>
              <a:srgbClr val="2563EB"/>
            </a:solidFill>
          </a:ln>
        </p:spPr>
        <p:txBody>
          <a:bodyPr/>
          <a:p/>
        </p:txBody>
      </p:sp>
      <p:sp>
        <p:nvSpPr>
          <p:cNvPr id="18" name="ell18"/>
          <p:cNvSpPr/>
          <p:nvPr/>
        </p:nvSpPr>
        <p:spPr>
          <a:xfrm>
            <a:off x="3362325" y="4810125"/>
            <a:ext cx="133350" cy="13335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</a:ln>
        </p:spPr>
        <p:txBody>
          <a:bodyPr/>
          <a:p/>
        </p:txBody>
      </p:sp>
      <p:sp>
        <p:nvSpPr>
          <p:cNvPr id="19" name="text19"/>
          <p:cNvSpPr txBox="1"/>
          <p:nvPr/>
        </p:nvSpPr>
        <p:spPr>
          <a:xfrm>
            <a:off x="3524250" y="4933950"/>
            <a:ext cx="152400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600" b="1" i="0">
                <a:solidFill>
                  <a:srgbClr val="1F1F1F"/>
                </a:solidFill>
                <a:latin typeface="Calibri"/>
                <a:ea typeface="Microsoft YaHei"/>
              </a:rPr>
              <a:t>A(0,−1)</a:t>
            </a:r>
          </a:p>
        </p:txBody>
      </p:sp>
      <p:sp>
        <p:nvSpPr>
          <p:cNvPr id="20" name="ell20"/>
          <p:cNvSpPr/>
          <p:nvPr/>
        </p:nvSpPr>
        <p:spPr>
          <a:xfrm>
            <a:off x="4276725" y="4019550"/>
            <a:ext cx="114300" cy="114300"/>
          </a:xfrm>
          <a:prstGeom prst="ellipse">
            <a:avLst/>
          </a:prstGeom>
          <a:solidFill>
            <a:srgbClr val="D64545"/>
          </a:solidFill>
          <a:ln w="9525">
            <a:solidFill>
              <a:srgbClr val="D64545"/>
            </a:solidFill>
          </a:ln>
        </p:spPr>
        <p:txBody>
          <a:bodyPr/>
          <a:p/>
        </p:txBody>
      </p:sp>
      <p:cxnSp>
        <p:nvCxnSpPr>
          <p:cNvPr id="21" name="line21"/>
          <p:cNvCxnSpPr/>
          <p:nvPr/>
        </p:nvCxnSpPr>
        <p:spPr>
          <a:xfrm flipV="1">
            <a:off x="2886075" y="3752850"/>
            <a:ext cx="1809750" cy="1600200"/>
          </a:xfrm>
          <a:prstGeom prst="line">
            <a:avLst/>
          </a:prstGeom>
          <a:ln w="28575" cap="rnd">
            <a:solidFill>
              <a:srgbClr val="D64545"/>
            </a:solidFill>
          </a:ln>
        </p:spPr>
      </p:cxnSp>
      <p:sp>
        <p:nvSpPr>
          <p:cNvPr id="22" name="ell22"/>
          <p:cNvSpPr/>
          <p:nvPr/>
        </p:nvSpPr>
        <p:spPr>
          <a:xfrm>
            <a:off x="2466975" y="4019550"/>
            <a:ext cx="114300" cy="114300"/>
          </a:xfrm>
          <a:prstGeom prst="ellipse">
            <a:avLst/>
          </a:prstGeom>
          <a:solidFill>
            <a:srgbClr val="D64545"/>
          </a:solidFill>
          <a:ln w="9525">
            <a:solidFill>
              <a:srgbClr val="D64545"/>
            </a:solidFill>
          </a:ln>
        </p:spPr>
        <p:txBody>
          <a:bodyPr/>
          <a:p/>
        </p:txBody>
      </p:sp>
      <p:cxnSp>
        <p:nvCxnSpPr>
          <p:cNvPr id="23" name="line23"/>
          <p:cNvCxnSpPr/>
          <p:nvPr/>
        </p:nvCxnSpPr>
        <p:spPr>
          <a:xfrm>
            <a:off x="1076325" y="2800350"/>
            <a:ext cx="1809750" cy="1600200"/>
          </a:xfrm>
          <a:prstGeom prst="line">
            <a:avLst/>
          </a:prstGeom>
          <a:ln w="28575" cap="rnd">
            <a:solidFill>
              <a:srgbClr val="D64545"/>
            </a:solidFill>
          </a:ln>
        </p:spPr>
      </p:cxnSp>
      <p:sp>
        <p:nvSpPr>
          <p:cNvPr id="24" name="text24"/>
          <p:cNvSpPr txBox="1"/>
          <p:nvPr/>
        </p:nvSpPr>
        <p:spPr>
          <a:xfrm>
            <a:off x="6858000" y="3429000"/>
            <a:ext cx="4476750" cy="1143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900" b="0" i="0">
                <a:solidFill>
                  <a:srgbClr val="A07520"/>
                </a:solidFill>
                <a:latin typeface="Calibri"/>
                <a:ea typeface="Microsoft YaHei"/>
              </a:rPr>
              <a:t>切线过 A：t²−(−1)=2t·(t−0)</a:t>
            </a:r>
          </a:p>
          <a:p>
            <a:pPr algn="l">
              <a:buNone/>
            </a:pPr>
            <a:r>
              <a:rPr lang="zh-CN" sz="1900" b="0" i="0">
                <a:solidFill>
                  <a:srgbClr val="A07520"/>
                </a:solidFill>
                <a:latin typeface="Calibri"/>
                <a:ea typeface="Microsoft YaHei"/>
              </a:rPr>
              <a:t>解得 t=±1</a:t>
            </a:r>
          </a:p>
          <a:p>
            <a:pPr algn="l">
              <a:buNone/>
            </a:pPr>
            <a:r>
              <a:rPr lang="zh-CN" sz="1900" b="0" i="0">
                <a:solidFill>
                  <a:srgbClr val="A07520"/>
                </a:solidFill>
                <a:latin typeface="Calibri"/>
                <a:ea typeface="Microsoft YaHei"/>
              </a:rPr>
              <a:t>两条切线：y=2x−1，y=−2x−1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例2 解答（详解）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设切点 P(t, t²)，斜率 k=2t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切线：y−t²=2t(x−t)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过 A(0,−1)：−1−t²=2t(0−t) ⇒ −1−t²=−2t² ⇒ t²=1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t=±1 ⇒ 两条切线 y=2x−1 与 y=−2x−1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400" b="1" i="0">
                <a:solidFill>
                  <a:srgbClr val="A07520"/>
                </a:solidFill>
                <a:latin typeface="Calibri"/>
                <a:ea typeface="Microsoft YaHei"/>
              </a:rPr>
              <a:t>环节五 · 巩固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400" b="1" i="0">
                <a:solidFill>
                  <a:srgbClr val="1F1F1F"/>
                </a:solidFill>
                <a:latin typeface="Calibri"/>
                <a:ea typeface="Microsoft YaHei"/>
              </a:rPr>
              <a:t>五、变式与易错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‘在’与‘过’一字之差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3D8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1700" b="1" i="0">
                <a:solidFill>
                  <a:srgbClr val="A07520"/>
                </a:solidFill>
                <a:latin typeface="Calibri"/>
                <a:ea typeface="Microsoft YaHei"/>
              </a:rPr>
              <a:t>在某点处的切线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500" b="0" i="0">
                <a:solidFill>
                  <a:srgbClr val="1F1F1F"/>
                </a:solidFill>
                <a:latin typeface="Calibri"/>
                <a:ea typeface="Microsoft YaHei"/>
              </a:rPr>
              <a:t>点一定是切点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500" b="0" i="0">
                <a:solidFill>
                  <a:srgbClr val="1F1F1F"/>
                </a:solidFill>
                <a:latin typeface="Calibri"/>
                <a:ea typeface="Microsoft YaHei"/>
              </a:rPr>
              <a:t>直接求 f′(x₀)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500" b="0" i="0">
                <a:solidFill>
                  <a:srgbClr val="1F1F1F"/>
                </a:solidFill>
                <a:latin typeface="Calibri"/>
                <a:ea typeface="Microsoft YaHei"/>
              </a:rPr>
              <a:t>唯一一条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3D8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1700" b="1" i="0">
                <a:solidFill>
                  <a:srgbClr val="A07520"/>
                </a:solidFill>
                <a:latin typeface="Calibri"/>
                <a:ea typeface="Microsoft YaHei"/>
              </a:rPr>
              <a:t>过某点的切线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500" b="0" i="0">
                <a:solidFill>
                  <a:srgbClr val="1F1F1F"/>
                </a:solidFill>
                <a:latin typeface="Calibri"/>
                <a:ea typeface="Microsoft YaHei"/>
              </a:rPr>
              <a:t>点未必是切点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500" b="0" i="0">
                <a:solidFill>
                  <a:srgbClr val="1F1F1F"/>
                </a:solidFill>
                <a:latin typeface="Calibri"/>
                <a:ea typeface="Microsoft YaHei"/>
              </a:rPr>
              <a:t>设切点参数 t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500" b="0" i="0">
                <a:solidFill>
                  <a:srgbClr val="1F1F1F"/>
                </a:solidFill>
                <a:latin typeface="Calibri"/>
                <a:ea typeface="Microsoft YaHei"/>
              </a:rPr>
              <a:t>可能多条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易错清单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忘记验证给定点是否在曲线上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只求斜率不写切点坐标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把‘公共点唯一’当切线定义（对一般曲线错）</a:t>
            </a:r>
          </a:p>
          <a:p>
            <a:pPr algn="l" marL="285750" indent="-285750">
              <a:spcAft>
                <a:spcPts val="4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导数值 f′(x₀) 与函数值 f(x₀) 混淆</a:t>
            </a:r>
          </a:p>
          <a:p>
            <a:pPr algn="l" marL="571500" indent="-285750" lvl="1">
              <a:spcAft>
                <a:spcPts val="400"/>
              </a:spcAft>
              <a:buClr>
                <a:srgbClr val="6B6B6B"/>
              </a:buClr>
              <a:buFont typeface="Arial"/>
              <a:buChar char="–"/>
            </a:pPr>
            <a:r>
              <a:rPr lang="zh-CN" sz="1400" b="0" i="0">
                <a:solidFill>
                  <a:srgbClr val="6B6B6B"/>
                </a:solidFill>
                <a:latin typeface="Calibri"/>
                <a:ea typeface="Microsoft YaHei"/>
              </a:rPr>
              <a:t>前者是斜率，后者是切点高度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课堂练习（先独立完成）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① 求 y=x²−2x 在 x=2 处的切线方程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② 求 y=√x 在 (1,1) 处的切线（提示 f′=1/(2√x)）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③ 过原点作 y=x²+1 的切线，求切线方程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571500" y="323850"/>
            <a:ext cx="11049000" cy="419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练习①  y=x²−2x 在 x=2 处</a:t>
            </a:r>
          </a:p>
        </p:txBody>
      </p:sp>
      <p:sp>
        <p:nvSpPr>
          <p:cNvPr id="11" name="bar11"/>
          <p:cNvSpPr/>
          <p:nvPr/>
        </p:nvSpPr>
        <p:spPr>
          <a:xfrm>
            <a:off x="571500" y="819150"/>
            <a:ext cx="66675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cxnSp>
        <p:nvCxnSpPr>
          <p:cNvPr id="12" name="line12"/>
          <p:cNvCxnSpPr/>
          <p:nvPr/>
        </p:nvCxnSpPr>
        <p:spPr>
          <a:xfrm>
            <a:off x="2371725" y="4953000"/>
            <a:ext cx="4362450" cy="9525"/>
          </a:xfrm>
          <a:prstGeom prst="line">
            <a:avLst/>
          </a:prstGeom>
          <a:ln w="28575" cap="rnd">
            <a:solidFill>
              <a:srgbClr val="1F1F1F"/>
            </a:solidFill>
            <a:tailEnd type="triangle" w="med" len="med"/>
          </a:ln>
        </p:spPr>
      </p:cxnSp>
      <p:cxnSp>
        <p:nvCxnSpPr>
          <p:cNvPr id="13" name="line13"/>
          <p:cNvCxnSpPr/>
          <p:nvPr/>
        </p:nvCxnSpPr>
        <p:spPr>
          <a:xfrm flipV="1">
            <a:off x="3238500" y="3067050"/>
            <a:ext cx="9525" cy="2762250"/>
          </a:xfrm>
          <a:prstGeom prst="line">
            <a:avLst/>
          </a:prstGeom>
          <a:ln w="28575" cap="rnd">
            <a:solidFill>
              <a:srgbClr val="1F1F1F"/>
            </a:solidFill>
            <a:tailEnd type="triangle" w="med" len="med"/>
          </a:ln>
        </p:spPr>
      </p:cxnSp>
      <p:sp>
        <p:nvSpPr>
          <p:cNvPr id="14" name="text14"/>
          <p:cNvSpPr txBox="1"/>
          <p:nvPr/>
        </p:nvSpPr>
        <p:spPr>
          <a:xfrm>
            <a:off x="6591300" y="5029200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600" b="0" i="1">
                <a:solidFill>
                  <a:srgbClr val="1F1F1F"/>
                </a:solidFill>
                <a:latin typeface="Calibri"/>
                <a:ea typeface="Microsoft YaHei"/>
              </a:rPr>
              <a:t>x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2952750" y="3057525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600" b="0" i="1">
                <a:solidFill>
                  <a:srgbClr val="1F1F1F"/>
                </a:solidFill>
                <a:latin typeface="Calibri"/>
                <a:ea typeface="Microsoft YaHei"/>
              </a:rPr>
              <a:t>y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2990850" y="5010150"/>
            <a:ext cx="209550" cy="209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500" b="0" i="0">
                <a:solidFill>
                  <a:srgbClr val="1F1F1F"/>
                </a:solidFill>
                <a:latin typeface="Calibri"/>
                <a:ea typeface="Microsoft YaHei"/>
              </a:rPr>
              <a:t>O</a:t>
            </a:r>
          </a:p>
        </p:txBody>
      </p:sp>
      <p:sp>
        <p:nvSpPr>
          <p:cNvPr id="17" name="poly17"/>
          <p:cNvSpPr/>
          <p:nvPr/>
        </p:nvSpPr>
        <p:spPr>
          <a:xfrm>
            <a:off x="2781300" y="2990850"/>
            <a:ext cx="3448050" cy="2419350"/>
          </a:xfrm>
          <a:custGeom>
            <a:avLst/>
            <a:gdLst/>
            <a:ahLst/>
            <a:cxnLst/>
            <a:rect l="0" t="0" r="3448050" b="2419350"/>
            <a:pathLst>
              <a:path w="3448050" h="2419350">
                <a:moveTo>
                  <a:pt x="0" y="1390650"/>
                </a:moveTo>
                <a:lnTo>
                  <a:pt x="66675" y="1476375"/>
                </a:lnTo>
                <a:lnTo>
                  <a:pt x="123825" y="1552575"/>
                </a:lnTo>
                <a:lnTo>
                  <a:pt x="180975" y="1638300"/>
                </a:lnTo>
                <a:lnTo>
                  <a:pt x="238125" y="1704975"/>
                </a:lnTo>
                <a:lnTo>
                  <a:pt x="295275" y="1781175"/>
                </a:lnTo>
                <a:lnTo>
                  <a:pt x="352425" y="1847850"/>
                </a:lnTo>
                <a:lnTo>
                  <a:pt x="409575" y="1905000"/>
                </a:lnTo>
                <a:lnTo>
                  <a:pt x="466725" y="1971675"/>
                </a:lnTo>
                <a:lnTo>
                  <a:pt x="523875" y="2019300"/>
                </a:lnTo>
                <a:lnTo>
                  <a:pt x="581025" y="2076450"/>
                </a:lnTo>
                <a:lnTo>
                  <a:pt x="638175" y="2124075"/>
                </a:lnTo>
                <a:lnTo>
                  <a:pt x="695325" y="2171700"/>
                </a:lnTo>
                <a:lnTo>
                  <a:pt x="752475" y="2209800"/>
                </a:lnTo>
                <a:lnTo>
                  <a:pt x="809625" y="2247900"/>
                </a:lnTo>
                <a:lnTo>
                  <a:pt x="866775" y="2276475"/>
                </a:lnTo>
                <a:lnTo>
                  <a:pt x="923925" y="2314575"/>
                </a:lnTo>
                <a:lnTo>
                  <a:pt x="981075" y="2333625"/>
                </a:lnTo>
                <a:lnTo>
                  <a:pt x="1038225" y="2362200"/>
                </a:lnTo>
                <a:lnTo>
                  <a:pt x="1095375" y="2381250"/>
                </a:lnTo>
                <a:lnTo>
                  <a:pt x="1152525" y="2390775"/>
                </a:lnTo>
                <a:lnTo>
                  <a:pt x="1209675" y="2409825"/>
                </a:lnTo>
                <a:lnTo>
                  <a:pt x="1266825" y="2409825"/>
                </a:lnTo>
                <a:lnTo>
                  <a:pt x="1323975" y="2419350"/>
                </a:lnTo>
                <a:lnTo>
                  <a:pt x="1381125" y="2419350"/>
                </a:lnTo>
                <a:lnTo>
                  <a:pt x="1438275" y="2419350"/>
                </a:lnTo>
                <a:lnTo>
                  <a:pt x="1495425" y="2409825"/>
                </a:lnTo>
                <a:lnTo>
                  <a:pt x="1552575" y="2400300"/>
                </a:lnTo>
                <a:lnTo>
                  <a:pt x="1609725" y="2381250"/>
                </a:lnTo>
                <a:lnTo>
                  <a:pt x="1666875" y="2371725"/>
                </a:lnTo>
                <a:lnTo>
                  <a:pt x="1724025" y="2343150"/>
                </a:lnTo>
                <a:lnTo>
                  <a:pt x="1781175" y="2324100"/>
                </a:lnTo>
                <a:lnTo>
                  <a:pt x="1838325" y="2295525"/>
                </a:lnTo>
                <a:lnTo>
                  <a:pt x="1895475" y="2257425"/>
                </a:lnTo>
                <a:lnTo>
                  <a:pt x="1952625" y="2228850"/>
                </a:lnTo>
                <a:lnTo>
                  <a:pt x="2009775" y="2181225"/>
                </a:lnTo>
                <a:lnTo>
                  <a:pt x="2066925" y="2143125"/>
                </a:lnTo>
                <a:lnTo>
                  <a:pt x="2124075" y="2095500"/>
                </a:lnTo>
                <a:lnTo>
                  <a:pt x="2181225" y="2047875"/>
                </a:lnTo>
                <a:lnTo>
                  <a:pt x="2238375" y="1990725"/>
                </a:lnTo>
                <a:lnTo>
                  <a:pt x="2295525" y="1933575"/>
                </a:lnTo>
                <a:lnTo>
                  <a:pt x="2352675" y="1866900"/>
                </a:lnTo>
                <a:lnTo>
                  <a:pt x="2409825" y="1800225"/>
                </a:lnTo>
                <a:lnTo>
                  <a:pt x="2466975" y="1733550"/>
                </a:lnTo>
                <a:lnTo>
                  <a:pt x="2524125" y="1666875"/>
                </a:lnTo>
                <a:lnTo>
                  <a:pt x="2581275" y="1590675"/>
                </a:lnTo>
                <a:lnTo>
                  <a:pt x="2638425" y="1504950"/>
                </a:lnTo>
                <a:lnTo>
                  <a:pt x="2695575" y="1419225"/>
                </a:lnTo>
                <a:lnTo>
                  <a:pt x="2752725" y="1333500"/>
                </a:lnTo>
                <a:lnTo>
                  <a:pt x="2809875" y="1247775"/>
                </a:lnTo>
                <a:lnTo>
                  <a:pt x="2867025" y="1152525"/>
                </a:lnTo>
                <a:lnTo>
                  <a:pt x="2924175" y="1047750"/>
                </a:lnTo>
                <a:lnTo>
                  <a:pt x="2981325" y="952500"/>
                </a:lnTo>
                <a:lnTo>
                  <a:pt x="3038475" y="847725"/>
                </a:lnTo>
                <a:lnTo>
                  <a:pt x="3095625" y="733425"/>
                </a:lnTo>
                <a:lnTo>
                  <a:pt x="3152775" y="619125"/>
                </a:lnTo>
                <a:lnTo>
                  <a:pt x="3209925" y="504825"/>
                </a:lnTo>
                <a:lnTo>
                  <a:pt x="3267075" y="381000"/>
                </a:lnTo>
                <a:lnTo>
                  <a:pt x="3324225" y="257175"/>
                </a:lnTo>
                <a:lnTo>
                  <a:pt x="3381375" y="133350"/>
                </a:lnTo>
                <a:lnTo>
                  <a:pt x="3448050" y="0"/>
                </a:lnTo>
              </a:path>
            </a:pathLst>
          </a:custGeom>
          <a:noFill/>
          <a:ln w="38100" cap="rnd">
            <a:solidFill>
              <a:srgbClr val="2563EB"/>
            </a:solidFill>
          </a:ln>
        </p:spPr>
        <p:txBody>
          <a:bodyPr/>
          <a:p/>
        </p:txBody>
      </p:sp>
      <p:sp>
        <p:nvSpPr>
          <p:cNvPr id="18" name="ell18"/>
          <p:cNvSpPr/>
          <p:nvPr/>
        </p:nvSpPr>
        <p:spPr>
          <a:xfrm>
            <a:off x="4981575" y="4886325"/>
            <a:ext cx="133350" cy="133350"/>
          </a:xfrm>
          <a:prstGeom prst="ellipse">
            <a:avLst/>
          </a:prstGeom>
          <a:solidFill>
            <a:srgbClr val="111111"/>
          </a:solidFill>
          <a:ln w="9525">
            <a:solidFill>
              <a:srgbClr val="111111"/>
            </a:solidFill>
          </a:ln>
        </p:spPr>
        <p:txBody>
          <a:bodyPr/>
          <a:p/>
        </p:txBody>
      </p:sp>
      <p:sp>
        <p:nvSpPr>
          <p:cNvPr id="19" name="text19"/>
          <p:cNvSpPr txBox="1"/>
          <p:nvPr/>
        </p:nvSpPr>
        <p:spPr>
          <a:xfrm>
            <a:off x="5124450" y="5029200"/>
            <a:ext cx="152400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600" b="1" i="0">
                <a:solidFill>
                  <a:srgbClr val="1F1F1F"/>
                </a:solidFill>
                <a:latin typeface="Calibri"/>
                <a:ea typeface="Microsoft YaHei"/>
              </a:rPr>
              <a:t>(2,0)</a:t>
            </a:r>
          </a:p>
        </p:txBody>
      </p:sp>
      <p:cxnSp>
        <p:nvCxnSpPr>
          <p:cNvPr id="20" name="line20"/>
          <p:cNvCxnSpPr/>
          <p:nvPr/>
        </p:nvCxnSpPr>
        <p:spPr>
          <a:xfrm flipV="1">
            <a:off x="3781425" y="4038600"/>
            <a:ext cx="2171700" cy="2190750"/>
          </a:xfrm>
          <a:prstGeom prst="line">
            <a:avLst/>
          </a:prstGeom>
          <a:ln w="38100" cap="rnd">
            <a:solidFill>
              <a:srgbClr val="D64545"/>
            </a:solidFill>
          </a:ln>
        </p:spPr>
      </p:cxnSp>
      <p:sp>
        <p:nvSpPr>
          <p:cNvPr id="21" name="text21"/>
          <p:cNvSpPr txBox="1"/>
          <p:nvPr/>
        </p:nvSpPr>
        <p:spPr>
          <a:xfrm>
            <a:off x="6858000" y="1905000"/>
            <a:ext cx="4476750" cy="152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100" b="0" i="0">
                <a:solidFill>
                  <a:srgbClr val="1F1F1F"/>
                </a:solidFill>
                <a:latin typeface="Calibri"/>
                <a:ea typeface="Microsoft YaHei"/>
              </a:rPr>
              <a:t>f′(x)=2x−2</a:t>
            </a:r>
          </a:p>
          <a:p>
            <a:pPr algn="l">
              <a:buNone/>
            </a:pPr>
            <a:r>
              <a:rPr lang="zh-CN" sz="2100" b="0" i="0">
                <a:solidFill>
                  <a:srgbClr val="1F1F1F"/>
                </a:solidFill>
                <a:latin typeface="Calibri"/>
                <a:ea typeface="Microsoft YaHei"/>
              </a:rPr>
              <a:t>k=f′(2)=2</a:t>
            </a:r>
          </a:p>
          <a:p>
            <a:pPr algn="l">
              <a:buNone/>
            </a:pPr>
            <a:r>
              <a:rPr lang="zh-CN" sz="2100" b="0" i="0">
                <a:solidFill>
                  <a:srgbClr val="1F1F1F"/>
                </a:solidFill>
                <a:latin typeface="Calibri"/>
                <a:ea typeface="Microsoft YaHei"/>
              </a:rPr>
              <a:t>切点 (2,0)</a:t>
            </a:r>
          </a:p>
          <a:p>
            <a:pPr algn="l">
              <a:buNone/>
            </a:pPr>
            <a:r>
              <a:rPr lang="zh-CN" sz="2100" b="0" i="0">
                <a:solidFill>
                  <a:srgbClr val="1F1F1F"/>
                </a:solidFill>
                <a:latin typeface="Calibri"/>
                <a:ea typeface="Microsoft YaHei"/>
              </a:rPr>
              <a:t>y=2(x−2)=2x−4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Class="entr" presetID="10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presetID="10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这节课的三个数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3D8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525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4400" b="1" i="0">
                <a:solidFill>
                  <a:srgbClr val="A07520"/>
                </a:solidFill>
                <a:latin typeface="Calibri"/>
                <a:ea typeface="Microsoft YaHei"/>
              </a:rPr>
              <a:t>f′(x₀)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1600" b="1" i="0">
                <a:solidFill>
                  <a:srgbClr val="1F1F1F"/>
                </a:solidFill>
                <a:latin typeface="Calibri"/>
                <a:ea typeface="Microsoft YaHei"/>
              </a:rPr>
              <a:t>切线斜率</a:t>
            </a:r>
          </a:p>
          <a:p>
            <a:pPr algn="ctr">
              <a:buNone/>
            </a:pPr>
            <a:r>
              <a:rPr lang="zh-CN" sz="1200" b="0" i="0">
                <a:solidFill>
                  <a:srgbClr val="6B6B6B"/>
                </a:solidFill>
                <a:latin typeface="Calibri"/>
                <a:ea typeface="Microsoft YaHei"/>
              </a:rPr>
              <a:t>导数的几何意义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3D8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59105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4400" b="1" i="0">
                <a:solidFill>
                  <a:srgbClr val="A07520"/>
                </a:solidFill>
                <a:latin typeface="Calibri"/>
                <a:ea typeface="Microsoft YaHei"/>
              </a:rPr>
              <a:t>3步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1600" b="1" i="0">
                <a:solidFill>
                  <a:srgbClr val="1F1F1F"/>
                </a:solidFill>
                <a:latin typeface="Calibri"/>
                <a:ea typeface="Microsoft YaHei"/>
              </a:rPr>
              <a:t>求切线</a:t>
            </a:r>
          </a:p>
          <a:p>
            <a:pPr algn="ctr">
              <a:buNone/>
            </a:pPr>
            <a:r>
              <a:rPr lang="zh-CN" sz="1200" b="0" i="0">
                <a:solidFill>
                  <a:srgbClr val="6B6B6B"/>
                </a:solidFill>
                <a:latin typeface="Calibri"/>
                <a:ea typeface="Microsoft YaHei"/>
              </a:rPr>
              <a:t>导→斜率→点斜式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3D8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296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4400" b="1" i="0">
                <a:solidFill>
                  <a:srgbClr val="A07520"/>
                </a:solidFill>
                <a:latin typeface="Calibri"/>
                <a:ea typeface="Microsoft YaHei"/>
              </a:rPr>
              <a:t>Δx→0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1600" b="1" i="0">
                <a:solidFill>
                  <a:srgbClr val="1F1F1F"/>
                </a:solidFill>
                <a:latin typeface="Calibri"/>
                <a:ea typeface="Microsoft YaHei"/>
              </a:rPr>
              <a:t>极限思想</a:t>
            </a:r>
          </a:p>
          <a:p>
            <a:pPr algn="ctr">
              <a:buNone/>
            </a:pPr>
            <a:r>
              <a:rPr lang="zh-CN" sz="1200" b="0" i="0">
                <a:solidFill>
                  <a:srgbClr val="6B6B6B"/>
                </a:solidFill>
                <a:latin typeface="Calibri"/>
                <a:ea typeface="Microsoft YaHei"/>
              </a:rPr>
              <a:t>割线→切线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知识脉络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2009775" y="2381250"/>
            <a:ext cx="8172450" cy="28575"/>
          </a:xfrm>
          <a:prstGeom prst="rect">
            <a:avLst/>
          </a:prstGeom>
          <a:solidFill>
            <a:srgbClr val="E6E3D8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800225" y="2190750"/>
            <a:ext cx="419100" cy="419100"/>
          </a:xfrm>
          <a:prstGeom prst="ellipse">
            <a:avLst/>
          </a:prstGeom>
          <a:solidFill>
            <a:srgbClr val="A07520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1600" b="1" i="0">
                <a:solidFill>
                  <a:srgbClr val="1F1F1F"/>
                </a:solidFill>
                <a:latin typeface="Calibri"/>
                <a:ea typeface="Microsoft YaHei"/>
              </a:rPr>
              <a:t>平均变化率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1300" b="0" i="0">
                <a:solidFill>
                  <a:srgbClr val="6B6B6B"/>
                </a:solidFill>
                <a:latin typeface="Calibri"/>
                <a:ea typeface="Microsoft YaHei"/>
              </a:rPr>
              <a:t>Δy/Δx 割线斜率</a:t>
            </a:r>
          </a:p>
        </p:txBody>
      </p:sp>
      <p:sp>
        <p:nvSpPr>
          <p:cNvPr id="15" name="step15"/>
          <p:cNvSpPr/>
          <p:nvPr/>
        </p:nvSpPr>
        <p:spPr>
          <a:xfrm>
            <a:off x="4524375" y="2190750"/>
            <a:ext cx="419100" cy="419100"/>
          </a:xfrm>
          <a:prstGeom prst="ellipse">
            <a:avLst/>
          </a:prstGeom>
          <a:solidFill>
            <a:srgbClr val="A07520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34861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1600" b="1" i="0">
                <a:solidFill>
                  <a:srgbClr val="1F1F1F"/>
                </a:solidFill>
                <a:latin typeface="Calibri"/>
                <a:ea typeface="Microsoft YaHei"/>
              </a:rPr>
              <a:t>取极限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1300" b="0" i="0">
                <a:solidFill>
                  <a:srgbClr val="6B6B6B"/>
                </a:solidFill>
                <a:latin typeface="Calibri"/>
                <a:ea typeface="Microsoft YaHei"/>
              </a:rPr>
              <a:t>Δx→0</a:t>
            </a:r>
          </a:p>
        </p:txBody>
      </p:sp>
      <p:sp>
        <p:nvSpPr>
          <p:cNvPr id="17" name="step17"/>
          <p:cNvSpPr/>
          <p:nvPr/>
        </p:nvSpPr>
        <p:spPr>
          <a:xfrm>
            <a:off x="7248525" y="2190750"/>
            <a:ext cx="419100" cy="419100"/>
          </a:xfrm>
          <a:prstGeom prst="ellipse">
            <a:avLst/>
          </a:prstGeom>
          <a:solidFill>
            <a:srgbClr val="A07520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62103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1600" b="1" i="0">
                <a:solidFill>
                  <a:srgbClr val="1F1F1F"/>
                </a:solidFill>
                <a:latin typeface="Calibri"/>
                <a:ea typeface="Microsoft YaHei"/>
              </a:rPr>
              <a:t>瞬时变化率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1300" b="0" i="0">
                <a:solidFill>
                  <a:srgbClr val="6B6B6B"/>
                </a:solidFill>
                <a:latin typeface="Calibri"/>
                <a:ea typeface="Microsoft YaHei"/>
              </a:rPr>
              <a:t>f′(x₀)</a:t>
            </a:r>
          </a:p>
        </p:txBody>
      </p:sp>
      <p:sp>
        <p:nvSpPr>
          <p:cNvPr id="19" name="step19"/>
          <p:cNvSpPr/>
          <p:nvPr/>
        </p:nvSpPr>
        <p:spPr>
          <a:xfrm>
            <a:off x="9972675" y="2190750"/>
            <a:ext cx="419100" cy="419100"/>
          </a:xfrm>
          <a:prstGeom prst="ellipse">
            <a:avLst/>
          </a:prstGeom>
          <a:solidFill>
            <a:srgbClr val="A07520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89344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1600" b="1" i="0">
                <a:solidFill>
                  <a:srgbClr val="1F1F1F"/>
                </a:solidFill>
                <a:latin typeface="Calibri"/>
                <a:ea typeface="Microsoft YaHei"/>
              </a:rPr>
              <a:t>几何意义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1300" b="0" i="0">
                <a:solidFill>
                  <a:srgbClr val="6B6B6B"/>
                </a:solidFill>
                <a:latin typeface="Calibri"/>
                <a:ea typeface="Microsoft YaHei"/>
              </a:rPr>
              <a:t>切线斜率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课堂小结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切线是割线的极限位置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f′(x₀)=切线斜率=tanα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求切线三步：求导→斜率→点斜式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‘在’与‘过’要分清，切点未知设参数 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2600" b="1" i="0">
                <a:solidFill>
                  <a:srgbClr val="1F1F1F"/>
                </a:solidFill>
                <a:latin typeface="Calibri"/>
                <a:ea typeface="Microsoft YaHei"/>
              </a:rPr>
              <a:t>作业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课本 P__ 习题：求切线方程 4 题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思考：f′(x₀)=0 的几何意义是什么？举一例</a:t>
            </a:r>
          </a:p>
          <a:p>
            <a:pPr algn="l" marL="285750" indent="-285750">
              <a:spcAft>
                <a:spcPts val="800"/>
              </a:spcAft>
              <a:buClr>
                <a:srgbClr val="A07520"/>
              </a:buClr>
              <a:buFont typeface="Arial"/>
              <a:buChar char="•"/>
            </a:pPr>
            <a:r>
              <a:rPr lang="zh-CN" sz="1700" b="0" i="0">
                <a:solidFill>
                  <a:srgbClr val="1F1F1F"/>
                </a:solidFill>
                <a:latin typeface="Calibri"/>
                <a:ea typeface="Microsoft YaHei"/>
              </a:rPr>
              <a:t>预习：导数与函数单调性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F6F5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4000" b="1" i="0">
                <a:solidFill>
                  <a:srgbClr val="1F1F1F"/>
                </a:solidFill>
                <a:latin typeface="Calibri"/>
                <a:ea typeface="Microsoft YaHei"/>
              </a:rPr>
              <a:t>下节：导数与单调性</a:t>
            </a:r>
          </a:p>
        </p:txBody>
      </p:sp>
      <p:sp>
        <p:nvSpPr>
          <p:cNvPr id="11" name="bar11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A07520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0" i="0">
                <a:solidFill>
                  <a:srgbClr val="6B6B6B"/>
                </a:solidFill>
                <a:latin typeface="Calibri"/>
                <a:ea typeface="Microsoft YaHei"/>
              </a:rPr>
              <a:t>斜率的正负 → 函数的升降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