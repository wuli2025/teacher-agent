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开场不急着报课题。先让全班安静十秒，把手指按在颈侧或手腕上，数自己的脉搏。数完问一句：刚才这十秒，你的心脏跳了大约十次，它在把什么送到哪里去？</a:t>
            </a:r>
          </a:p>
          <a:p>
            <a:r>
              <a:rPr lang="zh-CN"/>
              <a:t/>
            </a:r>
          </a:p>
          <a:p>
            <a:r>
              <a:rPr lang="zh-CN"/>
              <a:t>设计意图：把"血液循环"从课本名词拉回学生自己的身体。学生对心脏的已有印象往往只有"跳动"，没有"路线"，本节课要补的正是路线。</a:t>
            </a:r>
          </a:p>
          <a:p>
            <a:r>
              <a:rPr lang="zh-CN"/>
              <a:t/>
            </a:r>
          </a:p>
          <a:p>
            <a:r>
              <a:rPr lang="zh-CN"/>
              <a:t>过渡语：心脏一刻不停地跳，跳了十几年了。它到底在忙什么？为什么它一停，人几分钟就没了？今天我们跟着一滴血走完全程。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这三个数字是本课的"本质问题"入口，不要一口气念完，一个一个抛。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第一个数，让学生对照刚才自己数的脉搏，多数人在 60~100 之间，说明这是活体数据不是课本数据。</a:t>
            </a:r>
          </a:p>
          <a:p>
            <a:r>
              <a:rPr lang="zh-CN"/>
              <a:t>第二个数，重点渲染：只要 20 秒，一滴血就能从心脏出发跑遍全身再回来。这条路有多长、经过哪里，就是今天要画出来的。</a:t>
            </a:r>
          </a:p>
          <a:p>
            <a:r>
              <a:rPr lang="zh-CN"/>
              <a:t>第三个数，抛出本质问题——为什么偏偏是"血流一停就完"，而不是别的器官停？</a:t>
            </a:r>
          </a:p>
          <a:p>
            <a:r>
              <a:rPr lang="zh-CN"/>
              <a:t/>
            </a:r>
          </a:p>
          <a:p>
            <a:r>
              <a:rPr lang="zh-CN"/>
              <a:t>引导追问：血液到底运的是什么，重要到断供四分钟就致命？（期待答案：氧气。若学生只说"营养"，追问：饿几天不死，为什么缺氧几分钟就不行？）把结论压到一句：血液循环的核心任务是不间断送氧、带走二氧化碳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学生常见卡点：以为心脏"制造"血液或氧气。要明确心脏只是泵，氧来自肺，心脏负责把它送出去。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目标要读出来，而且要读成"可检验的动作"，不要读成口号。</a:t>
            </a:r>
          </a:p>
          <a:p>
            <a:r>
              <a:rPr lang="zh-CN"/>
              <a:t/>
            </a:r>
          </a:p>
          <a:p>
            <a:r>
              <a:rPr lang="zh-CN"/>
              <a:t>逐条说明验收方式：</a:t>
            </a:r>
          </a:p>
          <a:p>
            <a:r>
              <a:rPr lang="zh-CN"/>
              <a:t>目标一，下课前我随机点人上台指图说；</a:t>
            </a:r>
          </a:p>
          <a:p>
            <a:r>
              <a:rPr lang="zh-CN"/>
              <a:t>目标二，同桌互相复述，听的人有权打断纠错；</a:t>
            </a:r>
          </a:p>
          <a:p>
            <a:r>
              <a:rPr lang="zh-CN"/>
              <a:t>目标三，这是本节最难的，也是最容易失分的，我会用四条血管的判断题当出门条；</a:t>
            </a:r>
          </a:p>
          <a:p>
            <a:r>
              <a:rPr lang="zh-CN"/>
              <a:t>目标四，能举出一个生活例子即可，比如运动后为什么心跳加快、为什么憋气久了脸会发紫。</a:t>
            </a:r>
          </a:p>
          <a:p>
            <a:r>
              <a:rPr lang="zh-CN"/>
              <a:t/>
            </a:r>
          </a:p>
          <a:p>
            <a:r>
              <a:rPr lang="zh-CN"/>
              <a:t>提示：把目标三特别圈出来，先给学生一个预告——"待会儿会有一个几乎全班都会答错的问题"，制造期待，后面辨析页的冲击力才够。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环节切换。一句话交代逻辑：要讲路线，先得有地图；地图上只有两样东西——一个泵（心脏）和三类管道（动脉、静脉、毛细血管）。这一环节大约 12 分钟，只做"认路"，不讲循环。</a:t>
            </a:r>
          </a:p>
          <a:p>
            <a:r>
              <a:rPr lang="zh-CN"/>
              <a:t/>
            </a:r>
          </a:p>
          <a:p>
            <a:r>
              <a:rPr lang="zh-CN"/>
              <a:t>提醒自己：这里不要提前讲体循环肺循环，学生结构还没认清就上路线，必然混乱。忍住。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这一页是整节课的地基，宁可慢，不要赶。</a:t>
            </a:r>
          </a:p>
          <a:p>
            <a:r>
              <a:rPr lang="zh-CN"/>
              <a:t/>
            </a:r>
          </a:p>
          <a:p>
            <a:r>
              <a:rPr lang="zh-CN"/>
              <a:t>讲法（对着图逐句指）：</a:t>
            </a:r>
          </a:p>
          <a:p>
            <a:r>
              <a:rPr lang="zh-CN"/>
              <a:t>先立方位规矩——图上的左右是"人体自己的左右"，不是我们看图的左右。这一句必须说，否则后面全乱。</a:t>
            </a:r>
          </a:p>
          <a:p>
            <a:r>
              <a:rPr lang="zh-CN"/>
              <a:t>再给两句口诀，让学生跟着念两遍："上房下室""房连静脉，室连动脉"。这两句能解决本节课一半的记忆负担。</a:t>
            </a:r>
          </a:p>
          <a:p>
            <a:r>
              <a:rPr lang="zh-CN"/>
              <a:t>然后强调左右不通：左心的血和右心的血在心脏里永远不见面，这是后面理解"两条循环各走各的"的关键。</a:t>
            </a:r>
          </a:p>
          <a:p>
            <a:r>
              <a:rPr lang="zh-CN"/>
              <a:t>瓣膜用生活类比：像地铁闸机，只进不出，血倒不回去。</a:t>
            </a:r>
          </a:p>
          <a:p>
            <a:r>
              <a:rPr lang="zh-CN"/>
              <a:t>最后问一个思维问题：为什么左心室的壁明显比右心室厚？（引导：左心室要把血送到脚趾头，右心室只送到旁边的肺，路程差太远，需要的压力不一样。）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学生常见卡点：把"心房""心室"混叫。纠正办法——房在上，室在下，室有力气所以在下面顶着。</a:t>
            </a:r>
          </a:p>
          <a:p>
            <a:r>
              <a:rPr lang="zh-CN"/>
              <a:t/>
            </a:r>
          </a:p>
          <a:p>
            <a:r>
              <a:rPr lang="zh-CN"/>
              <a:t>提示：让学生在自己身上比划位置，心脏在胸腔偏左、约自己拳头大小。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本页埋的是全课最大误区的伏笔，讲的时候要刻意加重那六个字。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先让学生看图说说三种管子长得有什么不同，再给功能。</a:t>
            </a:r>
          </a:p>
          <a:p>
            <a:r>
              <a:rPr lang="zh-CN"/>
              <a:t>动脉、静脉的定义只说方向，一个字都不要提颜色和含氧量。这是有意为之——命名依据只有一条：血是离开心脏还是流回心脏。把"离心动，回心静"写在黑板角落，一节课都别擦。</a:t>
            </a:r>
          </a:p>
          <a:p>
            <a:r>
              <a:rPr lang="zh-CN"/>
              <a:t>毛细血管重点讲"薄"和"慢"：只有一层细胞、红细胞得排队单行通过，所以血流最慢——慢才有时间交换。这是后面理解"血在哪里变色"的物理基础。</a:t>
            </a:r>
          </a:p>
          <a:p>
            <a:r>
              <a:rPr lang="zh-CN"/>
              <a:t/>
            </a:r>
          </a:p>
          <a:p>
            <a:r>
              <a:rPr lang="zh-CN"/>
              <a:t>埋雷提问（不给答案，让它悬着）：既然动脉叫动脉是因为"离心"，那动脉里流的一定是动脉血吗？先别急着回答，记住你现在的直觉，一会儿我们回来算账。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学生常见卡点：认为动脉在深处、静脉在浅处才是区别标准。要说明：那只是分布特点，判断依据永远是血流方向。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环节切换，约 15 分钟。</a:t>
            </a:r>
          </a:p>
          <a:p>
            <a:r>
              <a:rPr lang="zh-CN"/>
              <a:t/>
            </a:r>
          </a:p>
          <a:p>
            <a:r>
              <a:rPr lang="zh-CN"/>
              <a:t>开场设定：现在请每个人把自己想象成一个红细胞，我们从左心室出发。强调这是一条闭合回路，没有起点也没有终点——我们只是为了讲清楚，人为选一个地方开始。</a:t>
            </a:r>
          </a:p>
          <a:p>
            <a:r>
              <a:rPr lang="zh-CN"/>
              <a:t/>
            </a:r>
          </a:p>
          <a:p>
            <a:r>
              <a:rPr lang="zh-CN"/>
              <a:t>板书策略：这一环节我在黑板上只画两个圈，不写字；字都在屏幕上。学生的笔记本上要求同步画出这两个圈。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这是本课的主力页，用"讲故事"的方式走，不要念屏幕。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第一步，先问：为什么从左心室出发？因为它壁最厚、劲最大，全身这么远只有它送得动。回扣上一页。</a:t>
            </a:r>
          </a:p>
          <a:p>
            <a:r>
              <a:rPr lang="zh-CN"/>
              <a:t>第二步，可以让学生摸自己的颈动脉或腕动脉，感受搏动——那就是主动脉一路传来的压力波。</a:t>
            </a:r>
          </a:p>
          <a:p>
            <a:r>
              <a:rPr lang="zh-CN"/>
              <a:t>第三步是全课的转折点，必须讲透：血在这里"卸货"。氧和养料给了组织细胞，二氧化碳和废物被收上车。请全班一起说出关键变化：动脉血变成了静脉血。这个变化发生在"全身的毛细血管"，不在别的地方。</a:t>
            </a:r>
          </a:p>
          <a:p>
            <a:r>
              <a:rPr lang="zh-CN"/>
              <a:t>第四、五步快讲，只强调回的是右心房（不是左心房）。</a:t>
            </a:r>
          </a:p>
          <a:p>
            <a:r>
              <a:rPr lang="zh-CN"/>
              <a:t/>
            </a:r>
          </a:p>
          <a:p>
            <a:r>
              <a:rPr lang="zh-CN"/>
              <a:t>一句话总结让学生抄：体循环 = 左心室 → 主动脉 → 全身毛细血管 → 上下腔静脉 → 右心房；血由动脉血变静脉血。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</a:t>
            </a:r>
          </a:p>
          <a:p>
            <a:r>
              <a:rPr lang="zh-CN"/>
              <a:t>一是记成"左心室出发回左心房"。纠正口诀：出左回右，左出右回。</a:t>
            </a:r>
          </a:p>
          <a:p>
            <a:r>
              <a:rPr lang="zh-CN"/>
              <a:t>二是以为血在血管里就变色了。要反复钉死：变色只发生在毛细血管，因为只有那里能交换。</a:t>
            </a:r>
          </a:p>
          <a:p>
            <a:r>
              <a:rPr lang="zh-CN"/>
              <a:t/>
            </a:r>
          </a:p>
          <a:p>
            <a:r>
              <a:rPr lang="zh-CN"/>
              <a:t>互动：请一位学生用手指在图上从头走一遍，边走边说，其他人当裁判。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肺循环是短的那一圈，但它是误区的震中，讲的节奏要慢下来。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第一步先接上一页的结尾：右心房把静脉血交给右心室，右心室一泵——它送去哪儿？（学生答：肺。）问：为什么不直接送全身？因为这车上没氧了，得先去加油站。肺就是加油站。</a:t>
            </a:r>
          </a:p>
          <a:p>
            <a:r>
              <a:rPr lang="zh-CN"/>
              <a:t>第二步开始设伏。先只报名字"肺动脉"，问全班：按我们黑板上那句"离心动，回心静"，它为什么叫动脉？（因为离开心脏。）好，那它里面流的是什么血？——这里一定要停住，让学生举手表决，让错误暴露出来，不要替他们说答案。多数人会答"动脉血"。</a:t>
            </a:r>
          </a:p>
          <a:p>
            <a:r>
              <a:rPr lang="zh-CN"/>
              <a:t>第三步给出真相：这血刚从全身回来，氧已经卸光了，它就是静脉血。它正是因为缺氧才要去肺。到了肺泡外的毛细血管，二氧化碳出去、氧气进来，才变成动脉血。</a:t>
            </a:r>
          </a:p>
          <a:p>
            <a:r>
              <a:rPr lang="zh-CN"/>
              <a:t>第四步同理反转：肺静脉流的是动脉血。</a:t>
            </a:r>
          </a:p>
          <a:p>
            <a:r>
              <a:rPr lang="zh-CN"/>
              <a:t/>
            </a:r>
          </a:p>
          <a:p>
            <a:r>
              <a:rPr lang="zh-CN"/>
              <a:t>关键提问：肺循环里，血在哪里变的色？（肺泡外毛细血管。）和体循环对照：两次变色都在毛细血管，只是方向相反。这是全课最漂亮的对称，一定要点破。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学生常见卡点：把肺动脉、肺静脉的方向记反。纠正办法：名字里的"肺"是目的地或来源地，"动/静"只管心脏这一头——出心为动，回心为静。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这一页是给"变色"找机制，解决学生心里那句没问出口的"凭什么会变"。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指图：红细胞两面凹的圆饼，没有细胞核，肚子里塞满血红蛋白。为什么长这样？表面积大、装得多，专职运氧。</a:t>
            </a:r>
          </a:p>
          <a:p>
            <a:r>
              <a:rPr lang="zh-CN"/>
              <a:t>血红蛋白的脾气用一句话概括：氧多就抱紧，氧少就撒手。这个"看人下菜碟"的特性，恰好让血在肺里装货、在组织里卸货。</a:t>
            </a:r>
          </a:p>
          <a:p>
            <a:r>
              <a:rPr lang="zh-CN"/>
              <a:t>然后把结论钉死：血的颜色不是血管决定的，是含氧量决定的。含氧高＝鲜红＝动脉血，含氧低＝暗红＝静脉血。</a:t>
            </a:r>
          </a:p>
          <a:p>
            <a:r>
              <a:rPr lang="zh-CN"/>
              <a:t/>
            </a:r>
          </a:p>
          <a:p>
            <a:r>
              <a:rPr lang="zh-CN"/>
              <a:t>生活联结（学生很买账）：</a:t>
            </a:r>
          </a:p>
          <a:p>
            <a:r>
              <a:rPr lang="zh-CN"/>
              <a:t>煤气中毒为什么危险？一氧化碳抢占了血红蛋白的位置，还不松手，氧上不了车。</a:t>
            </a:r>
          </a:p>
          <a:p>
            <a:r>
              <a:rPr lang="zh-CN"/>
              <a:t>为什么手背上的"青筋"看着发青？那是静脉，含氧低的暗红血透过皮肤显色。顺便破一个流言：人的血从来不是蓝色的。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学生常见卡点：以为动脉血和静脉血是两种不同的血。要说清：是同一批血，只是含氧量不同时的两个状态，来回切换，一天几千次。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这一页是把概念摆上台面对峙，讲的时候左右对着念，形成节奏。</a:t>
            </a:r>
          </a:p>
          <a:p>
            <a:r>
              <a:rPr lang="zh-CN"/>
              <a:t/>
            </a:r>
          </a:p>
          <a:p>
            <a:r>
              <a:rPr lang="zh-CN"/>
              <a:t>讲法：</a:t>
            </a:r>
          </a:p>
          <a:p>
            <a:r>
              <a:rPr lang="zh-CN"/>
              <a:t>前两行学生已经会了，快过。</a:t>
            </a:r>
          </a:p>
          <a:p>
            <a:r>
              <a:rPr lang="zh-CN"/>
              <a:t>第三行是重点：两种血各自的"出生地"都是毛细血管，一个在肺、一个在全身，完全对称。让学生自己把这句对称说一遍。</a:t>
            </a:r>
          </a:p>
          <a:p>
            <a:r>
              <a:rPr lang="zh-CN"/>
              <a:t>第四行是本页真正的干货，也是最省力的记忆抓手：左心侧（左心房、左心室、主动脉、肺静脉）全是动脉血；右心侧（右心房、右心室、上下腔静脉、肺动脉）全是静脉血。给一句口诀：左红右暗，心分两半。</a:t>
            </a:r>
          </a:p>
          <a:p>
            <a:r>
              <a:rPr lang="zh-CN"/>
              <a:t/>
            </a:r>
          </a:p>
          <a:p>
            <a:r>
              <a:rPr lang="zh-CN"/>
              <a:t>关键提问：注意看左栏最后一行，肺静脉这个"静脉"，为什么站在动脉血这一队？（因为它回心脏，所以叫静脉；它刚从肺出来，所以装的是动脉血。名字和内容管的根本不是一回事。）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学生常见卡点：会背这张表，但换个问法就倒。所以下一页必须立刻用具体血管把它逼出来检验，不能停在表格上。</a:t>
            </a:r>
          </a:p>
          <a:p>
            <a:r>
              <a:rPr lang="zh-CN"/>
              <a:t/>
            </a:r>
          </a:p>
          <a:p>
            <a:r>
              <a:rPr lang="zh-CN"/>
              <a:t>提示：让学生把这两栏抄进笔记，但抄完合上书，我马上出题。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本节课的靶心。这一页别讲，先考——让错误发生，再纠正，记忆才牢。</a:t>
            </a:r>
          </a:p>
          <a:p>
            <a:r>
              <a:rPr lang="zh-CN"/>
              <a:t/>
            </a:r>
          </a:p>
          <a:p>
            <a:r>
              <a:rPr lang="zh-CN"/>
              <a:t>操作步骤：</a:t>
            </a:r>
          </a:p>
          <a:p>
            <a:r>
              <a:rPr lang="zh-CN"/>
              <a:t>第一步，先只显示四个血管名（口头报），全班用手势表决：认为流动脉血举一只手，静脉血举两只手。四个逐一表决，把票数写在黑板上。肺动脉这一项通常会有大半人举错，这正是我们要的。</a:t>
            </a:r>
          </a:p>
          <a:p>
            <a:r>
              <a:rPr lang="zh-CN"/>
              <a:t>第二步，公布答案，让答错的同学说说自己当时是怎么想的。他们的理由几乎都是同一句："它叫动脉，当然流动脉血。"把这句原话写到黑板上，然后当着全班把它划掉。</a:t>
            </a:r>
          </a:p>
          <a:p>
            <a:r>
              <a:rPr lang="zh-CN"/>
              <a:t>第三步，讲清两套命名系统是彼此独立的：</a:t>
            </a:r>
          </a:p>
          <a:p>
            <a:r>
              <a:rPr lang="zh-CN"/>
              <a:t>　　血管的名字，只看一件事——血是离开心脏还是回到心脏。</a:t>
            </a:r>
          </a:p>
          <a:p>
            <a:r>
              <a:rPr lang="zh-CN"/>
              <a:t>　　血的名字，只看一件事——含氧多还是少。</a:t>
            </a:r>
          </a:p>
          <a:p>
            <a:r>
              <a:rPr lang="zh-CN"/>
              <a:t>两个标准，八竿子打不着。它们在主动脉和上下腔静脉那里碰巧一致，就让人误以为总是一致，其实那只是巧合。</a:t>
            </a:r>
          </a:p>
          <a:p>
            <a:r>
              <a:rPr lang="zh-CN"/>
              <a:t>第四步，追问因果，把它变成"讲得通"而不是"背下来"：肺动脉如果流的是动脉血，它还去肺干什么？（氧都满了，去肺纯属白跑一趟。）正因为它空了才要去加油——所以它"必须"是静脉血，这是逻辑的必然，不是死记的例外。同理，肺静脉刚加完油回来，它"必须"是动脉血。</a:t>
            </a:r>
          </a:p>
          <a:p>
            <a:r>
              <a:rPr lang="zh-CN"/>
              <a:t>第五步，一句话收口，全班齐说：动脉不等于动脉血；名字看方向，血色看含氧。</a:t>
            </a:r>
          </a:p>
          <a:p>
            <a:r>
              <a:rPr lang="zh-CN"/>
              <a:t/>
            </a:r>
          </a:p>
          <a:p>
            <a:r>
              <a:rPr lang="zh-CN"/>
              <a:t>学生常见卡点：</a:t>
            </a:r>
          </a:p>
          <a:p>
            <a:r>
              <a:rPr lang="zh-CN"/>
              <a:t>一是过几天又倒回去。防治：以后每次提到肺动脉，都加一句"流静脉血的那条"，重复到成为条件反射。</a:t>
            </a:r>
          </a:p>
          <a:p>
            <a:r>
              <a:rPr lang="zh-CN"/>
              <a:t>二是矫枉过正，以为"所有动脉都流静脉血"。所以这一页必须四条一起摆——两条名实相符、两条例外，让学生看见例外只有肺循环这一对。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计时严格，8 分钟就是 8 分钟，用手机计时器投出来。</a:t>
            </a:r>
          </a:p>
          <a:p>
            <a:r>
              <a:rPr lang="zh-CN"/>
              <a:t/>
            </a:r>
          </a:p>
          <a:p>
            <a:r>
              <a:rPr lang="zh-CN"/>
              <a:t>分任务提示：</a:t>
            </a:r>
          </a:p>
          <a:p>
            <a:r>
              <a:rPr lang="zh-CN"/>
              <a:t>任务一，强调"听者纠错"是有分工的：说的人闭书，听的人可以看书，听到起点终点错了必须立刻打断。巡视时重点听有没有人把体循环的终点说成左心房。</a:t>
            </a:r>
          </a:p>
          <a:p>
            <a:r>
              <a:rPr lang="zh-CN"/>
              <a:t>任务二，全班默写在草稿纸上，2 分钟后随机抽三人报答案。若肺动脉仍有人错，不要自己讲，请刚才答对的同学解释给他听。</a:t>
            </a:r>
          </a:p>
          <a:p>
            <a:r>
              <a:rPr lang="zh-CN"/>
              <a:t>任务三是拔高题，也是最能检验理解的一题。答案是右心房。推理链：手臂静脉 → 上腔静脉 → 右心房。学生若答"左心房"，就带他回到那句"回心的血只有两个入口：上下腔静脉进右心房，肺静脉进左心房；药是从手臂来的，不是从肺来的"。</a:t>
            </a:r>
          </a:p>
          <a:p>
            <a:r>
              <a:rPr lang="zh-CN"/>
              <a:t>若时间紧，任务三可只让两名学生口头讲思路，不必全班动笔。</a:t>
            </a:r>
          </a:p>
          <a:p>
            <a:r>
              <a:rPr lang="zh-CN"/>
              <a:t/>
            </a:r>
          </a:p>
          <a:p>
            <a:r>
              <a:rPr lang="zh-CN"/>
              <a:t>成功标准要事先念出来，让学生知道"做到什么程度算过关"，别让他们猜。过关的同学可以帮同桌，形成兵教兵。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小结页，用它做"回头看"，约 4 分钟。</a:t>
            </a:r>
          </a:p>
          <a:p>
            <a:r>
              <a:rPr lang="zh-CN"/>
              <a:t/>
            </a:r>
          </a:p>
          <a:p>
            <a:r>
              <a:rPr lang="zh-CN"/>
              <a:t>讲法：不要自己讲，让学生讲。请一位同学上来，从左心室出发，用手指沿着屏幕走完两圈，边走边报血管名和血的类型，走到毛细血管要停一下说"这里变色"。其他人听，发现错就喊停。</a:t>
            </a:r>
          </a:p>
          <a:p>
            <a:r>
              <a:rPr lang="zh-CN"/>
              <a:t/>
            </a:r>
          </a:p>
          <a:p>
            <a:r>
              <a:rPr lang="zh-CN"/>
              <a:t>讲完点破全图的核心结构：两条循环不是两个独立的圈，它们在心脏这个中转站接上了——体循环的终点（右心房）就是肺循环的起点方向，肺循环的终点（左心房）就是体循环的起点方向。所以血其实只走一条大的 8 字形闭合回路，永不断流。这正好回答了第二页的本质问题：心脏一停，这条回路就断，全身细胞几分钟内断氧。</a:t>
            </a:r>
          </a:p>
          <a:p>
            <a:r>
              <a:rPr lang="zh-CN"/>
              <a:t/>
            </a:r>
          </a:p>
          <a:p>
            <a:r>
              <a:rPr lang="zh-CN"/>
              <a:t>左右两张卡是留给学生抄的，尤其右边"别再踩的坑"。可以让全班把右边四句齐读一遍收尾。</a:t>
            </a:r>
          </a:p>
          <a:p>
            <a:r>
              <a:rPr lang="zh-CN"/>
              <a:t/>
            </a:r>
          </a:p>
          <a:p>
            <a:r>
              <a:rPr lang="zh-CN"/>
              <a:t>提示：这一页也是复习课的抓手，下节课上课前先投这一页两分钟。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作业设计要当着学生的面说明白，让他们知道边界在哪。</a:t>
            </a:r>
          </a:p>
          <a:p>
            <a:r>
              <a:rPr lang="zh-CN"/>
              <a:t/>
            </a:r>
          </a:p>
          <a:p>
            <a:r>
              <a:rPr lang="zh-CN"/>
              <a:t>逐条交代：</a:t>
            </a:r>
          </a:p>
          <a:p>
            <a:r>
              <a:rPr lang="zh-CN"/>
              <a:t>第一项是核心，画图代替抄写——画的过程本身就是回忆过程，比抄十遍课本有效。明确说"只画不抄"，不许配大段文字，防止家长加码。图能看懂就行，不评美观。</a:t>
            </a:r>
          </a:p>
          <a:p>
            <a:r>
              <a:rPr lang="zh-CN"/>
              <a:t>第二项是口述，不落纸面。找家人当听众，讲不通说明自己没懂。这项只需家长签一个字确认听过，不需要写记录、不需要拍视频。</a:t>
            </a:r>
          </a:p>
          <a:p>
            <a:r>
              <a:rPr lang="zh-CN"/>
              <a:t>第三项写明"选做、不计入评分"，且当场说：不做完全没有影响，感兴趣的同学再看。这条要说透，否则"选做"在学生和家长眼里就是必做。</a:t>
            </a:r>
          </a:p>
          <a:p>
            <a:r>
              <a:rPr lang="zh-CN"/>
              <a:t/>
            </a:r>
          </a:p>
          <a:p>
            <a:r>
              <a:rPr lang="zh-CN"/>
              <a:t>双减合规提醒（要向学生也向家长明说）：全部书面作业控制在 15 分钟内，不布置重复抄写、不布置需要家长批改的题、不要求打卡拍照。第二天课前用三分钟集体讲评第一项的路线图即可。</a:t>
            </a:r>
          </a:p>
          <a:p>
            <a:r>
              <a:rPr lang="zh-CN"/>
              <a:t/>
            </a:r>
          </a:p>
          <a:p>
            <a:r>
              <a:rPr lang="zh-CN"/>
              <a:t>批改重点：只看两处——体循环终点是不是右心房，肺动脉那段有没有标成静脉血。这两处对了就算过关。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 1 分钟，不要拖堂。</a:t>
            </a:r>
          </a:p>
          <a:p>
            <a:r>
              <a:rPr lang="zh-CN"/>
              <a:t/>
            </a:r>
          </a:p>
          <a:p>
            <a:r>
              <a:rPr lang="zh-CN"/>
              <a:t>出门条（口头，人人过）：走出教室前，每人对我说一句今天学到的话。要求里必须出现"肺动脉"或"肺静脉"。说不上来的同学留在门口再想十秒，同桌可以提示。</a:t>
            </a:r>
          </a:p>
          <a:p>
            <a:r>
              <a:rPr lang="zh-CN"/>
              <a:t/>
            </a:r>
          </a:p>
          <a:p>
            <a:r>
              <a:rPr lang="zh-CN"/>
              <a:t>回扣开场：这节课开始时你们数了自己的脉搏。现在你们知道，那一下一下的跳动，是左心室把血推向全身时留下的压力波。下节课我们就来量它——为什么医生量血压总是量上臂，而不是腿？带着这个问题来。</a:t>
            </a:r>
          </a:p>
          <a:p>
            <a:r>
              <a:rPr lang="zh-CN"/>
              <a:t/>
            </a:r>
          </a:p>
          <a:p>
            <a:r>
              <a:rPr lang="zh-CN"/>
              <a:t>一句话送出门：血液日夜不停跑了十几年，一次没请假。善待你的心脏。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生物 · 七年级下册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人体的血液循环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体循环与肺循环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心跳不能停的理由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75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次 / 分钟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成人安静时心跳，一天约十万次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20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秒 / 一圈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一滴血跑遍全身回到原点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4~6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分钟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血流停止后脑细胞开始不可逆损伤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这节课你要会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500" b="0" i="0">
                <a:solidFill>
                  <a:srgbClr val="1E2A22"/>
                </a:solidFill>
                <a:latin typeface="Calibri"/>
                <a:ea typeface="Microsoft YaHei"/>
              </a:rPr>
              <a:t>说出心脏四腔与四条大血管的连接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200" b="0" i="0">
                <a:solidFill>
                  <a:srgbClr val="6B7A6F"/>
                </a:solidFill>
                <a:latin typeface="Calibri"/>
                <a:ea typeface="Microsoft YaHei"/>
              </a:rPr>
              <a:t>能在图上指认并说出血流方向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500" b="0" i="0">
                <a:solidFill>
                  <a:srgbClr val="1E2A22"/>
                </a:solidFill>
                <a:latin typeface="Calibri"/>
                <a:ea typeface="Microsoft YaHei"/>
              </a:rPr>
              <a:t>按顺序讲出体循环与肺循环的路径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200" b="0" i="0">
                <a:solidFill>
                  <a:srgbClr val="6B7A6F"/>
                </a:solidFill>
                <a:latin typeface="Calibri"/>
                <a:ea typeface="Microsoft YaHei"/>
              </a:rPr>
              <a:t>不看书，独立复述，起点终点不错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500" b="0" i="0">
                <a:solidFill>
                  <a:srgbClr val="1E2A22"/>
                </a:solidFill>
                <a:latin typeface="Calibri"/>
                <a:ea typeface="Microsoft YaHei"/>
              </a:rPr>
              <a:t>判断任一血管中流的是动脉血还是静脉血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200" b="0" i="0">
                <a:solidFill>
                  <a:srgbClr val="6B7A6F"/>
                </a:solidFill>
                <a:latin typeface="Calibri"/>
                <a:ea typeface="Microsoft YaHei"/>
              </a:rPr>
              <a:t>能说明肺动脉为什么流静脉血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500" b="0" i="0">
                <a:solidFill>
                  <a:srgbClr val="1E2A22"/>
                </a:solidFill>
                <a:latin typeface="Calibri"/>
                <a:ea typeface="Microsoft YaHei"/>
              </a:rPr>
              <a:t>举例说明循环对人体的意义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先认识泵和管道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心脏：四个房间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400" b="1" i="0">
                <a:solidFill>
                  <a:srgbClr val="2F7A4F"/>
                </a:solidFill>
                <a:latin typeface="Calibri"/>
                <a:ea typeface="Microsoft YaHei"/>
              </a:rPr>
              <a:t>上房下室，左右不通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上面两间：左心房、右心房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1900" b="0" i="0">
                <a:solidFill>
                  <a:srgbClr val="6B7A6F"/>
                </a:solidFill>
                <a:latin typeface="Calibri"/>
                <a:ea typeface="Microsoft YaHei"/>
              </a:rPr>
              <a:t>房连静脉，接收回流的血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下面两间：左心室、右心室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1900" b="0" i="0">
                <a:solidFill>
                  <a:srgbClr val="6B7A6F"/>
                </a:solidFill>
                <a:latin typeface="Calibri"/>
                <a:ea typeface="Microsoft YaHei"/>
              </a:rPr>
              <a:t>室连动脉，负责把血泵出去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左右之间有壁，血不相通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1900" b="0" i="0">
                <a:solidFill>
                  <a:srgbClr val="6B7A6F"/>
                </a:solidFill>
                <a:latin typeface="Calibri"/>
                <a:ea typeface="Microsoft YaHei"/>
              </a:rPr>
              <a:t>同侧的房与室相通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瓣膜：血液的单行道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1900" b="0" i="0">
                <a:solidFill>
                  <a:srgbClr val="6B7A6F"/>
                </a:solidFill>
                <a:latin typeface="Calibri"/>
                <a:ea typeface="Microsoft YaHei"/>
              </a:rPr>
              <a:t>房室瓣、动脉瓣，只许一个方向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左心室壁最厚 —— 它要送最远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三类血管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000" b="1" i="0">
                <a:solidFill>
                  <a:srgbClr val="2F7A4F"/>
                </a:solidFill>
                <a:latin typeface="Calibri"/>
                <a:ea typeface="Microsoft YaHei"/>
              </a:rPr>
              <a:t>按方向命名，不按血色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动脉：把血送离心脏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管壁厚、弹性大、血流快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静脉：把血送回心脏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管壁薄、管腔大，四肢静脉有瓣膜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毛细血管：只允许红细胞单行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壁薄一层细胞，物质交换就在这里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记住这句：离心动，回心静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跟着一滴血跑两圈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体循环：送氧去全身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7E2D6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左心室出发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一颗饱含氧的红细胞被泵出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此时是鲜红的动脉血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主动脉 → 各级动脉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血压最高，流速最快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分支越来越细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全身毛细血管网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血流最慢，交换发生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放下氧和养料，收走二氧化碳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各级静脉 → 上下腔静脉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血色变暗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此时已是静脉血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回到右心房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一圈结束，交给右心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下一站：肺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肺循环：换一次气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D7E2D6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右心室出发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把刚回来的静脉血泵向肺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路程短，所以右心室壁较薄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肺动脉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离开心脏，所以叫动脉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但里面流的是静脉血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肺泡外毛细血管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放掉二氧化碳，装上氧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静脉血变成动脉血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肺静脉 → 左心房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流回心脏，所以叫静脉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但里面流的是动脉血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血为什么会变色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000" b="1" i="0">
                <a:solidFill>
                  <a:srgbClr val="2F7A4F"/>
                </a:solidFill>
                <a:latin typeface="Calibri"/>
                <a:ea typeface="Microsoft YaHei"/>
              </a:rPr>
              <a:t>变色的主角是红细胞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红细胞里有血红蛋白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含铁的蛋白质，专门抓氧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氧多的地方：结合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肺部 —— 血变鲜红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氧少的地方：分离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500" b="0" i="0">
                <a:solidFill>
                  <a:srgbClr val="6B7A6F"/>
                </a:solidFill>
                <a:latin typeface="Calibri"/>
                <a:ea typeface="Microsoft YaHei"/>
              </a:rPr>
              <a:t>全身组织 —— 血变暗红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800" b="0" i="0">
                <a:solidFill>
                  <a:srgbClr val="1E2A22"/>
                </a:solidFill>
                <a:latin typeface="Calibri"/>
                <a:ea typeface="Microsoft YaHei"/>
              </a:rPr>
              <a:t>所以血色 = 含氧量的指示灯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动脉血 vs 静脉血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动脉血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含氧量高，二氧化碳少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颜色鲜红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在肺部毛细血管"诞生"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静脉血在此变成它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所在：主动脉、肺静脉、左心房、左心室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记：左心一侧全是它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静脉血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含氧量低，二氧化碳多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颜色暗红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在全身毛细血管"诞生"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动脉血在此变成它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所在：上下腔静脉、肺动脉、右心房、右心室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记：右心一侧全是它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动脉里一定流动脉血吗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主动脉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离心 → 动脉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刚出左心室，氧满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动脉血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名实相符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肺动脉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离心 → 动脉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正要去肺加氧，氧空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静脉血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唯一的"动脉流静脉血"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肺静脉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回心 → 静脉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刚从肺出来，氧满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动脉血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唯一的"静脉流动脉血"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上腔静脉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回心 → 静脉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收全身用过的血，氧空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静脉血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名实相符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练一练（8 分钟）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任务一：口头闯关 · 3 分钟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同桌互说体循环、肺循环全程，听者纠错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任务二：判断 · 2 分钟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肺动脉、肺静脉、左心室、右心房各是什么血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任务三：想一想 · 3 分钟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手臂静脉注射的药，最先到达心脏的哪一腔？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500" b="0" i="0">
                <a:solidFill>
                  <a:srgbClr val="1E2A22"/>
                </a:solidFill>
                <a:latin typeface="Calibri"/>
                <a:ea typeface="Microsoft YaHei"/>
              </a:rPr>
              <a:t>成功标准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路径不看书说全且顺序无误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四个判断全对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200" b="0" i="0">
                <a:solidFill>
                  <a:srgbClr val="6B7A6F"/>
                </a:solidFill>
                <a:latin typeface="Calibri"/>
                <a:ea typeface="Microsoft YaHei"/>
              </a:rPr>
              <a:t>第三题能说出"上腔静脉→右心房"并讲出理由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381000"/>
            <a:ext cx="10668000" cy="4381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一页收全课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876300"/>
            <a:ext cx="857250" cy="47625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3619500" y="1066800"/>
            <a:ext cx="4953000" cy="11620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3829050" y="1200150"/>
            <a:ext cx="45720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900" b="1" i="0">
                <a:solidFill>
                  <a:srgbClr val="2F7A4F"/>
                </a:solidFill>
                <a:latin typeface="Calibri"/>
                <a:ea typeface="Microsoft YaHei"/>
              </a:rPr>
              <a:t>肺循环 · 小循环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829050" y="1504950"/>
            <a:ext cx="45720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右心室 → 肺动脉（静脉血）→ 肺泡外毛细血管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→ 肺静脉（动脉血）→ 左心房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作用：静脉血变动脉血（装氧）</a:t>
            </a:r>
          </a:p>
        </p:txBody>
      </p:sp>
      <p:sp>
        <p:nvSpPr>
          <p:cNvPr id="15" name="bar15"/>
          <p:cNvSpPr/>
          <p:nvPr/>
        </p:nvSpPr>
        <p:spPr>
          <a:xfrm>
            <a:off x="5334000" y="2228850"/>
            <a:ext cx="47625" cy="3619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6" name="bar16"/>
          <p:cNvSpPr/>
          <p:nvPr/>
        </p:nvSpPr>
        <p:spPr>
          <a:xfrm>
            <a:off x="6819900" y="2228850"/>
            <a:ext cx="47625" cy="3619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7" name="card17"/>
          <p:cNvSpPr/>
          <p:nvPr/>
        </p:nvSpPr>
        <p:spPr>
          <a:xfrm>
            <a:off x="4953000" y="2590800"/>
            <a:ext cx="2286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8" name="text18"/>
          <p:cNvSpPr txBox="1"/>
          <p:nvPr/>
        </p:nvSpPr>
        <p:spPr>
          <a:xfrm>
            <a:off x="5143500" y="2743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900" b="1" i="0">
                <a:solidFill>
                  <a:srgbClr val="2F7A4F"/>
                </a:solidFill>
                <a:latin typeface="Calibri"/>
                <a:ea typeface="Microsoft YaHei"/>
              </a:rPr>
              <a:t>心脏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5143500" y="3048000"/>
            <a:ext cx="1905000" cy="99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左心房 ← 肺静脉</a:t>
            </a:r>
          </a:p>
          <a:p>
            <a:pPr algn="ctr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左心室 → 主动脉</a:t>
            </a:r>
          </a:p>
          <a:p>
            <a:pPr algn="ctr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右心房 ← 上下腔静脉</a:t>
            </a:r>
          </a:p>
          <a:p>
            <a:pPr algn="ctr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右心室 → 肺动脉</a:t>
            </a:r>
          </a:p>
        </p:txBody>
      </p:sp>
      <p:sp>
        <p:nvSpPr>
          <p:cNvPr id="20" name="bar20"/>
          <p:cNvSpPr/>
          <p:nvPr/>
        </p:nvSpPr>
        <p:spPr>
          <a:xfrm>
            <a:off x="5334000" y="4191000"/>
            <a:ext cx="47625" cy="3619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21" name="bar21"/>
          <p:cNvSpPr/>
          <p:nvPr/>
        </p:nvSpPr>
        <p:spPr>
          <a:xfrm>
            <a:off x="6819900" y="4191000"/>
            <a:ext cx="47625" cy="3619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22" name="card22"/>
          <p:cNvSpPr/>
          <p:nvPr/>
        </p:nvSpPr>
        <p:spPr>
          <a:xfrm>
            <a:off x="3619500" y="4552950"/>
            <a:ext cx="4953000" cy="1238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23" name="text23"/>
          <p:cNvSpPr txBox="1"/>
          <p:nvPr/>
        </p:nvSpPr>
        <p:spPr>
          <a:xfrm>
            <a:off x="3829050" y="4686300"/>
            <a:ext cx="45720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900" b="1" i="0">
                <a:solidFill>
                  <a:srgbClr val="2F7A4F"/>
                </a:solidFill>
                <a:latin typeface="Calibri"/>
                <a:ea typeface="Microsoft YaHei"/>
              </a:rPr>
              <a:t>体循环 · 大循环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3829050" y="4991100"/>
            <a:ext cx="4572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左心室 → 主动脉（动脉血）→ 全身毛细血管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→ 上下腔静脉（静脉血）→ 右心房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作用：动脉血变静脉血（卸氧）</a:t>
            </a:r>
          </a:p>
        </p:txBody>
      </p:sp>
      <p:sp>
        <p:nvSpPr>
          <p:cNvPr id="25" name="card25"/>
          <p:cNvSpPr/>
          <p:nvPr/>
        </p:nvSpPr>
        <p:spPr>
          <a:xfrm>
            <a:off x="571500" y="2590800"/>
            <a:ext cx="27813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26" name="text26"/>
          <p:cNvSpPr txBox="1"/>
          <p:nvPr/>
        </p:nvSpPr>
        <p:spPr>
          <a:xfrm>
            <a:off x="781050" y="2743200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记忆口诀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781050" y="3048000"/>
            <a:ext cx="2381250" cy="99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上房下室，左右不通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房连静脉，室连动脉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左出右回，出左回右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左红右暗，变色只在毛细</a:t>
            </a:r>
          </a:p>
        </p:txBody>
      </p:sp>
      <p:sp>
        <p:nvSpPr>
          <p:cNvPr id="28" name="card28"/>
          <p:cNvSpPr/>
          <p:nvPr/>
        </p:nvSpPr>
        <p:spPr>
          <a:xfrm>
            <a:off x="8839200" y="2590800"/>
            <a:ext cx="27813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29" name="text29"/>
          <p:cNvSpPr txBox="1"/>
          <p:nvPr/>
        </p:nvSpPr>
        <p:spPr>
          <a:xfrm>
            <a:off x="9048750" y="2743200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别再踩的坑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9048750" y="3048000"/>
            <a:ext cx="2381250" cy="99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动脉 ≠ 动脉血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肺动脉流静脉血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肺静脉流动脉血</a:t>
            </a:r>
          </a:p>
          <a:p>
            <a:pPr algn="l">
              <a:buNone/>
            </a:pPr>
            <a:r>
              <a:rPr lang="zh-CN" sz="1400" b="0" i="0">
                <a:solidFill>
                  <a:srgbClr val="6B7A6F"/>
                </a:solidFill>
                <a:latin typeface="Calibri"/>
                <a:ea typeface="Microsoft YaHei"/>
              </a:rPr>
              <a:t>名字看方向，血色看含氧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762000" y="6076950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500" b="0" i="0">
                <a:solidFill>
                  <a:srgbClr val="6B7A6F"/>
                </a:solidFill>
                <a:latin typeface="Calibri"/>
                <a:ea typeface="Microsoft YaHei"/>
              </a:rPr>
              <a:t>两条循环在心脏交汇，合成一条闭合回路，一刻不停。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作业（必做 15 分钟内）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700" b="0" i="0">
                <a:solidFill>
                  <a:srgbClr val="1E2A22"/>
                </a:solidFill>
                <a:latin typeface="Calibri"/>
                <a:ea typeface="Microsoft YaHei"/>
              </a:rPr>
              <a:t>必做 · 约 10 分钟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画出两条循环的路线图，标注每段的血色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只画不抄，不必写文字说明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700" b="0" i="0">
                <a:solidFill>
                  <a:srgbClr val="1E2A22"/>
                </a:solidFill>
                <a:latin typeface="Calibri"/>
                <a:ea typeface="Microsoft YaHei"/>
              </a:rPr>
              <a:t>必做 · 约 5 分钟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向家人口述：肺动脉里为什么流静脉血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700" b="0" i="0">
                <a:solidFill>
                  <a:srgbClr val="1E2A22"/>
                </a:solidFill>
                <a:latin typeface="Calibri"/>
                <a:ea typeface="Microsoft YaHei"/>
              </a:rPr>
              <a:t>选做（不计入评分）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查一查：鱼只有一条循环，人为什么要两条？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为什么医生打点滴多选手背静脉不选动脉？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700" b="0" i="0">
                <a:solidFill>
                  <a:srgbClr val="1E2A22"/>
                </a:solidFill>
                <a:latin typeface="Calibri"/>
                <a:ea typeface="Microsoft YaHei"/>
              </a:rPr>
              <a:t>书面作业不超过 15 分钟，无需抄写课本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下节预告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E2A22"/>
                </a:solidFill>
                <a:latin typeface="Calibri"/>
                <a:ea typeface="Microsoft YaHei"/>
              </a:rPr>
              <a:t>血压与脉搏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为什么医生量的是手臂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