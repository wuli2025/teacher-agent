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开场说明用法：本课件不依赖动画，翻页即推进一步；每页左栏是当前步，右栏是已经走过的全部步骤。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先给学生看结构：三道题分别练三种「一看就知道该用哪招」的题型。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1/5 步】写成求和号形式</a:t>
            </a:r>
          </a:p>
          <a:p>
            <a:r>
              <a:t>（本题定位）一个等差数列乘一个等比数列，标准手法就是错位相减。</a:t>
            </a:r>
          </a:p>
          <a:p>
            <a:r>
              <a:t>先让学生说出通项 a_k = k·2^(k−1) 是「等差乘等比」，这是判定使用错位相减的唯一依据。</a:t>
            </a:r>
          </a:p>
          <a:p>
            <a:r>
              <a:t>识别结构：等差 × 等比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2/5 步】展开并同乘公比 2</a:t>
            </a:r>
          </a:p>
          <a:p>
            <a:r>
              <a:t>（本题定位）一个等差数列乘一个等比数列，标准手法就是错位相减。</a:t>
            </a:r>
          </a:p>
          <a:p>
            <a:r>
              <a:t>板书时把两行按 2 的幂次上下对齐，学生才看得出「错位」在哪。</a:t>
            </a:r>
          </a:p>
          <a:p>
            <a:r>
              <a:t>两式的同次项要对齐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3/5 步】作差：错位相减</a:t>
            </a:r>
          </a:p>
          <a:p>
            <a:r>
              <a:t>（本题定位）一个等差数列乘一个等比数列，标准手法就是错位相减。</a:t>
            </a:r>
          </a:p>
          <a:p>
            <a:r>
              <a:t>关键一步：作差后中间项系数都变成 1，剩下一个等比数列和一个尾项。</a:t>
            </a:r>
          </a:p>
          <a:p>
            <a:r>
              <a:t>中间全部塌缩成等比数列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4/5 步】用等比求和公式</a:t>
            </a:r>
          </a:p>
          <a:p>
            <a:r>
              <a:t>（本题定位）一个等差数列乘一个等比数列，标准手法就是错位相减。</a:t>
            </a:r>
          </a:p>
          <a:p>
            <a:r>
              <a:t>最常见的失分点就在这里丢负号，务必让学生把 −Sn 写清楚。</a:t>
            </a:r>
          </a:p>
          <a:p>
            <a:r>
              <a:t>注意左边是 −Sn，别丢负号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1·第 5/5 步】结论</a:t>
            </a:r>
          </a:p>
          <a:p>
            <a:r>
              <a:t>（本题定位）一个等差数列乘一个等比数列，标准手法就是错位相减。</a:t>
            </a:r>
          </a:p>
          <a:p>
            <a:r>
              <a:t>养成习惯：求和结果一定用 n=1、n=2 回代验算。</a:t>
            </a:r>
          </a:p>
          <a:p>
            <a:r>
              <a:t>代 n=1 验算：S₁=1 ✓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1/5 步】建系并写出各点坐标</a:t>
            </a:r>
          </a:p>
          <a:p>
            <a:r>
              <a:t>（本题定位）向量法三步：建系写坐标 → 求两个半平面的法向量 → 算夹角再定号。</a:t>
            </a:r>
          </a:p>
          <a:p>
            <a:r>
              <a:t>PA⊥底面且底面是正方形，天然给出两两垂直的三条棱，直接建右手系。</a:t>
            </a:r>
          </a:p>
          <a:p>
            <a:r>
              <a:t>以 A 为原点，沿 AB、AD、AP 建三轴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2/5 步】求半平面 PBC 的法向量</a:t>
            </a:r>
          </a:p>
          <a:p>
            <a:r>
              <a:t>（本题定位）向量法三步：建系写坐标 → 求两个半平面的法向量 → 算夹角再定号。</a:t>
            </a:r>
          </a:p>
          <a:p>
            <a:r>
              <a:t>解 n·PB = 0 与 n·BC = 0，取最简整数解即可，不必单位化。</a:t>
            </a:r>
          </a:p>
          <a:p>
            <a:r>
              <a:t>法向量与平面内两向量都垂直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3/5 步】求半平面 PDC 的法向量</a:t>
            </a:r>
          </a:p>
          <a:p>
            <a:r>
              <a:t>（本题定位）向量法三步：建系写坐标 → 求两个半平面的法向量 → 算夹角再定号。</a:t>
            </a:r>
          </a:p>
          <a:p>
            <a:r>
              <a:t>提醒对称性：把 x、y 互换即可得到 n₂，可作为检验。</a:t>
            </a:r>
          </a:p>
          <a:p>
            <a:r>
              <a:t>同法处理另一个半平面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4/5 步】算两法向量夹角的余弦</a:t>
            </a:r>
          </a:p>
          <a:p>
            <a:r>
              <a:t>（本题定位）向量法三步：建系写坐标 → 求两个半平面的法向量 → 算夹角再定号。</a:t>
            </a:r>
          </a:p>
          <a:p>
            <a:r>
              <a:t>务必强调：法向量夹角 ≠ 二面角，两者要么相等要么互补。</a:t>
            </a:r>
          </a:p>
          <a:p>
            <a:r>
              <a:t>这只是法向量夹角，还没定号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2·第 5/5 步】结论：判断钝角并定号</a:t>
            </a:r>
          </a:p>
          <a:p>
            <a:r>
              <a:t>（本题定位）向量法三步：建系写坐标 → 求两个半平面的法向量 → 算夹角再定号。</a:t>
            </a:r>
          </a:p>
          <a:p>
            <a:r>
              <a:t>由图可见二面角张开超过 90°，故取补角，余弦为负，二面角为 120°。</a:t>
            </a:r>
          </a:p>
          <a:p>
            <a:r>
              <a:t>观察图形定号，别只算不判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3·第 1/5 步】写出增广矩阵</a:t>
            </a:r>
          </a:p>
          <a:p>
            <a:r>
              <a:t>（本题定位）把方程组写成增广矩阵，用行变换化成阶梯形再回代，步骤最不易错。</a:t>
            </a:r>
          </a:p>
          <a:p>
            <a:r>
              <a:t>强调竖线的意义：它把系数矩阵和常数列分开，行变换要整行一起做。</a:t>
            </a:r>
          </a:p>
          <a:p>
            <a:r>
              <a:t>竖线左边是系数，右边是常数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3·第 2/5 步】第一列消元</a:t>
            </a:r>
          </a:p>
          <a:p>
            <a:r>
              <a:t>（本题定位）把方程组写成增广矩阵，用行变换化成阶梯形再回代，步骤最不易错。</a:t>
            </a:r>
          </a:p>
          <a:p>
            <a:r>
              <a:t>行变换写在箭头上方，批改时一眼能看出每一步做了什么。</a:t>
            </a:r>
          </a:p>
          <a:p>
            <a:r>
              <a:t>用第一行把第一列其余项打成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3·第 3/5 步】第二列消元，化成阶梯形</a:t>
            </a:r>
          </a:p>
          <a:p>
            <a:r>
              <a:t>（本题定位）把方程组写成增广矩阵，用行变换化成阶梯形再回代，步骤最不易错。</a:t>
            </a:r>
          </a:p>
          <a:p>
            <a:r>
              <a:t>把 r₂ 除以 −5 得到主元 1，是减少分数运算的关键一招。</a:t>
            </a:r>
          </a:p>
          <a:p>
            <a:r>
              <a:t>先把主元化成 1，后面更好算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3·第 4/5 步】回代求解</a:t>
            </a:r>
          </a:p>
          <a:p>
            <a:r>
              <a:t>（本题定位）把方程组写成增广矩阵，用行变换化成阶梯形再回代，步骤最不易错。</a:t>
            </a:r>
          </a:p>
          <a:p>
            <a:r>
              <a:t>回代顺序固定：先 z，再 y，最后 x，一步一个方程。</a:t>
            </a:r>
          </a:p>
          <a:p>
            <a:r>
              <a:t>从最后一行往上逐个代回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【题 3·第 5/5 步】结论</a:t>
            </a:r>
          </a:p>
          <a:p>
            <a:r>
              <a:t>（本题定位）把方程组写成增广矩阵，用行变换化成阶梯形再回代，步骤最不易错。</a:t>
            </a:r>
          </a:p>
          <a:p>
            <a:r>
              <a:t>线性方程组必须验算：代回三式全部成立才算做完。</a:t>
            </a:r>
          </a:p>
          <a:p>
            <a:r>
              <a:t>把解代回三个原方程逐一验证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收束：三道题看似无关，动作是同一套。让学生当场默写框架，下节课用它讲评作业。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Relationship Id="rId3" Type="http://schemas.openxmlformats.org/officeDocument/2006/relationships/image" Target="../media/image25.png"/><Relationship Id="rId4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7.png"/><Relationship Id="rId4" Type="http://schemas.openxmlformats.org/officeDocument/2006/relationships/image" Target="../media/image28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Relationship Id="rId3" Type="http://schemas.openxmlformats.org/officeDocument/2006/relationships/image" Target="../media/image29.png"/><Relationship Id="rId4" Type="http://schemas.openxmlformats.org/officeDocument/2006/relationships/image" Target="../media/image30.png"/><Relationship Id="rId5" Type="http://schemas.openxmlformats.org/officeDocument/2006/relationships/image" Target="../media/image31.png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2048256"/>
            <a:ext cx="128016" cy="1499616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ag_3"/>
          <p:cNvSpPr txBox="1"/>
          <p:nvPr/>
        </p:nvSpPr>
        <p:spPr>
          <a:xfrm>
            <a:off x="996696" y="1517904"/>
            <a:ext cx="9692640" cy="36575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高中数学 · 解题步骤演示</a:t>
            </a:r>
          </a:p>
        </p:txBody>
      </p:sp>
      <p:sp>
        <p:nvSpPr>
          <p:cNvPr id="5" name="h1_4"/>
          <p:cNvSpPr txBox="1"/>
          <p:nvPr/>
        </p:nvSpPr>
        <p:spPr>
          <a:xfrm>
            <a:off x="996696" y="1956816"/>
            <a:ext cx="10241280" cy="82753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三道综合题的逐步拆解</a:t>
            </a:r>
          </a:p>
        </p:txBody>
      </p:sp>
      <p:sp>
        <p:nvSpPr>
          <p:cNvPr id="6" name="body_5"/>
          <p:cNvSpPr txBox="1"/>
          <p:nvPr/>
        </p:nvSpPr>
        <p:spPr>
          <a:xfrm>
            <a:off x="996696" y="2999232"/>
            <a:ext cx="10241280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>
                <a:solidFill>
                  <a:srgbClr val="D6DDE6"/>
                </a:solidFill>
                <a:latin typeface="Microsoft YaHei"/>
                <a:ea typeface="Microsoft YaHei"/>
                <a:cs typeface="Microsoft YaHei"/>
              </a:rPr>
              <a:t>同一题连续多页：题目区固定不动，解题过程逐页累积一行。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996696" y="3749039"/>
            <a:ext cx="2926080" cy="27432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body_7"/>
          <p:cNvSpPr txBox="1"/>
          <p:nvPr/>
        </p:nvSpPr>
        <p:spPr>
          <a:xfrm>
            <a:off x="996696" y="3986784"/>
            <a:ext cx="10241280" cy="5486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一句核心理解：讲题的价值不在答案，而在每一步「为什么这样写」。</a:t>
            </a:r>
          </a:p>
        </p:txBody>
      </p:sp>
      <p:sp>
        <p:nvSpPr>
          <p:cNvPr id="9" name="tag_8"/>
          <p:cNvSpPr txBox="1"/>
          <p:nvPr/>
        </p:nvSpPr>
        <p:spPr>
          <a:xfrm>
            <a:off x="996696" y="5961888"/>
            <a:ext cx="102412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课件结构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三道题，三种最常考的结构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导航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1444751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h1_12"/>
          <p:cNvSpPr txBox="1"/>
          <p:nvPr/>
        </p:nvSpPr>
        <p:spPr>
          <a:xfrm>
            <a:off x="905256" y="1389888"/>
            <a:ext cx="118872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4" name="tag_13"/>
          <p:cNvSpPr txBox="1"/>
          <p:nvPr/>
        </p:nvSpPr>
        <p:spPr>
          <a:xfrm>
            <a:off x="2240280" y="1627632"/>
            <a:ext cx="237744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数列</a:t>
            </a:r>
          </a:p>
        </p:txBody>
      </p:sp>
      <p:sp>
        <p:nvSpPr>
          <p:cNvPr id="15" name="body_14"/>
          <p:cNvSpPr txBox="1"/>
          <p:nvPr/>
        </p:nvSpPr>
        <p:spPr>
          <a:xfrm>
            <a:off x="2203704" y="1956816"/>
            <a:ext cx="4206240" cy="443484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错位相减求 ∑ k·2^(k−1)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720840" y="1676400"/>
            <a:ext cx="4556455" cy="87172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求和号上下限、多层上下标、长等式</a:t>
            </a:r>
          </a:p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对齐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3035808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3035808"/>
            <a:ext cx="68580" cy="144475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h1_18"/>
          <p:cNvSpPr txBox="1"/>
          <p:nvPr/>
        </p:nvSpPr>
        <p:spPr>
          <a:xfrm>
            <a:off x="905256" y="3035808"/>
            <a:ext cx="118872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20" name="tag_19"/>
          <p:cNvSpPr txBox="1"/>
          <p:nvPr/>
        </p:nvSpPr>
        <p:spPr>
          <a:xfrm>
            <a:off x="2240280" y="3273552"/>
            <a:ext cx="237744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立体几何</a:t>
            </a:r>
          </a:p>
        </p:txBody>
      </p:sp>
      <p:sp>
        <p:nvSpPr>
          <p:cNvPr id="21" name="body_20"/>
          <p:cNvSpPr txBox="1"/>
          <p:nvPr/>
        </p:nvSpPr>
        <p:spPr>
          <a:xfrm>
            <a:off x="2203704" y="3602736"/>
            <a:ext cx="4206240" cy="443484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空间向量求二面角余弦</a:t>
            </a:r>
          </a:p>
        </p:txBody>
      </p:sp>
      <p:sp>
        <p:nvSpPr>
          <p:cNvPr id="22" name="body_21"/>
          <p:cNvSpPr txBox="1"/>
          <p:nvPr/>
        </p:nvSpPr>
        <p:spPr>
          <a:xfrm>
            <a:off x="6720840" y="3517392"/>
            <a:ext cx="4556455" cy="4815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向量箭头、坐标、分式套根式、定号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85800" y="4681727"/>
            <a:ext cx="10820095" cy="144475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85800" y="4681727"/>
            <a:ext cx="68580" cy="1444751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h1_24"/>
          <p:cNvSpPr txBox="1"/>
          <p:nvPr/>
        </p:nvSpPr>
        <p:spPr>
          <a:xfrm>
            <a:off x="905256" y="4681727"/>
            <a:ext cx="1188720" cy="1444751"/>
          </a:xfrm>
          <a:prstGeom prst="rect">
            <a:avLst/>
          </a:prstGeom>
          <a:noFill/>
        </p:spPr>
        <p:txBody>
          <a:bodyPr wrap="square" lIns="182880" rIns="18288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6" name="tag_25"/>
          <p:cNvSpPr txBox="1"/>
          <p:nvPr/>
        </p:nvSpPr>
        <p:spPr>
          <a:xfrm>
            <a:off x="2240280" y="4919471"/>
            <a:ext cx="2377440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线性方程组</a:t>
            </a:r>
          </a:p>
        </p:txBody>
      </p:sp>
      <p:sp>
        <p:nvSpPr>
          <p:cNvPr id="27" name="body_26"/>
          <p:cNvSpPr txBox="1"/>
          <p:nvPr/>
        </p:nvSpPr>
        <p:spPr>
          <a:xfrm>
            <a:off x="2203704" y="5248655"/>
            <a:ext cx="4206240" cy="443484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增广矩阵行变换求解</a:t>
            </a:r>
          </a:p>
        </p:txBody>
      </p:sp>
      <p:sp>
        <p:nvSpPr>
          <p:cNvPr id="28" name="body_27"/>
          <p:cNvSpPr txBox="1"/>
          <p:nvPr/>
        </p:nvSpPr>
        <p:spPr>
          <a:xfrm>
            <a:off x="6720840" y="5163311"/>
            <a:ext cx="4556455" cy="4815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8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矩阵竖线、行变换箭头、负号、回代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数列 · 错位相减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错位相减法求 ∑ k·2^(k−1)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求和：Sn = 1·2⁰ + 2·2¹ + 3·2² + … + n·2ⁿ⁻¹。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写成求和号形式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识别结构：等差 × 等比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877921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341a087b42af1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2540000" cy="106679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数列 · 错位相减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错位相减法求 ∑ k·2^(k−1)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求和：Sn = 1·2⁰ + 2·2¹ + 3·2² + … + n·2ⁿ⁻¹。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展开并同乘公比 2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两式的同次项要对齐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877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46c64d4ef2b43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2540000" cy="1066799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8004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1_s2_0" descr="f_d108de7db3a3cee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585057"/>
            <a:ext cx="5270500" cy="558800"/>
          </a:xfrm>
          <a:prstGeom prst="rect">
            <a:avLst/>
          </a:prstGeom>
        </p:spPr>
      </p:pic>
      <p:pic>
        <p:nvPicPr>
          <p:cNvPr id="23" name="tex_p1_s2_1" descr="f_a97467feb6211d2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253585"/>
            <a:ext cx="65659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数列 · 错位相减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错位相减法求 ∑ k·2^(k−1)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求和：Sn = 1·2⁰ + 2·2¹ + 3·2² + … + n·2ⁿ⁻¹。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作差：错位相减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中间全部塌缩成等比数列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877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1_s1_0" descr="f_46c64d4ef2b43b3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2540000" cy="1066799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8004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1_s2_0" descr="f_49931472ba12013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585057"/>
            <a:ext cx="5270500" cy="558800"/>
          </a:xfrm>
          <a:prstGeom prst="rect">
            <a:avLst/>
          </a:prstGeom>
        </p:spPr>
      </p:pic>
      <p:pic>
        <p:nvPicPr>
          <p:cNvPr id="23" name="tex_p1_s2_1" descr="f_ee97ddeb8a89322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253585"/>
            <a:ext cx="6565900" cy="558800"/>
          </a:xfrm>
          <a:prstGeom prst="rect">
            <a:avLst/>
          </a:prstGeom>
        </p:spPr>
      </p:pic>
      <p:sp>
        <p:nvSpPr>
          <p:cNvPr id="24" name="tag_dot"/>
          <p:cNvSpPr/>
          <p:nvPr/>
        </p:nvSpPr>
        <p:spPr>
          <a:xfrm>
            <a:off x="3995928" y="5137505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ex_p1_s3_0" descr="f_68119c62fcb2fa7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4922113"/>
            <a:ext cx="60960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数列 · 错位相减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错位相减法求 ∑ k·2^(k−1)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求和：Sn = 1·2⁰ + 2·2¹ + 3·2² + … + n·2ⁿ⁻¹。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用等比求和公式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注意左边是 −Sn，别丢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负号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623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1_s3_0" descr="f_1c2e22a3ebe9db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096000" cy="5588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4194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1_s4_0" descr="f_aa0b189b350b5e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077057"/>
            <a:ext cx="5765800" cy="812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数列 · 错位相减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1　错位相减法求 ∑ k·2^(k−1)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求和：Sn = 1·2⁰ + 2·2¹ + 3·2² + … + n·2ⁿ⁻¹。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代 n=1 验算：S₁=1 ✓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6239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1_s3_0" descr="f_1c2e22a3ebe9dbe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6096000" cy="5588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4194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1_s4_0" descr="f_5ca72cc209f56c4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077057"/>
            <a:ext cx="5765800" cy="812800"/>
          </a:xfrm>
          <a:prstGeom prst="rect">
            <a:avLst/>
          </a:prstGeom>
        </p:spPr>
      </p:pic>
      <p:sp>
        <p:nvSpPr>
          <p:cNvPr id="24" name="tag_dot"/>
          <p:cNvSpPr/>
          <p:nvPr/>
        </p:nvSpPr>
        <p:spPr>
          <a:xfrm>
            <a:off x="3995928" y="4214977"/>
            <a:ext cx="128016" cy="128016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ex_p1_s5_0" descr="f_84a96f79e8020e5b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3999585"/>
            <a:ext cx="29337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立体几何 · 二面角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用空间向量求二面角 B–PC–D 的余弦值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114117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114117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8851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四棱锥 P-ABCD 中，底面 ABCD 是边长为 2 的正方形，PA ⊥ 底面，PA = 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。求二面角 B–PC–D 的余弦值。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71393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57347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建系并写出各点坐标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4164177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以 A 为原点，沿 AB、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AD、AP 建三轴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750515"/>
            <a:ext cx="11887" cy="337596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3020771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9d42e341cce05e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805379"/>
            <a:ext cx="7199071" cy="55377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立体几何 · 二面角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用空间向量求二面角 B–PC–D 的余弦值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114117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114117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8851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四棱锥 P-ABCD 中，底面 ABCD 是边长为 2 的正方形，PA ⊥ 底面，PA = 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。求二面角 B–PC–D 的余弦值。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71393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573475"/>
            <a:ext cx="2926080" cy="83393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求半平面 PBC 的法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向量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4535424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法向量与平面内两向量都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垂直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750515"/>
            <a:ext cx="11887" cy="337596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30207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01dce712af1aa2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805379"/>
            <a:ext cx="7199071" cy="553774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68929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2_s2_0" descr="f_206345e6febe5c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473907"/>
            <a:ext cx="68326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立体几何 · 二面角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用空间向量求二面角 B–PC–D 的余弦值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114117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114117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8851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四棱锥 P-ABCD 中，底面 ABCD 是边长为 2 的正方形，PA ⊥ 底面，PA = 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。求二面角 B–PC–D 的余弦值。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71393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573475"/>
            <a:ext cx="2926080" cy="83393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求半平面 PDC 的法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向量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4535424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同法处理另一个半平面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750515"/>
            <a:ext cx="11887" cy="337596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30207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2_s1_0" descr="f_01dce712af1aa25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805379"/>
            <a:ext cx="7199071" cy="553774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368929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2_s2_0" descr="f_ec31974d5f984da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473907"/>
            <a:ext cx="6832600" cy="558800"/>
          </a:xfrm>
          <a:prstGeom prst="rect">
            <a:avLst/>
          </a:prstGeom>
        </p:spPr>
      </p:pic>
      <p:sp>
        <p:nvSpPr>
          <p:cNvPr id="23" name="tag_dot"/>
          <p:cNvSpPr/>
          <p:nvPr/>
        </p:nvSpPr>
        <p:spPr>
          <a:xfrm>
            <a:off x="3995928" y="4357827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tex_p2_s3_0" descr="f_f64d2b514a4732c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142435"/>
            <a:ext cx="68580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11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立体几何 · 二面角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用空间向量求二面角 B–PC–D 的余弦值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114117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114117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8851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四棱锥 P-ABCD 中，底面 ABCD 是边长为 2 的正方形，PA ⊥ 底面，PA = 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。求二面角 B–PC–D 的余弦值。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71393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573475"/>
            <a:ext cx="2926080" cy="83393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算两法向量夹角的余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弦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4535424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这只是法向量夹角，还没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定号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750515"/>
            <a:ext cx="11887" cy="337596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47619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30207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2_s3_0" descr="f_43dbafc53b6543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805379"/>
            <a:ext cx="6858000" cy="5588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8480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2_s4_0" descr="f_bedaf03f6cb1555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473907"/>
            <a:ext cx="5372100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立体几何 · 二面角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2　用空间向量求二面角 B–PC–D 的余弦值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114117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114117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8851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四棱锥 P-ABCD 中，底面 ABCD 是边长为 2 的正方形，PA ⊥ 底面，PA = 2</a:t>
            </a:r>
          </a:p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。求二面角 B–PC–D 的余弦值。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71393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573475"/>
            <a:ext cx="2926080" cy="83393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结论：判断钝角并定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号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4535424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观察图形定号，别只算不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判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750515"/>
            <a:ext cx="11887" cy="337596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47619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302077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2_s3_0" descr="f_43dbafc53b65432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805379"/>
            <a:ext cx="6858000" cy="5588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38480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2_s4_0" descr="f_c39c12818154870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473907"/>
            <a:ext cx="5372100" cy="876300"/>
          </a:xfrm>
          <a:prstGeom prst="rect">
            <a:avLst/>
          </a:prstGeom>
        </p:spPr>
      </p:pic>
      <p:sp>
        <p:nvSpPr>
          <p:cNvPr id="24" name="tag_dot"/>
          <p:cNvSpPr/>
          <p:nvPr/>
        </p:nvSpPr>
        <p:spPr>
          <a:xfrm>
            <a:off x="3995928" y="4783277"/>
            <a:ext cx="128016" cy="128016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5" name="tex_p2_s5_0" descr="f_37f33397a9cee70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459935"/>
            <a:ext cx="6604000" cy="7747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线性方程组 · 高斯消元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3　用增广矩阵的行变换解三元一次方程组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01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解方程组：x + 2y − z = 2，2x − y + 3z = 9，−x + y + 2z = 3。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写出增广矩阵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竖线左边是系数，右边是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常数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979521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3_s1_0" descr="f_18ead367216dc55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33020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线性方程组 · 高斯消元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3　用增广矩阵的行变换解三元一次方程组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02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解方程组：x + 2y − z = 2，2x − y + 3z = 9，−x + y + 2z = 3。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第一列消元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用第一行把第一列其余项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打成 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dot"/>
          <p:cNvSpPr/>
          <p:nvPr/>
        </p:nvSpPr>
        <p:spPr>
          <a:xfrm>
            <a:off x="3995928" y="29795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tex_p3_s1_0" descr="f_c8acc966f307c93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3302000" cy="1270000"/>
          </a:xfrm>
          <a:prstGeom prst="rect">
            <a:avLst/>
          </a:prstGeom>
        </p:spPr>
      </p:pic>
      <p:sp>
        <p:nvSpPr>
          <p:cNvPr id="21" name="tag_dot"/>
          <p:cNvSpPr/>
          <p:nvPr/>
        </p:nvSpPr>
        <p:spPr>
          <a:xfrm>
            <a:off x="3995928" y="43592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tex_p3_s2_0" descr="f_8e54865e379c3e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788257"/>
            <a:ext cx="48133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线性方程组 · 高斯消元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3　用增广矩阵的行变换解三元一次方程组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03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解方程组：x + 2y − z = 2，2x − y + 3z = 9，−x + y + 2z = 3。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833932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第二列消元，化成阶</a:t>
            </a:r>
          </a:p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梯形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4138574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先把主元化成 1，后面更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好算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2 步已完成，下面第 2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9795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3_s2_0" descr="f_895b3fbc7d40dd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4813300" cy="12700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43592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3_s3_0" descr="f_ad1f26a7ecf7a38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788257"/>
            <a:ext cx="5067300" cy="1270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线性方程组 · 高斯消元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3　用增广矩阵的行变换解三元一次方程组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04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解方程组：x + 2y − z = 2，2x − y + 3z = 9，−x + y + 2z = 3。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回代求解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437083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从最后一行往上逐个代回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9795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3_s3_0" descr="f_e10103282399a8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5067300" cy="12700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4003649"/>
            <a:ext cx="128016" cy="128016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3_s4_0" descr="f_f63351acd066a97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788257"/>
            <a:ext cx="6146800" cy="558800"/>
          </a:xfrm>
          <a:prstGeom prst="rect">
            <a:avLst/>
          </a:prstGeom>
        </p:spPr>
      </p:pic>
      <p:pic>
        <p:nvPicPr>
          <p:cNvPr id="24" name="tex_p3_s4_1" descr="f_0557f65ca452b9e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456785"/>
            <a:ext cx="56388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解题步骤演示 · 线性方程组 · 高斯消元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题 3　用增广矩阵的行变换解三元一次方程组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9806000" y="429768"/>
            <a:ext cx="1699895" cy="402336"/>
          </a:xfrm>
          <a:prstGeom prst="roundRect">
            <a:avLst>
              <a:gd name="adj" fmla="val 28000"/>
            </a:avLst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STEP 05 / 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389888"/>
            <a:ext cx="10820095" cy="744321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389888"/>
            <a:ext cx="68580" cy="744321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12"/>
          <p:cNvSpPr txBox="1"/>
          <p:nvPr/>
        </p:nvSpPr>
        <p:spPr>
          <a:xfrm>
            <a:off x="832104" y="1572768"/>
            <a:ext cx="868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题目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1700784" y="1517904"/>
            <a:ext cx="9658807" cy="48828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4000"/>
              </a:lnSpc>
              <a:spcAft>
                <a:spcPts val="0"/>
              </a:spcAft>
            </a:pPr>
            <a:r>
              <a:rPr sz="2100" b="0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解方程组：x + 2y − z = 2，2x − y + 3z = 9，−x + y + 2z = 3。</a:t>
            </a:r>
          </a:p>
        </p:txBody>
      </p:sp>
      <p:sp>
        <p:nvSpPr>
          <p:cNvPr id="15" name="h1_14"/>
          <p:cNvSpPr txBox="1"/>
          <p:nvPr/>
        </p:nvSpPr>
        <p:spPr>
          <a:xfrm>
            <a:off x="685800" y="2317089"/>
            <a:ext cx="2926080" cy="7924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685800" y="3176625"/>
            <a:ext cx="2926080" cy="46268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6000"/>
              </a:lnSpc>
              <a:spcAft>
                <a:spcPts val="0"/>
              </a:spcAft>
            </a:pPr>
            <a:r>
              <a:rPr sz="21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结论</a:t>
            </a:r>
          </a:p>
        </p:txBody>
      </p:sp>
      <p:sp>
        <p:nvSpPr>
          <p:cNvPr id="17" name="cap_16"/>
          <p:cNvSpPr txBox="1"/>
          <p:nvPr/>
        </p:nvSpPr>
        <p:spPr>
          <a:xfrm>
            <a:off x="685800" y="3767327"/>
            <a:ext cx="2926080" cy="782726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把解代回三个原方程逐一</a:t>
            </a:r>
          </a:p>
          <a:p>
            <a:pPr algn="l">
              <a:lnSpc>
                <a:spcPct val="126000"/>
              </a:lnSpc>
              <a:spcAft>
                <a:spcPts val="0"/>
              </a:spcAft>
            </a:pPr>
            <a:r>
              <a:rPr sz="18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验证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803904" y="2353665"/>
            <a:ext cx="11887" cy="3772814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cap_18"/>
          <p:cNvSpPr txBox="1"/>
          <p:nvPr/>
        </p:nvSpPr>
        <p:spPr>
          <a:xfrm>
            <a:off x="3995928" y="2079345"/>
            <a:ext cx="6583680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（承上）前 3 步已完成，下面第 3 步为衔接</a:t>
            </a:r>
          </a:p>
        </p:txBody>
      </p:sp>
      <p:sp>
        <p:nvSpPr>
          <p:cNvPr id="20" name="tag_dot"/>
          <p:cNvSpPr/>
          <p:nvPr/>
        </p:nvSpPr>
        <p:spPr>
          <a:xfrm>
            <a:off x="3995928" y="2979521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tex_p3_s3_0" descr="f_e10103282399a8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8536" y="2408529"/>
            <a:ext cx="5067300" cy="1270000"/>
          </a:xfrm>
          <a:prstGeom prst="rect">
            <a:avLst/>
          </a:prstGeom>
        </p:spPr>
      </p:pic>
      <p:sp>
        <p:nvSpPr>
          <p:cNvPr id="22" name="tag_dot"/>
          <p:cNvSpPr/>
          <p:nvPr/>
        </p:nvSpPr>
        <p:spPr>
          <a:xfrm>
            <a:off x="3995928" y="4003649"/>
            <a:ext cx="128016" cy="128016"/>
          </a:xfrm>
          <a:prstGeom prst="ellipse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tex_p3_s4_0" descr="f_f212079d4bd277c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88536" y="3788257"/>
            <a:ext cx="6146800" cy="558800"/>
          </a:xfrm>
          <a:prstGeom prst="rect">
            <a:avLst/>
          </a:prstGeom>
        </p:spPr>
      </p:pic>
      <p:pic>
        <p:nvPicPr>
          <p:cNvPr id="24" name="tex_p3_s4_1" descr="f_131965ad3331876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8536" y="4456785"/>
            <a:ext cx="5638800" cy="558800"/>
          </a:xfrm>
          <a:prstGeom prst="rect">
            <a:avLst/>
          </a:prstGeom>
        </p:spPr>
      </p:pic>
      <p:sp>
        <p:nvSpPr>
          <p:cNvPr id="25" name="tag_dot"/>
          <p:cNvSpPr/>
          <p:nvPr/>
        </p:nvSpPr>
        <p:spPr>
          <a:xfrm>
            <a:off x="3995928" y="5340705"/>
            <a:ext cx="128016" cy="128016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tex_p3_s5_0" descr="f_0a500c1455159c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88536" y="5125313"/>
            <a:ext cx="2908300" cy="5588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g_page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ooter_left"/>
          <p:cNvSpPr txBox="1"/>
          <p:nvPr/>
        </p:nvSpPr>
        <p:spPr>
          <a:xfrm>
            <a:off x="685800" y="6364224"/>
            <a:ext cx="7574066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高中数学 · 解题步骤演示 · 逐步累积版</a:t>
            </a:r>
          </a:p>
        </p:txBody>
      </p:sp>
      <p:sp>
        <p:nvSpPr>
          <p:cNvPr id="4" name="footer_right"/>
          <p:cNvSpPr txBox="1"/>
          <p:nvPr/>
        </p:nvSpPr>
        <p:spPr>
          <a:xfrm>
            <a:off x="10042855" y="6364224"/>
            <a:ext cx="1463040" cy="35052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r">
              <a:lnSpc>
                <a:spcPct val="100000"/>
              </a:lnSpc>
              <a:spcAft>
                <a:spcPts val="600"/>
              </a:spcAft>
            </a:pPr>
            <a:r>
              <a:rPr sz="1200" b="0">
                <a:solidFill>
                  <a:srgbClr val="6B7A8C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  <p:sp>
        <p:nvSpPr>
          <p:cNvPr id="5" name="Rectangle 4"/>
          <p:cNvSpPr/>
          <p:nvPr/>
        </p:nvSpPr>
        <p:spPr>
          <a:xfrm>
            <a:off x="685800" y="6272784"/>
            <a:ext cx="10820095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ag_5"/>
          <p:cNvSpPr txBox="1"/>
          <p:nvPr/>
        </p:nvSpPr>
        <p:spPr>
          <a:xfrm>
            <a:off x="685800" y="128015"/>
            <a:ext cx="6492057" cy="32004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方法提炼</a:t>
            </a:r>
          </a:p>
        </p:txBody>
      </p:sp>
      <p:sp>
        <p:nvSpPr>
          <p:cNvPr id="7" name="h1_6"/>
          <p:cNvSpPr txBox="1"/>
          <p:nvPr/>
        </p:nvSpPr>
        <p:spPr>
          <a:xfrm>
            <a:off x="685800" y="457200"/>
            <a:ext cx="8625535" cy="658368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30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三题共用的一套做题动作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1115568"/>
            <a:ext cx="786384" cy="41148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472184" y="1131112"/>
            <a:ext cx="10033711" cy="9525"/>
          </a:xfrm>
          <a:prstGeom prst="rect">
            <a:avLst/>
          </a:prstGeom>
          <a:solidFill>
            <a:srgbClr val="D6DD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ag_chip"/>
          <p:cNvSpPr/>
          <p:nvPr/>
        </p:nvSpPr>
        <p:spPr>
          <a:xfrm>
            <a:off x="10134295" y="429768"/>
            <a:ext cx="1371600" cy="402336"/>
          </a:xfrm>
          <a:prstGeom prst="roundRect">
            <a:avLst>
              <a:gd name="adj" fmla="val 28000"/>
            </a:avLst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总纲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85800" y="1536192"/>
            <a:ext cx="2533573" cy="3864863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536192"/>
            <a:ext cx="68580" cy="3864863"/>
          </a:xfrm>
          <a:prstGeom prst="rect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ag_num"/>
          <p:cNvSpPr/>
          <p:nvPr/>
        </p:nvSpPr>
        <p:spPr>
          <a:xfrm>
            <a:off x="850392" y="1737360"/>
            <a:ext cx="475488" cy="475488"/>
          </a:xfrm>
          <a:prstGeom prst="ellipse">
            <a:avLst/>
          </a:prstGeom>
          <a:solidFill>
            <a:srgbClr val="0E7C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1</a:t>
            </a:r>
          </a:p>
        </p:txBody>
      </p:sp>
      <p:sp>
        <p:nvSpPr>
          <p:cNvPr id="14" name="body_13"/>
          <p:cNvSpPr txBox="1"/>
          <p:nvPr/>
        </p:nvSpPr>
        <p:spPr>
          <a:xfrm>
            <a:off x="832104" y="2377440"/>
            <a:ext cx="2240965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识结构</a:t>
            </a:r>
          </a:p>
        </p:txBody>
      </p:sp>
      <p:sp>
        <p:nvSpPr>
          <p:cNvPr id="15" name="tag_14"/>
          <p:cNvSpPr txBox="1"/>
          <p:nvPr/>
        </p:nvSpPr>
        <p:spPr>
          <a:xfrm>
            <a:off x="850392" y="2798063"/>
            <a:ext cx="2204389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0E7C86"/>
                </a:solidFill>
                <a:latin typeface="Microsoft YaHei"/>
                <a:ea typeface="Microsoft YaHei"/>
                <a:cs typeface="Microsoft YaHei"/>
              </a:rPr>
              <a:t>看到什么就用什么</a:t>
            </a:r>
          </a:p>
        </p:txBody>
      </p:sp>
      <p:sp>
        <p:nvSpPr>
          <p:cNvPr id="16" name="body_15"/>
          <p:cNvSpPr txBox="1"/>
          <p:nvPr/>
        </p:nvSpPr>
        <p:spPr>
          <a:xfrm>
            <a:off x="832104" y="3163824"/>
            <a:ext cx="2240965" cy="20726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等差×等比用错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位相减；有垂直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棱就建系用向量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；三元一次上矩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阵。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447973" y="1536192"/>
            <a:ext cx="2533573" cy="3864863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47973" y="1536192"/>
            <a:ext cx="68580" cy="3864863"/>
          </a:xfrm>
          <a:prstGeom prst="rect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ag_num"/>
          <p:cNvSpPr/>
          <p:nvPr/>
        </p:nvSpPr>
        <p:spPr>
          <a:xfrm>
            <a:off x="3612565" y="1737360"/>
            <a:ext cx="475488" cy="475488"/>
          </a:xfrm>
          <a:prstGeom prst="ellipse">
            <a:avLst/>
          </a:prstGeom>
          <a:solidFill>
            <a:srgbClr val="C886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2</a:t>
            </a:r>
          </a:p>
        </p:txBody>
      </p:sp>
      <p:sp>
        <p:nvSpPr>
          <p:cNvPr id="20" name="body_19"/>
          <p:cNvSpPr txBox="1"/>
          <p:nvPr/>
        </p:nvSpPr>
        <p:spPr>
          <a:xfrm>
            <a:off x="3594277" y="2377440"/>
            <a:ext cx="2240965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列步骤</a:t>
            </a:r>
          </a:p>
        </p:txBody>
      </p:sp>
      <p:sp>
        <p:nvSpPr>
          <p:cNvPr id="21" name="tag_20"/>
          <p:cNvSpPr txBox="1"/>
          <p:nvPr/>
        </p:nvSpPr>
        <p:spPr>
          <a:xfrm>
            <a:off x="3612565" y="2798063"/>
            <a:ext cx="2204389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C8861E"/>
                </a:solidFill>
                <a:latin typeface="Microsoft YaHei"/>
                <a:ea typeface="Microsoft YaHei"/>
                <a:cs typeface="Microsoft YaHei"/>
              </a:rPr>
              <a:t>先写框架再算数</a:t>
            </a:r>
          </a:p>
        </p:txBody>
      </p:sp>
      <p:sp>
        <p:nvSpPr>
          <p:cNvPr id="22" name="body_21"/>
          <p:cNvSpPr txBox="1"/>
          <p:nvPr/>
        </p:nvSpPr>
        <p:spPr>
          <a:xfrm>
            <a:off x="3594277" y="3163824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先按行写下这一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题的固定动作，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再逐行填数，别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边想边算跳步。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0147" y="1536192"/>
            <a:ext cx="2533573" cy="3864863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210147" y="1536192"/>
            <a:ext cx="68580" cy="3864863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ag_num"/>
          <p:cNvSpPr/>
          <p:nvPr/>
        </p:nvSpPr>
        <p:spPr>
          <a:xfrm>
            <a:off x="6374739" y="1737360"/>
            <a:ext cx="475488" cy="475488"/>
          </a:xfrm>
          <a:prstGeom prst="ellipse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3</a:t>
            </a:r>
          </a:p>
        </p:txBody>
      </p:sp>
      <p:sp>
        <p:nvSpPr>
          <p:cNvPr id="26" name="body_25"/>
          <p:cNvSpPr txBox="1"/>
          <p:nvPr/>
        </p:nvSpPr>
        <p:spPr>
          <a:xfrm>
            <a:off x="6356451" y="2377440"/>
            <a:ext cx="2240965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守细节</a:t>
            </a:r>
          </a:p>
        </p:txBody>
      </p:sp>
      <p:sp>
        <p:nvSpPr>
          <p:cNvPr id="27" name="tag_26"/>
          <p:cNvSpPr txBox="1"/>
          <p:nvPr/>
        </p:nvSpPr>
        <p:spPr>
          <a:xfrm>
            <a:off x="6374739" y="2798063"/>
            <a:ext cx="2204389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E0534B"/>
                </a:solidFill>
                <a:latin typeface="Microsoft YaHei"/>
                <a:ea typeface="Microsoft YaHei"/>
                <a:cs typeface="Microsoft YaHei"/>
              </a:rPr>
              <a:t>负号、定号、竖线</a:t>
            </a:r>
          </a:p>
        </p:txBody>
      </p:sp>
      <p:sp>
        <p:nvSpPr>
          <p:cNvPr id="28" name="body_27"/>
          <p:cNvSpPr txBox="1"/>
          <p:nvPr/>
        </p:nvSpPr>
        <p:spPr>
          <a:xfrm>
            <a:off x="6356451" y="3163824"/>
            <a:ext cx="2240965" cy="207263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错位相减守负号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；二面角守定号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；行变换整行同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步，别漏常数列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972321" y="1536192"/>
            <a:ext cx="2533573" cy="3864863"/>
          </a:xfrm>
          <a:prstGeom prst="roundRect">
            <a:avLst>
              <a:gd name="adj" fmla="val 6000"/>
            </a:avLst>
          </a:prstGeom>
          <a:solidFill>
            <a:srgbClr val="F5F7FA"/>
          </a:solidFill>
          <a:ln w="12700">
            <a:solidFill>
              <a:srgbClr val="D6DDE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972321" y="1536192"/>
            <a:ext cx="68580" cy="3864863"/>
          </a:xfrm>
          <a:prstGeom prst="rect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ag_num"/>
          <p:cNvSpPr/>
          <p:nvPr/>
        </p:nvSpPr>
        <p:spPr>
          <a:xfrm>
            <a:off x="9136913" y="1737360"/>
            <a:ext cx="475488" cy="475488"/>
          </a:xfrm>
          <a:prstGeom prst="ellipse">
            <a:avLst/>
          </a:prstGeom>
          <a:solidFill>
            <a:srgbClr val="142B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</a:rPr>
              <a:t>4</a:t>
            </a:r>
          </a:p>
        </p:txBody>
      </p:sp>
      <p:sp>
        <p:nvSpPr>
          <p:cNvPr id="32" name="body_31"/>
          <p:cNvSpPr txBox="1"/>
          <p:nvPr/>
        </p:nvSpPr>
        <p:spPr>
          <a:xfrm>
            <a:off x="9118625" y="2377440"/>
            <a:ext cx="2240965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必验算</a:t>
            </a:r>
          </a:p>
        </p:txBody>
      </p:sp>
      <p:sp>
        <p:nvSpPr>
          <p:cNvPr id="33" name="tag_32"/>
          <p:cNvSpPr txBox="1"/>
          <p:nvPr/>
        </p:nvSpPr>
        <p:spPr>
          <a:xfrm>
            <a:off x="9136913" y="2798063"/>
            <a:ext cx="2204389" cy="33528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回代是最后一步</a:t>
            </a:r>
          </a:p>
        </p:txBody>
      </p:sp>
      <p:sp>
        <p:nvSpPr>
          <p:cNvPr id="34" name="body_33"/>
          <p:cNvSpPr txBox="1"/>
          <p:nvPr/>
        </p:nvSpPr>
        <p:spPr>
          <a:xfrm>
            <a:off x="9118625" y="3163824"/>
            <a:ext cx="2240965" cy="1676400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求和用 n=1 回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代；法向量点乘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验零；方程组把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2000" b="0">
                <a:solidFill>
                  <a:srgbClr val="3D5474"/>
                </a:solidFill>
                <a:latin typeface="Microsoft YaHei"/>
                <a:ea typeface="Microsoft YaHei"/>
                <a:cs typeface="Microsoft YaHei"/>
              </a:rPr>
              <a:t>解代回三式。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85800" y="5602223"/>
            <a:ext cx="10820095" cy="524256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0534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85800" y="5602223"/>
            <a:ext cx="68580" cy="524256"/>
          </a:xfrm>
          <a:prstGeom prst="rect">
            <a:avLst/>
          </a:prstGeom>
          <a:solidFill>
            <a:srgbClr val="E053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body_36"/>
          <p:cNvSpPr txBox="1"/>
          <p:nvPr/>
        </p:nvSpPr>
        <p:spPr>
          <a:xfrm>
            <a:off x="886968" y="5785103"/>
            <a:ext cx="10417759" cy="426719"/>
          </a:xfrm>
          <a:prstGeom prst="rect">
            <a:avLst/>
          </a:prstGeom>
          <a:noFill/>
        </p:spPr>
        <p:txBody>
          <a:bodyPr wrap="square" lIns="182880" rIns="182880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42B50"/>
                </a:solidFill>
                <a:latin typeface="Microsoft YaHei"/>
                <a:ea typeface="Microsoft YaHei"/>
                <a:cs typeface="Microsoft YaHei"/>
              </a:rPr>
              <a:t>离堂检验：任选一题，只写「四个动作」的框架，不算数。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