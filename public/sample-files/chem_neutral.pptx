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场30秒不讲知识，先亮一个反差：把稀盐酸和氢氧化钠溶液当场混合，让学生看——没有气泡、没有沉淀、没有变色，表面上「什么都没发生」。提问：真的什么都没发生吗？把这个悬念挂到黑板角落，整节课回来收。</a:t>
            </a:r>
          </a:p>
          <a:p>
            <a:r>
              <a:rPr lang="zh-CN"/>
              <a:t>课前板书课题时把「中和」两个字圈出来：日常语里「中和」有折中、抵消的意思，本节要给它一个化学上的精确含义——这是本课的锚。</a:t>
            </a:r>
          </a:p>
          <a:p>
            <a:r>
              <a:rPr lang="zh-CN"/>
              <a:t>本页只报课题与课时，20秒内翻页，不要在封面上讲。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三张卡不要念完就走，要逼出共性。逐卡提问，先让学生用生活语言答（「酸多了就加点碱压一压」），再追问：这三件事在化学上是同一件事吗？</a:t>
            </a:r>
          </a:p>
          <a:p>
            <a:r>
              <a:rPr lang="zh-CN"/>
              <a:t>引导路径：三张卡的主角分别是胃酸(HCl)、蚁酸、土壤中的酸；解决办法分别是氢氧化铝、氨水/肥皂水、熟石灰(氢氧化钙)。板书成两列——左边全是酸，右边全是碱。学生自己就能说出「酸 + 碱」。</a:t>
            </a:r>
          </a:p>
          <a:p>
            <a:r>
              <a:rPr lang="zh-CN"/>
              <a:t>这里只建立「酸和碱能互相抵消」的直觉，不要提前抛出「中和反应」定义，更不要提 H+ 和 OH-，那是第8页的事。</a:t>
            </a:r>
          </a:p>
          <a:p>
            <a:r>
              <a:rPr lang="zh-CN"/>
              <a:t>预设学生疑问：「小苏打是碱吗？」——小苏打(碳酸氢钠)不是碱，是盐，它的水溶液显碱性。这个点先记在黑板一角，本节课不展开，第二课时讲盐时再回。老师心里要有数，别在这里被带偏15分钟。</a:t>
            </a:r>
          </a:p>
          <a:p>
            <a:r>
              <a:rPr lang="zh-CN"/>
              <a:t>本页约4分钟。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目标要念出来，而且要念「可观察的动词」：会做、会说、会画、会用。不要念成「理解中和反应」——理解不可观察，学生也无从自评。</a:t>
            </a:r>
          </a:p>
          <a:p>
            <a:r>
              <a:rPr lang="zh-CN"/>
              <a:t>每条目标口头绑定一个当堂验收动作：第一条对应第5-6页的实验，第二条对应第13页练习第1题，第三条对应第8页微观图后的当堂书写，第四条对应第13页练习第3题。告诉学生：这四件事下课前我都要抽查。</a:t>
            </a:r>
          </a:p>
          <a:p>
            <a:r>
              <a:rPr lang="zh-CN"/>
              <a:t>特别强调第三条的「会画」——本节课的分水岭不是背定义，是能不能在微观层面看见 H+ 和 OH- 结合成水。定义人人会背，实质只有画过的人才懂。</a:t>
            </a:r>
          </a:p>
          <a:p>
            <a:r>
              <a:rPr lang="zh-CN"/>
              <a:t>本页约1.5分钟，不要展开。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过渡页，10秒。一句话切换注意力：「既然混合时什么都看不见，我们就想办法让它看得见——这就是指示剂存在的意义。」</a:t>
            </a:r>
          </a:p>
          <a:p>
            <a:r>
              <a:rPr lang="zh-CN"/>
              <a:t>此时把封面挂的悬念取回：无现象 ≠ 无反应。化学里大量反应是无声无息的，科学家的本事就是造一个「翻译器」把看不见的变化翻译成看得见的颜色。</a:t>
            </a:r>
          </a:p>
          <a:p>
            <a:r>
              <a:rPr lang="zh-CN"/>
              <a:t>组织提示：本环节学生要动手，提前分好组(4人一组)，药品与仪器已上桌。此页时间用来做纪律约定，见下页备注的安全条目。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先讲流程再放手，全程约10分钟(讲2分钟，做6分钟，收2分钟)。</a:t>
            </a:r>
          </a:p>
          <a:p>
            <a:r>
              <a:rPr lang="zh-CN"/>
              <a:t>【安全提示，必须口头逐条落实】1) 稀盐酸和氢氧化钠溶液都有腐蚀性，沾到皮肤立即用大量流水冲洗、报告老师；2) 氢氧化钠溶液沾到眼睛后果最严重，全程不揉眼、不俯身正对烧杯口；3) 胶头滴管不能伸进液面以下，不能横放倒置，一管一药品不混用；4) 玻璃棒搅拌不要碰烧杯壁底；5) 反应放热，烧杯只摸外壁，不端起来对着人；6) 废液倒入指定回收缸，不倒水槽。</a:t>
            </a:r>
          </a:p>
          <a:p>
            <a:r>
              <a:rPr lang="zh-CN"/>
              <a:t>【三个操作关键，学生必错】其一：一定是往碱里滴酸，不能反过来——因为酚酞在碱中红、在酸和中性里都无色，只有「红→无色」这个消失点才是能盯住的终点信号。反过来做，全程无色，什么也看不见。</a:t>
            </a:r>
          </a:p>
          <a:p>
            <a:r>
              <a:rPr lang="zh-CN"/>
              <a:t>其二：必须逐滴加并搅拌。加快了会瞬间过量，红色「唰」地消失，学生会误以为终点很宽松。</a:t>
            </a:r>
          </a:p>
          <a:p>
            <a:r>
              <a:rPr lang="zh-CN"/>
              <a:t>其三：红色刚好消失就停手，多一滴就过量了——这直接埋伏第9页的那个坑。</a:t>
            </a:r>
          </a:p>
          <a:p>
            <a:r>
              <a:rPr lang="zh-CN"/>
              <a:t>巡视时重点看两件事：有没有人在滴加时不搅拌；有没有人猛冲一大股盐酸下去。后者留着当反面案例，第9页正好用。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让做完的小组先报现象，老师只做记录不做评价，等三四组报完再统一。</a:t>
            </a:r>
          </a:p>
          <a:p>
            <a:r>
              <a:rPr lang="zh-CN"/>
              <a:t>【追问链，本页的核心】</a:t>
            </a:r>
          </a:p>
          <a:p>
            <a:r>
              <a:rPr lang="zh-CN"/>
              <a:t>问1：颜色消失了，说明溶液里什么没了？——氢氧化钠(碱性没了)。</a:t>
            </a:r>
          </a:p>
          <a:p>
            <a:r>
              <a:rPr lang="zh-CN"/>
              <a:t>问2：氢氧化钠去哪了？总不能凭空消失。——被盐酸「用掉了」，发生了反应。</a:t>
            </a:r>
          </a:p>
          <a:p>
            <a:r>
              <a:rPr lang="zh-CN"/>
              <a:t>问3：可是我们既没看见气泡也没看见沉淀，凭什么说反应了？——两条证据：一是碱性消失(酚酞褪色)，二是放热(摸到温)。这两条合起来，足以判定发生了化学变化。</a:t>
            </a:r>
          </a:p>
          <a:p>
            <a:r>
              <a:rPr lang="zh-CN"/>
              <a:t>这里要把科学方法说透：判断反应发生，不一定非要看见「三态变化」，间接证据同样有效。这是本节课在方法论上的收获，比记住方程式更值钱。</a:t>
            </a:r>
          </a:p>
          <a:p>
            <a:r>
              <a:rPr lang="zh-CN"/>
              <a:t>【学生高频疑问1】「酚酞变色了，是酚酞和盐酸反应了吗？」——不是。酚酞只是遇碱变红的一个「探针」，它对环境的酸碱性作响应，不消耗、不参与主反应。用「温度计不产生温度」来类比。</a:t>
            </a:r>
          </a:p>
          <a:p>
            <a:r>
              <a:rPr lang="zh-CN"/>
              <a:t>【学生高频疑问2】「不加酚酞就没反应了？」——反应照常发生，加不加酚酞与反应无关。酚酞只是让我们「看见」。这个区别务必讲清，否则学生会以为指示剂是反应物。</a:t>
            </a:r>
          </a:p>
          <a:p>
            <a:r>
              <a:rPr lang="zh-CN"/>
              <a:t>配图说明：图中即为褪色瞬间的状态，指着图讲「就是这一滴的事」。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定义要板书，学生要抄，但重点在「两个必须同时」。</a:t>
            </a:r>
          </a:p>
          <a:p>
            <a:r>
              <a:rPr lang="zh-CN"/>
              <a:t>【反例辨析，当堂追问，这是本页的价值所在】</a:t>
            </a:r>
          </a:p>
          <a:p>
            <a:r>
              <a:rPr lang="zh-CN"/>
              <a:t>反例1：CuO + H2SO4 = CuSO4 + H2O ——产物是盐和水，是中和反应吗？不是！反应物里 CuO 是金属氧化物不是碱。学生错得最多的就是这一个，因为「盐+水」太像了。要点破：定义管两头，只对上产物那一头不算数。</a:t>
            </a:r>
          </a:p>
          <a:p>
            <a:r>
              <a:rPr lang="zh-CN"/>
              <a:t>反例2：CO2 + Ca(OH)2 = CaCO3↓ + H2O ——有碱、有盐、有水，是吗？不是！CO2 是非金属氧化物，不是酸。</a:t>
            </a:r>
          </a:p>
          <a:p>
            <a:r>
              <a:rPr lang="zh-CN"/>
              <a:t>反例3：Na2CO3 + 2HCl = 2NaCl + H2O + CO2↑ ——有酸，但 Na2CO3 是盐不是碱，不算。</a:t>
            </a:r>
          </a:p>
          <a:p>
            <a:r>
              <a:rPr lang="zh-CN"/>
              <a:t>把这三个反例写成小卡片贴黑板，下课前擦掉时再问一遍。</a:t>
            </a:r>
          </a:p>
          <a:p>
            <a:r>
              <a:rPr lang="zh-CN"/>
              <a:t>【关于「盐」】学生一听「盐」就想到食盐。要澄清：化学里的盐是一大类物质，是由金属离子(或铵根)和酸根离子构成的化合物，NaCl 只是其中最有名的一个。硫酸铜、碳酸钙都是盐。</a:t>
            </a:r>
          </a:p>
          <a:p>
            <a:r>
              <a:rPr lang="zh-CN"/>
              <a:t>【关于「复分解」】只需交代从属关系，别在这里展开复分解的条件，那是后面的内容。一句话：所有中和反应都是复分解反应，但复分解反应不都是中和反应。</a:t>
            </a:r>
          </a:p>
          <a:p>
            <a:r>
              <a:rPr lang="zh-CN"/>
              <a:t>本页约5分钟。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本节课的最高点，值得花8分钟，讲不透这一页，前面全白讲。</a:t>
            </a:r>
          </a:p>
          <a:p>
            <a:r>
              <a:rPr lang="zh-CN"/>
              <a:t>【怎么讲】不要直接念结论，让学生跟着画。发白纸或用课本空白处：先画四种离子(用不同形状代表 H+、Cl-、Na+、OH-)在水里乱跑，再问：谁跟谁能结合成一个稳定的、不再电离的东西？——只有 H+ 和 OH- 能变成 H2O。Na+ 和 Cl- 结合成 NaCl，但 NaCl 在水里照样电离成离子，等于没结合，所以它们还在原地漂着。</a:t>
            </a:r>
          </a:p>
          <a:p>
            <a:r>
              <a:rPr lang="zh-CN"/>
              <a:t>结论：中和反应的实质，就是 H+ + OH- = H2O。参与的只有这两个离子，其余的叫「旁观离子」。</a:t>
            </a:r>
          </a:p>
          <a:p>
            <a:r>
              <a:rPr lang="zh-CN"/>
              <a:t>【为什么这个视角重要】学生这时应该自己反应过来：既然实质只是 H+ 和 OH- 结合，那换成硫酸和氢氧化钾，实质还是 H+ + OH- = H2O。一个式子管住所有中和反应——这就是从宏观走向微观的威力。可以当场追问：H2SO4 + 2KOH 的实质是什么？答案还是 H+ + OH- = H2O。</a:t>
            </a:r>
          </a:p>
          <a:p>
            <a:r>
              <a:rPr lang="zh-CN"/>
              <a:t>【学生高频疑问】「Na+ 和 Cl- 不是也变成 NaCl 了吗？为什么说没参与？」——因为它们在反应前后都以自由离子形式存在，没有变化。我们看到白色晶体，是蒸干水以后的事，不是反应本身。这里可以补一句：所以中和反应「看不出现象」的根源就在这——真正变化的 H+ 和 OH- 本来就是无色的，变成的水也是无色的。前后都无色，当然看不见。这句话把第6页的悬念彻底闭环。</a:t>
            </a:r>
          </a:p>
          <a:p>
            <a:r>
              <a:rPr lang="zh-CN"/>
              <a:t>【易错】写成 H+ + OH- → H2O↓ 是错的，水不是沉淀，不加箭头。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全课最大的坑，必须挖开让学生自己掉一次。约6分钟。</a:t>
            </a:r>
          </a:p>
          <a:p>
            <a:r>
              <a:rPr lang="zh-CN"/>
              <a:t>【设陷阱】先直接问：「酚酞变无色了，说明溶液是中性的，对不对？」——绝大多数学生会点头。让他们举手表决，记下人数。</a:t>
            </a:r>
          </a:p>
          <a:p>
            <a:r>
              <a:rPr lang="zh-CN"/>
              <a:t>【引爆】然后追问：如果我手抖，多滴了十滴盐酸进去，颜色会变吗？——不变，还是无色。那这时候溶液是中性吗？——不是，是酸性！</a:t>
            </a:r>
          </a:p>
          <a:p>
            <a:r>
              <a:rPr lang="zh-CN"/>
              <a:t>结论砸下来：酚酞无色只能说明「不是碱性」，它无法区分中性和酸性。所以「中和反应后溶液呈中性」是错的，只有恰好完全反应时才是中性；酸过量呈酸性，碱过量(酚酞会保持红色)呈碱性。</a:t>
            </a:r>
          </a:p>
          <a:p>
            <a:r>
              <a:rPr lang="zh-CN"/>
              <a:t>【为什么用酚酞不用石蕊】学生一定会问。答：石蕊在酸中红、中性紫、碱中蓝，紫色和蓝色差别不够刺眼，终点看不准；酚酞是「红→无色」，是一个从有到无的开关式信号，终点最好判断。这就是为什么滴定实验几乎都用酚酞。可以补一句：但正因为酚酞在酸性和中性里都无色，它才有上面那个「测不出过量」的短板——工具没有完美的，用之前要知道它的边界。</a:t>
            </a:r>
          </a:p>
          <a:p>
            <a:r>
              <a:rPr lang="zh-CN"/>
              <a:t>【追问，检验是否真懂】那怎么才能知道到底是恰好中和还是酸过量？——三条路：加石蕊看是否变红；测 pH；加锌粒/碳酸钠看有没有气泡。让学生说，别老师说。</a:t>
            </a:r>
          </a:p>
          <a:p>
            <a:r>
              <a:rPr lang="zh-CN"/>
              <a:t>【常见误解，一并纠正】「中和 = 中性」是望文生义。中和反应指的是酸碱生成盐和水这个过程，跟结果是不是中性没有必然联系。这个词是坑，讲明白它。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过渡页，10秒。一句话：「一个 H+ + OH- = H2O，管着从你的胃到一整片农田。」</a:t>
            </a:r>
          </a:p>
          <a:p>
            <a:r>
              <a:rPr lang="zh-CN"/>
              <a:t>心理提示：这里学生刚经历完微观和陷阱，认知负荷已高，本环节要明显降速降难，改成「讲故事+联系生活」的调性，让脑子缓一缓。</a:t>
            </a:r>
          </a:p>
          <a:p>
            <a:r>
              <a:rPr lang="zh-CN"/>
              <a:t>回扣第2页的三个麻烦：告诉学生，现在你们已经有能力回答开课时那三个问题了。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用图讲，指着图问：农民撒的白色粉末是什么？为什么撒它？约3分钟。</a:t>
            </a:r>
          </a:p>
          <a:p>
            <a:r>
              <a:rPr lang="zh-CN"/>
              <a:t>【为什么选熟石灰而不是烧碱】这是本页真正的教学点，务必追问。同样是碱，同样能中和酸，为什么农业上只用熟石灰？三个理由：一是氢氧化钙腐蚀性弱得多，对作物和人相对安全；二是它微溶于水，作用温和持久，不会一下子把土壤变成强碱；三是便宜，一亩地成本几块钱，氢氧化钠用不起。</a:t>
            </a:r>
          </a:p>
          <a:p>
            <a:r>
              <a:rPr lang="zh-CN"/>
              <a:t>把这个结论提炼成一句话让学生记：化学选材，不只看「能不能反应」，还要看安全、成本、可控。这是化学从实验室走向生产的分界线，也是中考常考的评价类考点。</a:t>
            </a:r>
          </a:p>
          <a:p>
            <a:r>
              <a:rPr lang="zh-CN"/>
              <a:t>【延伸提问】撒多了会怎样？——土壤变碱性，一样种不好。呼应第9页：过量是普遍问题，不只是烧杯里的事。</a:t>
            </a:r>
          </a:p>
          <a:p>
            <a:r>
              <a:rPr lang="zh-CN"/>
              <a:t>【易错】熟石灰(氢氧化钙)、生石灰(氧化钙)、石灰石(碳酸钙)三者学生必混。板书三个化学式对照一遍，只有熟石灰是碱。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四张卡快速过，约3分钟，不要每张都展开，重在铺开视野。</a:t>
            </a:r>
          </a:p>
          <a:p>
            <a:r>
              <a:rPr lang="zh-CN"/>
              <a:t>【讲法】让学生举手认领：哪一件你自己经历过？由经历过的学生来讲现象，老师补化学。参与感比信息量重要。</a:t>
            </a:r>
          </a:p>
          <a:p>
            <a:r>
              <a:rPr lang="zh-CN"/>
              <a:t>【医疗卡的追问】为什么胃酸过多不直接吃氢氧化钠？——强碱，会把食道和胃烧穿。同上一页的逻辑：能反应 ≠ 能用。为什么氢氧化铝行？弱碱、难溶、温和。</a:t>
            </a:r>
          </a:p>
          <a:p>
            <a:r>
              <a:rPr lang="zh-CN"/>
              <a:t>【止痒卡的科学性提醒】蚊虫叮咬涂碱确实有一定道理(蚁酸是酸)，但止痒主要还是靠抗组胺，不要把它讲成万能解释。实事求是，别为了迎合课本把科学讲窄了——学生里有人会去查。</a:t>
            </a:r>
          </a:p>
          <a:p>
            <a:r>
              <a:rPr lang="zh-CN"/>
              <a:t>【工业卡】这是环保维度，一句话点到：工厂排废水前必须调 pH 到 6~9，否则违法。中和反应在这里是法律要求，不是选做题。</a:t>
            </a:r>
          </a:p>
          <a:p>
            <a:r>
              <a:rPr lang="zh-CN"/>
              <a:t>【别恋战】本页容易被学生带偏成生活答疑，控制在3分钟，到点就走。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计时6分钟，投影倒计时。独立完成，不许讨论——这是检测不是学习。</a:t>
            </a:r>
          </a:p>
          <a:p>
            <a:r>
              <a:rPr lang="zh-CN"/>
              <a:t>【时间分配】第1题1分钟，第2题2分钟，第3题2分钟，1分钟机动。到点收笔。</a:t>
            </a:r>
          </a:p>
          <a:p>
            <a:r>
              <a:rPr lang="zh-CN"/>
              <a:t>【成功标准要念出来】学生要知道「什么样算做对」。第1题只勾对不给分，必须说理由；第2题不配平不算对；第3题只答「不等于」不算，必须给出检验方法。把标准明说，学生才能自评。</a:t>
            </a:r>
          </a:p>
          <a:p>
            <a:r>
              <a:rPr lang="zh-CN"/>
              <a:t>【答案要点】第1题：只有 Ca(OH)2 + HNO3 是；CuO 是金属氧化物不是碱，CO2 是非金属氧化物不是酸。第2题：Ca(OH)2 + 2HCl = CaCl2 + 2H2O，实质 H+ + OH- = H2O。第3题：酚酞在中性和酸性中都无色，故无法区分；检验方法任答一种(石蕊/pH试纸/加锌粒或碳酸钠看气泡)。</a:t>
            </a:r>
          </a:p>
          <a:p>
            <a:r>
              <a:rPr lang="zh-CN"/>
              <a:t>【巡视重点】看第2题的配平，「2HCl」的那个2漏掉是最常见的错。看第1题有没有人把 CO2 + NaOH 勾上——勾上的说明第7页反例没听进去，讲评时点名请他说理由，不批评，让他自己发现。</a:t>
            </a:r>
          </a:p>
          <a:p>
            <a:r>
              <a:rPr lang="zh-CN"/>
              <a:t>【讲评】只讲错得最多的一题，2分钟，其余留到作业订正。不要逐题念答案，那是浪费。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小结页，约2分钟，让学生合上书复述这三个数再翻页。</a:t>
            </a:r>
          </a:p>
          <a:p>
            <a:r>
              <a:rPr lang="zh-CN"/>
              <a:t>【讲法】不要老师念，点三个学生，一人认领一个数，讲不出来的允许同桌补。这是最后一次抓漏。</a:t>
            </a:r>
          </a:p>
          <a:p>
            <a:r>
              <a:rPr lang="zh-CN"/>
              <a:t>【第三个数是重点】「7」故意写成「不一定是 7」，就是要把第9页的坑再钉一遍。全课如果只能记住一句话，就是这句：中和 ≠ 中性。可以让全班齐读一遍，土办法但有效。</a:t>
            </a:r>
          </a:p>
          <a:p>
            <a:r>
              <a:rPr lang="zh-CN"/>
              <a:t>【回收悬念】最后回到封面挂的那个问题：混合时什么都没发生吗？——发生了，只是变化的两个主角(H+ 和 OH-)和产物(H2O)都是无色的，所以我们看不见。所谓「没有现象」，只是我们的眼睛不够用，不是自然界安静。这句话作为本课的收尾金句。</a:t>
            </a:r>
          </a:p>
          <a:p>
            <a:r>
              <a:rPr lang="zh-CN"/>
              <a:t>【留白】讲完停两秒，别急着翻作业页，让这句话落地。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严格遵守双减：必做部分总量控制在10分钟以内，全班上限20分钟，挑战层完全自愿、不做不扣分、不进评价。这三条要当着学生面念出来，让他们安心。</a:t>
            </a:r>
          </a:p>
          <a:p>
            <a:r>
              <a:rPr lang="zh-CN"/>
              <a:t>【分层设计说明】必做面向全体，只做课本基础题加错题订正，不加码不刷题；选做是表达型任务，考的是能不能把知识讲给外行听——这比再做十道判断题有价值；挑战层是拓展视野，允许查网络、问家长，只交一句话结论即可。</a:t>
            </a:r>
          </a:p>
          <a:p>
            <a:r>
              <a:rPr lang="zh-CN"/>
              <a:t>【明确不布置什么】不布置抄写化学方程式10遍，不布置预习整节新课，不布置任何需要家长批改的内容。</a:t>
            </a:r>
          </a:p>
          <a:p>
            <a:r>
              <a:rPr lang="zh-CN"/>
              <a:t>【收缴与反馈】必做明早课代表收；选做自愿交，交了的老师一定当天回一句话，不打分；挑战层的下节课留2分钟给愿意分享的同学。承诺了就要做到，否则下次没人做。</a:t>
            </a:r>
          </a:p>
          <a:p>
            <a:r>
              <a:rPr lang="zh-CN"/>
              <a:t>【差异提示】班里基础薄弱的几个学生，只要求完成必做的第1题和错题订正，私下告知，不在全班点名。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结尾10秒，把金句留在屏幕上，让学生带着它走出教室。</a:t>
            </a:r>
          </a:p>
          <a:p>
            <a:r>
              <a:rPr lang="zh-CN"/>
              <a:t>【预告下节】这节课我们靠酚酞只能判断「是不是碱性」，太粗糙了。下节课学 pH，给酸碱性装上刻度尺，那时候我们就能回答「到底酸到什么程度」。给出期待。</a:t>
            </a:r>
          </a:p>
          <a:p>
            <a:r>
              <a:rPr lang="zh-CN"/>
              <a:t>【课后自查】留意三件事：一是本节课的坑(中和≠中性)有多少人在练习第3题上翻车，比例高就下节课开头补5分钟；二是实验环节有没有小组把酸碱滴反了，这类学生对指示剂原理没懂，需要单独说；三是回收废液，检查药品柜上锁。</a:t>
            </a:r>
          </a:p>
          <a:p>
            <a:r>
              <a:rPr lang="zh-CN"/>
              <a:t>【板书保留】黑板上那三个反例和 H+ + OH- = H2O 别擦，下节课开头还要用。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化学 · 九年级下册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酸和碱的中和反应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第十单元　课题2　第一课时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生活里的三个麻烦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胃里烧得慌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胃酸过多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医生开小苏打或氢氧化铝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为什么吃「碱性」的药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蚊子咬了一个包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蚊虫分泌蚁酸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涂肥皂水或氨水止痒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为什么涂「碱」不涂水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土壤板结酸化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南方酸性土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撒熟石灰改良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为什么是熟石灰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这节课要达成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100" b="0" i="0">
                <a:solidFill>
                  <a:srgbClr val="1E2A22"/>
                </a:solidFill>
                <a:latin typeface="Calibri"/>
                <a:ea typeface="Microsoft YaHei"/>
              </a:rPr>
              <a:t>会做：滴加酚酞的中和实验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800" b="0" i="0">
                <a:solidFill>
                  <a:srgbClr val="6B7A6F"/>
                </a:solidFill>
                <a:latin typeface="Calibri"/>
                <a:ea typeface="Microsoft YaHei"/>
              </a:rPr>
              <a:t>能独立说出为什么先滴酚酞再滴酸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100" b="0" i="0">
                <a:solidFill>
                  <a:srgbClr val="1E2A22"/>
                </a:solidFill>
                <a:latin typeface="Calibri"/>
                <a:ea typeface="Microsoft YaHei"/>
              </a:rPr>
              <a:t>会说：中和反应的定义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800" b="0" i="0">
                <a:solidFill>
                  <a:srgbClr val="6B7A6F"/>
                </a:solidFill>
                <a:latin typeface="Calibri"/>
                <a:ea typeface="Microsoft YaHei"/>
              </a:rPr>
              <a:t>能判断给定的4个反应是不是中和反应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100" b="0" i="0">
                <a:solidFill>
                  <a:srgbClr val="1E2A22"/>
                </a:solidFill>
                <a:latin typeface="Calibri"/>
                <a:ea typeface="Microsoft YaHei"/>
              </a:rPr>
              <a:t>会画：反应的微观实质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800" b="0" i="0">
                <a:solidFill>
                  <a:srgbClr val="6B7A6F"/>
                </a:solidFill>
                <a:latin typeface="Calibri"/>
                <a:ea typeface="Microsoft YaHei"/>
              </a:rPr>
              <a:t>能写出 H+ + OH- = H2O 并解释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100" b="0" i="0">
                <a:solidFill>
                  <a:srgbClr val="1E2A22"/>
                </a:solidFill>
                <a:latin typeface="Calibri"/>
                <a:ea typeface="Microsoft YaHei"/>
              </a:rPr>
              <a:t>会用：解释三个生活现象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800" b="0" i="0">
                <a:solidFill>
                  <a:srgbClr val="6B7A6F"/>
                </a:solidFill>
                <a:latin typeface="Calibri"/>
                <a:ea typeface="Microsoft YaHei"/>
              </a:rPr>
              <a:t>胃酸、蚊虫叮咬、土壤改良任选其一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E2A22"/>
                </a:solidFill>
                <a:latin typeface="Calibri"/>
                <a:ea typeface="Microsoft YaHei"/>
              </a:rPr>
              <a:t>做中学：让「没反应」现形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实验五步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1733550" y="2381250"/>
            <a:ext cx="8686800" cy="28575"/>
          </a:xfrm>
          <a:prstGeom prst="rect">
            <a:avLst/>
          </a:prstGeom>
          <a:solidFill>
            <a:srgbClr val="D7E2D6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5240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取碱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烧杯中加约2 mL 氢氧化钠稀溶液</a:t>
            </a:r>
          </a:p>
        </p:txBody>
      </p:sp>
      <p:sp>
        <p:nvSpPr>
          <p:cNvPr id="15" name="step15"/>
          <p:cNvSpPr/>
          <p:nvPr/>
        </p:nvSpPr>
        <p:spPr>
          <a:xfrm>
            <a:off x="36957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9337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滴指示剂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滴入2滴无色酚酞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观察：溶液变红</a:t>
            </a:r>
          </a:p>
        </p:txBody>
      </p:sp>
      <p:sp>
        <p:nvSpPr>
          <p:cNvPr id="17" name="step17"/>
          <p:cNvSpPr/>
          <p:nvPr/>
        </p:nvSpPr>
        <p:spPr>
          <a:xfrm>
            <a:off x="58674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1054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边滴边搅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用胶头滴管逐滴加入稀盐酸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玻璃棒不停搅拌</a:t>
            </a:r>
          </a:p>
        </p:txBody>
      </p:sp>
      <p:sp>
        <p:nvSpPr>
          <p:cNvPr id="19" name="step19"/>
          <p:cNvSpPr/>
          <p:nvPr/>
        </p:nvSpPr>
        <p:spPr>
          <a:xfrm>
            <a:off x="80391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72771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盯住终点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红色变浅、直至恰好消失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立即停止滴加</a:t>
            </a:r>
          </a:p>
        </p:txBody>
      </p:sp>
      <p:sp>
        <p:nvSpPr>
          <p:cNvPr id="21" name="step21"/>
          <p:cNvSpPr/>
          <p:nvPr/>
        </p:nvSpPr>
        <p:spPr>
          <a:xfrm>
            <a:off x="10210800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4488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记录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记下现象与滴加的大致滴数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触摸烧杯外壁：微热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看见了什么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2F7A4F"/>
                </a:solidFill>
                <a:latin typeface="Calibri"/>
                <a:ea typeface="Microsoft YaHei"/>
              </a:rPr>
              <a:t>红 → 浅红 → 无色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无气泡、无沉淀、无异味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唯一的信号：颜色消失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700" b="0" i="0">
                <a:solidFill>
                  <a:srgbClr val="6B7A6F"/>
                </a:solidFill>
                <a:latin typeface="Calibri"/>
                <a:ea typeface="Microsoft YaHei"/>
              </a:rPr>
              <a:t>酚酞是「翻译器」，本身不参与反应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烧杯外壁：微微发热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700" b="0" i="0">
                <a:solidFill>
                  <a:srgbClr val="6B7A6F"/>
                </a:solidFill>
                <a:latin typeface="Calibri"/>
                <a:ea typeface="Microsoft YaHei"/>
              </a:rPr>
              <a:t>放热，说明确有新物质生成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中和反应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200" b="0" i="0">
                <a:solidFill>
                  <a:srgbClr val="1E2A22"/>
                </a:solidFill>
                <a:latin typeface="Calibri"/>
                <a:ea typeface="Microsoft YaHei"/>
              </a:rPr>
              <a:t>定义：酸 + 碱 → 盐 + 水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NaOH + HCl = NaCl + H2O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200" b="0" i="0">
                <a:solidFill>
                  <a:srgbClr val="1E2A22"/>
                </a:solidFill>
                <a:latin typeface="Calibri"/>
                <a:ea typeface="Microsoft YaHei"/>
              </a:rPr>
              <a:t>三个要件缺一不可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反应物必须是酸和碱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产物必须是盐和水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两条同时满足才算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200" b="0" i="0">
                <a:solidFill>
                  <a:srgbClr val="1E2A22"/>
                </a:solidFill>
                <a:latin typeface="Calibri"/>
                <a:ea typeface="Microsoft YaHei"/>
              </a:rPr>
              <a:t>属于复分解反应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900" b="0" i="0">
                <a:solidFill>
                  <a:srgbClr val="6B7A6F"/>
                </a:solidFill>
                <a:latin typeface="Calibri"/>
                <a:ea typeface="Microsoft YaHei"/>
              </a:rPr>
              <a:t>中和是复分解的一种，反之不成立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微观实质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100" b="1" i="0">
                <a:solidFill>
                  <a:srgbClr val="2F7A4F"/>
                </a:solidFill>
                <a:latin typeface="Calibri"/>
                <a:ea typeface="Microsoft YaHei"/>
              </a:rPr>
              <a:t>H+ + OH- = H2O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900" b="0" i="0">
                <a:solidFill>
                  <a:srgbClr val="1E2A22"/>
                </a:solidFill>
                <a:latin typeface="Calibri"/>
                <a:ea typeface="Microsoft YaHei"/>
              </a:rPr>
              <a:t>反应前：四种离子自由游动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600" b="0" i="0">
                <a:solidFill>
                  <a:srgbClr val="6B7A6F"/>
                </a:solidFill>
                <a:latin typeface="Calibri"/>
                <a:ea typeface="Microsoft YaHei"/>
              </a:rPr>
              <a:t>H+、Cl-、Na+、OH-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900" b="0" i="0">
                <a:solidFill>
                  <a:srgbClr val="1E2A22"/>
                </a:solidFill>
                <a:latin typeface="Calibri"/>
                <a:ea typeface="Microsoft YaHei"/>
              </a:rPr>
              <a:t>只有 H+ 和 OH- 手拉手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600" b="0" i="0">
                <a:solidFill>
                  <a:srgbClr val="6B7A6F"/>
                </a:solidFill>
                <a:latin typeface="Calibri"/>
                <a:ea typeface="Microsoft YaHei"/>
              </a:rPr>
              <a:t>结合成水分子，从溶液里「退场」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900" b="0" i="0">
                <a:solidFill>
                  <a:srgbClr val="1E2A22"/>
                </a:solidFill>
                <a:latin typeface="Calibri"/>
                <a:ea typeface="Microsoft YaHei"/>
              </a:rPr>
              <a:t>Na+ 和 Cl- 全程旁观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600" b="0" i="0">
                <a:solidFill>
                  <a:srgbClr val="6B7A6F"/>
                </a:solidFill>
                <a:latin typeface="Calibri"/>
                <a:ea typeface="Microsoft YaHei"/>
              </a:rPr>
              <a:t>蒸干水才析出 NaCl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反应后一定是中性吗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2F7A4F"/>
                </a:solidFill>
                <a:latin typeface="Calibri"/>
                <a:ea typeface="Microsoft YaHei"/>
              </a:rPr>
              <a:t>恰好完全反应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酚酞：无色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溶液：中性，pH = 7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只含 NaCl 和 H2O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100" b="0" i="0">
                <a:solidFill>
                  <a:srgbClr val="6B7A6F"/>
                </a:solidFill>
                <a:latin typeface="Calibri"/>
                <a:ea typeface="Microsoft YaHei"/>
              </a:rPr>
              <a:t>这是理想的那一滴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2F7A4F"/>
                </a:solidFill>
                <a:latin typeface="Calibri"/>
                <a:ea typeface="Microsoft YaHei"/>
              </a:rPr>
              <a:t>盐酸滴多了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酚酞：仍无色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溶液：酸性，pH &lt; 7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含 NaCl、H2O 和剩余 HCl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100" b="0" i="0">
                <a:solidFill>
                  <a:srgbClr val="6B7A6F"/>
                </a:solidFill>
                <a:latin typeface="Calibri"/>
                <a:ea typeface="Microsoft YaHei"/>
              </a:rPr>
              <a:t>颜色一样，实质完全不同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E2A22"/>
                </a:solidFill>
                <a:latin typeface="Calibri"/>
                <a:ea typeface="Microsoft YaHei"/>
              </a:rPr>
              <a:t>用起来：从烧杯到世界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撒一把熟石灰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100" b="1" i="0">
                <a:solidFill>
                  <a:srgbClr val="2F7A4F"/>
                </a:solidFill>
                <a:latin typeface="Calibri"/>
                <a:ea typeface="Microsoft YaHei"/>
              </a:rPr>
              <a:t>酸性土壤改良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900" b="0" i="0">
                <a:solidFill>
                  <a:srgbClr val="1E2A22"/>
                </a:solidFill>
                <a:latin typeface="Calibri"/>
                <a:ea typeface="Microsoft YaHei"/>
              </a:rPr>
              <a:t>南方红壤偏酸，作物长不好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600" b="0" i="0">
                <a:solidFill>
                  <a:srgbClr val="6B7A6F"/>
                </a:solidFill>
                <a:latin typeface="Calibri"/>
                <a:ea typeface="Microsoft YaHei"/>
              </a:rPr>
              <a:t>根系吸不上养分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900" b="0" i="0">
                <a:solidFill>
                  <a:srgbClr val="1E2A22"/>
                </a:solidFill>
                <a:latin typeface="Calibri"/>
                <a:ea typeface="Microsoft YaHei"/>
              </a:rPr>
              <a:t>撒熟石灰：氢氧化钙中和土壤酸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600" b="0" i="0">
                <a:solidFill>
                  <a:srgbClr val="6B7A6F"/>
                </a:solidFill>
                <a:latin typeface="Calibri"/>
                <a:ea typeface="Microsoft YaHei"/>
              </a:rPr>
              <a:t>实质仍是 H+ + OH- = H2O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900" b="0" i="0">
                <a:solidFill>
                  <a:srgbClr val="1E2A22"/>
                </a:solidFill>
                <a:latin typeface="Calibri"/>
                <a:ea typeface="Microsoft YaHei"/>
              </a:rPr>
              <a:t>不能用氢氧化钠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600" b="0" i="0">
                <a:solidFill>
                  <a:srgbClr val="6B7A6F"/>
                </a:solidFill>
                <a:latin typeface="Calibri"/>
                <a:ea typeface="Microsoft YaHei"/>
              </a:rPr>
              <a:t>腐蚀性太强，会烧死作物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还有哪些地方在中和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医疗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胃酸过多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服氢氧化铝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Al(OH)3 + HCl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72427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止痒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蚊虫叮咬注入蚁酸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涂肥皂水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碱性中和蚁酸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5795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工业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含酸废水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加熟石灰处理再排放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达标排放的必修课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9162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日常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洗发后用护发素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中和残留碱性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头发喜微酸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当堂练习　6分钟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600" b="0" i="0">
                <a:solidFill>
                  <a:srgbClr val="1E2A22"/>
                </a:solidFill>
                <a:latin typeface="Calibri"/>
                <a:ea typeface="Microsoft YaHei"/>
              </a:rPr>
              <a:t>1. 判断：下列哪些是中和反应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3300" b="0" i="0">
                <a:solidFill>
                  <a:srgbClr val="6B7A6F"/>
                </a:solidFill>
                <a:latin typeface="Calibri"/>
                <a:ea typeface="Microsoft YaHei"/>
              </a:rPr>
              <a:t>CuO + H2SO4 / Ca(OH)2 + HNO3 / CO2 + NaOH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3300" b="0" i="0">
                <a:solidFill>
                  <a:srgbClr val="6B7A6F"/>
                </a:solidFill>
                <a:latin typeface="Calibri"/>
                <a:ea typeface="Microsoft YaHei"/>
              </a:rPr>
              <a:t>成功标准：判断对且能说出理由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600" b="0" i="0">
                <a:solidFill>
                  <a:srgbClr val="1E2A22"/>
                </a:solidFill>
                <a:latin typeface="Calibri"/>
                <a:ea typeface="Microsoft YaHei"/>
              </a:rPr>
              <a:t>2. 写出：氢氧化钙 + 稀盐酸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3300" b="0" i="0">
                <a:solidFill>
                  <a:srgbClr val="6B7A6F"/>
                </a:solidFill>
                <a:latin typeface="Calibri"/>
                <a:ea typeface="Microsoft YaHei"/>
              </a:rPr>
              <a:t>成功标准：化学式对、配平对、写出微观实质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600" b="0" i="0">
                <a:solidFill>
                  <a:srgbClr val="1E2A22"/>
                </a:solidFill>
                <a:latin typeface="Calibri"/>
                <a:ea typeface="Microsoft YaHei"/>
              </a:rPr>
              <a:t>3. 解释：为什么酚酞褪色不等于中性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3300" b="0" i="0">
                <a:solidFill>
                  <a:srgbClr val="6B7A6F"/>
                </a:solidFill>
                <a:latin typeface="Calibri"/>
                <a:ea typeface="Microsoft YaHei"/>
              </a:rPr>
              <a:t>成功标准：能提出一种检验酸过量的方法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带走三个数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2F7A4F"/>
                </a:solidFill>
                <a:latin typeface="Calibri"/>
                <a:ea typeface="Microsoft YaHei"/>
              </a:rPr>
              <a:t>1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E2A22"/>
                </a:solidFill>
                <a:latin typeface="Calibri"/>
                <a:ea typeface="Microsoft YaHei"/>
              </a:rPr>
              <a:t>一个实质</a:t>
            </a:r>
          </a:p>
          <a:p>
            <a:pPr algn="ctr">
              <a:buNone/>
            </a:pPr>
            <a:r>
              <a:rPr lang="zh-CN" sz="1600" b="0" i="0">
                <a:solidFill>
                  <a:srgbClr val="6B7A6F"/>
                </a:solidFill>
                <a:latin typeface="Calibri"/>
                <a:ea typeface="Microsoft YaHei"/>
              </a:rPr>
              <a:t>H+ + OH- = H2O 管住所有中和反应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2F7A4F"/>
                </a:solidFill>
                <a:latin typeface="Calibri"/>
                <a:ea typeface="Microsoft YaHei"/>
              </a:rPr>
              <a:t>2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E2A22"/>
                </a:solidFill>
                <a:latin typeface="Calibri"/>
                <a:ea typeface="Microsoft YaHei"/>
              </a:rPr>
              <a:t>两个必须</a:t>
            </a:r>
          </a:p>
          <a:p>
            <a:pPr algn="ctr">
              <a:buNone/>
            </a:pPr>
            <a:r>
              <a:rPr lang="zh-CN" sz="1600" b="0" i="0">
                <a:solidFill>
                  <a:srgbClr val="6B7A6F"/>
                </a:solidFill>
                <a:latin typeface="Calibri"/>
                <a:ea typeface="Microsoft YaHei"/>
              </a:rPr>
              <a:t>反应物是酸和碱，产物是盐和水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2F7A4F"/>
                </a:solidFill>
                <a:latin typeface="Calibri"/>
                <a:ea typeface="Microsoft YaHei"/>
              </a:rPr>
              <a:t>7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E2A22"/>
                </a:solidFill>
                <a:latin typeface="Calibri"/>
                <a:ea typeface="Microsoft YaHei"/>
              </a:rPr>
              <a:t>不一定是 7</a:t>
            </a:r>
          </a:p>
          <a:p>
            <a:pPr algn="ctr">
              <a:buNone/>
            </a:pPr>
            <a:r>
              <a:rPr lang="zh-CN" sz="1600" b="0" i="0">
                <a:solidFill>
                  <a:srgbClr val="6B7A6F"/>
                </a:solidFill>
                <a:latin typeface="Calibri"/>
                <a:ea typeface="Microsoft YaHei"/>
              </a:rPr>
              <a:t>恰好中和才呈中性，过量则不然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今日作业　20分钟内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必做 · 10分钟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课本 P64 第1、2题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订正课堂练习的错题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面向全体，不超10分钟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选做 · 5分钟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写一段话：向家人解释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为什么胃药是碱性的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写给不懂化学的人看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挑战 · 自愿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查一查：污水厂如何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把 pH 调到 6~9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不做不扣分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下课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1E2A22"/>
                </a:solidFill>
                <a:latin typeface="Calibri"/>
                <a:ea typeface="Microsoft YaHei"/>
              </a:rPr>
              <a:t>看不见，不等于没发生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6B7A6F"/>
                </a:solidFill>
                <a:latin typeface="Calibri"/>
                <a:ea typeface="Microsoft YaHei"/>
              </a:rPr>
              <a:t>下一课时　溶液的酸碱度 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