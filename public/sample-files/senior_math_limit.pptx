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a4fa628b524dce" /><Relationship Type="http://schemas.openxmlformats.org/officeDocument/2006/relationships/extended-properties" Target="/docProps/app.xml" Id="R01cc1b915b5944b7" /><Relationship Type="http://schemas.openxmlformats.org/officeDocument/2006/relationships/officeDocument" Target="/ppt/presentation.xml" Id="R4cebbf767e794e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fa6ffb82264abe"/>
  </p:sldMasterIdLst>
  <p:notesMasterIdLst>
    <p:notesMasterId xmlns:r="http://schemas.openxmlformats.org/officeDocument/2006/relationships" r:id="R79d3e78e7bfe436f"/>
  </p:notesMasterIdLst>
  <p:sldIdLst>
    <p:sldId xmlns:r="http://schemas.openxmlformats.org/officeDocument/2006/relationships" id="256" r:id="Refc8d0553ab74394"/>
    <p:sldId xmlns:r="http://schemas.openxmlformats.org/officeDocument/2006/relationships" id="257" r:id="Rc21c2cf973f44265"/>
    <p:sldId xmlns:r="http://schemas.openxmlformats.org/officeDocument/2006/relationships" id="258" r:id="Rb32e2675fd62419a"/>
    <p:sldId xmlns:r="http://schemas.openxmlformats.org/officeDocument/2006/relationships" id="259" r:id="Rd44bfe03586c44b4"/>
    <p:sldId xmlns:r="http://schemas.openxmlformats.org/officeDocument/2006/relationships" id="260" r:id="R8c9a6265a5d44dbb"/>
    <p:sldId xmlns:r="http://schemas.openxmlformats.org/officeDocument/2006/relationships" id="261" r:id="Ra7982bd903c7443a"/>
    <p:sldId xmlns:r="http://schemas.openxmlformats.org/officeDocument/2006/relationships" id="262" r:id="R3a29ed7ffdd74db8"/>
    <p:sldId xmlns:r="http://schemas.openxmlformats.org/officeDocument/2006/relationships" id="263" r:id="R4b82a5f0bc42460d"/>
    <p:sldId xmlns:r="http://schemas.openxmlformats.org/officeDocument/2006/relationships" id="264" r:id="R22cc3d28e02b4c89"/>
    <p:sldId xmlns:r="http://schemas.openxmlformats.org/officeDocument/2006/relationships" id="265" r:id="Rc637f75e07ec4ffc"/>
    <p:sldId xmlns:r="http://schemas.openxmlformats.org/officeDocument/2006/relationships" id="266" r:id="R7c193465b38f4071"/>
    <p:sldId xmlns:r="http://schemas.openxmlformats.org/officeDocument/2006/relationships" id="267" r:id="R946b4c3af0894b1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6058c5b9ca43ac" /><Relationship Type="http://schemas.openxmlformats.org/officeDocument/2006/relationships/slideMaster" Target="/ppt/slideMasters/slideMaster1.xml" Id="Reefa6ffb82264abe" /><Relationship Type="http://schemas.openxmlformats.org/officeDocument/2006/relationships/notesMaster" Target="/ppt/notesMasters/notesMaster1.xml" Id="R79d3e78e7bfe436f" /><Relationship Type="http://schemas.openxmlformats.org/officeDocument/2006/relationships/presProps" Target="/ppt/presProps.xml" Id="R058b983995f7461c" /><Relationship Type="http://schemas.openxmlformats.org/officeDocument/2006/relationships/tableStyles" Target="/ppt/tableStyles.xml" Id="R5b4f55c1014349ea" /><Relationship Type="http://schemas.openxmlformats.org/officeDocument/2006/relationships/slide" Target="/ppt/slides/slide1.xml" Id="Refc8d0553ab74394" /><Relationship Type="http://schemas.openxmlformats.org/officeDocument/2006/relationships/slide" Target="/ppt/slides/slide2.xml" Id="Rc21c2cf973f44265" /><Relationship Type="http://schemas.openxmlformats.org/officeDocument/2006/relationships/slide" Target="/ppt/slides/slide3.xml" Id="Rb32e2675fd62419a" /><Relationship Type="http://schemas.openxmlformats.org/officeDocument/2006/relationships/slide" Target="/ppt/slides/slide4.xml" Id="Rd44bfe03586c44b4" /><Relationship Type="http://schemas.openxmlformats.org/officeDocument/2006/relationships/slide" Target="/ppt/slides/slide5.xml" Id="R8c9a6265a5d44dbb" /><Relationship Type="http://schemas.openxmlformats.org/officeDocument/2006/relationships/slide" Target="/ppt/slides/slide6.xml" Id="Ra7982bd903c7443a" /><Relationship Type="http://schemas.openxmlformats.org/officeDocument/2006/relationships/slide" Target="/ppt/slides/slide7.xml" Id="R3a29ed7ffdd74db8" /><Relationship Type="http://schemas.openxmlformats.org/officeDocument/2006/relationships/slide" Target="/ppt/slides/slide8.xml" Id="R4b82a5f0bc42460d" /><Relationship Type="http://schemas.openxmlformats.org/officeDocument/2006/relationships/slide" Target="/ppt/slides/slide9.xml" Id="R22cc3d28e02b4c89" /><Relationship Type="http://schemas.openxmlformats.org/officeDocument/2006/relationships/slide" Target="/ppt/slides/slide10.xml" Id="Rc637f75e07ec4ffc" /><Relationship Type="http://schemas.openxmlformats.org/officeDocument/2006/relationships/slide" Target="/ppt/slides/slide11.xml" Id="R7c193465b38f4071" /><Relationship Type="http://schemas.openxmlformats.org/officeDocument/2006/relationships/slide" Target="/ppt/slides/slide12.xml" Id="R946b4c3af0894b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6d7e3e8a7e4a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77462247d14cc9" /><Relationship Type="http://schemas.openxmlformats.org/officeDocument/2006/relationships/notesMaster" Target="/ppt/notesMasters/notesMaster1.xml" Id="R50d302f53f9f44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74450caa77421b" /><Relationship Type="http://schemas.openxmlformats.org/officeDocument/2006/relationships/notesMaster" Target="/ppt/notesMasters/notesMaster1.xml" Id="R6f17536daae546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99239f38ab446f" /><Relationship Type="http://schemas.openxmlformats.org/officeDocument/2006/relationships/notesMaster" Target="/ppt/notesMasters/notesMaster1.xml" Id="Rdea7eb9ea9f74b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3ace1b73ca45c8" /><Relationship Type="http://schemas.openxmlformats.org/officeDocument/2006/relationships/notesMaster" Target="/ppt/notesMasters/notesMaster1.xml" Id="R33ba7652cf5745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14a1f298624b39" /><Relationship Type="http://schemas.openxmlformats.org/officeDocument/2006/relationships/notesMaster" Target="/ppt/notesMasters/notesMaster1.xml" Id="R8f03199e731447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8d4c11475b43db" /><Relationship Type="http://schemas.openxmlformats.org/officeDocument/2006/relationships/notesMaster" Target="/ppt/notesMasters/notesMaster1.xml" Id="Rf35531f44f3e48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ee267c7fbb467a" /><Relationship Type="http://schemas.openxmlformats.org/officeDocument/2006/relationships/notesMaster" Target="/ppt/notesMasters/notesMaster1.xml" Id="R59763311afa146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46d35a4fda48a4" /><Relationship Type="http://schemas.openxmlformats.org/officeDocument/2006/relationships/notesMaster" Target="/ppt/notesMasters/notesMaster1.xml" Id="R30b3d9ac24014d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f44538b7ded4780" /><Relationship Type="http://schemas.openxmlformats.org/officeDocument/2006/relationships/notesMaster" Target="/ppt/notesMasters/notesMaster1.xml" Id="R5484897e193748c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441e9fde3a42e5" /><Relationship Type="http://schemas.openxmlformats.org/officeDocument/2006/relationships/notesMaster" Target="/ppt/notesMasters/notesMaster1.xml" Id="Rc4c777019fe8492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39dd2ab5db849e6" /><Relationship Type="http://schemas.openxmlformats.org/officeDocument/2006/relationships/notesMaster" Target="/ppt/notesMasters/notesMaster1.xml" Id="Re9900772bc2c450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46308c6db37406d" /><Relationship Type="http://schemas.openxmlformats.org/officeDocument/2006/relationships/notesMaster" Target="/ppt/notesMasters/notesMaster1.xml" Id="R987d9e72e0a444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0567ce1b0e4e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9bc3bc397542ec" /><Relationship Type="http://schemas.openxmlformats.org/officeDocument/2006/relationships/slideLayout" Target="/ppt/slideLayouts/slideLayout1.xml" Id="R7ee749b5bace4b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e749b5bace4b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1ee6d3407424d" /><Relationship Type="http://schemas.openxmlformats.org/officeDocument/2006/relationships/notesSlide" Target="/ppt/notesSlides/notesSlide1.xml" Id="R37d71ea597704e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4847d62e64988" /><Relationship Type="http://schemas.openxmlformats.org/officeDocument/2006/relationships/notesSlide" Target="/ppt/notesSlides/notesSlide2.xml" Id="R194ce0a3867c48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9dce7ea70443d" /><Relationship Type="http://schemas.openxmlformats.org/officeDocument/2006/relationships/notesSlide" Target="/ppt/notesSlides/notesSlide3.xml" Id="R81ddee5c72a446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324099896f45de" /><Relationship Type="http://schemas.openxmlformats.org/officeDocument/2006/relationships/image" Target="/ppt/media/image.png" Id="R3cfac43c3b2d4097" /><Relationship Type="http://schemas.openxmlformats.org/officeDocument/2006/relationships/notesSlide" Target="/ppt/notesSlides/notesSlide4.xml" Id="Rbe68922f6d954b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ae6f8cd144d70" /><Relationship Type="http://schemas.openxmlformats.org/officeDocument/2006/relationships/image" Target="/ppt/media/image2.png" Id="Rd174e5b476504835" /><Relationship Type="http://schemas.openxmlformats.org/officeDocument/2006/relationships/notesSlide" Target="/ppt/notesSlides/notesSlide5.xml" Id="R5e463b221f674e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0df999289f4847" /><Relationship Type="http://schemas.openxmlformats.org/officeDocument/2006/relationships/notesSlide" Target="/ppt/notesSlides/notesSlide6.xml" Id="R9572ac3325b844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ad66cb09e4471" /><Relationship Type="http://schemas.openxmlformats.org/officeDocument/2006/relationships/image" Target="/ppt/media/image3.png" Id="R71033aba2fec45f3" /><Relationship Type="http://schemas.openxmlformats.org/officeDocument/2006/relationships/notesSlide" Target="/ppt/notesSlides/notesSlide7.xml" Id="R37f2e00eee3148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3f916b7414a49" /><Relationship Type="http://schemas.openxmlformats.org/officeDocument/2006/relationships/notesSlide" Target="/ppt/notesSlides/notesSlide8.xml" Id="R479e069387fe47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431e77df2e42a6" /><Relationship Type="http://schemas.openxmlformats.org/officeDocument/2006/relationships/notesSlide" Target="/ppt/notesSlides/notesSlide9.xml" Id="R256ff370fa804c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85b87c23d4e4d" /><Relationship Type="http://schemas.openxmlformats.org/officeDocument/2006/relationships/notesSlide" Target="/ppt/notesSlides/notesSlide10.xml" Id="Re1294755fe73497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342c39da3479a" /><Relationship Type="http://schemas.openxmlformats.org/officeDocument/2006/relationships/notesSlide" Target="/ppt/notesSlides/notesSlide11.xml" Id="R066cfff351bb486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bddae33a24c2c" /><Relationship Type="http://schemas.openxmlformats.org/officeDocument/2006/relationships/notesSlide" Target="/ppt/notesSlides/notesSlide12.xml" Id="R29196bd742b34e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cyan-orb">
            <a:extLst xmlns:a="http://schemas.openxmlformats.org/drawingml/2006/main">
              <a:ext uri="{FF2B5EF4-FFF2-40B4-BE49-F238E27FC236}">
                <a16:creationId xmlns:a16="http://schemas.microsoft.com/office/drawing/2014/main" id="{DC40C8B1-9BE4-4916-9282-80E072AA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4350"/>
            <a:ext cx="3333750" cy="3333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5F3">
              <a:alpha val="5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coral-orb">
            <a:extLst xmlns:a="http://schemas.openxmlformats.org/drawingml/2006/main">
              <a:ext uri="{FF2B5EF4-FFF2-40B4-BE49-F238E27FC236}">
                <a16:creationId xmlns:a16="http://schemas.microsoft.com/office/drawing/2014/main" id="{A86ACDBF-BA3C-44DB-B4C8-B9CEF438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14625"/>
            <a:ext cx="1095375" cy="1095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A5B">
              <a:alpha val="6666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-line-a">
            <a:extLst xmlns:a="http://schemas.openxmlformats.org/drawingml/2006/main">
              <a:ext uri="{FF2B5EF4-FFF2-40B4-BE49-F238E27FC236}">
                <a16:creationId xmlns:a16="http://schemas.microsoft.com/office/drawing/2014/main" id="{3D070C67-6453-47E0-9934-E4A2E5DC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05300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-line-b">
            <a:extLst xmlns:a="http://schemas.openxmlformats.org/drawingml/2006/main">
              <a:ext uri="{FF2B5EF4-FFF2-40B4-BE49-F238E27FC236}">
                <a16:creationId xmlns:a16="http://schemas.microsoft.com/office/drawing/2014/main" id="{F93E1DD9-8622-4C8B-807B-75CDFA0A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52950"/>
            <a:ext cx="2609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number">
            <a:extLst xmlns:a="http://schemas.openxmlformats.org/drawingml/2006/main">
              <a:ext uri="{FF2B5EF4-FFF2-40B4-BE49-F238E27FC236}">
                <a16:creationId xmlns:a16="http://schemas.microsoft.com/office/drawing/2014/main" id="{DB854681-E21D-4E54-B5DA-4312A9D9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6750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61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61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6" name="title-kicker">
            <a:extLst xmlns:a="http://schemas.openxmlformats.org/drawingml/2006/main">
              <a:ext uri="{FF2B5EF4-FFF2-40B4-BE49-F238E27FC236}">
                <a16:creationId xmlns:a16="http://schemas.microsoft.com/office/drawing/2014/main" id="{CC8903C9-4418-4F71-833B-AB0AAB17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高中数学 · 核心概念课</a:t>
            </a:r>
          </a:p>
        </p:txBody>
      </p:sp>
      <p:sp>
        <p:nvSpPr>
          <p:cNvPr id="7" name="title-main">
            <a:extLst xmlns:a="http://schemas.openxmlformats.org/drawingml/2006/main">
              <a:ext uri="{FF2B5EF4-FFF2-40B4-BE49-F238E27FC236}">
                <a16:creationId xmlns:a16="http://schemas.microsoft.com/office/drawing/2014/main" id="{8AB1933F-D829-4E4F-A524-5D38DD6E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65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函数的极限与连续</a:t>
            </a:r>
          </a:p>
        </p:txBody>
      </p:sp>
      <p:sp>
        <p:nvSpPr>
          <p:cNvPr id="8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FF815276-A028-484C-8459-3DCE336F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575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itle-subtitle">
            <a:extLst xmlns:a="http://schemas.openxmlformats.org/drawingml/2006/main">
              <a:ext uri="{FF2B5EF4-FFF2-40B4-BE49-F238E27FC236}">
                <a16:creationId xmlns:a16="http://schemas.microsoft.com/office/drawing/2014/main" id="{C59D1A5B-0E64-4969-A8C5-A7B01FA1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52825"/>
            <a:ext cx="685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从无限逼近到严格控制——局部极限与点态连续</a:t>
            </a:r>
          </a:p>
        </p:txBody>
      </p:sp>
      <p:sp>
        <p:nvSpPr>
          <p:cNvPr id="10" name="title-big-box">
            <a:extLst xmlns:a="http://schemas.openxmlformats.org/drawingml/2006/main">
              <a:ext uri="{FF2B5EF4-FFF2-40B4-BE49-F238E27FC236}">
                <a16:creationId xmlns:a16="http://schemas.microsoft.com/office/drawing/2014/main" id="{BF088D99-3C72-4C13-83FF-3BBA2F28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68580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11" name="title-big-text">
            <a:extLst xmlns:a="http://schemas.openxmlformats.org/drawingml/2006/main">
              <a:ext uri="{FF2B5EF4-FFF2-40B4-BE49-F238E27FC236}">
                <a16:creationId xmlns:a16="http://schemas.microsoft.com/office/drawing/2014/main" id="{C2B37F4A-62FB-4385-8A04-6EA7E2E8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6438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极限描述点附近的稳定趋势，连续要求这一趋势与函数值真正接合。</a:t>
            </a:r>
          </a:p>
        </p:txBody>
      </p:sp>
      <p:sp>
        <p:nvSpPr>
          <p:cNvPr id="12" name="title-lesson">
            <a:extLst xmlns:a="http://schemas.openxmlformats.org/drawingml/2006/main">
              <a:ext uri="{FF2B5EF4-FFF2-40B4-BE49-F238E27FC236}">
                <a16:creationId xmlns:a16="http://schemas.microsoft.com/office/drawing/2014/main" id="{B8578912-A7BA-4786-B415-95B59D37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第 10 讲</a:t>
            </a:r>
          </a:p>
        </p:txBody>
      </p:sp>
    </p:spTree>
    <p:extLst>
      <p:ext uri="{BB962C8B-B14F-4D97-AF65-F5344CB8AC3E}">
        <p14:creationId xmlns:p14="http://schemas.microsoft.com/office/powerpoint/2010/main" val="15734114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2">
            <a:extLst xmlns:a="http://schemas.openxmlformats.org/drawingml/2006/main">
              <a:ext uri="{FF2B5EF4-FFF2-40B4-BE49-F238E27FC236}">
                <a16:creationId xmlns:a16="http://schemas.microsoft.com/office/drawing/2014/main" id="{7C1FD9A6-18D6-4FC0-867F-808B39E4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问题驱动</a:t>
            </a:r>
          </a:p>
        </p:txBody>
      </p:sp>
      <p:sp>
        <p:nvSpPr>
          <p:cNvPr id="2" name="heading-2">
            <a:extLst xmlns:a="http://schemas.openxmlformats.org/drawingml/2006/main">
              <a:ext uri="{FF2B5EF4-FFF2-40B4-BE49-F238E27FC236}">
                <a16:creationId xmlns:a16="http://schemas.microsoft.com/office/drawing/2014/main" id="{E4068ED7-607C-47C8-ADBC-59D47B0F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这一问，熟悉的方法为什么不够？</a:t>
            </a:r>
          </a:p>
        </p:txBody>
      </p:sp>
      <p:sp>
        <p:nvSpPr>
          <p:cNvPr id="3" name="heading-accent-2">
            <a:extLst xmlns:a="http://schemas.openxmlformats.org/drawingml/2006/main">
              <a:ext uri="{FF2B5EF4-FFF2-40B4-BE49-F238E27FC236}">
                <a16:creationId xmlns:a16="http://schemas.microsoft.com/office/drawing/2014/main" id="{BC2DA9BA-B44A-4570-81D5-CFDF0A45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ook-mark">
            <a:extLst xmlns:a="http://schemas.openxmlformats.org/drawingml/2006/main">
              <a:ext uri="{FF2B5EF4-FFF2-40B4-BE49-F238E27FC236}">
                <a16:creationId xmlns:a16="http://schemas.microsoft.com/office/drawing/2014/main" id="{A396C770-D715-47CA-88DB-4D705707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2190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135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?</a:t>
            </a:r>
          </a:p>
        </p:txBody>
      </p:sp>
      <p:sp>
        <p:nvSpPr>
          <p:cNvPr id="5" name="hook-question">
            <a:extLst xmlns:a="http://schemas.openxmlformats.org/drawingml/2006/main">
              <a:ext uri="{FF2B5EF4-FFF2-40B4-BE49-F238E27FC236}">
                <a16:creationId xmlns:a16="http://schemas.microsoft.com/office/drawing/2014/main" id="{225416DA-D7E2-4E5B-B7F6-7D761D1E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52625"/>
            <a:ext cx="7524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函数在某点没有定义，为什么它在该点的极限仍可能存在？</a:t>
            </a:r>
          </a:p>
        </p:txBody>
      </p:sp>
      <p:sp>
        <p:nvSpPr>
          <p:cNvPr id="6" name="hook-note-box">
            <a:extLst xmlns:a="http://schemas.openxmlformats.org/drawingml/2006/main">
              <a:ext uri="{FF2B5EF4-FFF2-40B4-BE49-F238E27FC236}">
                <a16:creationId xmlns:a16="http://schemas.microsoft.com/office/drawing/2014/main" id="{DFD30D88-1BB7-42DF-A55F-D50396B9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24300"/>
            <a:ext cx="7524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7" name="hook-note-text">
            <a:extLst xmlns:a="http://schemas.openxmlformats.org/drawingml/2006/main">
              <a:ext uri="{FF2B5EF4-FFF2-40B4-BE49-F238E27FC236}">
                <a16:creationId xmlns:a16="http://schemas.microsoft.com/office/drawing/2014/main" id="{E58F26AF-8AA3-4964-B276-879E1195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7105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先说出你的直觉，再找出直觉中缺少的条件、参照对象或极限过程。</a:t>
            </a:r>
          </a:p>
        </p:txBody>
      </p:sp>
      <p:sp>
        <p:nvSpPr>
          <p:cNvPr id="8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68B2B29B-51F1-43FA-A7C1-9361A3BC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title-2">
            <a:extLst xmlns:a="http://schemas.openxmlformats.org/drawingml/2006/main">
              <a:ext uri="{FF2B5EF4-FFF2-40B4-BE49-F238E27FC236}">
                <a16:creationId xmlns:a16="http://schemas.microsoft.com/office/drawing/2014/main" id="{767F23A4-BBB3-4FC5-B355-236FAE55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函数的极限与连续</a:t>
            </a:r>
          </a:p>
        </p:txBody>
      </p:sp>
      <p:sp>
        <p:nvSpPr>
          <p:cNvPr id="10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31E29CE9-4AC1-4C00-AF22-12BD2D82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597823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3">
            <a:extLst xmlns:a="http://schemas.openxmlformats.org/drawingml/2006/main">
              <a:ext uri="{FF2B5EF4-FFF2-40B4-BE49-F238E27FC236}">
                <a16:creationId xmlns:a16="http://schemas.microsoft.com/office/drawing/2014/main" id="{E5FE6C64-566E-4739-A342-4D3A5EA9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学习路线</a:t>
            </a:r>
          </a:p>
        </p:txBody>
      </p:sp>
      <p:sp>
        <p:nvSpPr>
          <p:cNvPr id="2" name="heading-3">
            <a:extLst xmlns:a="http://schemas.openxmlformats.org/drawingml/2006/main">
              <a:ext uri="{FF2B5EF4-FFF2-40B4-BE49-F238E27FC236}">
                <a16:creationId xmlns:a16="http://schemas.microsoft.com/office/drawing/2014/main" id="{9903C817-3C82-4517-A464-291B7941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从直观图景走到可执行方法</a:t>
            </a:r>
          </a:p>
        </p:txBody>
      </p:sp>
      <p:sp>
        <p:nvSpPr>
          <p:cNvPr id="3" name="heading-accent-3">
            <a:extLst xmlns:a="http://schemas.openxmlformats.org/drawingml/2006/main">
              <a:ext uri="{FF2B5EF4-FFF2-40B4-BE49-F238E27FC236}">
                <a16:creationId xmlns:a16="http://schemas.microsoft.com/office/drawing/2014/main" id="{E6690604-AAA9-48E7-B321-F249A91A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eading-sub-3">
            <a:extLst xmlns:a="http://schemas.openxmlformats.org/drawingml/2006/main">
              <a:ext uri="{FF2B5EF4-FFF2-40B4-BE49-F238E27FC236}">
                <a16:creationId xmlns:a16="http://schemas.microsoft.com/office/drawing/2014/main" id="{AA337094-9E21-4C24-82C1-98B79C6A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075"/>
            <a:ext cx="994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每一步都解决前一步留下的问题</a:t>
            </a:r>
          </a:p>
        </p:txBody>
      </p:sp>
      <p:sp>
        <p:nvSpPr>
          <p:cNvPr id="5" name="route-n-0">
            <a:extLst xmlns:a="http://schemas.openxmlformats.org/drawingml/2006/main">
              <a:ext uri="{FF2B5EF4-FFF2-40B4-BE49-F238E27FC236}">
                <a16:creationId xmlns:a16="http://schemas.microsoft.com/office/drawing/2014/main" id="{1F8C497A-25D1-4E91-81E6-B7DC3577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1028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900" b="1">
                <a:solidFill>
                  <a:srgbClr val="2A78D6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2A78D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route-line-0">
            <a:extLst xmlns:a="http://schemas.openxmlformats.org/drawingml/2006/main">
              <a:ext uri="{FF2B5EF4-FFF2-40B4-BE49-F238E27FC236}">
                <a16:creationId xmlns:a16="http://schemas.microsoft.com/office/drawing/2014/main" id="{7BCAF130-7C64-4534-B07E-D3EEA5A5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3622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oute-h-0">
            <a:extLst xmlns:a="http://schemas.openxmlformats.org/drawingml/2006/main">
              <a:ext uri="{FF2B5EF4-FFF2-40B4-BE49-F238E27FC236}">
                <a16:creationId xmlns:a16="http://schemas.microsoft.com/office/drawing/2014/main" id="{15C62844-E9C6-4B37-8592-CEBC0229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383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看见结构</a:t>
            </a:r>
          </a:p>
        </p:txBody>
      </p:sp>
      <p:sp>
        <p:nvSpPr>
          <p:cNvPr id="8" name="route-b-0">
            <a:extLst xmlns:a="http://schemas.openxmlformats.org/drawingml/2006/main">
              <a:ext uri="{FF2B5EF4-FFF2-40B4-BE49-F238E27FC236}">
                <a16:creationId xmlns:a16="http://schemas.microsoft.com/office/drawing/2014/main" id="{5D6481D2-B6B7-4375-A77F-328B8676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1460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用概念图识别对象、变化与约束。</a:t>
            </a:r>
          </a:p>
        </p:txBody>
      </p:sp>
      <p:sp>
        <p:nvSpPr>
          <p:cNvPr id="9" name="route-n-1">
            <a:extLst xmlns:a="http://schemas.openxmlformats.org/drawingml/2006/main">
              <a:ext uri="{FF2B5EF4-FFF2-40B4-BE49-F238E27FC236}">
                <a16:creationId xmlns:a16="http://schemas.microsoft.com/office/drawing/2014/main" id="{428C5A45-4780-4909-BBF4-6ADD005B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1028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900" b="1">
                <a:solidFill>
                  <a:srgbClr val="F1B44C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F1B44C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route-line-1">
            <a:extLst xmlns:a="http://schemas.openxmlformats.org/drawingml/2006/main">
              <a:ext uri="{FF2B5EF4-FFF2-40B4-BE49-F238E27FC236}">
                <a16:creationId xmlns:a16="http://schemas.microsoft.com/office/drawing/2014/main" id="{6B853A44-F022-4576-B7E2-73D3A677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5814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oute-h-1">
            <a:extLst xmlns:a="http://schemas.openxmlformats.org/drawingml/2006/main">
              <a:ext uri="{FF2B5EF4-FFF2-40B4-BE49-F238E27FC236}">
                <a16:creationId xmlns:a16="http://schemas.microsoft.com/office/drawing/2014/main" id="{12E3CDAD-4449-4420-8161-14666DBF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575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读懂表达</a:t>
            </a:r>
          </a:p>
        </p:txBody>
      </p:sp>
      <p:sp>
        <p:nvSpPr>
          <p:cNvPr id="12" name="route-b-1">
            <a:extLst xmlns:a="http://schemas.openxmlformats.org/drawingml/2006/main">
              <a:ext uri="{FF2B5EF4-FFF2-40B4-BE49-F238E27FC236}">
                <a16:creationId xmlns:a16="http://schemas.microsoft.com/office/drawing/2014/main" id="{6B582124-2223-4D35-81F1-FF7657A4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3380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用 Manim 把定义或定理中的关系拆开。</a:t>
            </a:r>
          </a:p>
        </p:txBody>
      </p:sp>
      <p:sp>
        <p:nvSpPr>
          <p:cNvPr id="13" name="route-n-2">
            <a:extLst xmlns:a="http://schemas.openxmlformats.org/drawingml/2006/main">
              <a:ext uri="{FF2B5EF4-FFF2-40B4-BE49-F238E27FC236}">
                <a16:creationId xmlns:a16="http://schemas.microsoft.com/office/drawing/2014/main" id="{1B39CE84-6C8D-4F9B-9A3F-2E9C96BE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1028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9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route-line-2">
            <a:extLst xmlns:a="http://schemas.openxmlformats.org/drawingml/2006/main">
              <a:ext uri="{FF2B5EF4-FFF2-40B4-BE49-F238E27FC236}">
                <a16:creationId xmlns:a16="http://schemas.microsoft.com/office/drawing/2014/main" id="{034E8C5E-817B-4F08-B5A5-1FC07E4B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8006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oute-h-2">
            <a:extLst xmlns:a="http://schemas.openxmlformats.org/drawingml/2006/main">
              <a:ext uri="{FF2B5EF4-FFF2-40B4-BE49-F238E27FC236}">
                <a16:creationId xmlns:a16="http://schemas.microsoft.com/office/drawing/2014/main" id="{6D4F1C7E-44ED-4ECC-A60F-7B1A464F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767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迁移解决</a:t>
            </a:r>
          </a:p>
        </p:txBody>
      </p:sp>
      <p:sp>
        <p:nvSpPr>
          <p:cNvPr id="16" name="route-b-2">
            <a:extLst xmlns:a="http://schemas.openxmlformats.org/drawingml/2006/main">
              <a:ext uri="{FF2B5EF4-FFF2-40B4-BE49-F238E27FC236}">
                <a16:creationId xmlns:a16="http://schemas.microsoft.com/office/drawing/2014/main" id="{A6F66B89-A799-4B3B-8018-A79E3DBC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5300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把方法用于例题、辨错与真实情境。</a:t>
            </a:r>
          </a:p>
        </p:txBody>
      </p:sp>
      <p:sp>
        <p:nvSpPr>
          <p:cNvPr id="17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84609F4F-9136-497E-9AB1-760A6514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title-3">
            <a:extLst xmlns:a="http://schemas.openxmlformats.org/drawingml/2006/main">
              <a:ext uri="{FF2B5EF4-FFF2-40B4-BE49-F238E27FC236}">
                <a16:creationId xmlns:a16="http://schemas.microsoft.com/office/drawing/2014/main" id="{198F6DA7-6C31-4B68-B758-214E062C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函数的极限与连续</a:t>
            </a:r>
          </a:p>
        </p:txBody>
      </p:sp>
      <p:sp>
        <p:nvSpPr>
          <p:cNvPr id="19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A23F4050-8F27-4883-A769-A6E25F4D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302189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4">
            <a:extLst xmlns:a="http://schemas.openxmlformats.org/drawingml/2006/main">
              <a:ext uri="{FF2B5EF4-FFF2-40B4-BE49-F238E27FC236}">
                <a16:creationId xmlns:a16="http://schemas.microsoft.com/office/drawing/2014/main" id="{16051F3D-B8BC-4038-B364-4955EE03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概念理解</a:t>
            </a:r>
          </a:p>
        </p:txBody>
      </p:sp>
      <p:sp>
        <p:nvSpPr>
          <p:cNvPr id="2" name="heading-4">
            <a:extLst xmlns:a="http://schemas.openxmlformats.org/drawingml/2006/main">
              <a:ext uri="{FF2B5EF4-FFF2-40B4-BE49-F238E27FC236}">
                <a16:creationId xmlns:a16="http://schemas.microsoft.com/office/drawing/2014/main" id="{43D629DA-5BEB-4978-94BF-A26D5E40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左右两侧可以趋向同一点，而函数值仍在别处</a:t>
            </a:r>
          </a:p>
        </p:txBody>
      </p:sp>
      <p:sp>
        <p:nvSpPr>
          <p:cNvPr id="3" name="heading-accent-4">
            <a:extLst xmlns:a="http://schemas.openxmlformats.org/drawingml/2006/main">
              <a:ext uri="{FF2B5EF4-FFF2-40B4-BE49-F238E27FC236}">
                <a16:creationId xmlns:a16="http://schemas.microsoft.com/office/drawing/2014/main" id="{332A6F76-D187-4819-8953-535EA894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ncept-q-label">
            <a:extLst xmlns:a="http://schemas.openxmlformats.org/drawingml/2006/main">
              <a:ext uri="{FF2B5EF4-FFF2-40B4-BE49-F238E27FC236}">
                <a16:creationId xmlns:a16="http://schemas.microsoft.com/office/drawing/2014/main" id="{5105F5E0-9769-4106-A8A1-CF699AEB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观察问题</a:t>
            </a:r>
          </a:p>
        </p:txBody>
      </p:sp>
      <p:sp>
        <p:nvSpPr>
          <p:cNvPr id="5" name="concept-q">
            <a:extLst xmlns:a="http://schemas.openxmlformats.org/drawingml/2006/main">
              <a:ext uri="{FF2B5EF4-FFF2-40B4-BE49-F238E27FC236}">
                <a16:creationId xmlns:a16="http://schemas.microsoft.com/office/drawing/2014/main" id="{F4A12050-A7F7-4541-B976-72DFF3E0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4095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55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极限关注的是点本身，还是点附近不断逼近的趋势？</a:t>
            </a:r>
          </a:p>
        </p:txBody>
      </p:sp>
      <p:sp>
        <p:nvSpPr>
          <p:cNvPr id="6" name="concept-tip-box">
            <a:extLst xmlns:a="http://schemas.openxmlformats.org/drawingml/2006/main">
              <a:ext uri="{FF2B5EF4-FFF2-40B4-BE49-F238E27FC236}">
                <a16:creationId xmlns:a16="http://schemas.microsoft.com/office/drawing/2014/main" id="{60A19CEF-8191-4337-97C4-C2985455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4095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7" name="concept-tip-text">
            <a:extLst xmlns:a="http://schemas.openxmlformats.org/drawingml/2006/main">
              <a:ext uri="{FF2B5EF4-FFF2-40B4-BE49-F238E27FC236}">
                <a16:creationId xmlns:a16="http://schemas.microsoft.com/office/drawing/2014/main" id="{172F61B4-D7BD-4139-BE5C-A4B7CAE2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71975"/>
            <a:ext cx="36766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先用自己的话描述图中“不变的量”或“不断逼近的量”，再进入符号表达。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fac43c3b2d4097"/>
          <a:srcRect xmlns:a="http://schemas.openxmlformats.org/drawingml/2006/main" l="7201" t="0" r="72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19700" y="1790700"/>
            <a:ext cx="622935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9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22C4AFA2-C241-4D5D-8BC3-3858E86A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title-4">
            <a:extLst xmlns:a="http://schemas.openxmlformats.org/drawingml/2006/main">
              <a:ext uri="{FF2B5EF4-FFF2-40B4-BE49-F238E27FC236}">
                <a16:creationId xmlns:a16="http://schemas.microsoft.com/office/drawing/2014/main" id="{11DD7936-B4CD-4E25-A220-D98358DA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函数的极限与连续</a:t>
            </a:r>
          </a:p>
        </p:txBody>
      </p:sp>
      <p:sp>
        <p:nvSpPr>
          <p:cNvPr id="11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778A423E-1364-48BB-98EC-915B5F65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081728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74e5b47650483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E4DC4502-2FCE-4EA9-821A-D6136C9C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itle-5">
            <a:extLst xmlns:a="http://schemas.openxmlformats.org/drawingml/2006/main">
              <a:ext uri="{FF2B5EF4-FFF2-40B4-BE49-F238E27FC236}">
                <a16:creationId xmlns:a16="http://schemas.microsoft.com/office/drawing/2014/main" id="{689740FC-C46A-46F7-A84A-FC0ECD01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函数的极限与连续 · 核心表达</a:t>
            </a:r>
          </a:p>
        </p:txBody>
      </p:sp>
      <p:sp>
        <p:nvSpPr>
          <p:cNvPr id="4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B614DB83-C743-4812-9228-0980566F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822716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6">
            <a:extLst xmlns:a="http://schemas.openxmlformats.org/drawingml/2006/main">
              <a:ext uri="{FF2B5EF4-FFF2-40B4-BE49-F238E27FC236}">
                <a16:creationId xmlns:a16="http://schemas.microsoft.com/office/drawing/2014/main" id="{0AC24715-2D9F-4A96-9A34-06D174DF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概念拆解</a:t>
            </a:r>
          </a:p>
        </p:txBody>
      </p:sp>
      <p:sp>
        <p:nvSpPr>
          <p:cNvPr id="2" name="heading-6">
            <a:extLst xmlns:a="http://schemas.openxmlformats.org/drawingml/2006/main">
              <a:ext uri="{FF2B5EF4-FFF2-40B4-BE49-F238E27FC236}">
                <a16:creationId xmlns:a16="http://schemas.microsoft.com/office/drawing/2014/main" id="{EFFB164A-321D-4071-88E8-1F8514D4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三个关键词，搭起完整理解</a:t>
            </a:r>
          </a:p>
        </p:txBody>
      </p:sp>
      <p:sp>
        <p:nvSpPr>
          <p:cNvPr id="3" name="heading-accent-6">
            <a:extLst xmlns:a="http://schemas.openxmlformats.org/drawingml/2006/main">
              <a:ext uri="{FF2B5EF4-FFF2-40B4-BE49-F238E27FC236}">
                <a16:creationId xmlns:a16="http://schemas.microsoft.com/office/drawing/2014/main" id="{605AA724-61BE-47C1-A77E-BB8B6C3A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ncept-card-0">
            <a:extLst xmlns:a="http://schemas.openxmlformats.org/drawingml/2006/main">
              <a:ext uri="{FF2B5EF4-FFF2-40B4-BE49-F238E27FC236}">
                <a16:creationId xmlns:a16="http://schemas.microsoft.com/office/drawing/2014/main" id="{3E06FA60-6B13-4D37-9D3B-E62BE2A6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33528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4288">
            <a:solidFill>
              <a:srgbClr val="A4AFBA"/>
            </a:solidFill>
            <a:prstDash val="solid"/>
          </a:ln>
        </p:spPr>
      </p:sp>
      <p:sp>
        <p:nvSpPr>
          <p:cNvPr id="5" name="concept-index-0">
            <a:extLst xmlns:a="http://schemas.openxmlformats.org/drawingml/2006/main">
              <a:ext uri="{FF2B5EF4-FFF2-40B4-BE49-F238E27FC236}">
                <a16:creationId xmlns:a16="http://schemas.microsoft.com/office/drawing/2014/main" id="{7EF4AD0B-BB13-4173-9A90-B6C3DD05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concept-head-0">
            <a:extLst xmlns:a="http://schemas.openxmlformats.org/drawingml/2006/main">
              <a:ext uri="{FF2B5EF4-FFF2-40B4-BE49-F238E27FC236}">
                <a16:creationId xmlns:a16="http://schemas.microsoft.com/office/drawing/2014/main" id="{A1C46B27-0935-4526-96A4-9C5EF060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289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去心邻域</a:t>
            </a:r>
          </a:p>
        </p:txBody>
      </p:sp>
      <p:sp>
        <p:nvSpPr>
          <p:cNvPr id="7" name="concept-body-0">
            <a:extLst xmlns:a="http://schemas.openxmlformats.org/drawingml/2006/main">
              <a:ext uri="{FF2B5EF4-FFF2-40B4-BE49-F238E27FC236}">
                <a16:creationId xmlns:a16="http://schemas.microsoft.com/office/drawing/2014/main" id="{C48BC640-D8B7-4917-9A1C-E3EC3007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2895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研究目标点附近的函数行为，不要求函数在该点有定义。</a:t>
            </a:r>
          </a:p>
        </p:txBody>
      </p:sp>
      <p:sp>
        <p:nvSpPr>
          <p:cNvPr id="8" name="concept-card-1">
            <a:extLst xmlns:a="http://schemas.openxmlformats.org/drawingml/2006/main">
              <a:ext uri="{FF2B5EF4-FFF2-40B4-BE49-F238E27FC236}">
                <a16:creationId xmlns:a16="http://schemas.microsoft.com/office/drawing/2014/main" id="{B60C7198-AD52-44A5-995A-81AFAF8A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19300"/>
            <a:ext cx="33528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solid"/>
          </a:ln>
        </p:spPr>
      </p:sp>
      <p:sp>
        <p:nvSpPr>
          <p:cNvPr id="9" name="concept-index-1">
            <a:extLst xmlns:a="http://schemas.openxmlformats.org/drawingml/2006/main">
              <a:ext uri="{FF2B5EF4-FFF2-40B4-BE49-F238E27FC236}">
                <a16:creationId xmlns:a16="http://schemas.microsoft.com/office/drawing/2014/main" id="{B7DCF372-50D0-4475-93CA-F9DABA64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479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ncept-head-1">
            <a:extLst xmlns:a="http://schemas.openxmlformats.org/drawingml/2006/main">
              <a:ext uri="{FF2B5EF4-FFF2-40B4-BE49-F238E27FC236}">
                <a16:creationId xmlns:a16="http://schemas.microsoft.com/office/drawing/2014/main" id="{8FE6F6E6-5625-419E-BBF1-F1F36B78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00350"/>
            <a:ext cx="289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左右极限</a:t>
            </a:r>
          </a:p>
        </p:txBody>
      </p:sp>
      <p:sp>
        <p:nvSpPr>
          <p:cNvPr id="11" name="concept-body-1">
            <a:extLst xmlns:a="http://schemas.openxmlformats.org/drawingml/2006/main">
              <a:ext uri="{FF2B5EF4-FFF2-40B4-BE49-F238E27FC236}">
                <a16:creationId xmlns:a16="http://schemas.microsoft.com/office/drawing/2014/main" id="{D6A00350-A80D-4627-BFB9-564950D0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24250"/>
            <a:ext cx="2895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两侧都存在且相等，双侧极限才存在。</a:t>
            </a:r>
          </a:p>
        </p:txBody>
      </p:sp>
      <p:sp>
        <p:nvSpPr>
          <p:cNvPr id="12" name="concept-card-2">
            <a:extLst xmlns:a="http://schemas.openxmlformats.org/drawingml/2006/main">
              <a:ext uri="{FF2B5EF4-FFF2-40B4-BE49-F238E27FC236}">
                <a16:creationId xmlns:a16="http://schemas.microsoft.com/office/drawing/2014/main" id="{0F370761-5B5E-44A2-8DCB-03ABDE75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19300"/>
            <a:ext cx="33528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4288">
            <a:solidFill>
              <a:srgbClr val="A4AFBA"/>
            </a:solidFill>
            <a:prstDash val="solid"/>
          </a:ln>
        </p:spPr>
      </p:sp>
      <p:sp>
        <p:nvSpPr>
          <p:cNvPr id="13" name="concept-index-2">
            <a:extLst xmlns:a="http://schemas.openxmlformats.org/drawingml/2006/main">
              <a:ext uri="{FF2B5EF4-FFF2-40B4-BE49-F238E27FC236}">
                <a16:creationId xmlns:a16="http://schemas.microsoft.com/office/drawing/2014/main" id="{19F08794-7985-4A8E-9BF1-55D1AAA5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479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concept-head-2">
            <a:extLst xmlns:a="http://schemas.openxmlformats.org/drawingml/2006/main">
              <a:ext uri="{FF2B5EF4-FFF2-40B4-BE49-F238E27FC236}">
                <a16:creationId xmlns:a16="http://schemas.microsoft.com/office/drawing/2014/main" id="{FC7278B2-0705-430F-89AA-72CF9170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00350"/>
            <a:ext cx="289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连续</a:t>
            </a:r>
          </a:p>
        </p:txBody>
      </p:sp>
      <p:sp>
        <p:nvSpPr>
          <p:cNvPr id="15" name="concept-body-2">
            <a:extLst xmlns:a="http://schemas.openxmlformats.org/drawingml/2006/main">
              <a:ext uri="{FF2B5EF4-FFF2-40B4-BE49-F238E27FC236}">
                <a16:creationId xmlns:a16="http://schemas.microsoft.com/office/drawing/2014/main" id="{13ED1C08-3C49-4164-B989-741787E8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2895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函数值有定义、极限存在，并且两者相等。</a:t>
            </a:r>
          </a:p>
        </p:txBody>
      </p:sp>
      <p:sp>
        <p:nvSpPr>
          <p:cNvPr id="16" name="concept-link-box">
            <a:extLst xmlns:a="http://schemas.openxmlformats.org/drawingml/2006/main">
              <a:ext uri="{FF2B5EF4-FFF2-40B4-BE49-F238E27FC236}">
                <a16:creationId xmlns:a16="http://schemas.microsoft.com/office/drawing/2014/main" id="{02674F33-4315-4228-AAC8-7B654B3C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429250"/>
            <a:ext cx="80391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solid"/>
          </a:ln>
        </p:spPr>
      </p:sp>
      <p:sp>
        <p:nvSpPr>
          <p:cNvPr id="17" name="concept-link-text">
            <a:extLst xmlns:a="http://schemas.openxmlformats.org/drawingml/2006/main">
              <a:ext uri="{FF2B5EF4-FFF2-40B4-BE49-F238E27FC236}">
                <a16:creationId xmlns:a16="http://schemas.microsoft.com/office/drawing/2014/main" id="{8F3B1124-8C4A-43DA-945C-B64647D4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626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极限描述点附近的稳定趋势，连续要求这一趋势与函数值真正接合。</a:t>
            </a:r>
          </a:p>
        </p:txBody>
      </p:sp>
      <p:sp>
        <p:nvSpPr>
          <p:cNvPr id="18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F3F41161-5A12-4905-B1EF-197A6323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title-6">
            <a:extLst xmlns:a="http://schemas.openxmlformats.org/drawingml/2006/main">
              <a:ext uri="{FF2B5EF4-FFF2-40B4-BE49-F238E27FC236}">
                <a16:creationId xmlns:a16="http://schemas.microsoft.com/office/drawing/2014/main" id="{8C0910D2-1FA5-434C-99ED-72BE369E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函数的极限与连续</a:t>
            </a:r>
          </a:p>
        </p:txBody>
      </p:sp>
      <p:sp>
        <p:nvSpPr>
          <p:cNvPr id="20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21B45405-3FB3-4DA6-834B-1D483550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303269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33aba2fec45f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E5331664-F509-46AD-B34B-7C1C8047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itle-7">
            <a:extLst xmlns:a="http://schemas.openxmlformats.org/drawingml/2006/main">
              <a:ext uri="{FF2B5EF4-FFF2-40B4-BE49-F238E27FC236}">
                <a16:creationId xmlns:a16="http://schemas.microsoft.com/office/drawing/2014/main" id="{4D25AF15-0013-421C-965C-B0004615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函数的极限与连续 · 例题推导</a:t>
            </a:r>
          </a:p>
        </p:txBody>
      </p:sp>
      <p:sp>
        <p:nvSpPr>
          <p:cNvPr id="4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8545D3E9-96DF-430C-B3CD-35B6B9A4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273660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-8">
            <a:extLst xmlns:a="http://schemas.openxmlformats.org/drawingml/2006/main">
              <a:ext uri="{FF2B5EF4-FFF2-40B4-BE49-F238E27FC236}">
                <a16:creationId xmlns:a16="http://schemas.microsoft.com/office/drawing/2014/main" id="{25E2FE89-2602-4FA8-A47C-1C3657FA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方法清单</a:t>
            </a:r>
          </a:p>
        </p:txBody>
      </p:sp>
      <p:sp>
        <p:nvSpPr>
          <p:cNvPr id="2" name="heading-8">
            <a:extLst xmlns:a="http://schemas.openxmlformats.org/drawingml/2006/main">
              <a:ext uri="{FF2B5EF4-FFF2-40B4-BE49-F238E27FC236}">
                <a16:creationId xmlns:a16="http://schemas.microsoft.com/office/drawing/2014/main" id="{D117E826-7555-4CBE-B2D9-E8019937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把思路固定成可重复执行的四步</a:t>
            </a:r>
          </a:p>
        </p:txBody>
      </p:sp>
      <p:sp>
        <p:nvSpPr>
          <p:cNvPr id="3" name="heading-accent-8">
            <a:extLst xmlns:a="http://schemas.openxmlformats.org/drawingml/2006/main">
              <a:ext uri="{FF2B5EF4-FFF2-40B4-BE49-F238E27FC236}">
                <a16:creationId xmlns:a16="http://schemas.microsoft.com/office/drawing/2014/main" id="{47620040-5087-4874-93A4-9247E2EE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ethod-n-0">
            <a:extLst xmlns:a="http://schemas.openxmlformats.org/drawingml/2006/main">
              <a:ext uri="{FF2B5EF4-FFF2-40B4-BE49-F238E27FC236}">
                <a16:creationId xmlns:a16="http://schemas.microsoft.com/office/drawing/2014/main" id="{64131AEB-EB1C-4B01-9841-6A2F85F5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000" b="1">
                <a:solidFill>
                  <a:srgbClr val="2A78D6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2A78D6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5" name="method-rule-0">
            <a:extLst xmlns:a="http://schemas.openxmlformats.org/drawingml/2006/main">
              <a:ext uri="{FF2B5EF4-FFF2-40B4-BE49-F238E27FC236}">
                <a16:creationId xmlns:a16="http://schemas.microsoft.com/office/drawing/2014/main" id="{C566FD7F-80BA-4938-9721-EFC37E18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2288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hod-t-0">
            <a:extLst xmlns:a="http://schemas.openxmlformats.org/drawingml/2006/main">
              <a:ext uri="{FF2B5EF4-FFF2-40B4-BE49-F238E27FC236}">
                <a16:creationId xmlns:a16="http://schemas.microsoft.com/office/drawing/2014/main" id="{E270AAED-E7AF-4183-8C68-4CEC3399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9621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先检查定义域</a:t>
            </a:r>
          </a:p>
        </p:txBody>
      </p:sp>
      <p:sp>
        <p:nvSpPr>
          <p:cNvPr id="7" name="method-sep-0">
            <a:extLst xmlns:a="http://schemas.openxmlformats.org/drawingml/2006/main">
              <a:ext uri="{FF2B5EF4-FFF2-40B4-BE49-F238E27FC236}">
                <a16:creationId xmlns:a16="http://schemas.microsoft.com/office/drawing/2014/main" id="{BE12EDC6-B43B-449C-AEDD-2FA48158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860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hod-n-1">
            <a:extLst xmlns:a="http://schemas.openxmlformats.org/drawingml/2006/main">
              <a:ext uri="{FF2B5EF4-FFF2-40B4-BE49-F238E27FC236}">
                <a16:creationId xmlns:a16="http://schemas.microsoft.com/office/drawing/2014/main" id="{094852EB-8534-4707-B914-AD829F8F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00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9" name="method-rule-1">
            <a:extLst xmlns:a="http://schemas.openxmlformats.org/drawingml/2006/main">
              <a:ext uri="{FF2B5EF4-FFF2-40B4-BE49-F238E27FC236}">
                <a16:creationId xmlns:a16="http://schemas.microsoft.com/office/drawing/2014/main" id="{514BB367-0DEE-4F08-A3B9-012B43D7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1051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hod-t-1">
            <a:extLst xmlns:a="http://schemas.openxmlformats.org/drawingml/2006/main">
              <a:ext uri="{FF2B5EF4-FFF2-40B4-BE49-F238E27FC236}">
                <a16:creationId xmlns:a16="http://schemas.microsoft.com/office/drawing/2014/main" id="{BDE01CDA-8F02-4BDB-A5E5-36475B29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384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分别观察左右趋势</a:t>
            </a:r>
          </a:p>
        </p:txBody>
      </p:sp>
      <p:sp>
        <p:nvSpPr>
          <p:cNvPr id="11" name="method-sep-1">
            <a:extLst xmlns:a="http://schemas.openxmlformats.org/drawingml/2006/main">
              <a:ext uri="{FF2B5EF4-FFF2-40B4-BE49-F238E27FC236}">
                <a16:creationId xmlns:a16="http://schemas.microsoft.com/office/drawing/2014/main" id="{01942C57-35E4-473E-9872-CC535302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623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thod-n-2">
            <a:extLst xmlns:a="http://schemas.openxmlformats.org/drawingml/2006/main">
              <a:ext uri="{FF2B5EF4-FFF2-40B4-BE49-F238E27FC236}">
                <a16:creationId xmlns:a16="http://schemas.microsoft.com/office/drawing/2014/main" id="{4E555062-C654-4EF0-AAC0-9E724804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000" b="1">
                <a:solidFill>
                  <a:srgbClr val="F1B44C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F1B44C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3" name="method-rule-2">
            <a:extLst xmlns:a="http://schemas.openxmlformats.org/drawingml/2006/main">
              <a:ext uri="{FF2B5EF4-FFF2-40B4-BE49-F238E27FC236}">
                <a16:creationId xmlns:a16="http://schemas.microsoft.com/office/drawing/2014/main" id="{E03FEF43-5B8F-48BF-A79A-0F4D605D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9814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ethod-t-2">
            <a:extLst xmlns:a="http://schemas.openxmlformats.org/drawingml/2006/main">
              <a:ext uri="{FF2B5EF4-FFF2-40B4-BE49-F238E27FC236}">
                <a16:creationId xmlns:a16="http://schemas.microsoft.com/office/drawing/2014/main" id="{2E7AF92B-6812-4E9C-9932-C4765283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147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判断双侧极限是否存在</a:t>
            </a:r>
          </a:p>
        </p:txBody>
      </p:sp>
      <p:sp>
        <p:nvSpPr>
          <p:cNvPr id="15" name="method-sep-2">
            <a:extLst xmlns:a="http://schemas.openxmlformats.org/drawingml/2006/main">
              <a:ext uri="{FF2B5EF4-FFF2-40B4-BE49-F238E27FC236}">
                <a16:creationId xmlns:a16="http://schemas.microsoft.com/office/drawing/2014/main" id="{1E7F9875-8FF8-4175-8227-617AFC45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4386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ethod-n-3">
            <a:extLst xmlns:a="http://schemas.openxmlformats.org/drawingml/2006/main">
              <a:ext uri="{FF2B5EF4-FFF2-40B4-BE49-F238E27FC236}">
                <a16:creationId xmlns:a16="http://schemas.microsoft.com/office/drawing/2014/main" id="{425FAC0D-238A-4753-9867-CE25B7F5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0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7" name="method-rule-3">
            <a:extLst xmlns:a="http://schemas.openxmlformats.org/drawingml/2006/main">
              <a:ext uri="{FF2B5EF4-FFF2-40B4-BE49-F238E27FC236}">
                <a16:creationId xmlns:a16="http://schemas.microsoft.com/office/drawing/2014/main" id="{D67F1227-573F-414E-8FFD-BA49675A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577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ethod-t-3">
            <a:extLst xmlns:a="http://schemas.openxmlformats.org/drawingml/2006/main">
              <a:ext uri="{FF2B5EF4-FFF2-40B4-BE49-F238E27FC236}">
                <a16:creationId xmlns:a16="http://schemas.microsoft.com/office/drawing/2014/main" id="{13029178-0EA3-4B6D-9CFF-50083811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5910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再与函数值比较连续性</a:t>
            </a:r>
          </a:p>
        </p:txBody>
      </p:sp>
      <p:sp>
        <p:nvSpPr>
          <p:cNvPr id="19" name="method-note-box">
            <a:extLst xmlns:a="http://schemas.openxmlformats.org/drawingml/2006/main">
              <a:ext uri="{FF2B5EF4-FFF2-40B4-BE49-F238E27FC236}">
                <a16:creationId xmlns:a16="http://schemas.microsoft.com/office/drawing/2014/main" id="{4D1BD5BD-CEFF-4DB1-910D-1034CEF3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81650"/>
            <a:ext cx="8191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20" name="method-note-text">
            <a:extLst xmlns:a="http://schemas.openxmlformats.org/drawingml/2006/main">
              <a:ext uri="{FF2B5EF4-FFF2-40B4-BE49-F238E27FC236}">
                <a16:creationId xmlns:a16="http://schemas.microsoft.com/office/drawing/2014/main" id="{93A4DFCA-756C-44AA-BAB6-E2D1EFAE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715000"/>
            <a:ext cx="7772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65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先确认对象与条件，再开始计算；最后一定回到原问题解释结果。</a:t>
            </a:r>
          </a:p>
        </p:txBody>
      </p:sp>
      <p:sp>
        <p:nvSpPr>
          <p:cNvPr id="21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D6F1D688-5507-4B52-9C2B-56F07E80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title-8">
            <a:extLst xmlns:a="http://schemas.openxmlformats.org/drawingml/2006/main">
              <a:ext uri="{FF2B5EF4-FFF2-40B4-BE49-F238E27FC236}">
                <a16:creationId xmlns:a16="http://schemas.microsoft.com/office/drawing/2014/main" id="{9EB43905-7405-4FF1-9E3B-8363D7DB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函数的极限与连续</a:t>
            </a:r>
          </a:p>
        </p:txBody>
      </p:sp>
      <p:sp>
        <p:nvSpPr>
          <p:cNvPr id="23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F074D94E-05D5-4B2F-90AF-387DF13A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350190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9">
            <a:extLst xmlns:a="http://schemas.openxmlformats.org/drawingml/2006/main">
              <a:ext uri="{FF2B5EF4-FFF2-40B4-BE49-F238E27FC236}">
                <a16:creationId xmlns:a16="http://schemas.microsoft.com/office/drawing/2014/main" id="{97919514-6DD4-4F5A-A9B5-39CBF0F2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易错辨析</a:t>
            </a:r>
          </a:p>
        </p:txBody>
      </p:sp>
      <p:sp>
        <p:nvSpPr>
          <p:cNvPr id="2" name="heading-9">
            <a:extLst xmlns:a="http://schemas.openxmlformats.org/drawingml/2006/main">
              <a:ext uri="{FF2B5EF4-FFF2-40B4-BE49-F238E27FC236}">
                <a16:creationId xmlns:a16="http://schemas.microsoft.com/office/drawing/2014/main" id="{2E38E1A7-A687-43FA-8355-C8F61D0B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错误往往不是算错，而是对象或条件看错</a:t>
            </a:r>
          </a:p>
        </p:txBody>
      </p:sp>
      <p:sp>
        <p:nvSpPr>
          <p:cNvPr id="3" name="heading-accent-9">
            <a:extLst xmlns:a="http://schemas.openxmlformats.org/drawingml/2006/main">
              <a:ext uri="{FF2B5EF4-FFF2-40B4-BE49-F238E27FC236}">
                <a16:creationId xmlns:a16="http://schemas.microsoft.com/office/drawing/2014/main" id="{902DAE26-C331-48E2-B1BB-9DF898B6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rror-card-0">
            <a:extLst xmlns:a="http://schemas.openxmlformats.org/drawingml/2006/main">
              <a:ext uri="{FF2B5EF4-FFF2-40B4-BE49-F238E27FC236}">
                <a16:creationId xmlns:a16="http://schemas.microsoft.com/office/drawing/2014/main" id="{731721C8-5889-4FAB-939B-4B248040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33337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4288">
            <a:solidFill>
              <a:srgbClr val="A4AFBA"/>
            </a:solidFill>
            <a:prstDash val="dash"/>
          </a:ln>
        </p:spPr>
      </p:sp>
      <p:sp>
        <p:nvSpPr>
          <p:cNvPr id="5" name="error-no-0">
            <a:extLst xmlns:a="http://schemas.openxmlformats.org/drawingml/2006/main">
              <a:ext uri="{FF2B5EF4-FFF2-40B4-BE49-F238E27FC236}">
                <a16:creationId xmlns:a16="http://schemas.microsoft.com/office/drawing/2014/main" id="{DC3EB036-3D87-4BD9-8585-DE2DA2A5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error-h-0">
            <a:extLst xmlns:a="http://schemas.openxmlformats.org/drawingml/2006/main">
              <a:ext uri="{FF2B5EF4-FFF2-40B4-BE49-F238E27FC236}">
                <a16:creationId xmlns:a16="http://schemas.microsoft.com/office/drawing/2014/main" id="{9F434A85-C0D9-4979-B8F5-47B46B21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把代入当极限定义</a:t>
            </a:r>
          </a:p>
        </p:txBody>
      </p:sp>
      <p:sp>
        <p:nvSpPr>
          <p:cNvPr id="7" name="error-b-0">
            <a:extLst xmlns:a="http://schemas.openxmlformats.org/drawingml/2006/main">
              <a:ext uri="{FF2B5EF4-FFF2-40B4-BE49-F238E27FC236}">
                <a16:creationId xmlns:a16="http://schemas.microsoft.com/office/drawing/2014/main" id="{36B9C03F-819F-4954-B596-022F4FC0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直接代入只在连续时自动成立。</a:t>
            </a:r>
          </a:p>
        </p:txBody>
      </p:sp>
      <p:sp>
        <p:nvSpPr>
          <p:cNvPr id="8" name="error-card-1">
            <a:extLst xmlns:a="http://schemas.openxmlformats.org/drawingml/2006/main">
              <a:ext uri="{FF2B5EF4-FFF2-40B4-BE49-F238E27FC236}">
                <a16:creationId xmlns:a16="http://schemas.microsoft.com/office/drawing/2014/main" id="{097A5F49-617B-43E6-9C7C-61D2E0B2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14550"/>
            <a:ext cx="33337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FF1EE"/>
          </a:solidFill>
          <a:ln xmlns:a="http://schemas.openxmlformats.org/drawingml/2006/main" w="14288">
            <a:solidFill>
              <a:srgbClr val="EF6A5B"/>
            </a:solidFill>
            <a:prstDash val="dash"/>
          </a:ln>
        </p:spPr>
      </p:sp>
      <p:sp>
        <p:nvSpPr>
          <p:cNvPr id="9" name="error-no-1">
            <a:extLst xmlns:a="http://schemas.openxmlformats.org/drawingml/2006/main">
              <a:ext uri="{FF2B5EF4-FFF2-40B4-BE49-F238E27FC236}">
                <a16:creationId xmlns:a16="http://schemas.microsoft.com/office/drawing/2014/main" id="{CFC0224F-DCFE-4803-AB75-165C821D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050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error-h-1">
            <a:extLst xmlns:a="http://schemas.openxmlformats.org/drawingml/2006/main">
              <a:ext uri="{FF2B5EF4-FFF2-40B4-BE49-F238E27FC236}">
                <a16:creationId xmlns:a16="http://schemas.microsoft.com/office/drawing/2014/main" id="{4044F623-6C78-44D0-B8C0-FCFC7082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956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只算一侧极限</a:t>
            </a:r>
          </a:p>
        </p:txBody>
      </p:sp>
      <p:sp>
        <p:nvSpPr>
          <p:cNvPr id="11" name="error-b-1">
            <a:extLst xmlns:a="http://schemas.openxmlformats.org/drawingml/2006/main">
              <a:ext uri="{FF2B5EF4-FFF2-40B4-BE49-F238E27FC236}">
                <a16:creationId xmlns:a16="http://schemas.microsoft.com/office/drawing/2014/main" id="{FB99F5C9-9CBE-45D2-AEEF-6DB0EFE6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3380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双侧极限要求左右一致。</a:t>
            </a:r>
          </a:p>
        </p:txBody>
      </p:sp>
      <p:sp>
        <p:nvSpPr>
          <p:cNvPr id="12" name="error-card-2">
            <a:extLst xmlns:a="http://schemas.openxmlformats.org/drawingml/2006/main">
              <a:ext uri="{FF2B5EF4-FFF2-40B4-BE49-F238E27FC236}">
                <a16:creationId xmlns:a16="http://schemas.microsoft.com/office/drawing/2014/main" id="{0572E0B8-FEB9-49E3-A23D-AE77BF41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14550"/>
            <a:ext cx="33337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4288">
            <a:solidFill>
              <a:srgbClr val="A4AFBA"/>
            </a:solidFill>
            <a:prstDash val="dash"/>
          </a:ln>
        </p:spPr>
      </p:sp>
      <p:sp>
        <p:nvSpPr>
          <p:cNvPr id="13" name="error-no-2">
            <a:extLst xmlns:a="http://schemas.openxmlformats.org/drawingml/2006/main">
              <a:ext uri="{FF2B5EF4-FFF2-40B4-BE49-F238E27FC236}">
                <a16:creationId xmlns:a16="http://schemas.microsoft.com/office/drawing/2014/main" id="{0B724DA0-FA8F-488E-9759-BF617A69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050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error-h-2">
            <a:extLst xmlns:a="http://schemas.openxmlformats.org/drawingml/2006/main">
              <a:ext uri="{FF2B5EF4-FFF2-40B4-BE49-F238E27FC236}">
                <a16:creationId xmlns:a16="http://schemas.microsoft.com/office/drawing/2014/main" id="{E811A997-E0D2-4C9B-82A8-51F5F197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956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约分后忘记空点</a:t>
            </a:r>
          </a:p>
        </p:txBody>
      </p:sp>
      <p:sp>
        <p:nvSpPr>
          <p:cNvPr id="15" name="error-b-2">
            <a:extLst xmlns:a="http://schemas.openxmlformats.org/drawingml/2006/main">
              <a:ext uri="{FF2B5EF4-FFF2-40B4-BE49-F238E27FC236}">
                <a16:creationId xmlns:a16="http://schemas.microsoft.com/office/drawing/2014/main" id="{E636840F-70AA-4AC4-B3CA-1D26E837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3380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化简不能改变原函数定义域。</a:t>
            </a:r>
          </a:p>
        </p:txBody>
      </p:sp>
      <p:sp>
        <p:nvSpPr>
          <p:cNvPr id="16" name="error-check-box">
            <a:extLst xmlns:a="http://schemas.openxmlformats.org/drawingml/2006/main">
              <a:ext uri="{FF2B5EF4-FFF2-40B4-BE49-F238E27FC236}">
                <a16:creationId xmlns:a16="http://schemas.microsoft.com/office/drawing/2014/main" id="{89347631-6C8A-4700-AA12-023502DC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76850"/>
            <a:ext cx="8763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solid"/>
          </a:ln>
        </p:spPr>
      </p:sp>
      <p:sp>
        <p:nvSpPr>
          <p:cNvPr id="17" name="error-check-text">
            <a:extLst xmlns:a="http://schemas.openxmlformats.org/drawingml/2006/main">
              <a:ext uri="{FF2B5EF4-FFF2-40B4-BE49-F238E27FC236}">
                <a16:creationId xmlns:a16="http://schemas.microsoft.com/office/drawing/2014/main" id="{039FD95C-DF9B-46AD-9552-30FD6321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10200"/>
            <a:ext cx="834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自检：我现在研究的是谁？参照范围有没有改变？结论是否满足定义中的全部条件？</a:t>
            </a:r>
          </a:p>
        </p:txBody>
      </p:sp>
      <p:sp>
        <p:nvSpPr>
          <p:cNvPr id="18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51BE8BCC-D749-4846-86B0-2BDAD5BB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title-9">
            <a:extLst xmlns:a="http://schemas.openxmlformats.org/drawingml/2006/main">
              <a:ext uri="{FF2B5EF4-FFF2-40B4-BE49-F238E27FC236}">
                <a16:creationId xmlns:a16="http://schemas.microsoft.com/office/drawing/2014/main" id="{F3A875DC-AED2-4D09-8432-A831E791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函数的极限与连续</a:t>
            </a:r>
          </a:p>
        </p:txBody>
      </p:sp>
      <p:sp>
        <p:nvSpPr>
          <p:cNvPr id="20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58EFBF6B-4BF2-427B-B55A-168D332B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099831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-10">
            <a:extLst xmlns:a="http://schemas.openxmlformats.org/drawingml/2006/main">
              <a:ext uri="{FF2B5EF4-FFF2-40B4-BE49-F238E27FC236}">
                <a16:creationId xmlns:a16="http://schemas.microsoft.com/office/drawing/2014/main" id="{F045F7B1-3DD1-4205-AD24-0FD4A850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迁移应用</a:t>
            </a:r>
          </a:p>
        </p:txBody>
      </p:sp>
      <p:sp>
        <p:nvSpPr>
          <p:cNvPr id="2" name="heading-10">
            <a:extLst xmlns:a="http://schemas.openxmlformats.org/drawingml/2006/main">
              <a:ext uri="{FF2B5EF4-FFF2-40B4-BE49-F238E27FC236}">
                <a16:creationId xmlns:a16="http://schemas.microsoft.com/office/drawing/2014/main" id="{78C4D767-F531-4105-AF8E-150AB6D8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同一个数学结构，可以解释不同现实任务</a:t>
            </a:r>
          </a:p>
        </p:txBody>
      </p:sp>
      <p:sp>
        <p:nvSpPr>
          <p:cNvPr id="3" name="heading-accent-10">
            <a:extLst xmlns:a="http://schemas.openxmlformats.org/drawingml/2006/main">
              <a:ext uri="{FF2B5EF4-FFF2-40B4-BE49-F238E27FC236}">
                <a16:creationId xmlns:a16="http://schemas.microsoft.com/office/drawing/2014/main" id="{DDA7AC85-B88D-40FC-B37D-34BCCFA6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pp-tag-0">
            <a:extLst xmlns:a="http://schemas.openxmlformats.org/drawingml/2006/main">
              <a:ext uri="{FF2B5EF4-FFF2-40B4-BE49-F238E27FC236}">
                <a16:creationId xmlns:a16="http://schemas.microsoft.com/office/drawing/2014/main" id="{99B4ABB3-ED53-4AAC-878D-CDC0D441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>
                <a:solidFill>
                  <a:srgbClr val="2A78D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A78D6"/>
                </a:solidFill>
                <a:latin typeface="PingFang SC"/>
                <a:ea typeface="PingFang SC"/>
                <a:cs typeface="PingFang SC"/>
              </a:rPr>
              <a:t>信号趋势</a:t>
            </a:r>
          </a:p>
        </p:txBody>
      </p:sp>
      <p:sp>
        <p:nvSpPr>
          <p:cNvPr id="5" name="app-rule-0">
            <a:extLst xmlns:a="http://schemas.openxmlformats.org/drawingml/2006/main">
              <a:ext uri="{FF2B5EF4-FFF2-40B4-BE49-F238E27FC236}">
                <a16:creationId xmlns:a16="http://schemas.microsoft.com/office/drawing/2014/main" id="{26B20DA2-B373-4C87-A328-BC208974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241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pp-body-0">
            <a:extLst xmlns:a="http://schemas.openxmlformats.org/drawingml/2006/main">
              <a:ext uri="{FF2B5EF4-FFF2-40B4-BE49-F238E27FC236}">
                <a16:creationId xmlns:a16="http://schemas.microsoft.com/office/drawing/2014/main" id="{24FE0057-5BC4-40EA-BBE0-9ED289F9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383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连续模型帮助解释传感器读数的平滑变化。</a:t>
            </a:r>
          </a:p>
        </p:txBody>
      </p:sp>
      <p:sp>
        <p:nvSpPr>
          <p:cNvPr id="7" name="app-tag-1">
            <a:extLst xmlns:a="http://schemas.openxmlformats.org/drawingml/2006/main">
              <a:ext uri="{FF2B5EF4-FFF2-40B4-BE49-F238E27FC236}">
                <a16:creationId xmlns:a16="http://schemas.microsoft.com/office/drawing/2014/main" id="{1EEE0391-6F64-41B7-AA27-1A1FB10A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>
                <a:solidFill>
                  <a:srgbClr val="F1B44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1B44C"/>
                </a:solidFill>
                <a:latin typeface="PingFang SC"/>
                <a:ea typeface="PingFang SC"/>
                <a:cs typeface="PingFang SC"/>
              </a:rPr>
              <a:t>缺失数据</a:t>
            </a:r>
          </a:p>
        </p:txBody>
      </p:sp>
      <p:sp>
        <p:nvSpPr>
          <p:cNvPr id="8" name="app-rule-1">
            <a:extLst xmlns:a="http://schemas.openxmlformats.org/drawingml/2006/main">
              <a:ext uri="{FF2B5EF4-FFF2-40B4-BE49-F238E27FC236}">
                <a16:creationId xmlns:a16="http://schemas.microsoft.com/office/drawing/2014/main" id="{D78CBEAA-27E4-4263-9302-D240B50B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4290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pp-body-1">
            <a:extLst xmlns:a="http://schemas.openxmlformats.org/drawingml/2006/main">
              <a:ext uri="{FF2B5EF4-FFF2-40B4-BE49-F238E27FC236}">
                <a16:creationId xmlns:a16="http://schemas.microsoft.com/office/drawing/2014/main" id="{78DA5178-DBE4-44B6-B7E6-A43A9F37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432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单个时刻缺值不妨碍研究附近趋势。</a:t>
            </a:r>
          </a:p>
        </p:txBody>
      </p:sp>
      <p:sp>
        <p:nvSpPr>
          <p:cNvPr id="10" name="app-tag-2">
            <a:extLst xmlns:a="http://schemas.openxmlformats.org/drawingml/2006/main">
              <a:ext uri="{FF2B5EF4-FFF2-40B4-BE49-F238E27FC236}">
                <a16:creationId xmlns:a16="http://schemas.microsoft.com/office/drawing/2014/main" id="{51090858-E849-4384-99CF-C3AE9721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零点存在</a:t>
            </a:r>
          </a:p>
        </p:txBody>
      </p:sp>
      <p:sp>
        <p:nvSpPr>
          <p:cNvPr id="11" name="app-rule-2">
            <a:extLst xmlns:a="http://schemas.openxmlformats.org/drawingml/2006/main">
              <a:ext uri="{FF2B5EF4-FFF2-40B4-BE49-F238E27FC236}">
                <a16:creationId xmlns:a16="http://schemas.microsoft.com/office/drawing/2014/main" id="{6B4608FE-A161-478F-B111-11BF455F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5339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pp-body-2">
            <a:extLst xmlns:a="http://schemas.openxmlformats.org/drawingml/2006/main">
              <a:ext uri="{FF2B5EF4-FFF2-40B4-BE49-F238E27FC236}">
                <a16:creationId xmlns:a16="http://schemas.microsoft.com/office/drawing/2014/main" id="{5AA258A4-51E6-4352-8ACB-9A0828AF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481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连续函数跨越正负值时会经过中间值。</a:t>
            </a:r>
          </a:p>
        </p:txBody>
      </p:sp>
      <p:sp>
        <p:nvSpPr>
          <p:cNvPr id="13" name="app-note-box">
            <a:extLst xmlns:a="http://schemas.openxmlformats.org/drawingml/2006/main">
              <a:ext uri="{FF2B5EF4-FFF2-40B4-BE49-F238E27FC236}">
                <a16:creationId xmlns:a16="http://schemas.microsoft.com/office/drawing/2014/main" id="{33536624-54FE-46F7-8901-A0BE6013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67350"/>
            <a:ext cx="96393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14" name="app-note-text">
            <a:extLst xmlns:a="http://schemas.openxmlformats.org/drawingml/2006/main">
              <a:ext uri="{FF2B5EF4-FFF2-40B4-BE49-F238E27FC236}">
                <a16:creationId xmlns:a16="http://schemas.microsoft.com/office/drawing/2014/main" id="{8AAB8BE3-1549-412C-9061-9D53B3DC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600700"/>
            <a:ext cx="922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迁移的关键不是换场景，而是保留同一组对象、关系与约束。</a:t>
            </a:r>
          </a:p>
        </p:txBody>
      </p:sp>
      <p:sp>
        <p:nvSpPr>
          <p:cNvPr id="15" name="footer-rule-10">
            <a:extLst xmlns:a="http://schemas.openxmlformats.org/drawingml/2006/main">
              <a:ext uri="{FF2B5EF4-FFF2-40B4-BE49-F238E27FC236}">
                <a16:creationId xmlns:a16="http://schemas.microsoft.com/office/drawing/2014/main" id="{F08FFE6C-9A29-427D-95DC-F423BA73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title-10">
            <a:extLst xmlns:a="http://schemas.openxmlformats.org/drawingml/2006/main">
              <a:ext uri="{FF2B5EF4-FFF2-40B4-BE49-F238E27FC236}">
                <a16:creationId xmlns:a16="http://schemas.microsoft.com/office/drawing/2014/main" id="{9A87A143-186C-4D47-943E-FF12BE0D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函数的极限与连续</a:t>
            </a:r>
          </a:p>
        </p:txBody>
      </p:sp>
      <p:sp>
        <p:nvSpPr>
          <p:cNvPr id="17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914DF834-C88E-41C1-88FB-D1E958FA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944448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11">
            <a:extLst xmlns:a="http://schemas.openxmlformats.org/drawingml/2006/main">
              <a:ext uri="{FF2B5EF4-FFF2-40B4-BE49-F238E27FC236}">
                <a16:creationId xmlns:a16="http://schemas.microsoft.com/office/drawing/2014/main" id="{0D904150-463A-447E-B2BA-D1373B99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课堂练习</a:t>
            </a:r>
          </a:p>
        </p:txBody>
      </p:sp>
      <p:sp>
        <p:nvSpPr>
          <p:cNvPr id="2" name="heading-11">
            <a:extLst xmlns:a="http://schemas.openxmlformats.org/drawingml/2006/main">
              <a:ext uri="{FF2B5EF4-FFF2-40B4-BE49-F238E27FC236}">
                <a16:creationId xmlns:a16="http://schemas.microsoft.com/office/drawing/2014/main" id="{758FD207-C2AF-4AD9-A0D5-0D91C1A2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先说思路，再写表达</a:t>
            </a:r>
          </a:p>
        </p:txBody>
      </p:sp>
      <p:sp>
        <p:nvSpPr>
          <p:cNvPr id="3" name="heading-accent-11">
            <a:extLst xmlns:a="http://schemas.openxmlformats.org/drawingml/2006/main">
              <a:ext uri="{FF2B5EF4-FFF2-40B4-BE49-F238E27FC236}">
                <a16:creationId xmlns:a16="http://schemas.microsoft.com/office/drawing/2014/main" id="{B83DB38E-4B4C-4134-AC34-38F7CC8D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eading-sub-11">
            <a:extLst xmlns:a="http://schemas.openxmlformats.org/drawingml/2006/main">
              <a:ext uri="{FF2B5EF4-FFF2-40B4-BE49-F238E27FC236}">
                <a16:creationId xmlns:a16="http://schemas.microsoft.com/office/drawing/2014/main" id="{EC4B6F51-1268-4763-AE12-B1D04062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075"/>
            <a:ext cx="994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每题先用一句话说明准备使用的定义或方法</a:t>
            </a:r>
          </a:p>
        </p:txBody>
      </p:sp>
      <p:sp>
        <p:nvSpPr>
          <p:cNvPr id="5" name="practice-tag-0">
            <a:extLst xmlns:a="http://schemas.openxmlformats.org/drawingml/2006/main">
              <a:ext uri="{FF2B5EF4-FFF2-40B4-BE49-F238E27FC236}">
                <a16:creationId xmlns:a16="http://schemas.microsoft.com/office/drawing/2014/main" id="{2F3110A4-8CF6-4289-9A7E-36D39535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800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4050" b="1">
                <a:solidFill>
                  <a:srgbClr val="2A78D6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2A78D6"/>
                </a:solidFill>
                <a:latin typeface="PingFang SC"/>
                <a:ea typeface="PingFang SC"/>
                <a:cs typeface="PingFang SC"/>
              </a:rPr>
              <a:t>A</a:t>
            </a:r>
          </a:p>
        </p:txBody>
      </p:sp>
      <p:sp>
        <p:nvSpPr>
          <p:cNvPr id="6" name="practice-card-0">
            <a:extLst xmlns:a="http://schemas.openxmlformats.org/drawingml/2006/main">
              <a:ext uri="{FF2B5EF4-FFF2-40B4-BE49-F238E27FC236}">
                <a16:creationId xmlns:a16="http://schemas.microsoft.com/office/drawing/2014/main" id="{30A3D4DE-670E-4293-A801-81B08636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057400"/>
            <a:ext cx="91630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3335">
            <a:solidFill>
              <a:srgbClr val="2A78D6"/>
            </a:solidFill>
            <a:prstDash val="solid"/>
          </a:ln>
        </p:spPr>
      </p:sp>
      <p:sp>
        <p:nvSpPr>
          <p:cNvPr id="7" name="practice-q-0">
            <a:extLst xmlns:a="http://schemas.openxmlformats.org/drawingml/2006/main">
              <a:ext uri="{FF2B5EF4-FFF2-40B4-BE49-F238E27FC236}">
                <a16:creationId xmlns:a16="http://schemas.microsoft.com/office/drawing/2014/main" id="{389D8357-A5E1-426E-8EDC-DBFE8171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47900"/>
            <a:ext cx="8553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说明一个可约分分式在空点处为何可能没有函数值但仍有极限。</a:t>
            </a:r>
          </a:p>
        </p:txBody>
      </p:sp>
      <p:sp>
        <p:nvSpPr>
          <p:cNvPr id="8" name="practice-tag-1">
            <a:extLst xmlns:a="http://schemas.openxmlformats.org/drawingml/2006/main">
              <a:ext uri="{FF2B5EF4-FFF2-40B4-BE49-F238E27FC236}">
                <a16:creationId xmlns:a16="http://schemas.microsoft.com/office/drawing/2014/main" id="{9C44C8FD-EF1D-40CB-B7E6-0701C093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800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40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B</a:t>
            </a:r>
          </a:p>
        </p:txBody>
      </p:sp>
      <p:sp>
        <p:nvSpPr>
          <p:cNvPr id="9" name="practice-card-1">
            <a:extLst xmlns:a="http://schemas.openxmlformats.org/drawingml/2006/main">
              <a:ext uri="{FF2B5EF4-FFF2-40B4-BE49-F238E27FC236}">
                <a16:creationId xmlns:a16="http://schemas.microsoft.com/office/drawing/2014/main" id="{BADFF4AB-289E-4C4C-A4BF-5CBDA44B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752850"/>
            <a:ext cx="91630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1EE"/>
          </a:solidFill>
          <a:ln xmlns:a="http://schemas.openxmlformats.org/drawingml/2006/main" w="13335">
            <a:solidFill>
              <a:srgbClr val="EF6A5B"/>
            </a:solidFill>
            <a:prstDash val="solid"/>
          </a:ln>
        </p:spPr>
      </p:sp>
      <p:sp>
        <p:nvSpPr>
          <p:cNvPr id="10" name="practice-q-1">
            <a:extLst xmlns:a="http://schemas.openxmlformats.org/drawingml/2006/main">
              <a:ext uri="{FF2B5EF4-FFF2-40B4-BE49-F238E27FC236}">
                <a16:creationId xmlns:a16="http://schemas.microsoft.com/office/drawing/2014/main" id="{3F776E1E-BFD0-409B-A359-F908D6CD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43350"/>
            <a:ext cx="8553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若左右极限不同，判断双侧极限与连续性会发生什么。</a:t>
            </a:r>
          </a:p>
        </p:txBody>
      </p:sp>
      <p:sp>
        <p:nvSpPr>
          <p:cNvPr id="11" name="practice-note-box">
            <a:extLst xmlns:a="http://schemas.openxmlformats.org/drawingml/2006/main">
              <a:ext uri="{FF2B5EF4-FFF2-40B4-BE49-F238E27FC236}">
                <a16:creationId xmlns:a16="http://schemas.microsoft.com/office/drawing/2014/main" id="{51BB046E-3FFB-4217-A155-EC336685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524500"/>
            <a:ext cx="91630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12" name="practice-note-text">
            <a:extLst xmlns:a="http://schemas.openxmlformats.org/drawingml/2006/main">
              <a:ext uri="{FF2B5EF4-FFF2-40B4-BE49-F238E27FC236}">
                <a16:creationId xmlns:a16="http://schemas.microsoft.com/office/drawing/2014/main" id="{00B7D2BA-53BD-4D94-9BBC-42D7D8C0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57850"/>
            <a:ext cx="874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检查顺序：对象 → 条件 → 方法 → 结果解释。</a:t>
            </a:r>
          </a:p>
        </p:txBody>
      </p:sp>
      <p:sp>
        <p:nvSpPr>
          <p:cNvPr id="13" name="footer-rule-11">
            <a:extLst xmlns:a="http://schemas.openxmlformats.org/drawingml/2006/main">
              <a:ext uri="{FF2B5EF4-FFF2-40B4-BE49-F238E27FC236}">
                <a16:creationId xmlns:a16="http://schemas.microsoft.com/office/drawing/2014/main" id="{701FA44E-7F03-4149-BCA0-157BE7DF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title-11">
            <a:extLst xmlns:a="http://schemas.openxmlformats.org/drawingml/2006/main">
              <a:ext uri="{FF2B5EF4-FFF2-40B4-BE49-F238E27FC236}">
                <a16:creationId xmlns:a16="http://schemas.microsoft.com/office/drawing/2014/main" id="{4F40FC1F-6720-4994-9A0D-69A9EDA9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函数的极限与连续</a:t>
            </a:r>
          </a:p>
        </p:txBody>
      </p:sp>
      <p:sp>
        <p:nvSpPr>
          <p:cNvPr id="15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878C13B3-2CB3-49E4-BD96-2A0EDF64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888055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-12">
            <a:extLst xmlns:a="http://schemas.openxmlformats.org/drawingml/2006/main">
              <a:ext uri="{FF2B5EF4-FFF2-40B4-BE49-F238E27FC236}">
                <a16:creationId xmlns:a16="http://schemas.microsoft.com/office/drawing/2014/main" id="{5956F134-91F9-4439-A07B-3FD62E5B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课堂总结</a:t>
            </a:r>
          </a:p>
        </p:txBody>
      </p:sp>
      <p:sp>
        <p:nvSpPr>
          <p:cNvPr id="2" name="heading-12">
            <a:extLst xmlns:a="http://schemas.openxmlformats.org/drawingml/2006/main">
              <a:ext uri="{FF2B5EF4-FFF2-40B4-BE49-F238E27FC236}">
                <a16:creationId xmlns:a16="http://schemas.microsoft.com/office/drawing/2014/main" id="{409F0B50-9C0C-4214-8555-862C1C7E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把今天的主线压缩成三句话</a:t>
            </a:r>
          </a:p>
        </p:txBody>
      </p:sp>
      <p:sp>
        <p:nvSpPr>
          <p:cNvPr id="3" name="heading-accent-12">
            <a:extLst xmlns:a="http://schemas.openxmlformats.org/drawingml/2006/main">
              <a:ext uri="{FF2B5EF4-FFF2-40B4-BE49-F238E27FC236}">
                <a16:creationId xmlns:a16="http://schemas.microsoft.com/office/drawing/2014/main" id="{9A191E8A-4BE0-47A3-BEB4-0C508161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um-n-0">
            <a:extLst xmlns:a="http://schemas.openxmlformats.org/drawingml/2006/main">
              <a:ext uri="{FF2B5EF4-FFF2-40B4-BE49-F238E27FC236}">
                <a16:creationId xmlns:a16="http://schemas.microsoft.com/office/drawing/2014/main" id="{5B56B6D9-486D-443A-A454-2A689FC7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933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450" b="1">
                <a:solidFill>
                  <a:srgbClr val="2A78D6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2A78D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sum-t-0">
            <a:extLst xmlns:a="http://schemas.openxmlformats.org/drawingml/2006/main">
              <a:ext uri="{FF2B5EF4-FFF2-40B4-BE49-F238E27FC236}">
                <a16:creationId xmlns:a16="http://schemas.microsoft.com/office/drawing/2014/main" id="{F3B86602-1FAF-4673-BBAF-46675941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000250"/>
            <a:ext cx="857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极限看点附近而非点本身</a:t>
            </a:r>
          </a:p>
        </p:txBody>
      </p:sp>
      <p:sp>
        <p:nvSpPr>
          <p:cNvPr id="6" name="sum-sep-0">
            <a:extLst xmlns:a="http://schemas.openxmlformats.org/drawingml/2006/main">
              <a:ext uri="{FF2B5EF4-FFF2-40B4-BE49-F238E27FC236}">
                <a16:creationId xmlns:a16="http://schemas.microsoft.com/office/drawing/2014/main" id="{1BD0D02A-A995-4731-922A-F5B6AA57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813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um-n-1">
            <a:extLst xmlns:a="http://schemas.openxmlformats.org/drawingml/2006/main">
              <a:ext uri="{FF2B5EF4-FFF2-40B4-BE49-F238E27FC236}">
                <a16:creationId xmlns:a16="http://schemas.microsoft.com/office/drawing/2014/main" id="{2409C65A-8AFD-4CC6-8A31-3127AD99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933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450" b="1">
                <a:solidFill>
                  <a:srgbClr val="F1B44C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1B44C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sum-t-1">
            <a:extLst xmlns:a="http://schemas.openxmlformats.org/drawingml/2006/main">
              <a:ext uri="{FF2B5EF4-FFF2-40B4-BE49-F238E27FC236}">
                <a16:creationId xmlns:a16="http://schemas.microsoft.com/office/drawing/2014/main" id="{5C87E5A1-633D-46DD-BD48-BAE063D4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990850"/>
            <a:ext cx="857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左右一致才有双侧极限</a:t>
            </a:r>
          </a:p>
        </p:txBody>
      </p:sp>
      <p:sp>
        <p:nvSpPr>
          <p:cNvPr id="9" name="sum-sep-1">
            <a:extLst xmlns:a="http://schemas.openxmlformats.org/drawingml/2006/main">
              <a:ext uri="{FF2B5EF4-FFF2-40B4-BE49-F238E27FC236}">
                <a16:creationId xmlns:a16="http://schemas.microsoft.com/office/drawing/2014/main" id="{7037D3B9-7A2B-4D2D-9BB0-2B65DBD5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719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um-n-2">
            <a:extLst xmlns:a="http://schemas.openxmlformats.org/drawingml/2006/main">
              <a:ext uri="{FF2B5EF4-FFF2-40B4-BE49-F238E27FC236}">
                <a16:creationId xmlns:a16="http://schemas.microsoft.com/office/drawing/2014/main" id="{AF0B32DC-EA71-4AA5-96AE-9DBBC5F6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933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4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1" name="sum-t-2">
            <a:extLst xmlns:a="http://schemas.openxmlformats.org/drawingml/2006/main">
              <a:ext uri="{FF2B5EF4-FFF2-40B4-BE49-F238E27FC236}">
                <a16:creationId xmlns:a16="http://schemas.microsoft.com/office/drawing/2014/main" id="{3A43B1B9-3F79-4556-91F9-D4CE3FF1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981450"/>
            <a:ext cx="857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连续要求极限与函数值接合</a:t>
            </a:r>
          </a:p>
        </p:txBody>
      </p:sp>
      <p:sp>
        <p:nvSpPr>
          <p:cNvPr id="12" name="exit-box">
            <a:extLst xmlns:a="http://schemas.openxmlformats.org/drawingml/2006/main">
              <a:ext uri="{FF2B5EF4-FFF2-40B4-BE49-F238E27FC236}">
                <a16:creationId xmlns:a16="http://schemas.microsoft.com/office/drawing/2014/main" id="{26152E76-5175-492F-AF00-8C8CC460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62550"/>
            <a:ext cx="9334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13" name="exit-text">
            <a:extLst xmlns:a="http://schemas.openxmlformats.org/drawingml/2006/main">
              <a:ext uri="{FF2B5EF4-FFF2-40B4-BE49-F238E27FC236}">
                <a16:creationId xmlns:a16="http://schemas.microsoft.com/office/drawing/2014/main" id="{467A9BDE-1CE2-4CFD-9EDC-E40DA77C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295900"/>
            <a:ext cx="891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离堂检验：用自己的话解释“极限描述点附近的稳定趋势，连续要求这一趋势与函数值真正接合。”</a:t>
            </a:r>
          </a:p>
        </p:txBody>
      </p:sp>
      <p:sp>
        <p:nvSpPr>
          <p:cNvPr id="14" name="footer-rule-12">
            <a:extLst xmlns:a="http://schemas.openxmlformats.org/drawingml/2006/main">
              <a:ext uri="{FF2B5EF4-FFF2-40B4-BE49-F238E27FC236}">
                <a16:creationId xmlns:a16="http://schemas.microsoft.com/office/drawing/2014/main" id="{10989496-B87C-4630-8B5E-90CB58DB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title-12">
            <a:extLst xmlns:a="http://schemas.openxmlformats.org/drawingml/2006/main">
              <a:ext uri="{FF2B5EF4-FFF2-40B4-BE49-F238E27FC236}">
                <a16:creationId xmlns:a16="http://schemas.microsoft.com/office/drawing/2014/main" id="{853EB9B8-F11F-4374-B9F1-03CF6DBB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函数的极限与连续 · 总结</a:t>
            </a:r>
          </a:p>
        </p:txBody>
      </p:sp>
      <p:sp>
        <p:nvSpPr>
          <p:cNvPr id="16" name="footer-page-12">
            <a:extLst xmlns:a="http://schemas.openxmlformats.org/drawingml/2006/main">
              <a:ext uri="{FF2B5EF4-FFF2-40B4-BE49-F238E27FC236}">
                <a16:creationId xmlns:a16="http://schemas.microsoft.com/office/drawing/2014/main" id="{58B59AAD-1C30-4333-AD28-3BDF5B19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985317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2026-07-22T03:48:55.0070000Z</dcterms:created>
  <dcterms:modified xsi:type="dcterms:W3CDTF">2026-07-22T03:48:55.0070000Z</dcterms:modified>
</coreProperties>
</file>