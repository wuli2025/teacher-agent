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443b85b024c67" /><Relationship Type="http://schemas.openxmlformats.org/officeDocument/2006/relationships/extended-properties" Target="/docProps/app.xml" Id="R71b51c32329140ea" /><Relationship Type="http://schemas.openxmlformats.org/officeDocument/2006/relationships/officeDocument" Target="/ppt/presentation.xml" Id="R24df02f0dc4a44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ccd2f2d8f84250"/>
  </p:sldMasterIdLst>
  <p:notesMasterIdLst>
    <p:notesMasterId xmlns:r="http://schemas.openxmlformats.org/officeDocument/2006/relationships" r:id="R8b4628f4999c42da"/>
  </p:notesMasterIdLst>
  <p:sldIdLst>
    <p:sldId xmlns:r="http://schemas.openxmlformats.org/officeDocument/2006/relationships" id="256" r:id="R13a149cb74284366"/>
    <p:sldId xmlns:r="http://schemas.openxmlformats.org/officeDocument/2006/relationships" id="257" r:id="R5a31d44a65c840b9"/>
    <p:sldId xmlns:r="http://schemas.openxmlformats.org/officeDocument/2006/relationships" id="258" r:id="Re36726126fe1434d"/>
    <p:sldId xmlns:r="http://schemas.openxmlformats.org/officeDocument/2006/relationships" id="259" r:id="Re4b02c6cb13941c0"/>
    <p:sldId xmlns:r="http://schemas.openxmlformats.org/officeDocument/2006/relationships" id="260" r:id="Rf180d34a55824a92"/>
    <p:sldId xmlns:r="http://schemas.openxmlformats.org/officeDocument/2006/relationships" id="261" r:id="R56e3490e079e4b21"/>
    <p:sldId xmlns:r="http://schemas.openxmlformats.org/officeDocument/2006/relationships" id="262" r:id="R021482499e634761"/>
    <p:sldId xmlns:r="http://schemas.openxmlformats.org/officeDocument/2006/relationships" id="263" r:id="Ra9d083fb0a5a4464"/>
    <p:sldId xmlns:r="http://schemas.openxmlformats.org/officeDocument/2006/relationships" id="264" r:id="R0c76116216a9415b"/>
    <p:sldId xmlns:r="http://schemas.openxmlformats.org/officeDocument/2006/relationships" id="265" r:id="R8fc4ad8c51c34a9c"/>
    <p:sldId xmlns:r="http://schemas.openxmlformats.org/officeDocument/2006/relationships" id="266" r:id="R82101a84608b47e3"/>
    <p:sldId xmlns:r="http://schemas.openxmlformats.org/officeDocument/2006/relationships" id="267" r:id="R110036913afd4e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c48e74f09a4b17" /><Relationship Type="http://schemas.openxmlformats.org/officeDocument/2006/relationships/slideMaster" Target="/ppt/slideMasters/slideMaster1.xml" Id="Rcdccd2f2d8f84250" /><Relationship Type="http://schemas.openxmlformats.org/officeDocument/2006/relationships/notesMaster" Target="/ppt/notesMasters/notesMaster1.xml" Id="R8b4628f4999c42da" /><Relationship Type="http://schemas.openxmlformats.org/officeDocument/2006/relationships/presProps" Target="/ppt/presProps.xml" Id="R184939416c2f41da" /><Relationship Type="http://schemas.openxmlformats.org/officeDocument/2006/relationships/tableStyles" Target="/ppt/tableStyles.xml" Id="Rb0de2d7e289e485b" /><Relationship Type="http://schemas.openxmlformats.org/officeDocument/2006/relationships/slide" Target="/ppt/slides/slide1.xml" Id="R13a149cb74284366" /><Relationship Type="http://schemas.openxmlformats.org/officeDocument/2006/relationships/slide" Target="/ppt/slides/slide2.xml" Id="R5a31d44a65c840b9" /><Relationship Type="http://schemas.openxmlformats.org/officeDocument/2006/relationships/slide" Target="/ppt/slides/slide3.xml" Id="Re36726126fe1434d" /><Relationship Type="http://schemas.openxmlformats.org/officeDocument/2006/relationships/slide" Target="/ppt/slides/slide4.xml" Id="Re4b02c6cb13941c0" /><Relationship Type="http://schemas.openxmlformats.org/officeDocument/2006/relationships/slide" Target="/ppt/slides/slide5.xml" Id="Rf180d34a55824a92" /><Relationship Type="http://schemas.openxmlformats.org/officeDocument/2006/relationships/slide" Target="/ppt/slides/slide6.xml" Id="R56e3490e079e4b21" /><Relationship Type="http://schemas.openxmlformats.org/officeDocument/2006/relationships/slide" Target="/ppt/slides/slide7.xml" Id="R021482499e634761" /><Relationship Type="http://schemas.openxmlformats.org/officeDocument/2006/relationships/slide" Target="/ppt/slides/slide8.xml" Id="Ra9d083fb0a5a4464" /><Relationship Type="http://schemas.openxmlformats.org/officeDocument/2006/relationships/slide" Target="/ppt/slides/slide9.xml" Id="R0c76116216a9415b" /><Relationship Type="http://schemas.openxmlformats.org/officeDocument/2006/relationships/slide" Target="/ppt/slides/slide10.xml" Id="R8fc4ad8c51c34a9c" /><Relationship Type="http://schemas.openxmlformats.org/officeDocument/2006/relationships/slide" Target="/ppt/slides/slide11.xml" Id="R82101a84608b47e3" /><Relationship Type="http://schemas.openxmlformats.org/officeDocument/2006/relationships/slide" Target="/ppt/slides/slide12.xml" Id="R110036913afd4e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692561130a4a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0cf9ca4e8c4da4" /><Relationship Type="http://schemas.openxmlformats.org/officeDocument/2006/relationships/notesMaster" Target="/ppt/notesMasters/notesMaster1.xml" Id="R763dc4548abe40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e645c02a244048" /><Relationship Type="http://schemas.openxmlformats.org/officeDocument/2006/relationships/notesMaster" Target="/ppt/notesMasters/notesMaster1.xml" Id="R8dd5e709efb54c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57064360e345a1" /><Relationship Type="http://schemas.openxmlformats.org/officeDocument/2006/relationships/notesMaster" Target="/ppt/notesMasters/notesMaster1.xml" Id="R51e65227e6d54d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c75633572d4677" /><Relationship Type="http://schemas.openxmlformats.org/officeDocument/2006/relationships/notesMaster" Target="/ppt/notesMasters/notesMaster1.xml" Id="R51e69d2d02404c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5868747d1a44f0" /><Relationship Type="http://schemas.openxmlformats.org/officeDocument/2006/relationships/notesMaster" Target="/ppt/notesMasters/notesMaster1.xml" Id="R6e21e934f6fd47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eefce436dd42c2" /><Relationship Type="http://schemas.openxmlformats.org/officeDocument/2006/relationships/notesMaster" Target="/ppt/notesMasters/notesMaster1.xml" Id="Rbb69b77e959443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b0f593d4904b72" /><Relationship Type="http://schemas.openxmlformats.org/officeDocument/2006/relationships/notesMaster" Target="/ppt/notesMasters/notesMaster1.xml" Id="Rea6bd2c1233844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b30b9bc3ef4d2c" /><Relationship Type="http://schemas.openxmlformats.org/officeDocument/2006/relationships/notesMaster" Target="/ppt/notesMasters/notesMaster1.xml" Id="R4dbb9fd9ea7a4d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b5a7635d254a0d" /><Relationship Type="http://schemas.openxmlformats.org/officeDocument/2006/relationships/notesMaster" Target="/ppt/notesMasters/notesMaster1.xml" Id="R866da38b592e41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5bfacb30dd4ada" /><Relationship Type="http://schemas.openxmlformats.org/officeDocument/2006/relationships/notesMaster" Target="/ppt/notesMasters/notesMaster1.xml" Id="R890d11ad3a584e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26c20fdb6b84e4c" /><Relationship Type="http://schemas.openxmlformats.org/officeDocument/2006/relationships/notesMaster" Target="/ppt/notesMasters/notesMaster1.xml" Id="Reaaa0d5253294a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0a48323645241a5" /><Relationship Type="http://schemas.openxmlformats.org/officeDocument/2006/relationships/notesMaster" Target="/ppt/notesMasters/notesMaster1.xml" Id="R010373e1170f4d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3c8e8f96e41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dad191b104430c" /><Relationship Type="http://schemas.openxmlformats.org/officeDocument/2006/relationships/slideLayout" Target="/ppt/slideLayouts/slideLayout1.xml" Id="R95479206f5214b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479206f5214b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882098a564cda" /><Relationship Type="http://schemas.openxmlformats.org/officeDocument/2006/relationships/notesSlide" Target="/ppt/notesSlides/notesSlide1.xml" Id="R95b67458279d4b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954a4236b407e" /><Relationship Type="http://schemas.openxmlformats.org/officeDocument/2006/relationships/notesSlide" Target="/ppt/notesSlides/notesSlide2.xml" Id="R7579ffa3cd024d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764a519bb4cbc" /><Relationship Type="http://schemas.openxmlformats.org/officeDocument/2006/relationships/notesSlide" Target="/ppt/notesSlides/notesSlide3.xml" Id="R28f2e3ab320743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fd85e1a7d4283" /><Relationship Type="http://schemas.openxmlformats.org/officeDocument/2006/relationships/image" Target="/ppt/media/image.png" Id="Rf632c5f3b1834b2f" /><Relationship Type="http://schemas.openxmlformats.org/officeDocument/2006/relationships/notesSlide" Target="/ppt/notesSlides/notesSlide4.xml" Id="Rb0b2b0f2217648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e33ecceee4c41" /><Relationship Type="http://schemas.openxmlformats.org/officeDocument/2006/relationships/image" Target="/ppt/media/image2.png" Id="Rd2724ae14ae645c0" /><Relationship Type="http://schemas.openxmlformats.org/officeDocument/2006/relationships/notesSlide" Target="/ppt/notesSlides/notesSlide5.xml" Id="Rde3ef006dd9649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3a422362c4c59" /><Relationship Type="http://schemas.openxmlformats.org/officeDocument/2006/relationships/notesSlide" Target="/ppt/notesSlides/notesSlide6.xml" Id="R1e9c9d396d314a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ff8ce80f74a1a" /><Relationship Type="http://schemas.openxmlformats.org/officeDocument/2006/relationships/image" Target="/ppt/media/image3.png" Id="R8f06f51926a5424a" /><Relationship Type="http://schemas.openxmlformats.org/officeDocument/2006/relationships/notesSlide" Target="/ppt/notesSlides/notesSlide7.xml" Id="R45456def5d8842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9bb512b4e47d5" /><Relationship Type="http://schemas.openxmlformats.org/officeDocument/2006/relationships/notesSlide" Target="/ppt/notesSlides/notesSlide8.xml" Id="Re730cb0ddcfa42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d4e29b3fd4550" /><Relationship Type="http://schemas.openxmlformats.org/officeDocument/2006/relationships/notesSlide" Target="/ppt/notesSlides/notesSlide9.xml" Id="R093bf914af6241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8e3eac6fc42a7" /><Relationship Type="http://schemas.openxmlformats.org/officeDocument/2006/relationships/notesSlide" Target="/ppt/notesSlides/notesSlide10.xml" Id="R435fc159a27046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0a03345384f34" /><Relationship Type="http://schemas.openxmlformats.org/officeDocument/2006/relationships/notesSlide" Target="/ppt/notesSlides/notesSlide11.xml" Id="Rf5fe08f2f7ea46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fc9b4d71a48eb" /><Relationship Type="http://schemas.openxmlformats.org/officeDocument/2006/relationships/notesSlide" Target="/ppt/notesSlides/notesSlide12.xml" Id="R204695744a1149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cyan-orb">
            <a:extLst xmlns:a="http://schemas.openxmlformats.org/drawingml/2006/main">
              <a:ext uri="{FF2B5EF4-FFF2-40B4-BE49-F238E27FC236}">
                <a16:creationId xmlns:a16="http://schemas.microsoft.com/office/drawing/2014/main" id="{4C64F3B1-FD22-4654-9C12-6251D08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435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5F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coral-orb">
            <a:extLst xmlns:a="http://schemas.openxmlformats.org/drawingml/2006/main">
              <a:ext uri="{FF2B5EF4-FFF2-40B4-BE49-F238E27FC236}">
                <a16:creationId xmlns:a16="http://schemas.microsoft.com/office/drawing/2014/main" id="{8329CEA4-DCFE-4076-953A-D877FAAD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1095375" cy="1095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5B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line-a">
            <a:extLst xmlns:a="http://schemas.openxmlformats.org/drawingml/2006/main">
              <a:ext uri="{FF2B5EF4-FFF2-40B4-BE49-F238E27FC236}">
                <a16:creationId xmlns:a16="http://schemas.microsoft.com/office/drawing/2014/main" id="{FEAF0060-5E2E-4C09-A169-60669B6B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333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line-b">
            <a:extLst xmlns:a="http://schemas.openxmlformats.org/drawingml/2006/main">
              <a:ext uri="{FF2B5EF4-FFF2-40B4-BE49-F238E27FC236}">
                <a16:creationId xmlns:a16="http://schemas.microsoft.com/office/drawing/2014/main" id="{A4057E53-9438-4A38-A6D3-F4DF4010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number">
            <a:extLst xmlns:a="http://schemas.openxmlformats.org/drawingml/2006/main">
              <a:ext uri="{FF2B5EF4-FFF2-40B4-BE49-F238E27FC236}">
                <a16:creationId xmlns:a16="http://schemas.microsoft.com/office/drawing/2014/main" id="{DC82B202-C1D5-4AEF-BED1-0CABD46C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61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6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386F0649-3058-447C-BB12-42CAA4BC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高中数学 · 核心概念课</a:t>
            </a:r>
          </a:p>
        </p:txBody>
      </p:sp>
      <p:sp>
        <p:nvSpPr>
          <p:cNvPr id="7" name="title-main">
            <a:extLst xmlns:a="http://schemas.openxmlformats.org/drawingml/2006/main">
              <a:ext uri="{FF2B5EF4-FFF2-40B4-BE49-F238E27FC236}">
                <a16:creationId xmlns:a16="http://schemas.microsoft.com/office/drawing/2014/main" id="{1B6FAF32-6F63-4D70-AA5C-C08B6E97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线性方程组与矩阵</a:t>
            </a:r>
          </a:p>
        </p:txBody>
      </p:sp>
      <p:sp>
        <p:nvSpPr>
          <p:cNvPr id="8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9A3E805-CE66-4E60-8F47-002D14CF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A5C97E0A-D521-46BB-B185-03256819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52825"/>
            <a:ext cx="685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从高斯消元到线性变换——矩阵是作用于空间的动作</a:t>
            </a:r>
          </a:p>
        </p:txBody>
      </p:sp>
      <p:sp>
        <p:nvSpPr>
          <p:cNvPr id="10" name="title-big-box">
            <a:extLst xmlns:a="http://schemas.openxmlformats.org/drawingml/2006/main">
              <a:ext uri="{FF2B5EF4-FFF2-40B4-BE49-F238E27FC236}">
                <a16:creationId xmlns:a16="http://schemas.microsoft.com/office/drawing/2014/main" id="{5F0743AA-B898-4E54-966D-EEA81130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8580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1" name="title-big-text">
            <a:extLst xmlns:a="http://schemas.openxmlformats.org/drawingml/2006/main">
              <a:ext uri="{FF2B5EF4-FFF2-40B4-BE49-F238E27FC236}">
                <a16:creationId xmlns:a16="http://schemas.microsoft.com/office/drawing/2014/main" id="{945D48D6-6EF6-4FE2-8722-2C00D51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6438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矩阵既编码线性约束，也描述基向量和整个空间怎样变化。</a:t>
            </a:r>
          </a:p>
        </p:txBody>
      </p:sp>
      <p:sp>
        <p:nvSpPr>
          <p:cNvPr id="12" name="title-lesson">
            <a:extLst xmlns:a="http://schemas.openxmlformats.org/drawingml/2006/main">
              <a:ext uri="{FF2B5EF4-FFF2-40B4-BE49-F238E27FC236}">
                <a16:creationId xmlns:a16="http://schemas.microsoft.com/office/drawing/2014/main" id="{DBDE35A4-A1A6-4ACE-8554-5E086E2C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第 09 讲</a:t>
            </a:r>
          </a:p>
        </p:txBody>
      </p:sp>
    </p:spTree>
    <p:extLst>
      <p:ext uri="{BB962C8B-B14F-4D97-AF65-F5344CB8AC3E}">
        <p14:creationId xmlns:p14="http://schemas.microsoft.com/office/powerpoint/2010/main" val="613416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CCE92DF6-78A3-4F32-A3BB-74E2A72B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问题驱动</a:t>
            </a:r>
          </a:p>
        </p:txBody>
      </p:sp>
      <p:sp>
        <p:nvSpPr>
          <p:cNvPr id="2" name="heading-2">
            <a:extLst xmlns:a="http://schemas.openxmlformats.org/drawingml/2006/main">
              <a:ext uri="{FF2B5EF4-FFF2-40B4-BE49-F238E27FC236}">
                <a16:creationId xmlns:a16="http://schemas.microsoft.com/office/drawing/2014/main" id="{98CA1AFC-2084-48AD-9F1C-9E942B7B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这一问，熟悉的方法为什么不够？</a:t>
            </a:r>
          </a:p>
        </p:txBody>
      </p:sp>
      <p:sp>
        <p:nvSpPr>
          <p:cNvPr id="3" name="heading-accent-2">
            <a:extLst xmlns:a="http://schemas.openxmlformats.org/drawingml/2006/main">
              <a:ext uri="{FF2B5EF4-FFF2-40B4-BE49-F238E27FC236}">
                <a16:creationId xmlns:a16="http://schemas.microsoft.com/office/drawing/2014/main" id="{CE574D64-457B-48F2-A90E-9C1CEE15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ook-mark">
            <a:extLst xmlns:a="http://schemas.openxmlformats.org/drawingml/2006/main">
              <a:ext uri="{FF2B5EF4-FFF2-40B4-BE49-F238E27FC236}">
                <a16:creationId xmlns:a16="http://schemas.microsoft.com/office/drawing/2014/main" id="{98202A28-7C4B-4532-9A17-DDB579F8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219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3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?</a:t>
            </a:r>
          </a:p>
        </p:txBody>
      </p:sp>
      <p:sp>
        <p:nvSpPr>
          <p:cNvPr id="5" name="hook-question">
            <a:extLst xmlns:a="http://schemas.openxmlformats.org/drawingml/2006/main">
              <a:ext uri="{FF2B5EF4-FFF2-40B4-BE49-F238E27FC236}">
                <a16:creationId xmlns:a16="http://schemas.microsoft.com/office/drawing/2014/main" id="{CAF0BDD9-ECBB-4FEB-A577-20A5C3FF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52625"/>
            <a:ext cx="7524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为什么同一张数表既能解方程，也能旋转、拉伸甚至压扁平面？</a:t>
            </a:r>
          </a:p>
        </p:txBody>
      </p:sp>
      <p:sp>
        <p:nvSpPr>
          <p:cNvPr id="6" name="hook-note-box">
            <a:extLst xmlns:a="http://schemas.openxmlformats.org/drawingml/2006/main">
              <a:ext uri="{FF2B5EF4-FFF2-40B4-BE49-F238E27FC236}">
                <a16:creationId xmlns:a16="http://schemas.microsoft.com/office/drawing/2014/main" id="{F406A21C-85E6-4BEB-B4E2-F64DC568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7524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hook-note-text">
            <a:extLst xmlns:a="http://schemas.openxmlformats.org/drawingml/2006/main">
              <a:ext uri="{FF2B5EF4-FFF2-40B4-BE49-F238E27FC236}">
                <a16:creationId xmlns:a16="http://schemas.microsoft.com/office/drawing/2014/main" id="{6DF72286-5B67-41BE-9109-9FEDEE09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10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先说出你的直觉，再找出直觉中缺少的条件、参照对象或极限过程。</a:t>
            </a:r>
          </a:p>
        </p:txBody>
      </p:sp>
      <p:sp>
        <p:nvSpPr>
          <p:cNvPr id="8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46EA004-2A84-4255-B4D0-D868D99F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title-2">
            <a:extLst xmlns:a="http://schemas.openxmlformats.org/drawingml/2006/main">
              <a:ext uri="{FF2B5EF4-FFF2-40B4-BE49-F238E27FC236}">
                <a16:creationId xmlns:a16="http://schemas.microsoft.com/office/drawing/2014/main" id="{DBA5F544-B607-4458-BDE9-BAB1BE71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</a:t>
            </a:r>
          </a:p>
        </p:txBody>
      </p:sp>
      <p:sp>
        <p:nvSpPr>
          <p:cNvPr id="10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C6E7FF4A-2F92-4EF3-9361-2E75D6BD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80410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3">
            <a:extLst xmlns:a="http://schemas.openxmlformats.org/drawingml/2006/main">
              <a:ext uri="{FF2B5EF4-FFF2-40B4-BE49-F238E27FC236}">
                <a16:creationId xmlns:a16="http://schemas.microsoft.com/office/drawing/2014/main" id="{2347B6DB-A934-4DB2-890C-E24B41C0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学习路线</a:t>
            </a:r>
          </a:p>
        </p:txBody>
      </p:sp>
      <p:sp>
        <p:nvSpPr>
          <p:cNvPr id="2" name="heading-3">
            <a:extLst xmlns:a="http://schemas.openxmlformats.org/drawingml/2006/main">
              <a:ext uri="{FF2B5EF4-FFF2-40B4-BE49-F238E27FC236}">
                <a16:creationId xmlns:a16="http://schemas.microsoft.com/office/drawing/2014/main" id="{D4A7E492-78EF-49C7-990F-BEF0EB42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从直观图景走到可执行方法</a:t>
            </a:r>
          </a:p>
        </p:txBody>
      </p:sp>
      <p:sp>
        <p:nvSpPr>
          <p:cNvPr id="3" name="heading-accent-3">
            <a:extLst xmlns:a="http://schemas.openxmlformats.org/drawingml/2006/main">
              <a:ext uri="{FF2B5EF4-FFF2-40B4-BE49-F238E27FC236}">
                <a16:creationId xmlns:a16="http://schemas.microsoft.com/office/drawing/2014/main" id="{E8B585D1-706C-4AEE-9B48-9EDE0923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3">
            <a:extLst xmlns:a="http://schemas.openxmlformats.org/drawingml/2006/main">
              <a:ext uri="{FF2B5EF4-FFF2-40B4-BE49-F238E27FC236}">
                <a16:creationId xmlns:a16="http://schemas.microsoft.com/office/drawing/2014/main" id="{88673F06-C07A-42D3-B3C8-9E29DB27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每一步都解决前一步留下的问题</a:t>
            </a:r>
          </a:p>
        </p:txBody>
      </p:sp>
      <p:sp>
        <p:nvSpPr>
          <p:cNvPr id="5" name="route-n-0">
            <a:extLst xmlns:a="http://schemas.openxmlformats.org/drawingml/2006/main">
              <a:ext uri="{FF2B5EF4-FFF2-40B4-BE49-F238E27FC236}">
                <a16:creationId xmlns:a16="http://schemas.microsoft.com/office/drawing/2014/main" id="{458873B4-9035-46F5-BE20-272D39ED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route-line-0">
            <a:extLst xmlns:a="http://schemas.openxmlformats.org/drawingml/2006/main">
              <a:ext uri="{FF2B5EF4-FFF2-40B4-BE49-F238E27FC236}">
                <a16:creationId xmlns:a16="http://schemas.microsoft.com/office/drawing/2014/main" id="{60069CF1-670A-45AE-8AD7-05C13073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622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5F1742E9-C046-418C-B977-6BC53250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看见结构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C71C5518-7ADE-4018-B1A1-1C21BF2B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用概念图识别对象、变化与约束。</a:t>
            </a:r>
          </a:p>
        </p:txBody>
      </p:sp>
      <p:sp>
        <p:nvSpPr>
          <p:cNvPr id="9" name="route-n-1">
            <a:extLst xmlns:a="http://schemas.openxmlformats.org/drawingml/2006/main">
              <a:ext uri="{FF2B5EF4-FFF2-40B4-BE49-F238E27FC236}">
                <a16:creationId xmlns:a16="http://schemas.microsoft.com/office/drawing/2014/main" id="{8487ABF9-D4C7-461B-95F0-9068255F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te-line-1">
            <a:extLst xmlns:a="http://schemas.openxmlformats.org/drawingml/2006/main">
              <a:ext uri="{FF2B5EF4-FFF2-40B4-BE49-F238E27FC236}">
                <a16:creationId xmlns:a16="http://schemas.microsoft.com/office/drawing/2014/main" id="{9BFCA8CE-BFC7-44A3-8D26-99610ED4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814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AAF44B9B-F6DE-4455-95C5-DC116060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读懂表达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3FF729B2-521D-484F-B0F0-1F7754E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用 Manim 把定义或定理中的关系拆开。</a:t>
            </a:r>
          </a:p>
        </p:txBody>
      </p:sp>
      <p:sp>
        <p:nvSpPr>
          <p:cNvPr id="13" name="route-n-2">
            <a:extLst xmlns:a="http://schemas.openxmlformats.org/drawingml/2006/main">
              <a:ext uri="{FF2B5EF4-FFF2-40B4-BE49-F238E27FC236}">
                <a16:creationId xmlns:a16="http://schemas.microsoft.com/office/drawing/2014/main" id="{43670572-225E-4896-ABB7-E84DA057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28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9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route-line-2">
            <a:extLst xmlns:a="http://schemas.openxmlformats.org/drawingml/2006/main">
              <a:ext uri="{FF2B5EF4-FFF2-40B4-BE49-F238E27FC236}">
                <a16:creationId xmlns:a16="http://schemas.microsoft.com/office/drawing/2014/main" id="{7F11DADA-1C1C-4A67-9592-C317B7FA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0060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C28289A4-55E3-4A6D-8251-2CAED95B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迁移解决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8BE3B3FF-47F0-45E2-A4A9-D88507D3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把方法用于例题、辨错与真实情境。</a:t>
            </a:r>
          </a:p>
        </p:txBody>
      </p:sp>
      <p:sp>
        <p:nvSpPr>
          <p:cNvPr id="1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5BBDF216-19E5-482D-AA10-C9F4A551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title-3">
            <a:extLst xmlns:a="http://schemas.openxmlformats.org/drawingml/2006/main">
              <a:ext uri="{FF2B5EF4-FFF2-40B4-BE49-F238E27FC236}">
                <a16:creationId xmlns:a16="http://schemas.microsoft.com/office/drawing/2014/main" id="{B6808E67-64BB-4C96-B8D4-71E4889F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</a:t>
            </a:r>
          </a:p>
        </p:txBody>
      </p:sp>
      <p:sp>
        <p:nvSpPr>
          <p:cNvPr id="1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ACC5D197-BA3A-4078-A58A-A9077AE5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0913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4">
            <a:extLst xmlns:a="http://schemas.openxmlformats.org/drawingml/2006/main">
              <a:ext uri="{FF2B5EF4-FFF2-40B4-BE49-F238E27FC236}">
                <a16:creationId xmlns:a16="http://schemas.microsoft.com/office/drawing/2014/main" id="{B0227C67-1439-4521-8FC3-7A8F1053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概念理解</a:t>
            </a:r>
          </a:p>
        </p:txBody>
      </p:sp>
      <p:sp>
        <p:nvSpPr>
          <p:cNvPr id="2" name="heading-4">
            <a:extLst xmlns:a="http://schemas.openxmlformats.org/drawingml/2006/main">
              <a:ext uri="{FF2B5EF4-FFF2-40B4-BE49-F238E27FC236}">
                <a16:creationId xmlns:a16="http://schemas.microsoft.com/office/drawing/2014/main" id="{4C271A28-3A03-4401-970C-C5DCB2E1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矩阵让方格网变形，也让多个约束在一点相交</a:t>
            </a:r>
          </a:p>
        </p:txBody>
      </p:sp>
      <p:sp>
        <p:nvSpPr>
          <p:cNvPr id="3" name="heading-accent-4">
            <a:extLst xmlns:a="http://schemas.openxmlformats.org/drawingml/2006/main">
              <a:ext uri="{FF2B5EF4-FFF2-40B4-BE49-F238E27FC236}">
                <a16:creationId xmlns:a16="http://schemas.microsoft.com/office/drawing/2014/main" id="{38BC3E24-5811-4509-BC82-44F6A514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q-label">
            <a:extLst xmlns:a="http://schemas.openxmlformats.org/drawingml/2006/main">
              <a:ext uri="{FF2B5EF4-FFF2-40B4-BE49-F238E27FC236}">
                <a16:creationId xmlns:a16="http://schemas.microsoft.com/office/drawing/2014/main" id="{47D9B047-A093-4513-93CA-0CA85284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观察问题</a:t>
            </a:r>
          </a:p>
        </p:txBody>
      </p:sp>
      <p:sp>
        <p:nvSpPr>
          <p:cNvPr id="5" name="concept-q">
            <a:extLst xmlns:a="http://schemas.openxmlformats.org/drawingml/2006/main">
              <a:ext uri="{FF2B5EF4-FFF2-40B4-BE49-F238E27FC236}">
                <a16:creationId xmlns:a16="http://schemas.microsoft.com/office/drawing/2014/main" id="{52C3E999-BFAD-4858-9477-C915E526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4095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系数表中的行与列，如何同时表达算法和几何动作？</a:t>
            </a:r>
          </a:p>
        </p:txBody>
      </p:sp>
      <p:sp>
        <p:nvSpPr>
          <p:cNvPr id="6" name="concept-tip-box">
            <a:extLst xmlns:a="http://schemas.openxmlformats.org/drawingml/2006/main">
              <a:ext uri="{FF2B5EF4-FFF2-40B4-BE49-F238E27FC236}">
                <a16:creationId xmlns:a16="http://schemas.microsoft.com/office/drawing/2014/main" id="{33E79FE4-8636-43C0-B1E2-AB86855D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095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7" name="concept-tip-text">
            <a:extLst xmlns:a="http://schemas.openxmlformats.org/drawingml/2006/main">
              <a:ext uri="{FF2B5EF4-FFF2-40B4-BE49-F238E27FC236}">
                <a16:creationId xmlns:a16="http://schemas.microsoft.com/office/drawing/2014/main" id="{2B7372BD-B3F1-46F3-B573-836F57B2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3676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先用自己的话描述图中“不变的量”或“不断逼近的量”，再进入符号表达。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32c5f3b1834b2f"/>
          <a:srcRect xmlns:a="http://schemas.openxmlformats.org/drawingml/2006/main" l="7201" t="0" r="7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1790700"/>
            <a:ext cx="62293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9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CE69B4FB-E27B-4112-B91C-B5F547FD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title-4">
            <a:extLst xmlns:a="http://schemas.openxmlformats.org/drawingml/2006/main">
              <a:ext uri="{FF2B5EF4-FFF2-40B4-BE49-F238E27FC236}">
                <a16:creationId xmlns:a16="http://schemas.microsoft.com/office/drawing/2014/main" id="{CD6C588E-E214-4AB0-A5A3-14B52873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</a:t>
            </a:r>
          </a:p>
        </p:txBody>
      </p:sp>
      <p:sp>
        <p:nvSpPr>
          <p:cNvPr id="11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37A20CE8-D4E1-4BAD-AA48-C3055217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70005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24ae14ae645c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03C0A044-B947-43BC-B992-A9CDF834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5">
            <a:extLst xmlns:a="http://schemas.openxmlformats.org/drawingml/2006/main">
              <a:ext uri="{FF2B5EF4-FFF2-40B4-BE49-F238E27FC236}">
                <a16:creationId xmlns:a16="http://schemas.microsoft.com/office/drawing/2014/main" id="{1C2CF875-AFD2-4712-9264-6DDD244C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 · 核心表达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632B3C99-37DD-4DFE-99C2-8E3260E5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37765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6">
            <a:extLst xmlns:a="http://schemas.openxmlformats.org/drawingml/2006/main">
              <a:ext uri="{FF2B5EF4-FFF2-40B4-BE49-F238E27FC236}">
                <a16:creationId xmlns:a16="http://schemas.microsoft.com/office/drawing/2014/main" id="{8564B730-7325-40BC-9B3A-DC38645D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概念拆解</a:t>
            </a:r>
          </a:p>
        </p:txBody>
      </p:sp>
      <p:sp>
        <p:nvSpPr>
          <p:cNvPr id="2" name="heading-6">
            <a:extLst xmlns:a="http://schemas.openxmlformats.org/drawingml/2006/main">
              <a:ext uri="{FF2B5EF4-FFF2-40B4-BE49-F238E27FC236}">
                <a16:creationId xmlns:a16="http://schemas.microsoft.com/office/drawing/2014/main" id="{2E8F17B2-D752-4A1C-83DE-BEC56097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三个关键词，搭起完整理解</a:t>
            </a:r>
          </a:p>
        </p:txBody>
      </p:sp>
      <p:sp>
        <p:nvSpPr>
          <p:cNvPr id="3" name="heading-accent-6">
            <a:extLst xmlns:a="http://schemas.openxmlformats.org/drawingml/2006/main">
              <a:ext uri="{FF2B5EF4-FFF2-40B4-BE49-F238E27FC236}">
                <a16:creationId xmlns:a16="http://schemas.microsoft.com/office/drawing/2014/main" id="{28F7004A-C34C-4101-B919-56DCE671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cept-card-0">
            <a:extLst xmlns:a="http://schemas.openxmlformats.org/drawingml/2006/main">
              <a:ext uri="{FF2B5EF4-FFF2-40B4-BE49-F238E27FC236}">
                <a16:creationId xmlns:a16="http://schemas.microsoft.com/office/drawing/2014/main" id="{8FCE91C0-DC5B-43E3-858C-2C81B66F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5" name="concept-index-0">
            <a:extLst xmlns:a="http://schemas.openxmlformats.org/drawingml/2006/main">
              <a:ext uri="{FF2B5EF4-FFF2-40B4-BE49-F238E27FC236}">
                <a16:creationId xmlns:a16="http://schemas.microsoft.com/office/drawing/2014/main" id="{921F8C6F-616F-4834-B602-88216F4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concept-head-0">
            <a:extLst xmlns:a="http://schemas.openxmlformats.org/drawingml/2006/main">
              <a:ext uri="{FF2B5EF4-FFF2-40B4-BE49-F238E27FC236}">
                <a16:creationId xmlns:a16="http://schemas.microsoft.com/office/drawing/2014/main" id="{A531B8DB-59F4-495D-9708-584BA003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增广矩阵</a:t>
            </a:r>
          </a:p>
        </p:txBody>
      </p:sp>
      <p:sp>
        <p:nvSpPr>
          <p:cNvPr id="7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77335371-DECA-42FF-AC42-4E74E1C1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把系数与常数项排成数表，便于执行统一的行操作。</a:t>
            </a:r>
          </a:p>
        </p:txBody>
      </p:sp>
      <p:sp>
        <p:nvSpPr>
          <p:cNvPr id="8" name="concept-card-1">
            <a:extLst xmlns:a="http://schemas.openxmlformats.org/drawingml/2006/main">
              <a:ext uri="{FF2B5EF4-FFF2-40B4-BE49-F238E27FC236}">
                <a16:creationId xmlns:a16="http://schemas.microsoft.com/office/drawing/2014/main" id="{DE010E6F-2514-4B91-8518-E49A2095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9" name="concept-index-1">
            <a:extLst xmlns:a="http://schemas.openxmlformats.org/drawingml/2006/main">
              <a:ext uri="{FF2B5EF4-FFF2-40B4-BE49-F238E27FC236}">
                <a16:creationId xmlns:a16="http://schemas.microsoft.com/office/drawing/2014/main" id="{E696F07F-0DD3-4DD4-88A9-FF69F60D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ncept-head-1">
            <a:extLst xmlns:a="http://schemas.openxmlformats.org/drawingml/2006/main">
              <a:ext uri="{FF2B5EF4-FFF2-40B4-BE49-F238E27FC236}">
                <a16:creationId xmlns:a16="http://schemas.microsoft.com/office/drawing/2014/main" id="{FF675479-AC18-4E08-A523-4D4A5447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主元与秩</a:t>
            </a:r>
          </a:p>
        </p:txBody>
      </p:sp>
      <p:sp>
        <p:nvSpPr>
          <p:cNvPr id="11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9782E87F-C833-4E50-B6E5-7ADBA9BE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主元个数反映独立约束数量，并决定解的结构。</a:t>
            </a:r>
          </a:p>
        </p:txBody>
      </p:sp>
      <p:sp>
        <p:nvSpPr>
          <p:cNvPr id="12" name="concept-card-2">
            <a:extLst xmlns:a="http://schemas.openxmlformats.org/drawingml/2006/main">
              <a:ext uri="{FF2B5EF4-FFF2-40B4-BE49-F238E27FC236}">
                <a16:creationId xmlns:a16="http://schemas.microsoft.com/office/drawing/2014/main" id="{9EE684C3-393E-4BCD-BC97-49C120C8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33528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solid"/>
          </a:ln>
        </p:spPr>
      </p:sp>
      <p:sp>
        <p:nvSpPr>
          <p:cNvPr id="13" name="concept-index-2">
            <a:extLst xmlns:a="http://schemas.openxmlformats.org/drawingml/2006/main">
              <a:ext uri="{FF2B5EF4-FFF2-40B4-BE49-F238E27FC236}">
                <a16:creationId xmlns:a16="http://schemas.microsoft.com/office/drawing/2014/main" id="{3B271E27-1FAA-4D3B-B397-571D36DB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concept-head-2">
            <a:extLst xmlns:a="http://schemas.openxmlformats.org/drawingml/2006/main">
              <a:ext uri="{FF2B5EF4-FFF2-40B4-BE49-F238E27FC236}">
                <a16:creationId xmlns:a16="http://schemas.microsoft.com/office/drawing/2014/main" id="{ED99768A-5F0A-426D-A1BA-85D223B0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003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线性变换</a:t>
            </a:r>
          </a:p>
        </p:txBody>
      </p:sp>
      <p:sp>
        <p:nvSpPr>
          <p:cNvPr id="15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D900DB37-15F4-404B-885C-79A56DA9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895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矩阵各列给出基向量的新位置，从而决定整个空间变化。</a:t>
            </a:r>
          </a:p>
        </p:txBody>
      </p:sp>
      <p:sp>
        <p:nvSpPr>
          <p:cNvPr id="16" name="concept-link-box">
            <a:extLst xmlns:a="http://schemas.openxmlformats.org/drawingml/2006/main">
              <a:ext uri="{FF2B5EF4-FFF2-40B4-BE49-F238E27FC236}">
                <a16:creationId xmlns:a16="http://schemas.microsoft.com/office/drawing/2014/main" id="{37F0B9C3-6C90-4073-886A-50229AD1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29250"/>
            <a:ext cx="80391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concept-link-text">
            <a:extLst xmlns:a="http://schemas.openxmlformats.org/drawingml/2006/main">
              <a:ext uri="{FF2B5EF4-FFF2-40B4-BE49-F238E27FC236}">
                <a16:creationId xmlns:a16="http://schemas.microsoft.com/office/drawing/2014/main" id="{5554509F-00C5-475C-8AD9-7885702E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626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矩阵既编码线性约束，也描述基向量和整个空间怎样变化。</a:t>
            </a:r>
          </a:p>
        </p:txBody>
      </p:sp>
      <p:sp>
        <p:nvSpPr>
          <p:cNvPr id="18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65BE0D84-63D6-407A-A1BB-09D1B6B4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6">
            <a:extLst xmlns:a="http://schemas.openxmlformats.org/drawingml/2006/main">
              <a:ext uri="{FF2B5EF4-FFF2-40B4-BE49-F238E27FC236}">
                <a16:creationId xmlns:a16="http://schemas.microsoft.com/office/drawing/2014/main" id="{63A08587-7534-4EBD-8D8B-65281C2F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0670C410-A4B0-454E-B483-6F396C3F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765273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6f51926a5424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DFAE555C-1A2E-4947-8F3E-25C34418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title-7">
            <a:extLst xmlns:a="http://schemas.openxmlformats.org/drawingml/2006/main">
              <a:ext uri="{FF2B5EF4-FFF2-40B4-BE49-F238E27FC236}">
                <a16:creationId xmlns:a16="http://schemas.microsoft.com/office/drawing/2014/main" id="{F8041044-0324-43AA-963B-8E92CD54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 · 例题推导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02C44CE-03D8-45AE-8C47-CDF9CFC0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7393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-8">
            <a:extLst xmlns:a="http://schemas.openxmlformats.org/drawingml/2006/main">
              <a:ext uri="{FF2B5EF4-FFF2-40B4-BE49-F238E27FC236}">
                <a16:creationId xmlns:a16="http://schemas.microsoft.com/office/drawing/2014/main" id="{C34FE0B1-C5B6-4BEE-A663-4E8AAC93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方法清单</a:t>
            </a:r>
          </a:p>
        </p:txBody>
      </p:sp>
      <p:sp>
        <p:nvSpPr>
          <p:cNvPr id="2" name="heading-8">
            <a:extLst xmlns:a="http://schemas.openxmlformats.org/drawingml/2006/main">
              <a:ext uri="{FF2B5EF4-FFF2-40B4-BE49-F238E27FC236}">
                <a16:creationId xmlns:a16="http://schemas.microsoft.com/office/drawing/2014/main" id="{92E68996-9A89-45E9-B2DE-B13F0D22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把思路固定成可重复执行的四步</a:t>
            </a:r>
          </a:p>
        </p:txBody>
      </p:sp>
      <p:sp>
        <p:nvSpPr>
          <p:cNvPr id="3" name="heading-accent-8">
            <a:extLst xmlns:a="http://schemas.openxmlformats.org/drawingml/2006/main">
              <a:ext uri="{FF2B5EF4-FFF2-40B4-BE49-F238E27FC236}">
                <a16:creationId xmlns:a16="http://schemas.microsoft.com/office/drawing/2014/main" id="{B02792BB-9FC5-4132-B559-58877D14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method-n-0">
            <a:extLst xmlns:a="http://schemas.openxmlformats.org/drawingml/2006/main">
              <a:ext uri="{FF2B5EF4-FFF2-40B4-BE49-F238E27FC236}">
                <a16:creationId xmlns:a16="http://schemas.microsoft.com/office/drawing/2014/main" id="{AEA2656F-4E8F-4174-AB58-2EEAD12A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5" name="method-rule-0">
            <a:extLst xmlns:a="http://schemas.openxmlformats.org/drawingml/2006/main">
              <a:ext uri="{FF2B5EF4-FFF2-40B4-BE49-F238E27FC236}">
                <a16:creationId xmlns:a16="http://schemas.microsoft.com/office/drawing/2014/main" id="{220383CB-59F4-47A0-B1F0-69E63A71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288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t-0">
            <a:extLst xmlns:a="http://schemas.openxmlformats.org/drawingml/2006/main">
              <a:ext uri="{FF2B5EF4-FFF2-40B4-BE49-F238E27FC236}">
                <a16:creationId xmlns:a16="http://schemas.microsoft.com/office/drawing/2014/main" id="{B5D16550-6831-4F42-8F47-32D2A97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621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按未知量顺序写增广矩阵</a:t>
            </a:r>
          </a:p>
        </p:txBody>
      </p:sp>
      <p:sp>
        <p:nvSpPr>
          <p:cNvPr id="7" name="method-sep-0">
            <a:extLst xmlns:a="http://schemas.openxmlformats.org/drawingml/2006/main">
              <a:ext uri="{FF2B5EF4-FFF2-40B4-BE49-F238E27FC236}">
                <a16:creationId xmlns:a16="http://schemas.microsoft.com/office/drawing/2014/main" id="{56B765D8-E364-4AC4-9AE9-C689276B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-1">
            <a:extLst xmlns:a="http://schemas.openxmlformats.org/drawingml/2006/main">
              <a:ext uri="{FF2B5EF4-FFF2-40B4-BE49-F238E27FC236}">
                <a16:creationId xmlns:a16="http://schemas.microsoft.com/office/drawing/2014/main" id="{444A5322-5B01-4D61-9F47-DFB8B51F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9" name="method-rule-1">
            <a:extLst xmlns:a="http://schemas.openxmlformats.org/drawingml/2006/main">
              <a:ext uri="{FF2B5EF4-FFF2-40B4-BE49-F238E27FC236}">
                <a16:creationId xmlns:a16="http://schemas.microsoft.com/office/drawing/2014/main" id="{6992E0C1-3E2D-4E6E-931A-2621879D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hod-t-1">
            <a:extLst xmlns:a="http://schemas.openxmlformats.org/drawingml/2006/main">
              <a:ext uri="{FF2B5EF4-FFF2-40B4-BE49-F238E27FC236}">
                <a16:creationId xmlns:a16="http://schemas.microsoft.com/office/drawing/2014/main" id="{C7BA2AF2-FAF5-4CCD-9C43-1F18BC91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384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逐列选择主元</a:t>
            </a:r>
          </a:p>
        </p:txBody>
      </p:sp>
      <p:sp>
        <p:nvSpPr>
          <p:cNvPr id="11" name="method-sep-1">
            <a:extLst xmlns:a="http://schemas.openxmlformats.org/drawingml/2006/main">
              <a:ext uri="{FF2B5EF4-FFF2-40B4-BE49-F238E27FC236}">
                <a16:creationId xmlns:a16="http://schemas.microsoft.com/office/drawing/2014/main" id="{EAEC95DA-1488-4BBB-A4ED-767EEF2C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623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-2">
            <a:extLst xmlns:a="http://schemas.openxmlformats.org/drawingml/2006/main">
              <a:ext uri="{FF2B5EF4-FFF2-40B4-BE49-F238E27FC236}">
                <a16:creationId xmlns:a16="http://schemas.microsoft.com/office/drawing/2014/main" id="{46321ABE-4B0B-4568-9295-34550892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method-rule-2">
            <a:extLst xmlns:a="http://schemas.openxmlformats.org/drawingml/2006/main">
              <a:ext uri="{FF2B5EF4-FFF2-40B4-BE49-F238E27FC236}">
                <a16:creationId xmlns:a16="http://schemas.microsoft.com/office/drawing/2014/main" id="{39570AE8-573D-4753-BDAD-D20E0533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ethod-t-2">
            <a:extLst xmlns:a="http://schemas.openxmlformats.org/drawingml/2006/main">
              <a:ext uri="{FF2B5EF4-FFF2-40B4-BE49-F238E27FC236}">
                <a16:creationId xmlns:a16="http://schemas.microsoft.com/office/drawing/2014/main" id="{67F4F12E-3212-4263-BF49-27FEB9D8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147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把主元下方元素消为零</a:t>
            </a:r>
          </a:p>
        </p:txBody>
      </p:sp>
      <p:sp>
        <p:nvSpPr>
          <p:cNvPr id="15" name="method-sep-2">
            <a:extLst xmlns:a="http://schemas.openxmlformats.org/drawingml/2006/main">
              <a:ext uri="{FF2B5EF4-FFF2-40B4-BE49-F238E27FC236}">
                <a16:creationId xmlns:a16="http://schemas.microsoft.com/office/drawing/2014/main" id="{6442AC5E-8F2F-4002-95BD-515BCD88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38650"/>
            <a:ext cx="800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-3">
            <a:extLst xmlns:a="http://schemas.openxmlformats.org/drawingml/2006/main">
              <a:ext uri="{FF2B5EF4-FFF2-40B4-BE49-F238E27FC236}">
                <a16:creationId xmlns:a16="http://schemas.microsoft.com/office/drawing/2014/main" id="{E50FABE6-8422-4387-8678-A68BAFAD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85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17" name="method-rule-3">
            <a:extLst xmlns:a="http://schemas.openxmlformats.org/drawingml/2006/main">
              <a:ext uri="{FF2B5EF4-FFF2-40B4-BE49-F238E27FC236}">
                <a16:creationId xmlns:a16="http://schemas.microsoft.com/office/drawing/2014/main" id="{9AD63B27-4893-48CB-8CCD-1C025B3C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577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t-3">
            <a:extLst xmlns:a="http://schemas.openxmlformats.org/drawingml/2006/main">
              <a:ext uri="{FF2B5EF4-FFF2-40B4-BE49-F238E27FC236}">
                <a16:creationId xmlns:a16="http://schemas.microsoft.com/office/drawing/2014/main" id="{9E9A83D4-2371-41DA-807E-88D78038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910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回代并代回原方程检验</a:t>
            </a:r>
          </a:p>
        </p:txBody>
      </p:sp>
      <p:sp>
        <p:nvSpPr>
          <p:cNvPr id="19" name="method-note-box">
            <a:extLst xmlns:a="http://schemas.openxmlformats.org/drawingml/2006/main">
              <a:ext uri="{FF2B5EF4-FFF2-40B4-BE49-F238E27FC236}">
                <a16:creationId xmlns:a16="http://schemas.microsoft.com/office/drawing/2014/main" id="{E6E41376-6440-4611-8CDE-FFA933666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81650"/>
            <a:ext cx="81915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20" name="method-note-text">
            <a:extLst xmlns:a="http://schemas.openxmlformats.org/drawingml/2006/main">
              <a:ext uri="{FF2B5EF4-FFF2-40B4-BE49-F238E27FC236}">
                <a16:creationId xmlns:a16="http://schemas.microsoft.com/office/drawing/2014/main" id="{C3FC1CFE-F7A8-4E08-ACE9-89F3C482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715000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先确认对象与条件，再开始计算；最后一定回到原问题解释结果。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4BBC7AB8-9417-4D63-BBFB-945B04C2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title-8">
            <a:extLst xmlns:a="http://schemas.openxmlformats.org/drawingml/2006/main">
              <a:ext uri="{FF2B5EF4-FFF2-40B4-BE49-F238E27FC236}">
                <a16:creationId xmlns:a16="http://schemas.microsoft.com/office/drawing/2014/main" id="{856506E6-838E-4AD5-8D9F-DB71267E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</a:t>
            </a:r>
          </a:p>
        </p:txBody>
      </p:sp>
      <p:sp>
        <p:nvSpPr>
          <p:cNvPr id="2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D9885B90-DA00-4A4A-B9A2-F3569C8E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5922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98421AE8-958D-42E0-B699-E8A9107C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易错辨析</a:t>
            </a:r>
          </a:p>
        </p:txBody>
      </p:sp>
      <p:sp>
        <p:nvSpPr>
          <p:cNvPr id="2" name="heading-9">
            <a:extLst xmlns:a="http://schemas.openxmlformats.org/drawingml/2006/main">
              <a:ext uri="{FF2B5EF4-FFF2-40B4-BE49-F238E27FC236}">
                <a16:creationId xmlns:a16="http://schemas.microsoft.com/office/drawing/2014/main" id="{7D5B731B-E810-4248-9604-CC38DAA7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错误往往不是算错，而是对象或条件看错</a:t>
            </a:r>
          </a:p>
        </p:txBody>
      </p:sp>
      <p:sp>
        <p:nvSpPr>
          <p:cNvPr id="3" name="heading-accent-9">
            <a:extLst xmlns:a="http://schemas.openxmlformats.org/drawingml/2006/main">
              <a:ext uri="{FF2B5EF4-FFF2-40B4-BE49-F238E27FC236}">
                <a16:creationId xmlns:a16="http://schemas.microsoft.com/office/drawing/2014/main" id="{FC84BAEE-CF8C-4A81-8A39-16FE9D14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error-card-0">
            <a:extLst xmlns:a="http://schemas.openxmlformats.org/drawingml/2006/main">
              <a:ext uri="{FF2B5EF4-FFF2-40B4-BE49-F238E27FC236}">
                <a16:creationId xmlns:a16="http://schemas.microsoft.com/office/drawing/2014/main" id="{4A2A27B4-84DC-48DC-9062-8B8CD815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5" name="error-no-0">
            <a:extLst xmlns:a="http://schemas.openxmlformats.org/drawingml/2006/main">
              <a:ext uri="{FF2B5EF4-FFF2-40B4-BE49-F238E27FC236}">
                <a16:creationId xmlns:a16="http://schemas.microsoft.com/office/drawing/2014/main" id="{28F683CA-A609-4749-847B-17EBAAB8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6" name="error-h-0">
            <a:extLst xmlns:a="http://schemas.openxmlformats.org/drawingml/2006/main">
              <a:ext uri="{FF2B5EF4-FFF2-40B4-BE49-F238E27FC236}">
                <a16:creationId xmlns:a16="http://schemas.microsoft.com/office/drawing/2014/main" id="{5EA39C11-EE8D-4D98-9A14-A9AB5DAD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行变换只改一侧</a:t>
            </a:r>
          </a:p>
        </p:txBody>
      </p:sp>
      <p:sp>
        <p:nvSpPr>
          <p:cNvPr id="7" name="error-b-0">
            <a:extLst xmlns:a="http://schemas.openxmlformats.org/drawingml/2006/main">
              <a:ext uri="{FF2B5EF4-FFF2-40B4-BE49-F238E27FC236}">
                <a16:creationId xmlns:a16="http://schemas.microsoft.com/office/drawing/2014/main" id="{1CD6462F-181E-4BAE-9127-A3E9761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增广矩阵整行必须同步变化。</a:t>
            </a:r>
          </a:p>
        </p:txBody>
      </p:sp>
      <p:sp>
        <p:nvSpPr>
          <p:cNvPr id="8" name="error-card-1">
            <a:extLst xmlns:a="http://schemas.openxmlformats.org/drawingml/2006/main">
              <a:ext uri="{FF2B5EF4-FFF2-40B4-BE49-F238E27FC236}">
                <a16:creationId xmlns:a16="http://schemas.microsoft.com/office/drawing/2014/main" id="{E623DD65-D6A8-4823-B335-63AF1C7F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4288">
            <a:solidFill>
              <a:srgbClr val="EF6A5B"/>
            </a:solidFill>
            <a:prstDash val="dash"/>
          </a:ln>
        </p:spPr>
      </p:sp>
      <p:sp>
        <p:nvSpPr>
          <p:cNvPr id="9" name="error-no-1">
            <a:extLst xmlns:a="http://schemas.openxmlformats.org/drawingml/2006/main">
              <a:ext uri="{FF2B5EF4-FFF2-40B4-BE49-F238E27FC236}">
                <a16:creationId xmlns:a16="http://schemas.microsoft.com/office/drawing/2014/main" id="{D374248A-A9D7-4C5C-8C46-9D0E3B30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error-h-1">
            <a:extLst xmlns:a="http://schemas.openxmlformats.org/drawingml/2006/main">
              <a:ext uri="{FF2B5EF4-FFF2-40B4-BE49-F238E27FC236}">
                <a16:creationId xmlns:a16="http://schemas.microsoft.com/office/drawing/2014/main" id="{27831A16-BFA8-4E01-B78A-DC930BD0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主元为零仍相除</a:t>
            </a:r>
          </a:p>
        </p:txBody>
      </p:sp>
      <p:sp>
        <p:nvSpPr>
          <p:cNvPr id="11" name="error-b-1">
            <a:extLst xmlns:a="http://schemas.openxmlformats.org/drawingml/2006/main">
              <a:ext uri="{FF2B5EF4-FFF2-40B4-BE49-F238E27FC236}">
                <a16:creationId xmlns:a16="http://schemas.microsoft.com/office/drawing/2014/main" id="{BD34ED97-A119-4706-9517-D741FF34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应先换行或讨论参数。</a:t>
            </a:r>
          </a:p>
        </p:txBody>
      </p:sp>
      <p:sp>
        <p:nvSpPr>
          <p:cNvPr id="12" name="error-card-2">
            <a:extLst xmlns:a="http://schemas.openxmlformats.org/drawingml/2006/main">
              <a:ext uri="{FF2B5EF4-FFF2-40B4-BE49-F238E27FC236}">
                <a16:creationId xmlns:a16="http://schemas.microsoft.com/office/drawing/2014/main" id="{243E42A8-583A-421A-AF87-C6EDC4D0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3333750" cy="2647950"/>
          </a:xfrm>
          <a:prstGeom xmlns:a="http://schemas.openxmlformats.org/drawingml/2006/main" prst="roundRect">
            <a:avLst>
              <a:gd name="adj" fmla="val 431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A4AFBA"/>
            </a:solidFill>
            <a:prstDash val="dash"/>
          </a:ln>
        </p:spPr>
      </p:sp>
      <p:sp>
        <p:nvSpPr>
          <p:cNvPr id="13" name="error-no-2">
            <a:extLst xmlns:a="http://schemas.openxmlformats.org/drawingml/2006/main">
              <a:ext uri="{FF2B5EF4-FFF2-40B4-BE49-F238E27FC236}">
                <a16:creationId xmlns:a16="http://schemas.microsoft.com/office/drawing/2014/main" id="{0BA8ED8F-CD28-4300-AA37-857239D7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error-h-2">
            <a:extLst xmlns:a="http://schemas.openxmlformats.org/drawingml/2006/main">
              <a:ext uri="{FF2B5EF4-FFF2-40B4-BE49-F238E27FC236}">
                <a16:creationId xmlns:a16="http://schemas.microsoft.com/office/drawing/2014/main" id="{21B036E7-2FAB-46E3-BB0B-80670421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交换矩阵乘法顺序</a:t>
            </a:r>
          </a:p>
        </p:txBody>
      </p:sp>
      <p:sp>
        <p:nvSpPr>
          <p:cNvPr id="15" name="error-b-2">
            <a:extLst xmlns:a="http://schemas.openxmlformats.org/drawingml/2006/main">
              <a:ext uri="{FF2B5EF4-FFF2-40B4-BE49-F238E27FC236}">
                <a16:creationId xmlns:a16="http://schemas.microsoft.com/office/drawing/2014/main" id="{94D63105-FBDC-4CAE-8192-0FDF6A9B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876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变换复合通常有先后。</a:t>
            </a:r>
          </a:p>
        </p:txBody>
      </p:sp>
      <p:sp>
        <p:nvSpPr>
          <p:cNvPr id="16" name="error-check-box">
            <a:extLst xmlns:a="http://schemas.openxmlformats.org/drawingml/2006/main">
              <a:ext uri="{FF2B5EF4-FFF2-40B4-BE49-F238E27FC236}">
                <a16:creationId xmlns:a16="http://schemas.microsoft.com/office/drawing/2014/main" id="{97016B89-8023-4E71-8F97-D613A8A4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76850"/>
            <a:ext cx="8763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solid"/>
          </a:ln>
        </p:spPr>
      </p:sp>
      <p:sp>
        <p:nvSpPr>
          <p:cNvPr id="17" name="error-check-text">
            <a:extLst xmlns:a="http://schemas.openxmlformats.org/drawingml/2006/main">
              <a:ext uri="{FF2B5EF4-FFF2-40B4-BE49-F238E27FC236}">
                <a16:creationId xmlns:a16="http://schemas.microsoft.com/office/drawing/2014/main" id="{EB0C2CFE-CA06-4114-ABE1-C2B9252E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10200"/>
            <a:ext cx="834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自检：我现在研究的是谁？参照范围有没有改变？结论是否满足定义中的全部条件？</a:t>
            </a:r>
          </a:p>
        </p:txBody>
      </p:sp>
      <p:sp>
        <p:nvSpPr>
          <p:cNvPr id="18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DDDF0786-4E35-4CB4-A7D0-C1CFA86B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title-9">
            <a:extLst xmlns:a="http://schemas.openxmlformats.org/drawingml/2006/main">
              <a:ext uri="{FF2B5EF4-FFF2-40B4-BE49-F238E27FC236}">
                <a16:creationId xmlns:a16="http://schemas.microsoft.com/office/drawing/2014/main" id="{20ACB6D3-252B-4CC0-A42A-5AB96849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837E75B7-D746-4901-AFA2-19EEADE3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011536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10">
            <a:extLst xmlns:a="http://schemas.openxmlformats.org/drawingml/2006/main">
              <a:ext uri="{FF2B5EF4-FFF2-40B4-BE49-F238E27FC236}">
                <a16:creationId xmlns:a16="http://schemas.microsoft.com/office/drawing/2014/main" id="{50FA96B8-38B3-4E8A-A8C3-0B8FEB1F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迁移应用</a:t>
            </a:r>
          </a:p>
        </p:txBody>
      </p:sp>
      <p:sp>
        <p:nvSpPr>
          <p:cNvPr id="2" name="heading-10">
            <a:extLst xmlns:a="http://schemas.openxmlformats.org/drawingml/2006/main">
              <a:ext uri="{FF2B5EF4-FFF2-40B4-BE49-F238E27FC236}">
                <a16:creationId xmlns:a16="http://schemas.microsoft.com/office/drawing/2014/main" id="{14541850-3F9C-41B0-A934-4ED92DE0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同一个数学结构，可以解释不同现实任务</a:t>
            </a:r>
          </a:p>
        </p:txBody>
      </p:sp>
      <p:sp>
        <p:nvSpPr>
          <p:cNvPr id="3" name="heading-accent-10">
            <a:extLst xmlns:a="http://schemas.openxmlformats.org/drawingml/2006/main">
              <a:ext uri="{FF2B5EF4-FFF2-40B4-BE49-F238E27FC236}">
                <a16:creationId xmlns:a16="http://schemas.microsoft.com/office/drawing/2014/main" id="{273268DF-9E10-4415-9E83-F303107F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pp-tag-0">
            <a:extLst xmlns:a="http://schemas.openxmlformats.org/drawingml/2006/main">
              <a:ext uri="{FF2B5EF4-FFF2-40B4-BE49-F238E27FC236}">
                <a16:creationId xmlns:a16="http://schemas.microsoft.com/office/drawing/2014/main" id="{4DF559D2-F616-47B5-9C3D-8FE9706C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资源配额</a:t>
            </a:r>
          </a:p>
        </p:txBody>
      </p:sp>
      <p:sp>
        <p:nvSpPr>
          <p:cNvPr id="5" name="app-rule-0">
            <a:extLst xmlns:a="http://schemas.openxmlformats.org/drawingml/2006/main">
              <a:ext uri="{FF2B5EF4-FFF2-40B4-BE49-F238E27FC236}">
                <a16:creationId xmlns:a16="http://schemas.microsoft.com/office/drawing/2014/main" id="{A83CB93F-A4EB-439A-A622-BFEC023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8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-body-0">
            <a:extLst xmlns:a="http://schemas.openxmlformats.org/drawingml/2006/main">
              <a:ext uri="{FF2B5EF4-FFF2-40B4-BE49-F238E27FC236}">
                <a16:creationId xmlns:a16="http://schemas.microsoft.com/office/drawing/2014/main" id="{BB5CD8CB-005B-40F8-9C33-F8C5066F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383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把总量、成本与收益限制写成线性约束。</a:t>
            </a:r>
          </a:p>
        </p:txBody>
      </p:sp>
      <p:sp>
        <p:nvSpPr>
          <p:cNvPr id="7" name="app-tag-1">
            <a:extLst xmlns:a="http://schemas.openxmlformats.org/drawingml/2006/main">
              <a:ext uri="{FF2B5EF4-FFF2-40B4-BE49-F238E27FC236}">
                <a16:creationId xmlns:a16="http://schemas.microsoft.com/office/drawing/2014/main" id="{98AFE3AF-B8B3-41AD-A502-CB5A819A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图形变换</a:t>
            </a:r>
          </a:p>
        </p:txBody>
      </p:sp>
      <p:sp>
        <p:nvSpPr>
          <p:cNvPr id="8" name="app-rule-1">
            <a:extLst xmlns:a="http://schemas.openxmlformats.org/drawingml/2006/main">
              <a:ext uri="{FF2B5EF4-FFF2-40B4-BE49-F238E27FC236}">
                <a16:creationId xmlns:a16="http://schemas.microsoft.com/office/drawing/2014/main" id="{E2BD1E7F-3727-40A0-925B-327B4580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4290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pp-body-1">
            <a:extLst xmlns:a="http://schemas.openxmlformats.org/drawingml/2006/main">
              <a:ext uri="{FF2B5EF4-FFF2-40B4-BE49-F238E27FC236}">
                <a16:creationId xmlns:a16="http://schemas.microsoft.com/office/drawing/2014/main" id="{0AF69C16-4E5D-47A4-8A0E-1A5113E1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432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用基向量的像判断平面如何拉伸、剪切或翻转。</a:t>
            </a:r>
          </a:p>
        </p:txBody>
      </p:sp>
      <p:sp>
        <p:nvSpPr>
          <p:cNvPr id="10" name="app-tag-2">
            <a:extLst xmlns:a="http://schemas.openxmlformats.org/drawingml/2006/main">
              <a:ext uri="{FF2B5EF4-FFF2-40B4-BE49-F238E27FC236}">
                <a16:creationId xmlns:a16="http://schemas.microsoft.com/office/drawing/2014/main" id="{4EECC9C1-7CD6-47A7-B48A-B482CD99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可逆性</a:t>
            </a:r>
          </a:p>
        </p:txBody>
      </p:sp>
      <p:sp>
        <p:nvSpPr>
          <p:cNvPr id="11" name="app-rule-2">
            <a:extLst xmlns:a="http://schemas.openxmlformats.org/drawingml/2006/main">
              <a:ext uri="{FF2B5EF4-FFF2-40B4-BE49-F238E27FC236}">
                <a16:creationId xmlns:a16="http://schemas.microsoft.com/office/drawing/2014/main" id="{C36527FD-EF37-46A3-A2F1-FDBBF879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339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p-body-2">
            <a:extLst xmlns:a="http://schemas.openxmlformats.org/drawingml/2006/main">
              <a:ext uri="{FF2B5EF4-FFF2-40B4-BE49-F238E27FC236}">
                <a16:creationId xmlns:a16="http://schemas.microsoft.com/office/drawing/2014/main" id="{8A58ACF0-9F8D-4CDB-A206-651E2F9E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481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空间若被压扁，原来的信息就无法唯一恢复。</a:t>
            </a:r>
          </a:p>
        </p:txBody>
      </p:sp>
      <p:sp>
        <p:nvSpPr>
          <p:cNvPr id="13" name="app-note-box">
            <a:extLst xmlns:a="http://schemas.openxmlformats.org/drawingml/2006/main">
              <a:ext uri="{FF2B5EF4-FFF2-40B4-BE49-F238E27FC236}">
                <a16:creationId xmlns:a16="http://schemas.microsoft.com/office/drawing/2014/main" id="{4848C66D-7B37-4731-B978-9214910B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67350"/>
            <a:ext cx="9639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4" name="app-note-text">
            <a:extLst xmlns:a="http://schemas.openxmlformats.org/drawingml/2006/main">
              <a:ext uri="{FF2B5EF4-FFF2-40B4-BE49-F238E27FC236}">
                <a16:creationId xmlns:a16="http://schemas.microsoft.com/office/drawing/2014/main" id="{B1885DD3-78B5-4B70-927F-E5B76DCC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00700"/>
            <a:ext cx="922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迁移的关键不是换场景，而是保留同一组对象、关系与约束。</a:t>
            </a:r>
          </a:p>
        </p:txBody>
      </p:sp>
      <p:sp>
        <p:nvSpPr>
          <p:cNvPr id="15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B59E063C-2836-4646-B4ED-E4AC1C05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title-10">
            <a:extLst xmlns:a="http://schemas.openxmlformats.org/drawingml/2006/main">
              <a:ext uri="{FF2B5EF4-FFF2-40B4-BE49-F238E27FC236}">
                <a16:creationId xmlns:a16="http://schemas.microsoft.com/office/drawing/2014/main" id="{6486DDA6-7D10-4018-A006-09D9448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</a:t>
            </a:r>
          </a:p>
        </p:txBody>
      </p:sp>
      <p:sp>
        <p:nvSpPr>
          <p:cNvPr id="17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4F2A3B16-BDF6-4B1C-9799-8BF28A18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90698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1">
            <a:extLst xmlns:a="http://schemas.openxmlformats.org/drawingml/2006/main">
              <a:ext uri="{FF2B5EF4-FFF2-40B4-BE49-F238E27FC236}">
                <a16:creationId xmlns:a16="http://schemas.microsoft.com/office/drawing/2014/main" id="{0CA554BD-781C-48DE-A288-7C2449D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课堂练习</a:t>
            </a:r>
          </a:p>
        </p:txBody>
      </p:sp>
      <p:sp>
        <p:nvSpPr>
          <p:cNvPr id="2" name="heading-11">
            <a:extLst xmlns:a="http://schemas.openxmlformats.org/drawingml/2006/main">
              <a:ext uri="{FF2B5EF4-FFF2-40B4-BE49-F238E27FC236}">
                <a16:creationId xmlns:a16="http://schemas.microsoft.com/office/drawing/2014/main" id="{94823FB0-724B-4072-B670-F43A8E6A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先说思路，再写表达</a:t>
            </a:r>
          </a:p>
        </p:txBody>
      </p:sp>
      <p:sp>
        <p:nvSpPr>
          <p:cNvPr id="3" name="heading-accent-11">
            <a:extLst xmlns:a="http://schemas.openxmlformats.org/drawingml/2006/main">
              <a:ext uri="{FF2B5EF4-FFF2-40B4-BE49-F238E27FC236}">
                <a16:creationId xmlns:a16="http://schemas.microsoft.com/office/drawing/2014/main" id="{C3BA71D4-D860-421B-A673-5F4D25DF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ading-sub-11">
            <a:extLst xmlns:a="http://schemas.openxmlformats.org/drawingml/2006/main">
              <a:ext uri="{FF2B5EF4-FFF2-40B4-BE49-F238E27FC236}">
                <a16:creationId xmlns:a16="http://schemas.microsoft.com/office/drawing/2014/main" id="{CF65BCBB-71CB-4B25-8D72-1246698D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62075"/>
            <a:ext cx="994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每题先用一句话说明准备使用的定义或方法</a:t>
            </a:r>
          </a:p>
        </p:txBody>
      </p:sp>
      <p:sp>
        <p:nvSpPr>
          <p:cNvPr id="5" name="practice-tag-0">
            <a:extLst xmlns:a="http://schemas.openxmlformats.org/drawingml/2006/main">
              <a:ext uri="{FF2B5EF4-FFF2-40B4-BE49-F238E27FC236}">
                <a16:creationId xmlns:a16="http://schemas.microsoft.com/office/drawing/2014/main" id="{576F5986-BBB8-404E-90DB-8E2B9750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6" name="practice-card-0">
            <a:extLst xmlns:a="http://schemas.openxmlformats.org/drawingml/2006/main">
              <a:ext uri="{FF2B5EF4-FFF2-40B4-BE49-F238E27FC236}">
                <a16:creationId xmlns:a16="http://schemas.microsoft.com/office/drawing/2014/main" id="{2B2FC323-E80E-4607-8D56-FF9A67C5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5740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3335">
            <a:solidFill>
              <a:srgbClr val="2A78D6"/>
            </a:solidFill>
            <a:prstDash val="solid"/>
          </a:ln>
        </p:spPr>
      </p:sp>
      <p:sp>
        <p:nvSpPr>
          <p:cNvPr id="7" name="practice-q-0">
            <a:extLst xmlns:a="http://schemas.openxmlformats.org/drawingml/2006/main">
              <a:ext uri="{FF2B5EF4-FFF2-40B4-BE49-F238E27FC236}">
                <a16:creationId xmlns:a16="http://schemas.microsoft.com/office/drawing/2014/main" id="{D7E348D2-6D43-4AE7-9E8B-776D571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4790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把一个二元线性方程组整理为增广矩阵，并说明一次行倍加的含义。</a:t>
            </a:r>
          </a:p>
        </p:txBody>
      </p:sp>
      <p:sp>
        <p:nvSpPr>
          <p:cNvPr id="8" name="practice-tag-1">
            <a:extLst xmlns:a="http://schemas.openxmlformats.org/drawingml/2006/main">
              <a:ext uri="{FF2B5EF4-FFF2-40B4-BE49-F238E27FC236}">
                <a16:creationId xmlns:a16="http://schemas.microsoft.com/office/drawing/2014/main" id="{F6EA8196-4EE5-4550-B2CF-EF147619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80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9" name="practice-card-1">
            <a:extLst xmlns:a="http://schemas.openxmlformats.org/drawingml/2006/main">
              <a:ext uri="{FF2B5EF4-FFF2-40B4-BE49-F238E27FC236}">
                <a16:creationId xmlns:a16="http://schemas.microsoft.com/office/drawing/2014/main" id="{A103E463-7B9A-4439-BC68-14159C06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752850"/>
            <a:ext cx="91630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1EE"/>
          </a:solidFill>
          <a:ln xmlns:a="http://schemas.openxmlformats.org/drawingml/2006/main" w="13335">
            <a:solidFill>
              <a:srgbClr val="EF6A5B"/>
            </a:solidFill>
            <a:prstDash val="solid"/>
          </a:ln>
        </p:spPr>
      </p:sp>
      <p:sp>
        <p:nvSpPr>
          <p:cNvPr id="10" name="practice-q-1">
            <a:extLst xmlns:a="http://schemas.openxmlformats.org/drawingml/2006/main">
              <a:ext uri="{FF2B5EF4-FFF2-40B4-BE49-F238E27FC236}">
                <a16:creationId xmlns:a16="http://schemas.microsoft.com/office/drawing/2014/main" id="{F7DF0370-AEFE-4563-BDC8-706C1EA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43350"/>
            <a:ext cx="8553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给出两个基向量的像，说明如何把它们写成矩阵的两列。</a:t>
            </a:r>
          </a:p>
        </p:txBody>
      </p:sp>
      <p:sp>
        <p:nvSpPr>
          <p:cNvPr id="11" name="practice-note-box">
            <a:extLst xmlns:a="http://schemas.openxmlformats.org/drawingml/2006/main">
              <a:ext uri="{FF2B5EF4-FFF2-40B4-BE49-F238E27FC236}">
                <a16:creationId xmlns:a16="http://schemas.microsoft.com/office/drawing/2014/main" id="{6EAEB829-6BB5-4164-920A-E41A018D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24500"/>
            <a:ext cx="91630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2" name="practice-note-text">
            <a:extLst xmlns:a="http://schemas.openxmlformats.org/drawingml/2006/main">
              <a:ext uri="{FF2B5EF4-FFF2-40B4-BE49-F238E27FC236}">
                <a16:creationId xmlns:a16="http://schemas.microsoft.com/office/drawing/2014/main" id="{76CED428-0D19-4DE0-974C-E724553E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57850"/>
            <a:ext cx="8743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检查顺序：对象 → 条件 → 方法 → 结果解释。</a:t>
            </a:r>
          </a:p>
        </p:txBody>
      </p:sp>
      <p:sp>
        <p:nvSpPr>
          <p:cNvPr id="1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45CFE41E-DB97-4A31-8B8E-6906DFFA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title-11">
            <a:extLst xmlns:a="http://schemas.openxmlformats.org/drawingml/2006/main">
              <a:ext uri="{FF2B5EF4-FFF2-40B4-BE49-F238E27FC236}">
                <a16:creationId xmlns:a16="http://schemas.microsoft.com/office/drawing/2014/main" id="{318C3153-A4CC-4ED7-B62D-52611EE4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</a:t>
            </a:r>
          </a:p>
        </p:txBody>
      </p:sp>
      <p:sp>
        <p:nvSpPr>
          <p:cNvPr id="15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DA5BB542-A6DE-4E87-9063-79BEB536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295622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2">
            <a:extLst xmlns:a="http://schemas.openxmlformats.org/drawingml/2006/main">
              <a:ext uri="{FF2B5EF4-FFF2-40B4-BE49-F238E27FC236}">
                <a16:creationId xmlns:a16="http://schemas.microsoft.com/office/drawing/2014/main" id="{96546F84-666C-4743-A247-5DEF351D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497A7"/>
                </a:solidFill>
                <a:latin typeface="PingFang SC"/>
                <a:ea typeface="PingFang SC"/>
                <a:cs typeface="PingFang SC"/>
              </a:rPr>
              <a:t>课堂总结</a:t>
            </a:r>
          </a:p>
        </p:txBody>
      </p:sp>
      <p:sp>
        <p:nvSpPr>
          <p:cNvPr id="2" name="heading-12">
            <a:extLst xmlns:a="http://schemas.openxmlformats.org/drawingml/2006/main">
              <a:ext uri="{FF2B5EF4-FFF2-40B4-BE49-F238E27FC236}">
                <a16:creationId xmlns:a16="http://schemas.microsoft.com/office/drawing/2014/main" id="{6930395C-2A65-408B-85F2-785EBEEE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33425"/>
            <a:ext cx="1089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把今天的主线压缩成三句话</a:t>
            </a:r>
          </a:p>
        </p:txBody>
      </p:sp>
      <p:sp>
        <p:nvSpPr>
          <p:cNvPr id="3" name="heading-accent-12">
            <a:extLst xmlns:a="http://schemas.openxmlformats.org/drawingml/2006/main">
              <a:ext uri="{FF2B5EF4-FFF2-40B4-BE49-F238E27FC236}">
                <a16:creationId xmlns:a16="http://schemas.microsoft.com/office/drawing/2014/main" id="{DC39365D-CC84-4490-A712-F4955331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A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m-n-0">
            <a:extLst xmlns:a="http://schemas.openxmlformats.org/drawingml/2006/main">
              <a:ext uri="{FF2B5EF4-FFF2-40B4-BE49-F238E27FC236}">
                <a16:creationId xmlns:a16="http://schemas.microsoft.com/office/drawing/2014/main" id="{F34497FF-17AB-47B1-8825-9A8BA9E2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A78D6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sum-t-0">
            <a:extLst xmlns:a="http://schemas.openxmlformats.org/drawingml/2006/main">
              <a:ext uri="{FF2B5EF4-FFF2-40B4-BE49-F238E27FC236}">
                <a16:creationId xmlns:a16="http://schemas.microsoft.com/office/drawing/2014/main" id="{B1B34A00-3CA1-46A3-A2BD-D4BE5502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002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消元把解方程变成行算法</a:t>
            </a:r>
          </a:p>
        </p:txBody>
      </p:sp>
      <p:sp>
        <p:nvSpPr>
          <p:cNvPr id="6" name="sum-sep-0">
            <a:extLst xmlns:a="http://schemas.openxmlformats.org/drawingml/2006/main">
              <a:ext uri="{FF2B5EF4-FFF2-40B4-BE49-F238E27FC236}">
                <a16:creationId xmlns:a16="http://schemas.microsoft.com/office/drawing/2014/main" id="{F2006A81-7058-4A9B-ACAF-84743C48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m-n-1">
            <a:extLst xmlns:a="http://schemas.openxmlformats.org/drawingml/2006/main">
              <a:ext uri="{FF2B5EF4-FFF2-40B4-BE49-F238E27FC236}">
                <a16:creationId xmlns:a16="http://schemas.microsoft.com/office/drawing/2014/main" id="{E987CEFD-252E-43B8-AB7A-FA75137A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1B44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sum-t-1">
            <a:extLst xmlns:a="http://schemas.openxmlformats.org/drawingml/2006/main">
              <a:ext uri="{FF2B5EF4-FFF2-40B4-BE49-F238E27FC236}">
                <a16:creationId xmlns:a16="http://schemas.microsoft.com/office/drawing/2014/main" id="{2CEE3A49-53AE-4E69-8C24-3A8C4992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908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主元与秩决定解的结构</a:t>
            </a:r>
          </a:p>
        </p:txBody>
      </p:sp>
      <p:sp>
        <p:nvSpPr>
          <p:cNvPr id="9" name="sum-sep-1">
            <a:extLst xmlns:a="http://schemas.openxmlformats.org/drawingml/2006/main">
              <a:ext uri="{FF2B5EF4-FFF2-40B4-BE49-F238E27FC236}">
                <a16:creationId xmlns:a16="http://schemas.microsoft.com/office/drawing/2014/main" id="{E554EE10-5D09-43B2-A5EA-7C9CE0C7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-n-2">
            <a:extLst xmlns:a="http://schemas.openxmlformats.org/drawingml/2006/main">
              <a:ext uri="{FF2B5EF4-FFF2-40B4-BE49-F238E27FC236}">
                <a16:creationId xmlns:a16="http://schemas.microsoft.com/office/drawing/2014/main" id="{1E521C59-2705-4995-8C73-E4E9F933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933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EF6A5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1" name="sum-t-2">
            <a:extLst xmlns:a="http://schemas.openxmlformats.org/drawingml/2006/main">
              <a:ext uri="{FF2B5EF4-FFF2-40B4-BE49-F238E27FC236}">
                <a16:creationId xmlns:a16="http://schemas.microsoft.com/office/drawing/2014/main" id="{F52DD74C-0792-44B2-809C-FCAAB356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矩阵列决定空间变换</a:t>
            </a:r>
          </a:p>
        </p:txBody>
      </p:sp>
      <p:sp>
        <p:nvSpPr>
          <p:cNvPr id="12" name="exit-box">
            <a:extLst xmlns:a="http://schemas.openxmlformats.org/drawingml/2006/main">
              <a:ext uri="{FF2B5EF4-FFF2-40B4-BE49-F238E27FC236}">
                <a16:creationId xmlns:a16="http://schemas.microsoft.com/office/drawing/2014/main" id="{0321A0D2-1CD8-4779-B9E2-4AD69680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FF5F3"/>
          </a:solidFill>
          <a:ln xmlns:a="http://schemas.openxmlformats.org/drawingml/2006/main" w="14288">
            <a:solidFill>
              <a:srgbClr val="2497A7"/>
            </a:solidFill>
            <a:prstDash val="dash"/>
          </a:ln>
        </p:spPr>
      </p:sp>
      <p:sp>
        <p:nvSpPr>
          <p:cNvPr id="13" name="exit-text">
            <a:extLst xmlns:a="http://schemas.openxmlformats.org/drawingml/2006/main">
              <a:ext uri="{FF2B5EF4-FFF2-40B4-BE49-F238E27FC236}">
                <a16:creationId xmlns:a16="http://schemas.microsoft.com/office/drawing/2014/main" id="{2668382E-9F14-4031-9415-8815D110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295900"/>
            <a:ext cx="891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7243B"/>
                </a:solidFill>
                <a:latin typeface="PingFang SC"/>
                <a:ea typeface="PingFang SC"/>
                <a:cs typeface="PingFang SC"/>
              </a:rPr>
              <a:t>离堂检验：用自己的话解释“矩阵既编码线性约束，也描述基向量和整个空间怎样变化。”</a:t>
            </a:r>
          </a:p>
        </p:txBody>
      </p:sp>
      <p:sp>
        <p:nvSpPr>
          <p:cNvPr id="14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5F492FB4-3FAF-4D38-8235-E78CDC7A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5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AF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title-12">
            <a:extLst xmlns:a="http://schemas.openxmlformats.org/drawingml/2006/main">
              <a:ext uri="{FF2B5EF4-FFF2-40B4-BE49-F238E27FC236}">
                <a16:creationId xmlns:a16="http://schemas.microsoft.com/office/drawing/2014/main" id="{B0A809D6-85AA-43FE-AFC0-E4925973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高中数学 · 线性方程组与矩阵 · 总结</a:t>
            </a:r>
          </a:p>
        </p:txBody>
      </p:sp>
      <p:sp>
        <p:nvSpPr>
          <p:cNvPr id="16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58F994A0-0DFC-4A60-8105-087720BE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627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8186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2026-07-22T03:48:54.1470000Z</dcterms:created>
  <dcterms:modified xsi:type="dcterms:W3CDTF">2026-07-22T03:48:54.1470000Z</dcterms:modified>
</coreProperties>
</file>