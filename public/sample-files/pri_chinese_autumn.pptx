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上课铃响后不急着出示课题。先请孩子们闭上眼睛听十秒——教师用嘴轻轻发出"沙沙沙"的声音，或播放一段雨声。</a:t>
            </a:r>
          </a:p>
          <a:p>
            <a:r>
              <a:rPr lang="zh-CN"/>
              <a:t>睁眼后问："你猜，这是什么季节的雨？"孩子多半会说"下雨""春天"。不评价对错，顺势推出课题《秋天的雨》，齐读课题两遍：第一遍读清楚，第二遍读得轻一点、柔一点，像秋雨那样。</a:t>
            </a:r>
          </a:p>
          <a:p>
            <a:r>
              <a:rPr lang="zh-CN"/>
              <a:t>提示：三年级学生对"秋天"的直接经验多来自树叶变黄和穿衣服变多，导入时不要急着讲课文，先让他们把生活经验说出来，后面品读比喻时才有可迁移的支点。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出示这幅图，只给一个问题："你从哪里看出秋天来了？"</a:t>
            </a:r>
          </a:p>
          <a:p>
            <a:r>
              <a:rPr lang="zh-CN"/>
              <a:t>请三到四个孩子说，鼓励说得具体：不满足于"树叶黄了"，追问"哪棵树的叶子？什么样的黄？"引导说出"银杏叶黄得像小扇子"这类带画面的话。</a:t>
            </a:r>
          </a:p>
          <a:p>
            <a:r>
              <a:rPr lang="zh-CN"/>
              <a:t>把学生说的关键词随手写在黑板一角（叶子、果子、凉、雨），这些词在后面品读三个片段时会一一被课文"接住"，孩子会有"我说的课文里也有"的成就感。</a:t>
            </a:r>
          </a:p>
          <a:p>
            <a:r>
              <a:rPr lang="zh-CN"/>
              <a:t>控时 3 分钟，不要发散成"秋游"话题。</a:t>
            </a:r>
          </a:p>
          <a:p>
            <a:r>
              <a:rPr lang="zh-CN"/>
              <a:t>卡点预判：有孩子会说"秋天要穿外套"，这是身体感觉不是看见的，可以肯定他观察得细，再引回"眼睛看到的"。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用第一人称"我能"呈现目标，比"教学目标"更贴近孩子。逐条读给学生听，每条不超过一句解释：</a:t>
            </a:r>
          </a:p>
          <a:p>
            <a:r>
              <a:rPr lang="zh-CN"/>
              <a:t>第一条——把字认全，把课文读通顺，这是底子。</a:t>
            </a:r>
          </a:p>
          <a:p>
            <a:r>
              <a:rPr lang="zh-CN"/>
              <a:t>第二条——今天有三个句子特别美，我们要读出味道来（这里不要说"比喻""修辞手法"，只说"特别美的句子"）。</a:t>
            </a:r>
          </a:p>
          <a:p>
            <a:r>
              <a:rPr lang="zh-CN"/>
              <a:t>第三条——学着课文的样子自己说一句，这是本课的输出任务，提前预告让学生带着任务听课。</a:t>
            </a:r>
          </a:p>
          <a:p>
            <a:r>
              <a:rPr lang="zh-CN"/>
              <a:t>第四条——课末写字。</a:t>
            </a:r>
          </a:p>
          <a:p>
            <a:r>
              <a:rPr lang="zh-CN"/>
              <a:t>读完请学生用手指跟着数"一二三四"，形成心理预期。整页控时 1 分钟，不要逐条展开。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生字教学专页，采用"字不离词、词不离画面"的办法，5 分钟。</a:t>
            </a:r>
          </a:p>
          <a:p>
            <a:r>
              <a:rPr lang="zh-CN"/>
              <a:t>钥匙：先出示读音，重点提醒"匙"在这里读轻声（shi），单独读时念 chí。可以拿出教室钥匙晃一晃，让学生看见实物——这一步非常关键，后面品读比喻全靠这把"看得见的钥匙"做支点。</a:t>
            </a:r>
          </a:p>
          <a:p>
            <a:r>
              <a:rPr lang="zh-CN"/>
              <a:t>缤纷：不解释词义，只让学生看两个绞丝旁，问"绞丝旁的字和什么有关？"引出"线、布、颜色"。然后说"五彩缤纷就是颜色多得数不清"，一句带过，留到后面用画面理解。</a:t>
            </a:r>
          </a:p>
          <a:p>
            <a:r>
              <a:rPr lang="zh-CN"/>
              <a:t>梨、菠萝：出示水果图或实物，让学生说说吃过没有、什么味道，为后面"好闻的气味"埋味觉记忆。</a:t>
            </a:r>
          </a:p>
          <a:p>
            <a:r>
              <a:rPr lang="zh-CN"/>
              <a:t>卡点预判："匙"的轻声、"缤"容易写成"宾"字旁，这两处要多读两遍。</a:t>
            </a:r>
          </a:p>
          <a:p>
            <a:r>
              <a:rPr lang="zh-CN"/>
              <a:t>认字方法用开火车读词，不要求当堂全部会写。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过渡页,10 秒带过。压低声音、放慢语速说：「秋天的雨,不光有颜色,它还偷偷藏了别的东西——你们猜猜是什么?」让学生随口猜两句(味道?声音?),不要评判对错,猜完直接翻页揭晓。这里制造的是期待感,别在过渡页上讲解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本课第一处难点，用足 6 分钟，走三步，切忌直接告诉答案。</a:t>
            </a:r>
          </a:p>
          <a:p>
            <a:r>
              <a:rPr lang="zh-CN"/>
              <a:t>第一步——回到生活。先问："钥匙是用来干嘛的？"孩子会说"开门""开锁""开家门"。追问一句："门开了以后呢？"引出"就能进去了""里面的东西就看见了"。这一步不解释课文，纯粹把"钥匙 = 打开、看见里面"这个经验唤醒。三年级不易懂比喻，缺的不是聪明，是没有把生活经验和句子接上。</a:t>
            </a:r>
          </a:p>
          <a:p>
            <a:r>
              <a:rPr lang="zh-CN"/>
              <a:t>第二步——回到句子。出示"秋天的雨，是一把钥匙"，问："雨怎么会是钥匙呢？它打开的是哪扇门？"引导说出"秋天的大门"。再问："门一开，我们看见了什么？"——看见了黄叶、果子、五颜六色，也就是看见了整个秋天。</a:t>
            </a:r>
          </a:p>
          <a:p>
            <a:r>
              <a:rPr lang="zh-CN"/>
              <a:t>第三步——回到朗读。请学生读"轻轻地，把秋天的大门打开了"，指导"轻轻地"要读得轻、读得慢，可以让全班一起做一个轻轻推门的动作再读。</a:t>
            </a:r>
          </a:p>
          <a:p>
            <a:r>
              <a:rPr lang="zh-CN"/>
              <a:t>卡点预判：会有孩子问"秋天的门在哪儿？"不要否定，回答"这扇门看不见，但秋天一到，它就开了"，把想象保留住。</a:t>
            </a:r>
          </a:p>
          <a:p>
            <a:r>
              <a:rPr lang="zh-CN"/>
              <a:t>本页始终不出现"比喻"二字，学生只需要能说出"雨像钥匙一样把秋天带来了"就算达成。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原文佳句，整页只有这一句，让孩子的眼睛没有别的地方可去。</a:t>
            </a:r>
          </a:p>
          <a:p>
            <a:r>
              <a:rPr lang="zh-CN"/>
              <a:t>朗读三遍，一遍比一遍好：</a:t>
            </a:r>
          </a:p>
          <a:p>
            <a:r>
              <a:rPr lang="zh-CN"/>
              <a:t>第一遍——请一个学生读，只要求读正确、不添字漏字。</a:t>
            </a:r>
          </a:p>
          <a:p>
            <a:r>
              <a:rPr lang="zh-CN"/>
              <a:t>第二遍——师生合作读，教师读前半句，学生读"轻轻地，轻轻地"，教师提示：连着两个"轻轻地"，作者为什么要说两遍？让学生体会"更轻、更慢、舍不得吵醒谁"。</a:t>
            </a:r>
          </a:p>
          <a:p>
            <a:r>
              <a:rPr lang="zh-CN"/>
              <a:t>第三遍——全班齐读，配一段轻音乐或雨声，读完停两秒再说话，把余味留住。</a:t>
            </a:r>
          </a:p>
          <a:p>
            <a:r>
              <a:rPr lang="zh-CN"/>
              <a:t>"清凉"可以用体感提示：秋天下过雨以后，风吹在脸上是不是凉凉的？"温柔"不解释，用读来体现。</a:t>
            </a:r>
          </a:p>
          <a:p>
            <a:r>
              <a:rPr lang="zh-CN"/>
              <a:t>本页不提问、不板书，就是纯粹的美读，是全课的情感高点之一。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本页 6 分钟，先看图再读句，顺序不要反。</a:t>
            </a:r>
          </a:p>
          <a:p>
            <a:r>
              <a:rPr lang="zh-CN"/>
              <a:t>第一步——看图找颜色。请学生在图上数一数有几种颜色，随口说：黄的、红的、金的、还有紫的。数完再出示"五彩缤纷"这个词，学生自然就懂了——这就是不解释词义、用画面喂词的办法，比讲定义有效得多。</a:t>
            </a:r>
          </a:p>
          <a:p>
            <a:r>
              <a:rPr lang="zh-CN"/>
              <a:t>第二步——读句子。读"它把黄色给了银杏树"，重点在"给"字：谁给谁？雨怎么会"给"？让学生感觉到，秋天的雨在这里像一个人，手里拿着颜料，一样一样地送出去。此处仍不说术语，只说"课文把雨当成人来写了，它会送东西"。</a:t>
            </a:r>
          </a:p>
          <a:p>
            <a:r>
              <a:rPr lang="zh-CN"/>
              <a:t>第三步——迁移说话。问"你还想把什么颜色给谁？"给两个示范："它把红色给了枫叶""它把金黄给了田野"。请三四个孩子说，句式必须完整：它把 ______ 给了 ______。这是下一个活动页的热身。</a:t>
            </a:r>
          </a:p>
          <a:p>
            <a:r>
              <a:rPr lang="zh-CN"/>
              <a:t>卡点预判：孩子容易说成"树叶变黄了"，这是陈述不是课文的样子，要温柔地拉回句式："用课文的说法再说一遍试试？"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四张卡片并排，让课文里散在段落中的颜色一次看全，1 分半到 2 分钟即可，不要逐句精讲（前一页已经讲透方法）。</a:t>
            </a:r>
          </a:p>
          <a:p>
            <a:r>
              <a:rPr lang="zh-CN"/>
              <a:t>用法是"读+发现"：请四个小组各读一张卡片，读完问一个问题："你发现这四句话有什么一样的地方？"引导发现——每一句都先说颜色，再说给了谁，最后还说它像什么。</a:t>
            </a:r>
          </a:p>
          <a:p>
            <a:r>
              <a:rPr lang="zh-CN"/>
              <a:t>"像一把把小扇子""像一枚枚邮票"两处特别值得停一下：让孩子用手比划银杏叶的扇子形状，看看枫叶是不是真的和邮票一样大小、一样有齿边。这两个句子是全文最好懂的画面，孩子一旦"看见"了，后面自己说话就有样子可学。</a:t>
            </a:r>
          </a:p>
          <a:p>
            <a:r>
              <a:rPr lang="zh-CN"/>
              <a:t>"频频点头"可以做动作：菊花被雨打着，一下一下地点头，像在跟我们打招呼。</a:t>
            </a:r>
          </a:p>
          <a:p>
            <a:r>
              <a:rPr lang="zh-CN"/>
              <a:t>本页读完即走，不做板书。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本页 4 分钟，是三个片段里最容易上手的一个，因为孩子有真实的味觉记忆。</a:t>
            </a:r>
          </a:p>
          <a:p>
            <a:r>
              <a:rPr lang="zh-CN"/>
              <a:t>第一步——调动鼻子。问："我们平时用眼睛读、用嘴巴读，今天试试用鼻子读——你在秋天闻到过什么香味？"孩子会说桂花、橘子、烤红薯，都接住。</a:t>
            </a:r>
          </a:p>
          <a:p>
            <a:r>
              <a:rPr lang="zh-CN"/>
              <a:t>第二步——读句子。读"秋天的雨，藏着好闻的气味"，抓"藏"字：气味为什么是"藏"着的？因为你要走近、要闻，才能发现，藏起来的东西才让人想去找。</a:t>
            </a:r>
          </a:p>
          <a:p>
            <a:r>
              <a:rPr lang="zh-CN"/>
              <a:t>第三步——体会"勾"。读"小朋友的脚，常被那香味勾住"，问："脚真的会被勾住吗？"孩子会笑着说不会。再问："那为什么走不动了？"——因为太香了，舍不得走。这一问一答就把句子的趣味打开了，不需要任何术语。</a:t>
            </a:r>
          </a:p>
          <a:p>
            <a:r>
              <a:rPr lang="zh-CN"/>
              <a:t>可以准备一小块水果或一片橘子皮，让前排孩子闻一闻，五秒钟，效果胜过五分钟讲解。</a:t>
            </a:r>
          </a:p>
          <a:p>
            <a:r>
              <a:rPr lang="zh-CN"/>
              <a:t>卡点预判："勾"字学生可能理解成"钩子钩住"，正好顺势承认：对，就像有个看不见的小钩子，把脚钩住了——这个误读本身就是最好的理解。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本课核心输出活动，总时长 8 分钟，请把每步的时间说清楚再放手，三年级需要明确的时间边界。</a:t>
            </a:r>
          </a:p>
          <a:p>
            <a:r>
              <a:rPr lang="zh-CN"/>
              <a:t>第一步 读一读（2 分钟）：同桌互读最喜欢的句子，只读一句，读完对方说一句"我听出来了"。教师巡视，听到读得好的记下名字。</a:t>
            </a:r>
          </a:p>
          <a:p>
            <a:r>
              <a:rPr lang="zh-CN"/>
              <a:t>第二步 找一找（1 分钟）：给一个具体范围——窗外的树、书上的图、或者你回家路上见过的东西，避免孩子茫然。</a:t>
            </a:r>
          </a:p>
          <a:p>
            <a:r>
              <a:rPr lang="zh-CN"/>
              <a:t>第三步 说一说（4 分钟）：句式二选一，投影上写着，照着说不丢人。先同桌互说，再请五六个孩子全班说。教师示范一个："它把橘黄色给了小橘子，橘子像一个个小灯笼，挂在树上。"</a:t>
            </a:r>
          </a:p>
          <a:p>
            <a:r>
              <a:rPr lang="zh-CN"/>
              <a:t>第四步 评一评（1 分钟）：成功标准就三条，说给学生听——有颜色、有画面（能让人看见）、用上课文的样子（用了句式）。不要用"生动""优美"这类孩子听不懂的评价词，就问："他说的话，你脑子里有画面吗？"有，就是好。</a:t>
            </a:r>
          </a:p>
          <a:p>
            <a:r>
              <a:rPr lang="zh-CN"/>
              <a:t>卡点预判：会有孩子只说"秋天很美"，没有画面。追问一句"美在哪里？什么颜色的？"通常再问一次就能拉出来。</a:t>
            </a:r>
          </a:p>
          <a:p>
            <a:r>
              <a:rPr lang="zh-CN"/>
              <a:t>对说不出来的孩子，允许直接复述课文里的一句，也算完成。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写字环节 6 分钟，三个字都来自本课最美的句子（小扇子、小邮票、梨），孩子写的时候脑子里还有画面。</a:t>
            </a:r>
          </a:p>
          <a:p>
            <a:r>
              <a:rPr lang="zh-CN"/>
              <a:t>流程严格走"一看二写三对照"：</a:t>
            </a:r>
          </a:p>
          <a:p>
            <a:r>
              <a:rPr lang="zh-CN"/>
              <a:t>一看（1 分钟）：教师在黑板田字格或投影上范写，边写边说口诀。学生只看不动笔，手指可以跟着在桌上空描。三年级最容易犯的错是没看清就动笔。</a:t>
            </a:r>
          </a:p>
          <a:p>
            <a:r>
              <a:rPr lang="zh-CN"/>
              <a:t>二写（3 分钟）：学生在书上或本子上每个字写两遍。第一遍慢，第二遍稍快。提醒坐姿和握笔：头正、身直、臂开、足安。</a:t>
            </a:r>
          </a:p>
          <a:p>
            <a:r>
              <a:rPr lang="zh-CN"/>
              <a:t>三对照（2 分钟）：这是最容易被省掉、也最有价值的一步。让学生把自己写的字和书上的范字比一比，只找一个问题："哪一笔最不像？"然后只改那一笔，改在第三个格里。</a:t>
            </a:r>
          </a:p>
          <a:p>
            <a:r>
              <a:rPr lang="zh-CN"/>
              <a:t>重点提示：</a:t>
            </a:r>
          </a:p>
          <a:p>
            <a:r>
              <a:rPr lang="zh-CN"/>
              <a:t>扇——半包围结构，先写"户"再写"羽"，里面的羽要写扁、写小，四点收紧。</a:t>
            </a:r>
          </a:p>
          <a:p>
            <a:r>
              <a:rPr lang="zh-CN"/>
              <a:t>邮——左窄右宽，右耳旁的竖要写长，是这个字的支柱。</a:t>
            </a:r>
          </a:p>
          <a:p>
            <a:r>
              <a:rPr lang="zh-CN"/>
              <a:t>梨——上大下小，下面"木"的捺变成点，很多孩子会写成捺，撞出格子。</a:t>
            </a:r>
          </a:p>
          <a:p>
            <a:r>
              <a:rPr lang="zh-CN"/>
              <a:t>巡视时挑两份写得好的用展台展示，只说好在哪一笔，不做整体评价。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小结 2 分钟，回扣三个片段，采用师生接读的方式，不要教师一个人总结。</a:t>
            </a:r>
          </a:p>
          <a:p>
            <a:r>
              <a:rPr lang="zh-CN"/>
              <a:t>教师说"一把——"，学生接"钥匙"；教师说"打开了——"，学生接"秋天的大门"。三样都这样接完，节奏快、气氛好，也是一次隐性的复述检测。</a:t>
            </a:r>
          </a:p>
          <a:p>
            <a:r>
              <a:rPr lang="zh-CN"/>
              <a:t>接读完提一个整合问题："秋天的雨，其实只是雨。可读完课文，你觉得它像什么？"允许多种答案——像一把钥匙、像一个画画的人、像一个送礼物的人。只要说得出"它像一个人"就非常好了，这是本课情感的落点，同样不出现"拟人"二字。</a:t>
            </a:r>
          </a:p>
          <a:p>
            <a:r>
              <a:rPr lang="zh-CN"/>
              <a:t>最后教师读一句"秋天的雨，带给大地的是一曲丰收的歌"，作为下节课的钩子，不展开。</a:t>
            </a:r>
          </a:p>
          <a:p>
            <a:r>
              <a:rPr lang="zh-CN"/>
              <a:t>板书此时应已成型：雨 → 钥匙 / 颜料 / 气味，擦掉导入时随手写的词，只留这三个。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作业分层，严格遵守双减：三年级书面作业总量控制在 10 分钟以内，本课设计为必做 5 分钟朗读（非书面）+ 选做 5 分钟抄写，挑战题为口头表达、零书面负担。</a:t>
            </a:r>
          </a:p>
          <a:p>
            <a:r>
              <a:rPr lang="zh-CN"/>
              <a:t>布置时把三层的定位说清楚：</a:t>
            </a:r>
          </a:p>
          <a:p>
            <a:r>
              <a:rPr lang="zh-CN"/>
              <a:t>第一层"人人都做"——朗读给家人听，这是底线任务，人人能完成。标准只有一条：读顺，不添字漏字。不要求背诵、不要求有感情，减少家长焦虑。</a:t>
            </a:r>
          </a:p>
          <a:p>
            <a:r>
              <a:rPr lang="zh-CN"/>
              <a:t>第二层"想做就做"——抄写三个字各两遍。明确告诉学生：写工整比写得多重要，写两遍认真的胜过写十遍潦草的。不做的也不批评。</a:t>
            </a:r>
          </a:p>
          <a:p>
            <a:r>
              <a:rPr lang="zh-CN"/>
              <a:t>第三层"挑战一下"——回家路上找一样秋天的东西，用今天的句式说给爸爸妈妈听，纯口头，不用写、不用交、不用家长签字。第二天课前请两三个孩子分享即可。</a:t>
            </a:r>
          </a:p>
          <a:p>
            <a:r>
              <a:rPr lang="zh-CN"/>
              <a:t>特别提醒：不要求家长签字、不要求拍照打卡、不布置抄写课文全文这类机械作业。</a:t>
            </a:r>
          </a:p>
          <a:p>
            <a:r>
              <a:rPr lang="zh-CN"/>
              <a:t>本页 1 分钟讲完，让学生把必做那条圈出来。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下课前 30 秒，不总结、不叮嘱，留一个念想。</a:t>
            </a:r>
          </a:p>
          <a:p>
            <a:r>
              <a:rPr lang="zh-CN"/>
              <a:t>可以这样说："今天我们跟着秋天的雨，打开了一扇门，看见了好多颜色，还闻到了香味。可是课文还没读完呢——秋天的雨还带来了一首歌，是唱给谁听的？下节课我们去找。"</a:t>
            </a:r>
          </a:p>
          <a:p>
            <a:r>
              <a:rPr lang="zh-CN"/>
              <a:t>如果时间还剩一点，把第一页那段雨声再放十秒，让孩子在雨声里收拾书本，情绪收在"美"上而不是"记住了什么"上。</a:t>
            </a:r>
          </a:p>
          <a:p>
            <a:r>
              <a:rPr lang="zh-CN"/>
              <a:t>课后自查三条：三个片段学生是否都能说出"像什么"；说话活动是否人人开口；写字有没有走完"对照"这一步。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语文 · 三年级上册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秋天的雨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第一课时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看一看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秋天来了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你从哪里看出来的？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今天我能……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认得本课生字，读准课文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读出三处最美的句子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3300" b="0" i="0">
                <a:solidFill>
                  <a:srgbClr val="8A7E6F"/>
                </a:solidFill>
                <a:latin typeface="Calibri"/>
                <a:ea typeface="Microsoft YaHei"/>
              </a:rPr>
              <a:t>钥匙　颜料　气味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学着课文的样子说一句秋天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写好三个字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先认字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钥匙　yào shi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"匙"读轻声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开门用的那个东西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都是金字旁、匕字底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缤纷　bīn fēn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都是绞丝旁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和线、和颜色有关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五彩缤纷 = 颜色特别多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梨　菠萝
lí　bō luó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都是能吃的水果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"菠萝"两个字都有草字头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带草字头的字，多和植物有关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B3672A"/>
                </a:solidFill>
                <a:latin typeface="Calibri"/>
                <a:ea typeface="Microsoft YaHei"/>
              </a:rPr>
              <a:t>环节一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3A2F25"/>
                </a:solidFill>
                <a:latin typeface="Calibri"/>
                <a:ea typeface="Microsoft YaHei"/>
              </a:rPr>
              <a:t>秋天的雨，藏着什么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一把小钥匙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0" t="6801" r="0" b="6801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B3672A"/>
                </a:solidFill>
                <a:latin typeface="Calibri"/>
                <a:ea typeface="Microsoft YaHei"/>
              </a:rPr>
              <a:t>它打开了谁的门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钥匙是用来干什么的？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秋天的雨，是一把钥匙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700" b="0" i="0">
                <a:solidFill>
                  <a:srgbClr val="8A7E6F"/>
                </a:solidFill>
                <a:latin typeface="Calibri"/>
                <a:ea typeface="Microsoft YaHei"/>
              </a:rPr>
              <a:t>它轻轻地，把秋天的大门打开了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读一读：轻轻地，慢慢地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952500" y="1143000"/>
            <a:ext cx="1905000" cy="1238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9600" b="1" i="0">
                <a:solidFill>
                  <a:srgbClr val="B3672A"/>
                </a:solidFill>
                <a:latin typeface="Calibri"/>
                <a:ea typeface="Microsoft YaHei"/>
              </a:rPr>
              <a:t>“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524000" y="2381250"/>
            <a:ext cx="9144000" cy="20955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buNone/>
            </a:pPr>
            <a:r>
              <a:rPr lang="zh-CN" sz="4000" b="0" i="1">
                <a:solidFill>
                  <a:srgbClr val="3A2F25"/>
                </a:solidFill>
                <a:latin typeface="Calibri"/>
                <a:ea typeface="Microsoft YaHei"/>
              </a:rPr>
              <a:t>秋天的雨，是一把钥匙。它带着清凉和温柔，轻轻地，轻轻地，把秋天的大门打开了。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524000" y="4667250"/>
            <a:ext cx="914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800" b="0" i="0">
                <a:solidFill>
                  <a:srgbClr val="8A7E6F"/>
                </a:solidFill>
                <a:latin typeface="Calibri"/>
                <a:ea typeface="Microsoft YaHei"/>
              </a:rPr>
              <a:t>—— 《秋天的雨》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一盒颜料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7620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B3672A"/>
                </a:solidFill>
                <a:latin typeface="Calibri"/>
                <a:ea typeface="Microsoft YaHei"/>
              </a:rPr>
              <a:t>秋天的雨在画画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它有一盒五彩缤纷的颜料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黄　红　金　紫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700" b="0" i="0">
                <a:solidFill>
                  <a:srgbClr val="8A7E6F"/>
                </a:solidFill>
                <a:latin typeface="Calibri"/>
                <a:ea typeface="Microsoft YaHei"/>
              </a:rPr>
              <a:t>它把黄色给了银杏树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你还想把什么颜色给谁？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雨把颜色送给谁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黄色　给银杏树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黄黄的叶子像一把把小扇子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扇走了夏天的炎热</a:t>
            </a:r>
          </a:p>
        </p:txBody>
      </p:sp>
      <p:sp>
        <p:nvSpPr>
          <p:cNvPr id="14" name="card14"/>
          <p:cNvSpPr/>
          <p:nvPr/>
        </p:nvSpPr>
        <p:spPr>
          <a:xfrm>
            <a:off x="349567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372427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红色　给枫树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红红的枫叶像一枚枚邮票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邮来了秋天的凉爽</a:t>
            </a:r>
          </a:p>
        </p:txBody>
      </p:sp>
      <p:sp>
        <p:nvSpPr>
          <p:cNvPr id="16" name="card16"/>
          <p:cNvSpPr/>
          <p:nvPr/>
        </p:nvSpPr>
        <p:spPr>
          <a:xfrm>
            <a:off x="622935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645795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金黄　给田野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田野像金色的海洋</a:t>
            </a:r>
          </a:p>
        </p:txBody>
      </p:sp>
      <p:sp>
        <p:nvSpPr>
          <p:cNvPr id="18" name="card18"/>
          <p:cNvSpPr/>
          <p:nvPr/>
        </p:nvSpPr>
        <p:spPr>
          <a:xfrm>
            <a:off x="896302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9" name="text19"/>
          <p:cNvSpPr txBox="1"/>
          <p:nvPr/>
        </p:nvSpPr>
        <p:spPr>
          <a:xfrm>
            <a:off x="919162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紫红　淡黄　雪白
给菊花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菊花在秋雨里频频点头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一藏好闻的气味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0" t="6801" r="0" b="6801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B3672A"/>
                </a:solidFill>
                <a:latin typeface="Calibri"/>
                <a:ea typeface="Microsoft YaHei"/>
              </a:rPr>
              <a:t>用鼻子读课文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秋天的雨，藏着好闻的气味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梨　菠萝　苹果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700" b="0" i="0">
                <a:solidFill>
                  <a:srgbClr val="8A7E6F"/>
                </a:solidFill>
                <a:latin typeface="Calibri"/>
                <a:ea typeface="Microsoft YaHei"/>
              </a:rPr>
              <a:t>甜甜的，好多好多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小朋友的脚，被勾住了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找一找，说一说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2009775" y="2381250"/>
            <a:ext cx="8172450" cy="28575"/>
          </a:xfrm>
          <a:prstGeom prst="rect">
            <a:avLst/>
          </a:prstGeom>
          <a:solidFill>
            <a:srgbClr val="E5DCCB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80022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读一读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同桌互相读你最喜欢的一句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2 分钟</a:t>
            </a:r>
          </a:p>
        </p:txBody>
      </p:sp>
      <p:sp>
        <p:nvSpPr>
          <p:cNvPr id="15" name="step15"/>
          <p:cNvSpPr/>
          <p:nvPr/>
        </p:nvSpPr>
        <p:spPr>
          <a:xfrm>
            <a:off x="452437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34861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找一找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在教室外、在图上、在心里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找一样秋天的东西</a:t>
            </a:r>
          </a:p>
        </p:txBody>
      </p:sp>
      <p:sp>
        <p:nvSpPr>
          <p:cNvPr id="17" name="step17"/>
          <p:cNvSpPr/>
          <p:nvPr/>
        </p:nvSpPr>
        <p:spPr>
          <a:xfrm>
            <a:off x="724852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62103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说一说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它把 ______ 给了 ______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或：秋天的雨，藏着 ______</a:t>
            </a:r>
          </a:p>
        </p:txBody>
      </p:sp>
      <p:sp>
        <p:nvSpPr>
          <p:cNvPr id="19" name="step19"/>
          <p:cNvSpPr/>
          <p:nvPr/>
        </p:nvSpPr>
        <p:spPr>
          <a:xfrm>
            <a:off x="997267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89344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评一评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说得好的三条：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有颜色　有画面　用上课文的样子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857250" y="476250"/>
            <a:ext cx="6667500" cy="476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400" b="1" i="0">
                <a:solidFill>
                  <a:srgbClr val="3A2F25"/>
                </a:solidFill>
                <a:latin typeface="Calibri"/>
                <a:ea typeface="Microsoft YaHei"/>
              </a:rPr>
              <a:t>写好这三个字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857250" y="990600"/>
            <a:ext cx="8572500" cy="3238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800" b="0" i="0">
                <a:solidFill>
                  <a:srgbClr val="8A7E6F"/>
                </a:solidFill>
                <a:latin typeface="Calibri"/>
                <a:ea typeface="Microsoft YaHei"/>
              </a:rPr>
              <a:t>一看　二写　三对照</a:t>
            </a:r>
          </a:p>
        </p:txBody>
      </p:sp>
      <p:sp>
        <p:nvSpPr>
          <p:cNvPr id="13" name="card13"/>
          <p:cNvSpPr/>
          <p:nvPr/>
        </p:nvSpPr>
        <p:spPr>
          <a:xfrm>
            <a:off x="952500" y="1714500"/>
            <a:ext cx="3048000" cy="285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4" name="card14"/>
          <p:cNvSpPr/>
          <p:nvPr/>
        </p:nvSpPr>
        <p:spPr>
          <a:xfrm>
            <a:off x="4572000" y="1714500"/>
            <a:ext cx="3048000" cy="285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card15"/>
          <p:cNvSpPr/>
          <p:nvPr/>
        </p:nvSpPr>
        <p:spPr>
          <a:xfrm>
            <a:off x="8191500" y="1714500"/>
            <a:ext cx="3048000" cy="285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6" name="text16"/>
          <p:cNvSpPr txBox="1"/>
          <p:nvPr/>
        </p:nvSpPr>
        <p:spPr>
          <a:xfrm>
            <a:off x="1143000" y="1952625"/>
            <a:ext cx="2667000" cy="12382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buNone/>
            </a:pPr>
            <a:r>
              <a:rPr lang="zh-CN" sz="7600" b="1" i="0">
                <a:solidFill>
                  <a:srgbClr val="B3672A"/>
                </a:solidFill>
                <a:latin typeface="Calibri"/>
                <a:ea typeface="Microsoft YaHei"/>
              </a:rPr>
              <a:t>扇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4762500" y="1952625"/>
            <a:ext cx="2667000" cy="12382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buNone/>
            </a:pPr>
            <a:r>
              <a:rPr lang="zh-CN" sz="7600" b="1" i="0">
                <a:solidFill>
                  <a:srgbClr val="B3672A"/>
                </a:solidFill>
                <a:latin typeface="Calibri"/>
                <a:ea typeface="Microsoft YaHei"/>
              </a:rPr>
              <a:t>邮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8382000" y="1952625"/>
            <a:ext cx="2667000" cy="12382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buNone/>
            </a:pPr>
            <a:r>
              <a:rPr lang="zh-CN" sz="7600" b="1" i="0">
                <a:solidFill>
                  <a:srgbClr val="B3672A"/>
                </a:solidFill>
                <a:latin typeface="Calibri"/>
                <a:ea typeface="Microsoft YaHei"/>
              </a:rPr>
              <a:t>梨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1143000" y="3333750"/>
            <a:ext cx="2667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半包围，先写户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里面是羽，两点要小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撇要伸出来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4762500" y="3333750"/>
            <a:ext cx="2667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左窄右宽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左边由，最后一竖长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右耳旁最后写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8382000" y="3333750"/>
            <a:ext cx="2667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上下结构，上大下小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利在上，木在下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木的捺变成点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952500" y="5143500"/>
            <a:ext cx="10287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800" b="0" i="0">
                <a:solidFill>
                  <a:srgbClr val="8A7E6F"/>
                </a:solidFill>
                <a:latin typeface="Calibri"/>
                <a:ea typeface="Microsoft YaHei"/>
              </a:rPr>
              <a:t>写完和书上比一比：哪一笔最不像？就改那一笔。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秋天的雨，藏着三样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一把钥匙　打开秋天的门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一盒颜料　把颜色送出去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一藏气味　把小朋友的脚勾住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它带来的，是一首歌，一曲丰收的歌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3300" b="0" i="0">
                <a:solidFill>
                  <a:srgbClr val="8A7E6F"/>
                </a:solidFill>
                <a:latin typeface="Calibri"/>
                <a:ea typeface="Microsoft YaHei"/>
              </a:rPr>
              <a:t>下节课，我们接着往下读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今天的作业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人人都做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把课文读给家人听一遍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约 5 分钟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读顺，不添字漏字就好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想做就做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抄写今天的三个字，各两遍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约 5 分钟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写工整比写多重要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挑战一下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回家路上找一样秋天的东西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用课文的样子说给爸爸妈妈听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不用写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说出来就算完成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B3672A"/>
                </a:solidFill>
                <a:latin typeface="Calibri"/>
                <a:ea typeface="Microsoft YaHei"/>
              </a:rPr>
              <a:t>下课啦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3A2F25"/>
                </a:solidFill>
                <a:latin typeface="Calibri"/>
                <a:ea typeface="Microsoft YaHei"/>
              </a:rPr>
              <a:t>秋天的雨，还在下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8A7E6F"/>
                </a:solidFill>
                <a:latin typeface="Calibri"/>
                <a:ea typeface="Microsoft YaHei"/>
              </a:rPr>
              <a:t>下节课，听听它带来的那首歌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