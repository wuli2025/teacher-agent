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开场：单位圆上一点绕圈，它的纵坐标随角度变化，就是正弦。本节把这种变化‘展开’成一条波浪曲线，并读出它的全部性质。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解读目标，强调五点法与五性质是本节骨架。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过渡。别急着背图象，先看它从哪来。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单击1画单位圆与坐标轴，2画动径与交点P，3把P的纵坐标投影下来标 sinθ，4文字点题。让学生想象θ从0转到2π，红色高度如何变化。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核心动画。单击1出单位圆与坐标框，2~5把一个周期内的采样点逐批打上(对应圆上转动),6连成光滑正弦曲线。强调横轴是角度(弧度),纵轴是sin值∈[−1,1]。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手工快速画正弦图象的标准方法。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让学生背口诀‘零顶零谷零’。下页动画演示。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单击1轴,2~6逐个描五点并标横坐标,7连成曲线。让学生在练习本上同步描点。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从图象读性质,这是本节落点。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定义域R(角可任意大);值域看波峰波谷;周期看重复间隔2π。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单击1轴,2/3/4每击复制一个周期(换色),直观看到‘每隔2π完全重复’。给出周期定义 f(x+2π)=f(x)。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奇函数——图象中心对称;单调区间要带周期2kπ。强调k∈Z不能漏。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单击1轴,2绿色画增区间那段,3红色画减区间那段。强调加上周期2kπ得一般式。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用性质解题。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换元思想:先框住sinx范围,再线性放缩。追问取到最值时的x。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强调必须先判断‘是否在同一单调区间’,否则不能直接比。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整体代换法:把x+π/3看成整体套用sin的增区间,再解不等式。这是复合正弦的通法,重点。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单击1轴,2灰色画y=sinx参照,3蓝色画左移后的图象。让学生看清‘+π/3是向左移’,并与整体代换法呼应。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三大高频错。逐条强调。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留8分钟。答案:①[0,2];②都在[0,π/2]增,1&lt;1.5⇒sin1&lt;sin1.5;③T=2π/2=π。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数字卡收束核心性质。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脉络回顾,强调图象是性质之源。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齐述。预告余弦函数与图象变换。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布置作业。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收尾,一句话预告余弦与正弦的平移关系。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高一数学 · 必修第一册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4000" b="1" i="0">
                <a:solidFill>
                  <a:srgbClr val="1F1F1F"/>
                </a:solidFill>
                <a:latin typeface="Calibri"/>
                <a:ea typeface="Microsoft YaHei"/>
              </a:rPr>
              <a:t>正弦函数的图象与性质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0" i="0">
                <a:solidFill>
                  <a:srgbClr val="6B6B6B"/>
                </a:solidFill>
                <a:latin typeface="Calibri"/>
                <a:ea typeface="Microsoft YaHei"/>
              </a:rPr>
              <a:t>y = sin x 的一切，都藏在单位圆里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理解正弦函数图象的生成：单位圆纵坐标的展开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掌握‘五点作图法’画 y=sinx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掌握正弦函数五大性质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定义域、值域、周期、奇偶性、单调性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会用性质比较大小、求值域与单调区间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环节一 · 生成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一、图象怎么来：单位圆的展开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单位圆上一点的纵坐标 = sinθ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ell12"/>
          <p:cNvSpPr/>
          <p:nvPr/>
        </p:nvSpPr>
        <p:spPr>
          <a:xfrm>
            <a:off x="1333500" y="2286000"/>
            <a:ext cx="2286000" cy="2286000"/>
          </a:xfrm>
          <a:prstGeom prst="ellipse">
            <a:avLst/>
          </a:prstGeom>
          <a:noFill/>
          <a:ln w="28575">
            <a:solidFill>
              <a:srgbClr val="1F1F1F"/>
            </a:solidFill>
          </a:ln>
        </p:spPr>
        <p:txBody>
          <a:bodyPr/>
          <a:p/>
        </p:txBody>
      </p:sp>
      <p:cxnSp>
        <p:nvCxnSpPr>
          <p:cNvPr id="13" name="line13"/>
          <p:cNvCxnSpPr/>
          <p:nvPr/>
        </p:nvCxnSpPr>
        <p:spPr>
          <a:xfrm>
            <a:off x="1143000" y="3429000"/>
            <a:ext cx="2667000" cy="9525"/>
          </a:xfrm>
          <a:prstGeom prst="line">
            <a:avLst/>
          </a:prstGeom>
          <a:ln w="19050" cap="rnd">
            <a:solidFill>
              <a:srgbClr val="6B6B6B"/>
            </a:solidFill>
            <a:tailEnd type="triangle" w="med" len="med"/>
          </a:ln>
        </p:spPr>
      </p:cxnSp>
      <p:cxnSp>
        <p:nvCxnSpPr>
          <p:cNvPr id="14" name="line14"/>
          <p:cNvCxnSpPr/>
          <p:nvPr/>
        </p:nvCxnSpPr>
        <p:spPr>
          <a:xfrm flipV="1">
            <a:off x="2476500" y="2000250"/>
            <a:ext cx="9525" cy="2762250"/>
          </a:xfrm>
          <a:prstGeom prst="line">
            <a:avLst/>
          </a:prstGeom>
          <a:ln w="19050" cap="rnd">
            <a:solidFill>
              <a:srgbClr val="6B6B6B"/>
            </a:solidFill>
            <a:tailEnd type="triangle" w="med" len="med"/>
          </a:ln>
        </p:spPr>
      </p:cxnSp>
      <p:cxnSp>
        <p:nvCxnSpPr>
          <p:cNvPr id="15" name="line15"/>
          <p:cNvCxnSpPr/>
          <p:nvPr/>
        </p:nvCxnSpPr>
        <p:spPr>
          <a:xfrm flipV="1">
            <a:off x="2476500" y="2552700"/>
            <a:ext cx="733425" cy="876300"/>
          </a:xfrm>
          <a:prstGeom prst="line">
            <a:avLst/>
          </a:prstGeom>
          <a:ln w="28575" cap="rnd">
            <a:solidFill>
              <a:srgbClr val="2563EB"/>
            </a:solidFill>
          </a:ln>
        </p:spPr>
      </p:cxnSp>
      <p:sp>
        <p:nvSpPr>
          <p:cNvPr id="16" name="ell16"/>
          <p:cNvSpPr/>
          <p:nvPr/>
        </p:nvSpPr>
        <p:spPr>
          <a:xfrm>
            <a:off x="3152775" y="2495550"/>
            <a:ext cx="114300" cy="11430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cxnSp>
        <p:nvCxnSpPr>
          <p:cNvPr id="17" name="line17"/>
          <p:cNvCxnSpPr/>
          <p:nvPr/>
        </p:nvCxnSpPr>
        <p:spPr>
          <a:xfrm>
            <a:off x="3209925" y="2552700"/>
            <a:ext cx="9525" cy="876300"/>
          </a:xfrm>
          <a:prstGeom prst="line">
            <a:avLst/>
          </a:prstGeom>
          <a:ln w="28575" cap="rnd">
            <a:solidFill>
              <a:srgbClr val="D64545"/>
            </a:solidFill>
            <a:prstDash val="dash"/>
          </a:ln>
        </p:spPr>
      </p:cxnSp>
      <p:sp>
        <p:nvSpPr>
          <p:cNvPr id="18" name="text18"/>
          <p:cNvSpPr txBox="1"/>
          <p:nvPr/>
        </p:nvSpPr>
        <p:spPr>
          <a:xfrm>
            <a:off x="2095500" y="33528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0">
                <a:solidFill>
                  <a:srgbClr val="2563EB"/>
                </a:solidFill>
                <a:latin typeface="Calibri"/>
                <a:ea typeface="Microsoft YaHei"/>
              </a:rPr>
              <a:t>θ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3286125" y="28765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1" i="0">
                <a:solidFill>
                  <a:srgbClr val="D64545"/>
                </a:solidFill>
                <a:latin typeface="Calibri"/>
                <a:ea typeface="Microsoft YaHei"/>
              </a:rPr>
              <a:t>sinθ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905500" y="1905000"/>
            <a:ext cx="5334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动径转过角 θ，</a:t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交单位圆于点 P，</a:t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P 的纵坐标就是 sinθ。</a:t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/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θ 变化 → 纵坐标上下起伏</a:t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→ 这就是正弦函数。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角度展开 → 正弦曲线（点击逐点生成）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ell12"/>
          <p:cNvSpPr/>
          <p:nvPr/>
        </p:nvSpPr>
        <p:spPr>
          <a:xfrm>
            <a:off x="1809750" y="2381250"/>
            <a:ext cx="2095500" cy="2095500"/>
          </a:xfrm>
          <a:prstGeom prst="ellipse">
            <a:avLst/>
          </a:prstGeom>
          <a:noFill/>
          <a:ln w="19050">
            <a:solidFill>
              <a:srgbClr val="6B6B6B"/>
            </a:solidFill>
          </a:ln>
        </p:spPr>
        <p:txBody>
          <a:bodyPr/>
          <a:p/>
        </p:txBody>
      </p:sp>
      <p:cxnSp>
        <p:nvCxnSpPr>
          <p:cNvPr id="13" name="line13"/>
          <p:cNvCxnSpPr/>
          <p:nvPr/>
        </p:nvCxnSpPr>
        <p:spPr>
          <a:xfrm flipV="1">
            <a:off x="2857500" y="2190750"/>
            <a:ext cx="9525" cy="2381250"/>
          </a:xfrm>
          <a:prstGeom prst="line">
            <a:avLst/>
          </a:prstGeom>
          <a:ln w="19050" cap="rnd">
            <a:solidFill>
              <a:srgbClr val="6B6B6B"/>
            </a:solidFill>
          </a:ln>
        </p:spPr>
      </p:cxnSp>
      <p:cxnSp>
        <p:nvCxnSpPr>
          <p:cNvPr id="14" name="line14"/>
          <p:cNvCxnSpPr/>
          <p:nvPr/>
        </p:nvCxnSpPr>
        <p:spPr>
          <a:xfrm>
            <a:off x="4095750" y="3429000"/>
            <a:ext cx="4381500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5" name="line15"/>
          <p:cNvCxnSpPr/>
          <p:nvPr/>
        </p:nvCxnSpPr>
        <p:spPr>
          <a:xfrm flipV="1">
            <a:off x="5334000" y="2095500"/>
            <a:ext cx="9525" cy="2667000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6" name="ell16"/>
          <p:cNvSpPr/>
          <p:nvPr/>
        </p:nvSpPr>
        <p:spPr>
          <a:xfrm>
            <a:off x="5286375" y="33813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7" name="ell17"/>
          <p:cNvSpPr/>
          <p:nvPr/>
        </p:nvSpPr>
        <p:spPr>
          <a:xfrm>
            <a:off x="5524500" y="28098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8" name="ell18"/>
          <p:cNvSpPr/>
          <p:nvPr/>
        </p:nvSpPr>
        <p:spPr>
          <a:xfrm>
            <a:off x="5762625" y="23907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9" name="ell19"/>
          <p:cNvSpPr/>
          <p:nvPr/>
        </p:nvSpPr>
        <p:spPr>
          <a:xfrm>
            <a:off x="6000750" y="22383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0" name="ell20"/>
          <p:cNvSpPr/>
          <p:nvPr/>
        </p:nvSpPr>
        <p:spPr>
          <a:xfrm>
            <a:off x="6238875" y="23907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1" name="ell21"/>
          <p:cNvSpPr/>
          <p:nvPr/>
        </p:nvSpPr>
        <p:spPr>
          <a:xfrm>
            <a:off x="6477000" y="28098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2" name="ell22"/>
          <p:cNvSpPr/>
          <p:nvPr/>
        </p:nvSpPr>
        <p:spPr>
          <a:xfrm>
            <a:off x="6715125" y="33813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3" name="ell23"/>
          <p:cNvSpPr/>
          <p:nvPr/>
        </p:nvSpPr>
        <p:spPr>
          <a:xfrm>
            <a:off x="6953250" y="39528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4" name="ell24"/>
          <p:cNvSpPr/>
          <p:nvPr/>
        </p:nvSpPr>
        <p:spPr>
          <a:xfrm>
            <a:off x="7191375" y="43719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5" name="ell25"/>
          <p:cNvSpPr/>
          <p:nvPr/>
        </p:nvSpPr>
        <p:spPr>
          <a:xfrm>
            <a:off x="7429500" y="45243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6" name="ell26"/>
          <p:cNvSpPr/>
          <p:nvPr/>
        </p:nvSpPr>
        <p:spPr>
          <a:xfrm>
            <a:off x="7667625" y="43719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7" name="ell27"/>
          <p:cNvSpPr/>
          <p:nvPr/>
        </p:nvSpPr>
        <p:spPr>
          <a:xfrm>
            <a:off x="7905750" y="39528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8" name="ell28"/>
          <p:cNvSpPr/>
          <p:nvPr/>
        </p:nvSpPr>
        <p:spPr>
          <a:xfrm>
            <a:off x="8143875" y="3381375"/>
            <a:ext cx="95250" cy="95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9" name="poly29"/>
          <p:cNvSpPr/>
          <p:nvPr/>
        </p:nvSpPr>
        <p:spPr>
          <a:xfrm>
            <a:off x="5334000" y="2286000"/>
            <a:ext cx="2857500" cy="2286000"/>
          </a:xfrm>
          <a:custGeom>
            <a:avLst/>
            <a:gdLst/>
            <a:ahLst/>
            <a:cxnLst/>
            <a:rect l="0" t="0" r="2857500" b="2286000"/>
            <a:pathLst>
              <a:path w="2857500" h="2286000">
                <a:moveTo>
                  <a:pt x="0" y="1143000"/>
                </a:moveTo>
                <a:lnTo>
                  <a:pt x="38100" y="1057275"/>
                </a:lnTo>
                <a:lnTo>
                  <a:pt x="76200" y="962025"/>
                </a:lnTo>
                <a:lnTo>
                  <a:pt x="104775" y="876300"/>
                </a:lnTo>
                <a:lnTo>
                  <a:pt x="142875" y="790575"/>
                </a:lnTo>
                <a:lnTo>
                  <a:pt x="180975" y="704850"/>
                </a:lnTo>
                <a:lnTo>
                  <a:pt x="209550" y="628650"/>
                </a:lnTo>
                <a:lnTo>
                  <a:pt x="247650" y="542925"/>
                </a:lnTo>
                <a:lnTo>
                  <a:pt x="285750" y="466725"/>
                </a:lnTo>
                <a:lnTo>
                  <a:pt x="323850" y="400050"/>
                </a:lnTo>
                <a:lnTo>
                  <a:pt x="361950" y="333375"/>
                </a:lnTo>
                <a:lnTo>
                  <a:pt x="390525" y="276225"/>
                </a:lnTo>
                <a:lnTo>
                  <a:pt x="428625" y="219075"/>
                </a:lnTo>
                <a:lnTo>
                  <a:pt x="466725" y="171450"/>
                </a:lnTo>
                <a:lnTo>
                  <a:pt x="495300" y="123825"/>
                </a:lnTo>
                <a:lnTo>
                  <a:pt x="533400" y="85725"/>
                </a:lnTo>
                <a:lnTo>
                  <a:pt x="571500" y="57150"/>
                </a:lnTo>
                <a:lnTo>
                  <a:pt x="609600" y="28575"/>
                </a:lnTo>
                <a:lnTo>
                  <a:pt x="647700" y="9525"/>
                </a:lnTo>
                <a:lnTo>
                  <a:pt x="676275" y="0"/>
                </a:lnTo>
                <a:lnTo>
                  <a:pt x="714375" y="0"/>
                </a:lnTo>
                <a:lnTo>
                  <a:pt x="752475" y="0"/>
                </a:lnTo>
                <a:lnTo>
                  <a:pt x="781050" y="9525"/>
                </a:lnTo>
                <a:lnTo>
                  <a:pt x="819150" y="28575"/>
                </a:lnTo>
                <a:lnTo>
                  <a:pt x="857250" y="57150"/>
                </a:lnTo>
                <a:lnTo>
                  <a:pt x="895350" y="85725"/>
                </a:lnTo>
                <a:lnTo>
                  <a:pt x="933450" y="123825"/>
                </a:lnTo>
                <a:lnTo>
                  <a:pt x="962025" y="171450"/>
                </a:lnTo>
                <a:lnTo>
                  <a:pt x="1000125" y="219075"/>
                </a:lnTo>
                <a:lnTo>
                  <a:pt x="1038225" y="276225"/>
                </a:lnTo>
                <a:lnTo>
                  <a:pt x="1066800" y="333375"/>
                </a:lnTo>
                <a:lnTo>
                  <a:pt x="1104900" y="400050"/>
                </a:lnTo>
                <a:lnTo>
                  <a:pt x="1143000" y="466725"/>
                </a:lnTo>
                <a:lnTo>
                  <a:pt x="1181100" y="542925"/>
                </a:lnTo>
                <a:lnTo>
                  <a:pt x="1219200" y="628650"/>
                </a:lnTo>
                <a:lnTo>
                  <a:pt x="1247775" y="704850"/>
                </a:lnTo>
                <a:lnTo>
                  <a:pt x="1285875" y="790575"/>
                </a:lnTo>
                <a:lnTo>
                  <a:pt x="1323975" y="876300"/>
                </a:lnTo>
                <a:lnTo>
                  <a:pt x="1352550" y="962025"/>
                </a:lnTo>
                <a:lnTo>
                  <a:pt x="1390650" y="1057275"/>
                </a:lnTo>
                <a:lnTo>
                  <a:pt x="1428750" y="1143000"/>
                </a:lnTo>
                <a:lnTo>
                  <a:pt x="1466850" y="1228725"/>
                </a:lnTo>
                <a:lnTo>
                  <a:pt x="1504950" y="1323975"/>
                </a:lnTo>
                <a:lnTo>
                  <a:pt x="1533525" y="1409700"/>
                </a:lnTo>
                <a:lnTo>
                  <a:pt x="1571625" y="1495425"/>
                </a:lnTo>
                <a:lnTo>
                  <a:pt x="1609725" y="1581150"/>
                </a:lnTo>
                <a:lnTo>
                  <a:pt x="1638300" y="1657350"/>
                </a:lnTo>
                <a:lnTo>
                  <a:pt x="1676400" y="1743075"/>
                </a:lnTo>
                <a:lnTo>
                  <a:pt x="1714500" y="1819275"/>
                </a:lnTo>
                <a:lnTo>
                  <a:pt x="1752600" y="1885950"/>
                </a:lnTo>
                <a:lnTo>
                  <a:pt x="1790700" y="1952625"/>
                </a:lnTo>
                <a:lnTo>
                  <a:pt x="1819275" y="2009775"/>
                </a:lnTo>
                <a:lnTo>
                  <a:pt x="1857375" y="2066925"/>
                </a:lnTo>
                <a:lnTo>
                  <a:pt x="1895475" y="2114550"/>
                </a:lnTo>
                <a:lnTo>
                  <a:pt x="1924050" y="2162175"/>
                </a:lnTo>
                <a:lnTo>
                  <a:pt x="1962150" y="2200275"/>
                </a:lnTo>
                <a:lnTo>
                  <a:pt x="2000250" y="2228850"/>
                </a:lnTo>
                <a:lnTo>
                  <a:pt x="2038350" y="2257425"/>
                </a:lnTo>
                <a:lnTo>
                  <a:pt x="2076450" y="2276475"/>
                </a:lnTo>
                <a:lnTo>
                  <a:pt x="2105025" y="2286000"/>
                </a:lnTo>
                <a:lnTo>
                  <a:pt x="2143125" y="2286000"/>
                </a:lnTo>
                <a:lnTo>
                  <a:pt x="2181225" y="2286000"/>
                </a:lnTo>
                <a:lnTo>
                  <a:pt x="2209800" y="2276475"/>
                </a:lnTo>
                <a:lnTo>
                  <a:pt x="2247900" y="2257425"/>
                </a:lnTo>
                <a:lnTo>
                  <a:pt x="2286000" y="2228850"/>
                </a:lnTo>
                <a:lnTo>
                  <a:pt x="2324100" y="2200275"/>
                </a:lnTo>
                <a:lnTo>
                  <a:pt x="2362200" y="2162175"/>
                </a:lnTo>
                <a:lnTo>
                  <a:pt x="2390775" y="2114550"/>
                </a:lnTo>
                <a:lnTo>
                  <a:pt x="2428875" y="2066925"/>
                </a:lnTo>
                <a:lnTo>
                  <a:pt x="2466975" y="2009775"/>
                </a:lnTo>
                <a:lnTo>
                  <a:pt x="2495550" y="1952625"/>
                </a:lnTo>
                <a:lnTo>
                  <a:pt x="2533650" y="1885950"/>
                </a:lnTo>
                <a:lnTo>
                  <a:pt x="2571750" y="1819275"/>
                </a:lnTo>
                <a:lnTo>
                  <a:pt x="2609850" y="1743075"/>
                </a:lnTo>
                <a:lnTo>
                  <a:pt x="2647950" y="1657350"/>
                </a:lnTo>
                <a:lnTo>
                  <a:pt x="2676525" y="1581150"/>
                </a:lnTo>
                <a:lnTo>
                  <a:pt x="2714625" y="1495425"/>
                </a:lnTo>
                <a:lnTo>
                  <a:pt x="2752725" y="1409700"/>
                </a:lnTo>
                <a:lnTo>
                  <a:pt x="2781300" y="1323975"/>
                </a:lnTo>
                <a:lnTo>
                  <a:pt x="2819400" y="1228725"/>
                </a:lnTo>
                <a:lnTo>
                  <a:pt x="2857500" y="1143000"/>
                </a:lnTo>
              </a:path>
            </a:pathLst>
          </a:custGeom>
          <a:noFill/>
          <a:ln w="38100" cap="rnd">
            <a:solidFill>
              <a:srgbClr val="D64545"/>
            </a:solidFill>
          </a:ln>
        </p:spPr>
        <p:txBody>
          <a:bodyPr/>
          <a:p/>
        </p:txBody>
      </p:sp>
      <p:sp>
        <p:nvSpPr>
          <p:cNvPr id="30" name="text30"/>
          <p:cNvSpPr txBox="1"/>
          <p:nvPr/>
        </p:nvSpPr>
        <p:spPr>
          <a:xfrm>
            <a:off x="7239000" y="1428750"/>
            <a:ext cx="40005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000" b="1" i="0">
                <a:solidFill>
                  <a:srgbClr val="A07520"/>
                </a:solidFill>
                <a:latin typeface="Calibri"/>
                <a:ea typeface="Microsoft YaHei"/>
              </a:rPr>
              <a:t>连成光滑曲线：一条正弦波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环节二 · 画法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二、五点作图法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关键五点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在一个周期 [0, 2π] 内取五个点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(0,0)、(π/2,1)、(π,0)、(3π/2,−1)、(2π,0)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‘零—顶—零—谷—零’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描点后用光滑曲线连接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向左右平移复制即得整条曲线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五点作图法（点击逐点）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2571750" y="3429000"/>
            <a:ext cx="3524250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2857500" y="2047875"/>
            <a:ext cx="9525" cy="2762250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ell14"/>
          <p:cNvSpPr/>
          <p:nvPr/>
        </p:nvSpPr>
        <p:spPr>
          <a:xfrm>
            <a:off x="2790825" y="3362325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2628900" y="35242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6B6B6B"/>
                </a:solidFill>
                <a:latin typeface="Calibri"/>
                <a:ea typeface="Microsoft YaHei"/>
              </a:rPr>
              <a:t>0</a:t>
            </a:r>
          </a:p>
        </p:txBody>
      </p:sp>
      <p:sp>
        <p:nvSpPr>
          <p:cNvPr id="16" name="ell16"/>
          <p:cNvSpPr/>
          <p:nvPr/>
        </p:nvSpPr>
        <p:spPr>
          <a:xfrm>
            <a:off x="3505200" y="2219325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3343275" y="20002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6B6B6B"/>
                </a:solidFill>
                <a:latin typeface="Calibri"/>
                <a:ea typeface="Microsoft YaHei"/>
              </a:rPr>
              <a:t>π/2</a:t>
            </a:r>
          </a:p>
        </p:txBody>
      </p:sp>
      <p:sp>
        <p:nvSpPr>
          <p:cNvPr id="18" name="ell18"/>
          <p:cNvSpPr/>
          <p:nvPr/>
        </p:nvSpPr>
        <p:spPr>
          <a:xfrm>
            <a:off x="4219575" y="3362325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4057650" y="35242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6B6B6B"/>
                </a:solidFill>
                <a:latin typeface="Calibri"/>
                <a:ea typeface="Microsoft YaHei"/>
              </a:rPr>
              <a:t>π</a:t>
            </a:r>
          </a:p>
        </p:txBody>
      </p:sp>
      <p:sp>
        <p:nvSpPr>
          <p:cNvPr id="20" name="ell20"/>
          <p:cNvSpPr/>
          <p:nvPr/>
        </p:nvSpPr>
        <p:spPr>
          <a:xfrm>
            <a:off x="4933950" y="4505325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21" name="text21"/>
          <p:cNvSpPr txBox="1"/>
          <p:nvPr/>
        </p:nvSpPr>
        <p:spPr>
          <a:xfrm>
            <a:off x="4772025" y="35242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6B6B6B"/>
                </a:solidFill>
                <a:latin typeface="Calibri"/>
                <a:ea typeface="Microsoft YaHei"/>
              </a:rPr>
              <a:t>3π/2</a:t>
            </a:r>
          </a:p>
        </p:txBody>
      </p:sp>
      <p:sp>
        <p:nvSpPr>
          <p:cNvPr id="22" name="ell22"/>
          <p:cNvSpPr/>
          <p:nvPr/>
        </p:nvSpPr>
        <p:spPr>
          <a:xfrm>
            <a:off x="5648325" y="3362325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23" name="text23"/>
          <p:cNvSpPr txBox="1"/>
          <p:nvPr/>
        </p:nvSpPr>
        <p:spPr>
          <a:xfrm>
            <a:off x="5486400" y="35242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6B6B6B"/>
                </a:solidFill>
                <a:latin typeface="Calibri"/>
                <a:ea typeface="Microsoft YaHei"/>
              </a:rPr>
              <a:t>2π</a:t>
            </a:r>
          </a:p>
        </p:txBody>
      </p:sp>
      <p:sp>
        <p:nvSpPr>
          <p:cNvPr id="24" name="poly24"/>
          <p:cNvSpPr/>
          <p:nvPr/>
        </p:nvSpPr>
        <p:spPr>
          <a:xfrm>
            <a:off x="2857500" y="2286000"/>
            <a:ext cx="2857500" cy="2286000"/>
          </a:xfrm>
          <a:custGeom>
            <a:avLst/>
            <a:gdLst/>
            <a:ahLst/>
            <a:cxnLst/>
            <a:rect l="0" t="0" r="2857500" b="2286000"/>
            <a:pathLst>
              <a:path w="2857500" h="2286000">
                <a:moveTo>
                  <a:pt x="0" y="1143000"/>
                </a:moveTo>
                <a:lnTo>
                  <a:pt x="38100" y="1057275"/>
                </a:lnTo>
                <a:lnTo>
                  <a:pt x="76200" y="962025"/>
                </a:lnTo>
                <a:lnTo>
                  <a:pt x="104775" y="876300"/>
                </a:lnTo>
                <a:lnTo>
                  <a:pt x="142875" y="790575"/>
                </a:lnTo>
                <a:lnTo>
                  <a:pt x="180975" y="704850"/>
                </a:lnTo>
                <a:lnTo>
                  <a:pt x="209550" y="628650"/>
                </a:lnTo>
                <a:lnTo>
                  <a:pt x="247650" y="542925"/>
                </a:lnTo>
                <a:lnTo>
                  <a:pt x="285750" y="466725"/>
                </a:lnTo>
                <a:lnTo>
                  <a:pt x="323850" y="400050"/>
                </a:lnTo>
                <a:lnTo>
                  <a:pt x="361950" y="333375"/>
                </a:lnTo>
                <a:lnTo>
                  <a:pt x="390525" y="276225"/>
                </a:lnTo>
                <a:lnTo>
                  <a:pt x="428625" y="219075"/>
                </a:lnTo>
                <a:lnTo>
                  <a:pt x="466725" y="171450"/>
                </a:lnTo>
                <a:lnTo>
                  <a:pt x="495300" y="123825"/>
                </a:lnTo>
                <a:lnTo>
                  <a:pt x="533400" y="85725"/>
                </a:lnTo>
                <a:lnTo>
                  <a:pt x="571500" y="57150"/>
                </a:lnTo>
                <a:lnTo>
                  <a:pt x="609600" y="28575"/>
                </a:lnTo>
                <a:lnTo>
                  <a:pt x="647700" y="9525"/>
                </a:lnTo>
                <a:lnTo>
                  <a:pt x="676275" y="0"/>
                </a:lnTo>
                <a:lnTo>
                  <a:pt x="714375" y="0"/>
                </a:lnTo>
                <a:lnTo>
                  <a:pt x="752475" y="0"/>
                </a:lnTo>
                <a:lnTo>
                  <a:pt x="781050" y="9525"/>
                </a:lnTo>
                <a:lnTo>
                  <a:pt x="819150" y="28575"/>
                </a:lnTo>
                <a:lnTo>
                  <a:pt x="857250" y="57150"/>
                </a:lnTo>
                <a:lnTo>
                  <a:pt x="895350" y="85725"/>
                </a:lnTo>
                <a:lnTo>
                  <a:pt x="933450" y="123825"/>
                </a:lnTo>
                <a:lnTo>
                  <a:pt x="962025" y="171450"/>
                </a:lnTo>
                <a:lnTo>
                  <a:pt x="1000125" y="219075"/>
                </a:lnTo>
                <a:lnTo>
                  <a:pt x="1038225" y="276225"/>
                </a:lnTo>
                <a:lnTo>
                  <a:pt x="1066800" y="333375"/>
                </a:lnTo>
                <a:lnTo>
                  <a:pt x="1104900" y="400050"/>
                </a:lnTo>
                <a:lnTo>
                  <a:pt x="1143000" y="466725"/>
                </a:lnTo>
                <a:lnTo>
                  <a:pt x="1181100" y="542925"/>
                </a:lnTo>
                <a:lnTo>
                  <a:pt x="1219200" y="628650"/>
                </a:lnTo>
                <a:lnTo>
                  <a:pt x="1247775" y="704850"/>
                </a:lnTo>
                <a:lnTo>
                  <a:pt x="1285875" y="790575"/>
                </a:lnTo>
                <a:lnTo>
                  <a:pt x="1323975" y="876300"/>
                </a:lnTo>
                <a:lnTo>
                  <a:pt x="1352550" y="962025"/>
                </a:lnTo>
                <a:lnTo>
                  <a:pt x="1390650" y="1057275"/>
                </a:lnTo>
                <a:lnTo>
                  <a:pt x="1428750" y="1143000"/>
                </a:lnTo>
                <a:lnTo>
                  <a:pt x="1466850" y="1228725"/>
                </a:lnTo>
                <a:lnTo>
                  <a:pt x="1504950" y="1323975"/>
                </a:lnTo>
                <a:lnTo>
                  <a:pt x="1533525" y="1409700"/>
                </a:lnTo>
                <a:lnTo>
                  <a:pt x="1571625" y="1495425"/>
                </a:lnTo>
                <a:lnTo>
                  <a:pt x="1609725" y="1581150"/>
                </a:lnTo>
                <a:lnTo>
                  <a:pt x="1638300" y="1657350"/>
                </a:lnTo>
                <a:lnTo>
                  <a:pt x="1676400" y="1743075"/>
                </a:lnTo>
                <a:lnTo>
                  <a:pt x="1714500" y="1819275"/>
                </a:lnTo>
                <a:lnTo>
                  <a:pt x="1752600" y="1885950"/>
                </a:lnTo>
                <a:lnTo>
                  <a:pt x="1790700" y="1952625"/>
                </a:lnTo>
                <a:lnTo>
                  <a:pt x="1819275" y="2009775"/>
                </a:lnTo>
                <a:lnTo>
                  <a:pt x="1857375" y="2066925"/>
                </a:lnTo>
                <a:lnTo>
                  <a:pt x="1895475" y="2114550"/>
                </a:lnTo>
                <a:lnTo>
                  <a:pt x="1924050" y="2162175"/>
                </a:lnTo>
                <a:lnTo>
                  <a:pt x="1962150" y="2200275"/>
                </a:lnTo>
                <a:lnTo>
                  <a:pt x="2000250" y="2228850"/>
                </a:lnTo>
                <a:lnTo>
                  <a:pt x="2038350" y="2257425"/>
                </a:lnTo>
                <a:lnTo>
                  <a:pt x="2076450" y="2276475"/>
                </a:lnTo>
                <a:lnTo>
                  <a:pt x="2105025" y="2286000"/>
                </a:lnTo>
                <a:lnTo>
                  <a:pt x="2143125" y="2286000"/>
                </a:lnTo>
                <a:lnTo>
                  <a:pt x="2181225" y="2286000"/>
                </a:lnTo>
                <a:lnTo>
                  <a:pt x="2209800" y="2276475"/>
                </a:lnTo>
                <a:lnTo>
                  <a:pt x="2247900" y="2257425"/>
                </a:lnTo>
                <a:lnTo>
                  <a:pt x="2286000" y="2228850"/>
                </a:lnTo>
                <a:lnTo>
                  <a:pt x="2324100" y="2200275"/>
                </a:lnTo>
                <a:lnTo>
                  <a:pt x="2362200" y="2162175"/>
                </a:lnTo>
                <a:lnTo>
                  <a:pt x="2390775" y="2114550"/>
                </a:lnTo>
                <a:lnTo>
                  <a:pt x="2428875" y="2066925"/>
                </a:lnTo>
                <a:lnTo>
                  <a:pt x="2466975" y="2009775"/>
                </a:lnTo>
                <a:lnTo>
                  <a:pt x="2495550" y="1952625"/>
                </a:lnTo>
                <a:lnTo>
                  <a:pt x="2533650" y="1885950"/>
                </a:lnTo>
                <a:lnTo>
                  <a:pt x="2571750" y="1819275"/>
                </a:lnTo>
                <a:lnTo>
                  <a:pt x="2609850" y="1743075"/>
                </a:lnTo>
                <a:lnTo>
                  <a:pt x="2647950" y="1657350"/>
                </a:lnTo>
                <a:lnTo>
                  <a:pt x="2676525" y="1581150"/>
                </a:lnTo>
                <a:lnTo>
                  <a:pt x="2714625" y="1495425"/>
                </a:lnTo>
                <a:lnTo>
                  <a:pt x="2752725" y="1409700"/>
                </a:lnTo>
                <a:lnTo>
                  <a:pt x="2781300" y="1323975"/>
                </a:lnTo>
                <a:lnTo>
                  <a:pt x="2819400" y="1228725"/>
                </a:lnTo>
                <a:lnTo>
                  <a:pt x="2857500" y="114300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25" name="text25"/>
          <p:cNvSpPr txBox="1"/>
          <p:nvPr/>
        </p:nvSpPr>
        <p:spPr>
          <a:xfrm>
            <a:off x="2952750" y="2057400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1">
                <a:solidFill>
                  <a:srgbClr val="1F1F1F"/>
                </a:solidFill>
                <a:latin typeface="Calibri"/>
                <a:ea typeface="Microsoft YaHei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环节三 · 性质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三、正弦函数的性质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看图说性质（一）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定义域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全体实数 R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值域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[−1, 1]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周期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T = 2π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周期性：每隔 2π 重复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1524000" y="3429000"/>
            <a:ext cx="5905500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1714500" y="2333625"/>
            <a:ext cx="9525" cy="2190750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poly14"/>
          <p:cNvSpPr/>
          <p:nvPr/>
        </p:nvSpPr>
        <p:spPr>
          <a:xfrm>
            <a:off x="1714500" y="2524125"/>
            <a:ext cx="1809750" cy="1809750"/>
          </a:xfrm>
          <a:custGeom>
            <a:avLst/>
            <a:gdLst/>
            <a:ahLst/>
            <a:cxnLst/>
            <a:rect l="0" t="0" r="1809750" b="1809750"/>
            <a:pathLst>
              <a:path w="1809750" h="1809750">
                <a:moveTo>
                  <a:pt x="0" y="904875"/>
                </a:moveTo>
                <a:lnTo>
                  <a:pt x="28575" y="809625"/>
                </a:lnTo>
                <a:lnTo>
                  <a:pt x="57150" y="714375"/>
                </a:lnTo>
                <a:lnTo>
                  <a:pt x="95250" y="628650"/>
                </a:lnTo>
                <a:lnTo>
                  <a:pt x="123825" y="533400"/>
                </a:lnTo>
                <a:lnTo>
                  <a:pt x="152400" y="447675"/>
                </a:lnTo>
                <a:lnTo>
                  <a:pt x="180975" y="371475"/>
                </a:lnTo>
                <a:lnTo>
                  <a:pt x="209550" y="295275"/>
                </a:lnTo>
                <a:lnTo>
                  <a:pt x="238125" y="228600"/>
                </a:lnTo>
                <a:lnTo>
                  <a:pt x="266700" y="171450"/>
                </a:lnTo>
                <a:lnTo>
                  <a:pt x="304800" y="123825"/>
                </a:lnTo>
                <a:lnTo>
                  <a:pt x="333375" y="76200"/>
                </a:lnTo>
                <a:lnTo>
                  <a:pt x="361950" y="47625"/>
                </a:lnTo>
                <a:lnTo>
                  <a:pt x="390525" y="19050"/>
                </a:lnTo>
                <a:lnTo>
                  <a:pt x="419100" y="9525"/>
                </a:lnTo>
                <a:lnTo>
                  <a:pt x="457200" y="0"/>
                </a:lnTo>
                <a:lnTo>
                  <a:pt x="485775" y="9525"/>
                </a:lnTo>
                <a:lnTo>
                  <a:pt x="514350" y="19050"/>
                </a:lnTo>
                <a:lnTo>
                  <a:pt x="542925" y="47625"/>
                </a:lnTo>
                <a:lnTo>
                  <a:pt x="571500" y="76200"/>
                </a:lnTo>
                <a:lnTo>
                  <a:pt x="600075" y="123825"/>
                </a:lnTo>
                <a:lnTo>
                  <a:pt x="628650" y="171450"/>
                </a:lnTo>
                <a:lnTo>
                  <a:pt x="666750" y="228600"/>
                </a:lnTo>
                <a:lnTo>
                  <a:pt x="695325" y="295275"/>
                </a:lnTo>
                <a:lnTo>
                  <a:pt x="723900" y="371475"/>
                </a:lnTo>
                <a:lnTo>
                  <a:pt x="752475" y="447675"/>
                </a:lnTo>
                <a:lnTo>
                  <a:pt x="781050" y="533400"/>
                </a:lnTo>
                <a:lnTo>
                  <a:pt x="819150" y="628650"/>
                </a:lnTo>
                <a:lnTo>
                  <a:pt x="847725" y="714375"/>
                </a:lnTo>
                <a:lnTo>
                  <a:pt x="876300" y="809625"/>
                </a:lnTo>
                <a:lnTo>
                  <a:pt x="904875" y="904875"/>
                </a:lnTo>
                <a:lnTo>
                  <a:pt x="933450" y="1000125"/>
                </a:lnTo>
                <a:lnTo>
                  <a:pt x="962025" y="1095375"/>
                </a:lnTo>
                <a:lnTo>
                  <a:pt x="990600" y="1181100"/>
                </a:lnTo>
                <a:lnTo>
                  <a:pt x="1028700" y="1276350"/>
                </a:lnTo>
                <a:lnTo>
                  <a:pt x="1057275" y="1362075"/>
                </a:lnTo>
                <a:lnTo>
                  <a:pt x="1085850" y="1438275"/>
                </a:lnTo>
                <a:lnTo>
                  <a:pt x="1114425" y="1514475"/>
                </a:lnTo>
                <a:lnTo>
                  <a:pt x="1143000" y="1581150"/>
                </a:lnTo>
                <a:lnTo>
                  <a:pt x="1181100" y="1638300"/>
                </a:lnTo>
                <a:lnTo>
                  <a:pt x="1209675" y="1685925"/>
                </a:lnTo>
                <a:lnTo>
                  <a:pt x="1238250" y="1733550"/>
                </a:lnTo>
                <a:lnTo>
                  <a:pt x="1266825" y="1762125"/>
                </a:lnTo>
                <a:lnTo>
                  <a:pt x="1295400" y="1790700"/>
                </a:lnTo>
                <a:lnTo>
                  <a:pt x="1323975" y="1800225"/>
                </a:lnTo>
                <a:lnTo>
                  <a:pt x="1352550" y="1809750"/>
                </a:lnTo>
                <a:lnTo>
                  <a:pt x="1390650" y="1800225"/>
                </a:lnTo>
                <a:lnTo>
                  <a:pt x="1419225" y="1790700"/>
                </a:lnTo>
                <a:lnTo>
                  <a:pt x="1447800" y="1762125"/>
                </a:lnTo>
                <a:lnTo>
                  <a:pt x="1476375" y="1733550"/>
                </a:lnTo>
                <a:lnTo>
                  <a:pt x="1504950" y="1685925"/>
                </a:lnTo>
                <a:lnTo>
                  <a:pt x="1543050" y="1638300"/>
                </a:lnTo>
                <a:lnTo>
                  <a:pt x="1571625" y="1581150"/>
                </a:lnTo>
                <a:lnTo>
                  <a:pt x="1600200" y="1514475"/>
                </a:lnTo>
                <a:lnTo>
                  <a:pt x="1628775" y="1438275"/>
                </a:lnTo>
                <a:lnTo>
                  <a:pt x="1657350" y="1362075"/>
                </a:lnTo>
                <a:lnTo>
                  <a:pt x="1685925" y="1276350"/>
                </a:lnTo>
                <a:lnTo>
                  <a:pt x="1714500" y="1181100"/>
                </a:lnTo>
                <a:lnTo>
                  <a:pt x="1752600" y="1095375"/>
                </a:lnTo>
                <a:lnTo>
                  <a:pt x="1781175" y="1000125"/>
                </a:lnTo>
                <a:lnTo>
                  <a:pt x="1809750" y="904875"/>
                </a:lnTo>
              </a:path>
            </a:pathLst>
          </a:custGeom>
          <a:noFill/>
          <a:ln w="38100" cap="rnd">
            <a:solidFill>
              <a:srgbClr val="D64545"/>
            </a:solidFill>
          </a:ln>
        </p:spPr>
        <p:txBody>
          <a:bodyPr/>
          <a:p/>
        </p:txBody>
      </p:sp>
      <p:sp>
        <p:nvSpPr>
          <p:cNvPr id="15" name="poly15"/>
          <p:cNvSpPr/>
          <p:nvPr/>
        </p:nvSpPr>
        <p:spPr>
          <a:xfrm>
            <a:off x="3524250" y="2524125"/>
            <a:ext cx="1809750" cy="1809750"/>
          </a:xfrm>
          <a:custGeom>
            <a:avLst/>
            <a:gdLst/>
            <a:ahLst/>
            <a:cxnLst/>
            <a:rect l="0" t="0" r="1809750" b="1809750"/>
            <a:pathLst>
              <a:path w="1809750" h="1809750">
                <a:moveTo>
                  <a:pt x="0" y="904875"/>
                </a:moveTo>
                <a:lnTo>
                  <a:pt x="28575" y="809625"/>
                </a:lnTo>
                <a:lnTo>
                  <a:pt x="57150" y="714375"/>
                </a:lnTo>
                <a:lnTo>
                  <a:pt x="95250" y="628650"/>
                </a:lnTo>
                <a:lnTo>
                  <a:pt x="123825" y="533400"/>
                </a:lnTo>
                <a:lnTo>
                  <a:pt x="152400" y="447675"/>
                </a:lnTo>
                <a:lnTo>
                  <a:pt x="180975" y="371475"/>
                </a:lnTo>
                <a:lnTo>
                  <a:pt x="209550" y="295275"/>
                </a:lnTo>
                <a:lnTo>
                  <a:pt x="238125" y="228600"/>
                </a:lnTo>
                <a:lnTo>
                  <a:pt x="266700" y="171450"/>
                </a:lnTo>
                <a:lnTo>
                  <a:pt x="304800" y="123825"/>
                </a:lnTo>
                <a:lnTo>
                  <a:pt x="333375" y="76200"/>
                </a:lnTo>
                <a:lnTo>
                  <a:pt x="361950" y="47625"/>
                </a:lnTo>
                <a:lnTo>
                  <a:pt x="390525" y="19050"/>
                </a:lnTo>
                <a:lnTo>
                  <a:pt x="419100" y="9525"/>
                </a:lnTo>
                <a:lnTo>
                  <a:pt x="457200" y="0"/>
                </a:lnTo>
                <a:lnTo>
                  <a:pt x="485775" y="9525"/>
                </a:lnTo>
                <a:lnTo>
                  <a:pt x="514350" y="19050"/>
                </a:lnTo>
                <a:lnTo>
                  <a:pt x="542925" y="47625"/>
                </a:lnTo>
                <a:lnTo>
                  <a:pt x="571500" y="76200"/>
                </a:lnTo>
                <a:lnTo>
                  <a:pt x="600075" y="123825"/>
                </a:lnTo>
                <a:lnTo>
                  <a:pt x="628650" y="171450"/>
                </a:lnTo>
                <a:lnTo>
                  <a:pt x="666750" y="228600"/>
                </a:lnTo>
                <a:lnTo>
                  <a:pt x="695325" y="295275"/>
                </a:lnTo>
                <a:lnTo>
                  <a:pt x="723900" y="371475"/>
                </a:lnTo>
                <a:lnTo>
                  <a:pt x="752475" y="447675"/>
                </a:lnTo>
                <a:lnTo>
                  <a:pt x="781050" y="533400"/>
                </a:lnTo>
                <a:lnTo>
                  <a:pt x="819150" y="628650"/>
                </a:lnTo>
                <a:lnTo>
                  <a:pt x="847725" y="714375"/>
                </a:lnTo>
                <a:lnTo>
                  <a:pt x="876300" y="809625"/>
                </a:lnTo>
                <a:lnTo>
                  <a:pt x="904875" y="904875"/>
                </a:lnTo>
                <a:lnTo>
                  <a:pt x="933450" y="1000125"/>
                </a:lnTo>
                <a:lnTo>
                  <a:pt x="962025" y="1095375"/>
                </a:lnTo>
                <a:lnTo>
                  <a:pt x="990600" y="1181100"/>
                </a:lnTo>
                <a:lnTo>
                  <a:pt x="1028700" y="1276350"/>
                </a:lnTo>
                <a:lnTo>
                  <a:pt x="1057275" y="1352550"/>
                </a:lnTo>
                <a:lnTo>
                  <a:pt x="1085850" y="1438275"/>
                </a:lnTo>
                <a:lnTo>
                  <a:pt x="1114425" y="1514475"/>
                </a:lnTo>
                <a:lnTo>
                  <a:pt x="1143000" y="1581150"/>
                </a:lnTo>
                <a:lnTo>
                  <a:pt x="1181100" y="1638300"/>
                </a:lnTo>
                <a:lnTo>
                  <a:pt x="1209675" y="1685925"/>
                </a:lnTo>
                <a:lnTo>
                  <a:pt x="1238250" y="1733550"/>
                </a:lnTo>
                <a:lnTo>
                  <a:pt x="1266825" y="1762125"/>
                </a:lnTo>
                <a:lnTo>
                  <a:pt x="1295400" y="1790700"/>
                </a:lnTo>
                <a:lnTo>
                  <a:pt x="1323975" y="1800225"/>
                </a:lnTo>
                <a:lnTo>
                  <a:pt x="1352550" y="1809750"/>
                </a:lnTo>
                <a:lnTo>
                  <a:pt x="1390650" y="1800225"/>
                </a:lnTo>
                <a:lnTo>
                  <a:pt x="1419225" y="1790700"/>
                </a:lnTo>
                <a:lnTo>
                  <a:pt x="1447800" y="1762125"/>
                </a:lnTo>
                <a:lnTo>
                  <a:pt x="1476375" y="1733550"/>
                </a:lnTo>
                <a:lnTo>
                  <a:pt x="1504950" y="1685925"/>
                </a:lnTo>
                <a:lnTo>
                  <a:pt x="1543050" y="1638300"/>
                </a:lnTo>
                <a:lnTo>
                  <a:pt x="1571625" y="1581150"/>
                </a:lnTo>
                <a:lnTo>
                  <a:pt x="1600200" y="1514475"/>
                </a:lnTo>
                <a:lnTo>
                  <a:pt x="1628775" y="1438275"/>
                </a:lnTo>
                <a:lnTo>
                  <a:pt x="1657350" y="1362075"/>
                </a:lnTo>
                <a:lnTo>
                  <a:pt x="1685925" y="1276350"/>
                </a:lnTo>
                <a:lnTo>
                  <a:pt x="1714500" y="1181100"/>
                </a:lnTo>
                <a:lnTo>
                  <a:pt x="1752600" y="1095375"/>
                </a:lnTo>
                <a:lnTo>
                  <a:pt x="1781175" y="1000125"/>
                </a:lnTo>
                <a:lnTo>
                  <a:pt x="1809750" y="904875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6" name="poly16"/>
          <p:cNvSpPr/>
          <p:nvPr/>
        </p:nvSpPr>
        <p:spPr>
          <a:xfrm>
            <a:off x="5334000" y="2524125"/>
            <a:ext cx="1809750" cy="1809750"/>
          </a:xfrm>
          <a:custGeom>
            <a:avLst/>
            <a:gdLst/>
            <a:ahLst/>
            <a:cxnLst/>
            <a:rect l="0" t="0" r="1809750" b="1809750"/>
            <a:pathLst>
              <a:path w="1809750" h="1809750">
                <a:moveTo>
                  <a:pt x="0" y="904875"/>
                </a:moveTo>
                <a:lnTo>
                  <a:pt x="28575" y="809625"/>
                </a:lnTo>
                <a:lnTo>
                  <a:pt x="57150" y="714375"/>
                </a:lnTo>
                <a:lnTo>
                  <a:pt x="95250" y="628650"/>
                </a:lnTo>
                <a:lnTo>
                  <a:pt x="123825" y="533400"/>
                </a:lnTo>
                <a:lnTo>
                  <a:pt x="152400" y="457200"/>
                </a:lnTo>
                <a:lnTo>
                  <a:pt x="180975" y="371475"/>
                </a:lnTo>
                <a:lnTo>
                  <a:pt x="209550" y="295275"/>
                </a:lnTo>
                <a:lnTo>
                  <a:pt x="238125" y="228600"/>
                </a:lnTo>
                <a:lnTo>
                  <a:pt x="266700" y="171450"/>
                </a:lnTo>
                <a:lnTo>
                  <a:pt x="304800" y="123825"/>
                </a:lnTo>
                <a:lnTo>
                  <a:pt x="333375" y="76200"/>
                </a:lnTo>
                <a:lnTo>
                  <a:pt x="361950" y="47625"/>
                </a:lnTo>
                <a:lnTo>
                  <a:pt x="390525" y="19050"/>
                </a:lnTo>
                <a:lnTo>
                  <a:pt x="419100" y="9525"/>
                </a:lnTo>
                <a:lnTo>
                  <a:pt x="457200" y="0"/>
                </a:lnTo>
                <a:lnTo>
                  <a:pt x="485775" y="9525"/>
                </a:lnTo>
                <a:lnTo>
                  <a:pt x="514350" y="19050"/>
                </a:lnTo>
                <a:lnTo>
                  <a:pt x="542925" y="47625"/>
                </a:lnTo>
                <a:lnTo>
                  <a:pt x="571500" y="76200"/>
                </a:lnTo>
                <a:lnTo>
                  <a:pt x="600075" y="123825"/>
                </a:lnTo>
                <a:lnTo>
                  <a:pt x="628650" y="171450"/>
                </a:lnTo>
                <a:lnTo>
                  <a:pt x="666750" y="228600"/>
                </a:lnTo>
                <a:lnTo>
                  <a:pt x="695325" y="295275"/>
                </a:lnTo>
                <a:lnTo>
                  <a:pt x="723900" y="371475"/>
                </a:lnTo>
                <a:lnTo>
                  <a:pt x="752475" y="447675"/>
                </a:lnTo>
                <a:lnTo>
                  <a:pt x="781050" y="533400"/>
                </a:lnTo>
                <a:lnTo>
                  <a:pt x="819150" y="628650"/>
                </a:lnTo>
                <a:lnTo>
                  <a:pt x="847725" y="714375"/>
                </a:lnTo>
                <a:lnTo>
                  <a:pt x="876300" y="809625"/>
                </a:lnTo>
                <a:lnTo>
                  <a:pt x="904875" y="904875"/>
                </a:lnTo>
                <a:lnTo>
                  <a:pt x="933450" y="1000125"/>
                </a:lnTo>
                <a:lnTo>
                  <a:pt x="962025" y="1095375"/>
                </a:lnTo>
                <a:lnTo>
                  <a:pt x="990600" y="1181100"/>
                </a:lnTo>
                <a:lnTo>
                  <a:pt x="1028700" y="1276350"/>
                </a:lnTo>
                <a:lnTo>
                  <a:pt x="1057275" y="1352550"/>
                </a:lnTo>
                <a:lnTo>
                  <a:pt x="1085850" y="1438275"/>
                </a:lnTo>
                <a:lnTo>
                  <a:pt x="1114425" y="1514475"/>
                </a:lnTo>
                <a:lnTo>
                  <a:pt x="1143000" y="1581150"/>
                </a:lnTo>
                <a:lnTo>
                  <a:pt x="1181100" y="1638300"/>
                </a:lnTo>
                <a:lnTo>
                  <a:pt x="1209675" y="1685925"/>
                </a:lnTo>
                <a:lnTo>
                  <a:pt x="1238250" y="1733550"/>
                </a:lnTo>
                <a:lnTo>
                  <a:pt x="1266825" y="1762125"/>
                </a:lnTo>
                <a:lnTo>
                  <a:pt x="1295400" y="1790700"/>
                </a:lnTo>
                <a:lnTo>
                  <a:pt x="1323975" y="1800225"/>
                </a:lnTo>
                <a:lnTo>
                  <a:pt x="1352550" y="1809750"/>
                </a:lnTo>
                <a:lnTo>
                  <a:pt x="1390650" y="1800225"/>
                </a:lnTo>
                <a:lnTo>
                  <a:pt x="1419225" y="1790700"/>
                </a:lnTo>
                <a:lnTo>
                  <a:pt x="1447800" y="1762125"/>
                </a:lnTo>
                <a:lnTo>
                  <a:pt x="1476375" y="1733550"/>
                </a:lnTo>
                <a:lnTo>
                  <a:pt x="1504950" y="1685925"/>
                </a:lnTo>
                <a:lnTo>
                  <a:pt x="1543050" y="1638300"/>
                </a:lnTo>
                <a:lnTo>
                  <a:pt x="1571625" y="1581150"/>
                </a:lnTo>
                <a:lnTo>
                  <a:pt x="1600200" y="1514475"/>
                </a:lnTo>
                <a:lnTo>
                  <a:pt x="1628775" y="1438275"/>
                </a:lnTo>
                <a:lnTo>
                  <a:pt x="1657350" y="1362075"/>
                </a:lnTo>
                <a:lnTo>
                  <a:pt x="1685925" y="1276350"/>
                </a:lnTo>
                <a:lnTo>
                  <a:pt x="1714500" y="1181100"/>
                </a:lnTo>
                <a:lnTo>
                  <a:pt x="1752600" y="1095375"/>
                </a:lnTo>
                <a:lnTo>
                  <a:pt x="1781175" y="1000125"/>
                </a:lnTo>
                <a:lnTo>
                  <a:pt x="1809750" y="904875"/>
                </a:lnTo>
              </a:path>
            </a:pathLst>
          </a:custGeom>
          <a:noFill/>
          <a:ln w="38100" cap="rnd">
            <a:solidFill>
              <a:srgbClr val="2E7D32"/>
            </a:solidFill>
          </a:ln>
        </p:spPr>
        <p:txBody>
          <a:bodyPr/>
          <a:p/>
        </p:txBody>
      </p:sp>
      <p:cxnSp>
        <p:nvCxnSpPr>
          <p:cNvPr id="17" name="line17"/>
          <p:cNvCxnSpPr/>
          <p:nvPr/>
        </p:nvCxnSpPr>
        <p:spPr>
          <a:xfrm>
            <a:off x="3524250" y="3371850"/>
            <a:ext cx="9525" cy="114300"/>
          </a:xfrm>
          <a:prstGeom prst="line">
            <a:avLst/>
          </a:prstGeom>
          <a:ln w="19050" cap="rnd">
            <a:solidFill>
              <a:srgbClr val="6B6B6B"/>
            </a:solidFill>
          </a:ln>
        </p:spPr>
      </p:cxnSp>
      <p:sp>
        <p:nvSpPr>
          <p:cNvPr id="18" name="text18"/>
          <p:cNvSpPr txBox="1"/>
          <p:nvPr/>
        </p:nvSpPr>
        <p:spPr>
          <a:xfrm>
            <a:off x="3333750" y="352425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2π</a:t>
            </a:r>
          </a:p>
        </p:txBody>
      </p:sp>
      <p:cxnSp>
        <p:nvCxnSpPr>
          <p:cNvPr id="19" name="line19"/>
          <p:cNvCxnSpPr/>
          <p:nvPr/>
        </p:nvCxnSpPr>
        <p:spPr>
          <a:xfrm>
            <a:off x="5334000" y="3371850"/>
            <a:ext cx="9525" cy="114300"/>
          </a:xfrm>
          <a:prstGeom prst="line">
            <a:avLst/>
          </a:prstGeom>
          <a:ln w="19050" cap="rnd">
            <a:solidFill>
              <a:srgbClr val="6B6B6B"/>
            </a:solidFill>
          </a:ln>
        </p:spPr>
      </p:cxnSp>
      <p:sp>
        <p:nvSpPr>
          <p:cNvPr id="20" name="text20"/>
          <p:cNvSpPr txBox="1"/>
          <p:nvPr/>
        </p:nvSpPr>
        <p:spPr>
          <a:xfrm>
            <a:off x="5143500" y="352425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4π</a:t>
            </a:r>
          </a:p>
        </p:txBody>
      </p:sp>
      <p:cxnSp>
        <p:nvCxnSpPr>
          <p:cNvPr id="21" name="line21"/>
          <p:cNvCxnSpPr/>
          <p:nvPr/>
        </p:nvCxnSpPr>
        <p:spPr>
          <a:xfrm>
            <a:off x="7143750" y="3371850"/>
            <a:ext cx="9525" cy="114300"/>
          </a:xfrm>
          <a:prstGeom prst="line">
            <a:avLst/>
          </a:prstGeom>
          <a:ln w="19050" cap="rnd">
            <a:solidFill>
              <a:srgbClr val="6B6B6B"/>
            </a:solidFill>
          </a:ln>
        </p:spPr>
      </p:cxnSp>
      <p:sp>
        <p:nvSpPr>
          <p:cNvPr id="22" name="text22"/>
          <p:cNvSpPr txBox="1"/>
          <p:nvPr/>
        </p:nvSpPr>
        <p:spPr>
          <a:xfrm>
            <a:off x="6953250" y="352425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6π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7239000" y="1428750"/>
            <a:ext cx="4000500" cy="76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200" b="1" i="0">
                <a:solidFill>
                  <a:srgbClr val="A07520"/>
                </a:solidFill>
                <a:latin typeface="Calibri"/>
                <a:ea typeface="Microsoft YaHei"/>
              </a:rPr>
              <a:t>f(x+2π)=f(x)
最小正周期 T=2π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看图说性质（二）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奇偶性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sin(−x)=−sinx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奇函数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图象关于原点对称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单调性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增区间 [−π/2+2kπ, π/2+2kπ]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减区间 [π/2+2kπ, 3π/2+2kπ]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k∈Z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单调区间（一个周期内）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2095500" y="3524250"/>
            <a:ext cx="3524250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2476500" y="2286000"/>
            <a:ext cx="9525" cy="2476500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poly14"/>
          <p:cNvSpPr/>
          <p:nvPr/>
        </p:nvSpPr>
        <p:spPr>
          <a:xfrm>
            <a:off x="1762125" y="2476500"/>
            <a:ext cx="1428750" cy="2095500"/>
          </a:xfrm>
          <a:custGeom>
            <a:avLst/>
            <a:gdLst/>
            <a:ahLst/>
            <a:cxnLst/>
            <a:rect l="0" t="0" r="1428750" b="2095500"/>
            <a:pathLst>
              <a:path w="1428750" h="2095500">
                <a:moveTo>
                  <a:pt x="0" y="2095500"/>
                </a:moveTo>
                <a:lnTo>
                  <a:pt x="28575" y="2095500"/>
                </a:lnTo>
                <a:lnTo>
                  <a:pt x="47625" y="2085975"/>
                </a:lnTo>
                <a:lnTo>
                  <a:pt x="66675" y="2085975"/>
                </a:lnTo>
                <a:lnTo>
                  <a:pt x="95250" y="2076450"/>
                </a:lnTo>
                <a:lnTo>
                  <a:pt x="123825" y="2057400"/>
                </a:lnTo>
                <a:lnTo>
                  <a:pt x="142875" y="2047875"/>
                </a:lnTo>
                <a:lnTo>
                  <a:pt x="161925" y="2028825"/>
                </a:lnTo>
                <a:lnTo>
                  <a:pt x="190500" y="2000250"/>
                </a:lnTo>
                <a:lnTo>
                  <a:pt x="219075" y="1981200"/>
                </a:lnTo>
                <a:lnTo>
                  <a:pt x="238125" y="1952625"/>
                </a:lnTo>
                <a:lnTo>
                  <a:pt x="257175" y="1924050"/>
                </a:lnTo>
                <a:lnTo>
                  <a:pt x="285750" y="1895475"/>
                </a:lnTo>
                <a:lnTo>
                  <a:pt x="314325" y="1857375"/>
                </a:lnTo>
                <a:lnTo>
                  <a:pt x="333375" y="1828800"/>
                </a:lnTo>
                <a:lnTo>
                  <a:pt x="352425" y="1790700"/>
                </a:lnTo>
                <a:lnTo>
                  <a:pt x="381000" y="1752600"/>
                </a:lnTo>
                <a:lnTo>
                  <a:pt x="409575" y="1704975"/>
                </a:lnTo>
                <a:lnTo>
                  <a:pt x="428625" y="1666875"/>
                </a:lnTo>
                <a:lnTo>
                  <a:pt x="447675" y="1619250"/>
                </a:lnTo>
                <a:lnTo>
                  <a:pt x="476250" y="1571625"/>
                </a:lnTo>
                <a:lnTo>
                  <a:pt x="504825" y="1524000"/>
                </a:lnTo>
                <a:lnTo>
                  <a:pt x="523875" y="1476375"/>
                </a:lnTo>
                <a:lnTo>
                  <a:pt x="542925" y="1419225"/>
                </a:lnTo>
                <a:lnTo>
                  <a:pt x="571500" y="1371600"/>
                </a:lnTo>
                <a:lnTo>
                  <a:pt x="600075" y="1314450"/>
                </a:lnTo>
                <a:lnTo>
                  <a:pt x="619125" y="1266825"/>
                </a:lnTo>
                <a:lnTo>
                  <a:pt x="638175" y="1209675"/>
                </a:lnTo>
                <a:lnTo>
                  <a:pt x="666750" y="1152525"/>
                </a:lnTo>
                <a:lnTo>
                  <a:pt x="695325" y="1104900"/>
                </a:lnTo>
                <a:lnTo>
                  <a:pt x="714375" y="1047750"/>
                </a:lnTo>
                <a:lnTo>
                  <a:pt x="733425" y="990600"/>
                </a:lnTo>
                <a:lnTo>
                  <a:pt x="762000" y="942975"/>
                </a:lnTo>
                <a:lnTo>
                  <a:pt x="790575" y="885825"/>
                </a:lnTo>
                <a:lnTo>
                  <a:pt x="809625" y="828675"/>
                </a:lnTo>
                <a:lnTo>
                  <a:pt x="828675" y="781050"/>
                </a:lnTo>
                <a:lnTo>
                  <a:pt x="857250" y="723900"/>
                </a:lnTo>
                <a:lnTo>
                  <a:pt x="885825" y="676275"/>
                </a:lnTo>
                <a:lnTo>
                  <a:pt x="904875" y="619125"/>
                </a:lnTo>
                <a:lnTo>
                  <a:pt x="923925" y="571500"/>
                </a:lnTo>
                <a:lnTo>
                  <a:pt x="952500" y="523875"/>
                </a:lnTo>
                <a:lnTo>
                  <a:pt x="981075" y="476250"/>
                </a:lnTo>
                <a:lnTo>
                  <a:pt x="1000125" y="428625"/>
                </a:lnTo>
                <a:lnTo>
                  <a:pt x="1019175" y="390525"/>
                </a:lnTo>
                <a:lnTo>
                  <a:pt x="1047750" y="342900"/>
                </a:lnTo>
                <a:lnTo>
                  <a:pt x="1076325" y="304800"/>
                </a:lnTo>
                <a:lnTo>
                  <a:pt x="1095375" y="266700"/>
                </a:lnTo>
                <a:lnTo>
                  <a:pt x="1114425" y="238125"/>
                </a:lnTo>
                <a:lnTo>
                  <a:pt x="1143000" y="200025"/>
                </a:lnTo>
                <a:lnTo>
                  <a:pt x="1171575" y="171450"/>
                </a:lnTo>
                <a:lnTo>
                  <a:pt x="1190625" y="142875"/>
                </a:lnTo>
                <a:lnTo>
                  <a:pt x="1209675" y="114300"/>
                </a:lnTo>
                <a:lnTo>
                  <a:pt x="1238250" y="95250"/>
                </a:lnTo>
                <a:lnTo>
                  <a:pt x="1266825" y="66675"/>
                </a:lnTo>
                <a:lnTo>
                  <a:pt x="1285875" y="47625"/>
                </a:lnTo>
                <a:lnTo>
                  <a:pt x="1304925" y="38100"/>
                </a:lnTo>
                <a:lnTo>
                  <a:pt x="1333500" y="19050"/>
                </a:lnTo>
                <a:lnTo>
                  <a:pt x="1362075" y="9525"/>
                </a:lnTo>
                <a:lnTo>
                  <a:pt x="1381125" y="9525"/>
                </a:lnTo>
                <a:lnTo>
                  <a:pt x="1400175" y="0"/>
                </a:lnTo>
                <a:lnTo>
                  <a:pt x="1428750" y="0"/>
                </a:lnTo>
              </a:path>
            </a:pathLst>
          </a:custGeom>
          <a:noFill/>
          <a:ln w="47625" cap="rnd">
            <a:solidFill>
              <a:srgbClr val="2E7D32"/>
            </a:solidFill>
          </a:ln>
        </p:spPr>
        <p:txBody>
          <a:bodyPr/>
          <a:p/>
        </p:txBody>
      </p:sp>
      <p:sp>
        <p:nvSpPr>
          <p:cNvPr id="15" name="poly15"/>
          <p:cNvSpPr/>
          <p:nvPr/>
        </p:nvSpPr>
        <p:spPr>
          <a:xfrm>
            <a:off x="3190875" y="2476500"/>
            <a:ext cx="1428750" cy="2095500"/>
          </a:xfrm>
          <a:custGeom>
            <a:avLst/>
            <a:gdLst/>
            <a:ahLst/>
            <a:cxnLst/>
            <a:rect l="0" t="0" r="1428750" b="2095500"/>
            <a:pathLst>
              <a:path w="1428750" h="2095500">
                <a:moveTo>
                  <a:pt x="0" y="0"/>
                </a:moveTo>
                <a:lnTo>
                  <a:pt x="28575" y="0"/>
                </a:lnTo>
                <a:lnTo>
                  <a:pt x="47625" y="9525"/>
                </a:lnTo>
                <a:lnTo>
                  <a:pt x="66675" y="9525"/>
                </a:lnTo>
                <a:lnTo>
                  <a:pt x="95250" y="19050"/>
                </a:lnTo>
                <a:lnTo>
                  <a:pt x="123825" y="38100"/>
                </a:lnTo>
                <a:lnTo>
                  <a:pt x="142875" y="47625"/>
                </a:lnTo>
                <a:lnTo>
                  <a:pt x="161925" y="66675"/>
                </a:lnTo>
                <a:lnTo>
                  <a:pt x="190500" y="95250"/>
                </a:lnTo>
                <a:lnTo>
                  <a:pt x="219075" y="114300"/>
                </a:lnTo>
                <a:lnTo>
                  <a:pt x="238125" y="142875"/>
                </a:lnTo>
                <a:lnTo>
                  <a:pt x="257175" y="171450"/>
                </a:lnTo>
                <a:lnTo>
                  <a:pt x="285750" y="200025"/>
                </a:lnTo>
                <a:lnTo>
                  <a:pt x="314325" y="238125"/>
                </a:lnTo>
                <a:lnTo>
                  <a:pt x="333375" y="266700"/>
                </a:lnTo>
                <a:lnTo>
                  <a:pt x="352425" y="304800"/>
                </a:lnTo>
                <a:lnTo>
                  <a:pt x="381000" y="342900"/>
                </a:lnTo>
                <a:lnTo>
                  <a:pt x="409575" y="390525"/>
                </a:lnTo>
                <a:lnTo>
                  <a:pt x="428625" y="428625"/>
                </a:lnTo>
                <a:lnTo>
                  <a:pt x="447675" y="476250"/>
                </a:lnTo>
                <a:lnTo>
                  <a:pt x="476250" y="523875"/>
                </a:lnTo>
                <a:lnTo>
                  <a:pt x="504825" y="571500"/>
                </a:lnTo>
                <a:lnTo>
                  <a:pt x="523875" y="619125"/>
                </a:lnTo>
                <a:lnTo>
                  <a:pt x="542925" y="676275"/>
                </a:lnTo>
                <a:lnTo>
                  <a:pt x="571500" y="723900"/>
                </a:lnTo>
                <a:lnTo>
                  <a:pt x="600075" y="781050"/>
                </a:lnTo>
                <a:lnTo>
                  <a:pt x="619125" y="828675"/>
                </a:lnTo>
                <a:lnTo>
                  <a:pt x="638175" y="885825"/>
                </a:lnTo>
                <a:lnTo>
                  <a:pt x="666750" y="942975"/>
                </a:lnTo>
                <a:lnTo>
                  <a:pt x="695325" y="990600"/>
                </a:lnTo>
                <a:lnTo>
                  <a:pt x="714375" y="1047750"/>
                </a:lnTo>
                <a:lnTo>
                  <a:pt x="733425" y="1104900"/>
                </a:lnTo>
                <a:lnTo>
                  <a:pt x="762000" y="1152525"/>
                </a:lnTo>
                <a:lnTo>
                  <a:pt x="790575" y="1209675"/>
                </a:lnTo>
                <a:lnTo>
                  <a:pt x="809625" y="1266825"/>
                </a:lnTo>
                <a:lnTo>
                  <a:pt x="828675" y="1314450"/>
                </a:lnTo>
                <a:lnTo>
                  <a:pt x="857250" y="1371600"/>
                </a:lnTo>
                <a:lnTo>
                  <a:pt x="885825" y="1419225"/>
                </a:lnTo>
                <a:lnTo>
                  <a:pt x="904875" y="1476375"/>
                </a:lnTo>
                <a:lnTo>
                  <a:pt x="923925" y="1524000"/>
                </a:lnTo>
                <a:lnTo>
                  <a:pt x="952500" y="1571625"/>
                </a:lnTo>
                <a:lnTo>
                  <a:pt x="981075" y="1619250"/>
                </a:lnTo>
                <a:lnTo>
                  <a:pt x="1000125" y="1666875"/>
                </a:lnTo>
                <a:lnTo>
                  <a:pt x="1019175" y="1704975"/>
                </a:lnTo>
                <a:lnTo>
                  <a:pt x="1047750" y="1752600"/>
                </a:lnTo>
                <a:lnTo>
                  <a:pt x="1076325" y="1790700"/>
                </a:lnTo>
                <a:lnTo>
                  <a:pt x="1095375" y="1828800"/>
                </a:lnTo>
                <a:lnTo>
                  <a:pt x="1114425" y="1857375"/>
                </a:lnTo>
                <a:lnTo>
                  <a:pt x="1143000" y="1895475"/>
                </a:lnTo>
                <a:lnTo>
                  <a:pt x="1171575" y="1924050"/>
                </a:lnTo>
                <a:lnTo>
                  <a:pt x="1190625" y="1952625"/>
                </a:lnTo>
                <a:lnTo>
                  <a:pt x="1209675" y="1981200"/>
                </a:lnTo>
                <a:lnTo>
                  <a:pt x="1238250" y="2000250"/>
                </a:lnTo>
                <a:lnTo>
                  <a:pt x="1266825" y="2028825"/>
                </a:lnTo>
                <a:lnTo>
                  <a:pt x="1285875" y="2047875"/>
                </a:lnTo>
                <a:lnTo>
                  <a:pt x="1304925" y="2057400"/>
                </a:lnTo>
                <a:lnTo>
                  <a:pt x="1333500" y="2076450"/>
                </a:lnTo>
                <a:lnTo>
                  <a:pt x="1362075" y="2085975"/>
                </a:lnTo>
                <a:lnTo>
                  <a:pt x="1381125" y="2085975"/>
                </a:lnTo>
                <a:lnTo>
                  <a:pt x="1400175" y="2095500"/>
                </a:lnTo>
                <a:lnTo>
                  <a:pt x="1428750" y="2095500"/>
                </a:lnTo>
              </a:path>
            </a:pathLst>
          </a:custGeom>
          <a:noFill/>
          <a:ln w="47625" cap="rnd">
            <a:solidFill>
              <a:srgbClr val="D64545"/>
            </a:solidFill>
          </a:ln>
        </p:spPr>
        <p:txBody>
          <a:bodyPr/>
          <a:p/>
        </p:txBody>
      </p:sp>
      <p:sp>
        <p:nvSpPr>
          <p:cNvPr id="16" name="text16"/>
          <p:cNvSpPr txBox="1"/>
          <p:nvPr/>
        </p:nvSpPr>
        <p:spPr>
          <a:xfrm>
            <a:off x="2667000" y="381000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E7D32"/>
                </a:solidFill>
                <a:latin typeface="Calibri"/>
                <a:ea typeface="Microsoft YaHei"/>
              </a:rPr>
              <a:t>增 [−π/2, π/2]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5334000" y="381000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D64545"/>
                </a:solidFill>
                <a:latin typeface="Calibri"/>
                <a:ea typeface="Microsoft YaHei"/>
              </a:rPr>
              <a:t>减 [π/2, 3π/2]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环节四 · 应用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四、典型例题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例1  求值域与最值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求 y=2sinx+1 的值域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解：sinx∈[−1,1] ⇒ 2sinx∈[−2,2] ⇒ y∈[−1,3]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最大值 3（当 sinx=1，即 x=π/2+2kπ）；最小值 −1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例2  比较大小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比较 sin(π/5) 与 sin(2π/5)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两角都在增区间 [0,π/2] 内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π/5 &lt; 2π/5，函数递增 ⇒ sin(π/5) &lt; sin(2π/5)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口诀：同一单调区间内，比角度大小即可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例3  求单调区间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求 y=sin(x+π/3) 的单调递增区间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令 −π/2+2kπ ≤ x+π/3 ≤ π/2+2kπ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解得 −5π/6+2kπ ≤ x ≤ π/6+2kπ，k∈Z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例3  y=sin(x+π/3)：左移 π/3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2000250" y="3524250"/>
            <a:ext cx="3524250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2381250" y="2333625"/>
            <a:ext cx="9525" cy="2381250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poly14"/>
          <p:cNvSpPr/>
          <p:nvPr/>
        </p:nvSpPr>
        <p:spPr>
          <a:xfrm>
            <a:off x="2381250" y="2524125"/>
            <a:ext cx="2857500" cy="2000250"/>
          </a:xfrm>
          <a:custGeom>
            <a:avLst/>
            <a:gdLst/>
            <a:ahLst/>
            <a:cxnLst/>
            <a:rect l="0" t="0" r="2857500" b="2000250"/>
            <a:pathLst>
              <a:path w="2857500" h="2000250">
                <a:moveTo>
                  <a:pt x="0" y="1000125"/>
                </a:moveTo>
                <a:lnTo>
                  <a:pt x="38100" y="923925"/>
                </a:lnTo>
                <a:lnTo>
                  <a:pt x="76200" y="847725"/>
                </a:lnTo>
                <a:lnTo>
                  <a:pt x="104775" y="762000"/>
                </a:lnTo>
                <a:lnTo>
                  <a:pt x="142875" y="695325"/>
                </a:lnTo>
                <a:lnTo>
                  <a:pt x="180975" y="619125"/>
                </a:lnTo>
                <a:lnTo>
                  <a:pt x="209550" y="542925"/>
                </a:lnTo>
                <a:lnTo>
                  <a:pt x="247650" y="476250"/>
                </a:lnTo>
                <a:lnTo>
                  <a:pt x="285750" y="409575"/>
                </a:lnTo>
                <a:lnTo>
                  <a:pt x="323850" y="352425"/>
                </a:lnTo>
                <a:lnTo>
                  <a:pt x="361950" y="295275"/>
                </a:lnTo>
                <a:lnTo>
                  <a:pt x="390525" y="238125"/>
                </a:lnTo>
                <a:lnTo>
                  <a:pt x="428625" y="190500"/>
                </a:lnTo>
                <a:lnTo>
                  <a:pt x="466725" y="142875"/>
                </a:lnTo>
                <a:lnTo>
                  <a:pt x="495300" y="104775"/>
                </a:lnTo>
                <a:lnTo>
                  <a:pt x="533400" y="76200"/>
                </a:lnTo>
                <a:lnTo>
                  <a:pt x="571500" y="47625"/>
                </a:lnTo>
                <a:lnTo>
                  <a:pt x="609600" y="28575"/>
                </a:lnTo>
                <a:lnTo>
                  <a:pt x="647700" y="9525"/>
                </a:lnTo>
                <a:lnTo>
                  <a:pt x="676275" y="0"/>
                </a:lnTo>
                <a:lnTo>
                  <a:pt x="714375" y="0"/>
                </a:lnTo>
                <a:lnTo>
                  <a:pt x="752475" y="0"/>
                </a:lnTo>
                <a:lnTo>
                  <a:pt x="781050" y="9525"/>
                </a:lnTo>
                <a:lnTo>
                  <a:pt x="819150" y="28575"/>
                </a:lnTo>
                <a:lnTo>
                  <a:pt x="857250" y="47625"/>
                </a:lnTo>
                <a:lnTo>
                  <a:pt x="895350" y="76200"/>
                </a:lnTo>
                <a:lnTo>
                  <a:pt x="933450" y="104775"/>
                </a:lnTo>
                <a:lnTo>
                  <a:pt x="962025" y="142875"/>
                </a:lnTo>
                <a:lnTo>
                  <a:pt x="1000125" y="190500"/>
                </a:lnTo>
                <a:lnTo>
                  <a:pt x="1038225" y="238125"/>
                </a:lnTo>
                <a:lnTo>
                  <a:pt x="1066800" y="295275"/>
                </a:lnTo>
                <a:lnTo>
                  <a:pt x="1104900" y="352425"/>
                </a:lnTo>
                <a:lnTo>
                  <a:pt x="1143000" y="409575"/>
                </a:lnTo>
                <a:lnTo>
                  <a:pt x="1181100" y="476250"/>
                </a:lnTo>
                <a:lnTo>
                  <a:pt x="1219200" y="542925"/>
                </a:lnTo>
                <a:lnTo>
                  <a:pt x="1247775" y="619125"/>
                </a:lnTo>
                <a:lnTo>
                  <a:pt x="1285875" y="695325"/>
                </a:lnTo>
                <a:lnTo>
                  <a:pt x="1323975" y="762000"/>
                </a:lnTo>
                <a:lnTo>
                  <a:pt x="1352550" y="847725"/>
                </a:lnTo>
                <a:lnTo>
                  <a:pt x="1390650" y="923925"/>
                </a:lnTo>
                <a:lnTo>
                  <a:pt x="1428750" y="1000125"/>
                </a:lnTo>
                <a:lnTo>
                  <a:pt x="1466850" y="1076325"/>
                </a:lnTo>
                <a:lnTo>
                  <a:pt x="1504950" y="1152525"/>
                </a:lnTo>
                <a:lnTo>
                  <a:pt x="1533525" y="1238250"/>
                </a:lnTo>
                <a:lnTo>
                  <a:pt x="1571625" y="1304925"/>
                </a:lnTo>
                <a:lnTo>
                  <a:pt x="1609725" y="1381125"/>
                </a:lnTo>
                <a:lnTo>
                  <a:pt x="1638300" y="1457325"/>
                </a:lnTo>
                <a:lnTo>
                  <a:pt x="1676400" y="1524000"/>
                </a:lnTo>
                <a:lnTo>
                  <a:pt x="1714500" y="1590675"/>
                </a:lnTo>
                <a:lnTo>
                  <a:pt x="1752600" y="1647825"/>
                </a:lnTo>
                <a:lnTo>
                  <a:pt x="1790700" y="1704975"/>
                </a:lnTo>
                <a:lnTo>
                  <a:pt x="1819275" y="1762125"/>
                </a:lnTo>
                <a:lnTo>
                  <a:pt x="1857375" y="1809750"/>
                </a:lnTo>
                <a:lnTo>
                  <a:pt x="1895475" y="1857375"/>
                </a:lnTo>
                <a:lnTo>
                  <a:pt x="1924050" y="1895475"/>
                </a:lnTo>
                <a:lnTo>
                  <a:pt x="1962150" y="1924050"/>
                </a:lnTo>
                <a:lnTo>
                  <a:pt x="2000250" y="1952625"/>
                </a:lnTo>
                <a:lnTo>
                  <a:pt x="2038350" y="1971675"/>
                </a:lnTo>
                <a:lnTo>
                  <a:pt x="2076450" y="1990725"/>
                </a:lnTo>
                <a:lnTo>
                  <a:pt x="2105025" y="2000250"/>
                </a:lnTo>
                <a:lnTo>
                  <a:pt x="2143125" y="2000250"/>
                </a:lnTo>
                <a:lnTo>
                  <a:pt x="2181225" y="2000250"/>
                </a:lnTo>
                <a:lnTo>
                  <a:pt x="2209800" y="1990725"/>
                </a:lnTo>
                <a:lnTo>
                  <a:pt x="2247900" y="1971675"/>
                </a:lnTo>
                <a:lnTo>
                  <a:pt x="2286000" y="1952625"/>
                </a:lnTo>
                <a:lnTo>
                  <a:pt x="2324100" y="1924050"/>
                </a:lnTo>
                <a:lnTo>
                  <a:pt x="2362200" y="1895475"/>
                </a:lnTo>
                <a:lnTo>
                  <a:pt x="2390775" y="1857375"/>
                </a:lnTo>
                <a:lnTo>
                  <a:pt x="2428875" y="1809750"/>
                </a:lnTo>
                <a:lnTo>
                  <a:pt x="2466975" y="1762125"/>
                </a:lnTo>
                <a:lnTo>
                  <a:pt x="2495550" y="1704975"/>
                </a:lnTo>
                <a:lnTo>
                  <a:pt x="2533650" y="1647825"/>
                </a:lnTo>
                <a:lnTo>
                  <a:pt x="2571750" y="1590675"/>
                </a:lnTo>
                <a:lnTo>
                  <a:pt x="2609850" y="1524000"/>
                </a:lnTo>
                <a:lnTo>
                  <a:pt x="2647950" y="1457325"/>
                </a:lnTo>
                <a:lnTo>
                  <a:pt x="2676525" y="1381125"/>
                </a:lnTo>
                <a:lnTo>
                  <a:pt x="2714625" y="1304925"/>
                </a:lnTo>
                <a:lnTo>
                  <a:pt x="2752725" y="1238250"/>
                </a:lnTo>
                <a:lnTo>
                  <a:pt x="2781300" y="1152525"/>
                </a:lnTo>
                <a:lnTo>
                  <a:pt x="2819400" y="1076325"/>
                </a:lnTo>
                <a:lnTo>
                  <a:pt x="2857500" y="1000125"/>
                </a:lnTo>
              </a:path>
            </a:pathLst>
          </a:custGeom>
          <a:noFill/>
          <a:ln w="28575" cap="rnd">
            <a:solidFill>
              <a:srgbClr val="9AA0A6"/>
            </a:solidFill>
          </a:ln>
        </p:spPr>
        <p:txBody>
          <a:bodyPr/>
          <a:p/>
        </p:txBody>
      </p:sp>
      <p:sp>
        <p:nvSpPr>
          <p:cNvPr id="15" name="poly15"/>
          <p:cNvSpPr/>
          <p:nvPr/>
        </p:nvSpPr>
        <p:spPr>
          <a:xfrm>
            <a:off x="2381250" y="2524125"/>
            <a:ext cx="2857500" cy="2000250"/>
          </a:xfrm>
          <a:custGeom>
            <a:avLst/>
            <a:gdLst/>
            <a:ahLst/>
            <a:cxnLst/>
            <a:rect l="0" t="0" r="2857500" b="2000250"/>
            <a:pathLst>
              <a:path w="2857500" h="2000250">
                <a:moveTo>
                  <a:pt x="0" y="133350"/>
                </a:moveTo>
                <a:lnTo>
                  <a:pt x="38100" y="95250"/>
                </a:lnTo>
                <a:lnTo>
                  <a:pt x="76200" y="66675"/>
                </a:lnTo>
                <a:lnTo>
                  <a:pt x="104775" y="38100"/>
                </a:lnTo>
                <a:lnTo>
                  <a:pt x="142875" y="19050"/>
                </a:lnTo>
                <a:lnTo>
                  <a:pt x="180975" y="9525"/>
                </a:lnTo>
                <a:lnTo>
                  <a:pt x="209550" y="0"/>
                </a:lnTo>
                <a:lnTo>
                  <a:pt x="247650" y="0"/>
                </a:lnTo>
                <a:lnTo>
                  <a:pt x="285750" y="9525"/>
                </a:lnTo>
                <a:lnTo>
                  <a:pt x="323850" y="19050"/>
                </a:lnTo>
                <a:lnTo>
                  <a:pt x="361950" y="38100"/>
                </a:lnTo>
                <a:lnTo>
                  <a:pt x="390525" y="57150"/>
                </a:lnTo>
                <a:lnTo>
                  <a:pt x="428625" y="85725"/>
                </a:lnTo>
                <a:lnTo>
                  <a:pt x="466725" y="123825"/>
                </a:lnTo>
                <a:lnTo>
                  <a:pt x="495300" y="161925"/>
                </a:lnTo>
                <a:lnTo>
                  <a:pt x="533400" y="209550"/>
                </a:lnTo>
                <a:lnTo>
                  <a:pt x="571500" y="257175"/>
                </a:lnTo>
                <a:lnTo>
                  <a:pt x="609600" y="314325"/>
                </a:lnTo>
                <a:lnTo>
                  <a:pt x="647700" y="371475"/>
                </a:lnTo>
                <a:lnTo>
                  <a:pt x="676275" y="438150"/>
                </a:lnTo>
                <a:lnTo>
                  <a:pt x="714375" y="495300"/>
                </a:lnTo>
                <a:lnTo>
                  <a:pt x="752475" y="571500"/>
                </a:lnTo>
                <a:lnTo>
                  <a:pt x="781050" y="638175"/>
                </a:lnTo>
                <a:lnTo>
                  <a:pt x="819150" y="714375"/>
                </a:lnTo>
                <a:lnTo>
                  <a:pt x="857250" y="790575"/>
                </a:lnTo>
                <a:lnTo>
                  <a:pt x="895350" y="866775"/>
                </a:lnTo>
                <a:lnTo>
                  <a:pt x="933450" y="952500"/>
                </a:lnTo>
                <a:lnTo>
                  <a:pt x="962025" y="1028700"/>
                </a:lnTo>
                <a:lnTo>
                  <a:pt x="1000125" y="1104900"/>
                </a:lnTo>
                <a:lnTo>
                  <a:pt x="1038225" y="1181100"/>
                </a:lnTo>
                <a:lnTo>
                  <a:pt x="1066800" y="1257300"/>
                </a:lnTo>
                <a:lnTo>
                  <a:pt x="1104900" y="1333500"/>
                </a:lnTo>
                <a:lnTo>
                  <a:pt x="1143000" y="1409700"/>
                </a:lnTo>
                <a:lnTo>
                  <a:pt x="1181100" y="1476375"/>
                </a:lnTo>
                <a:lnTo>
                  <a:pt x="1219200" y="1543050"/>
                </a:lnTo>
                <a:lnTo>
                  <a:pt x="1247775" y="1609725"/>
                </a:lnTo>
                <a:lnTo>
                  <a:pt x="1285875" y="1666875"/>
                </a:lnTo>
                <a:lnTo>
                  <a:pt x="1323975" y="1724025"/>
                </a:lnTo>
                <a:lnTo>
                  <a:pt x="1352550" y="1781175"/>
                </a:lnTo>
                <a:lnTo>
                  <a:pt x="1390650" y="1828800"/>
                </a:lnTo>
                <a:lnTo>
                  <a:pt x="1428750" y="1866900"/>
                </a:lnTo>
                <a:lnTo>
                  <a:pt x="1466850" y="1905000"/>
                </a:lnTo>
                <a:lnTo>
                  <a:pt x="1504950" y="1933575"/>
                </a:lnTo>
                <a:lnTo>
                  <a:pt x="1533525" y="1962150"/>
                </a:lnTo>
                <a:lnTo>
                  <a:pt x="1571625" y="1981200"/>
                </a:lnTo>
                <a:lnTo>
                  <a:pt x="1609725" y="1990725"/>
                </a:lnTo>
                <a:lnTo>
                  <a:pt x="1638300" y="2000250"/>
                </a:lnTo>
                <a:lnTo>
                  <a:pt x="1676400" y="2000250"/>
                </a:lnTo>
                <a:lnTo>
                  <a:pt x="1714500" y="1990725"/>
                </a:lnTo>
                <a:lnTo>
                  <a:pt x="1752600" y="1981200"/>
                </a:lnTo>
                <a:lnTo>
                  <a:pt x="1790700" y="1962150"/>
                </a:lnTo>
                <a:lnTo>
                  <a:pt x="1819275" y="1943100"/>
                </a:lnTo>
                <a:lnTo>
                  <a:pt x="1857375" y="1914525"/>
                </a:lnTo>
                <a:lnTo>
                  <a:pt x="1895475" y="1876425"/>
                </a:lnTo>
                <a:lnTo>
                  <a:pt x="1924050" y="1838325"/>
                </a:lnTo>
                <a:lnTo>
                  <a:pt x="1962150" y="1790700"/>
                </a:lnTo>
                <a:lnTo>
                  <a:pt x="2000250" y="1743075"/>
                </a:lnTo>
                <a:lnTo>
                  <a:pt x="2038350" y="1685925"/>
                </a:lnTo>
                <a:lnTo>
                  <a:pt x="2076450" y="1628775"/>
                </a:lnTo>
                <a:lnTo>
                  <a:pt x="2105025" y="1562100"/>
                </a:lnTo>
                <a:lnTo>
                  <a:pt x="2143125" y="1504950"/>
                </a:lnTo>
                <a:lnTo>
                  <a:pt x="2181225" y="1428750"/>
                </a:lnTo>
                <a:lnTo>
                  <a:pt x="2209800" y="1362075"/>
                </a:lnTo>
                <a:lnTo>
                  <a:pt x="2247900" y="1285875"/>
                </a:lnTo>
                <a:lnTo>
                  <a:pt x="2286000" y="1209675"/>
                </a:lnTo>
                <a:lnTo>
                  <a:pt x="2324100" y="1133475"/>
                </a:lnTo>
                <a:lnTo>
                  <a:pt x="2362200" y="1047750"/>
                </a:lnTo>
                <a:lnTo>
                  <a:pt x="2390775" y="971550"/>
                </a:lnTo>
                <a:lnTo>
                  <a:pt x="2428875" y="895350"/>
                </a:lnTo>
                <a:lnTo>
                  <a:pt x="2466975" y="819150"/>
                </a:lnTo>
                <a:lnTo>
                  <a:pt x="2495550" y="742950"/>
                </a:lnTo>
                <a:lnTo>
                  <a:pt x="2533650" y="666750"/>
                </a:lnTo>
                <a:lnTo>
                  <a:pt x="2571750" y="590550"/>
                </a:lnTo>
                <a:lnTo>
                  <a:pt x="2609850" y="523875"/>
                </a:lnTo>
                <a:lnTo>
                  <a:pt x="2647950" y="457200"/>
                </a:lnTo>
                <a:lnTo>
                  <a:pt x="2676525" y="390525"/>
                </a:lnTo>
                <a:lnTo>
                  <a:pt x="2714625" y="333375"/>
                </a:lnTo>
                <a:lnTo>
                  <a:pt x="2752725" y="276225"/>
                </a:lnTo>
                <a:lnTo>
                  <a:pt x="2781300" y="219075"/>
                </a:lnTo>
                <a:lnTo>
                  <a:pt x="2819400" y="171450"/>
                </a:lnTo>
                <a:lnTo>
                  <a:pt x="2857500" y="13335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6" name="text16"/>
          <p:cNvSpPr txBox="1"/>
          <p:nvPr/>
        </p:nvSpPr>
        <p:spPr>
          <a:xfrm>
            <a:off x="7239000" y="1524000"/>
            <a:ext cx="40005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900" b="0" i="0">
                <a:solidFill>
                  <a:srgbClr val="1F1F1F"/>
                </a:solidFill>
                <a:latin typeface="Calibri"/>
                <a:ea typeface="Microsoft YaHei"/>
              </a:rPr>
              <a:t>灰：y=sinx</a:t>
            </a:r>
          </a:p>
          <a:p>
            <a:pPr algn="l">
              <a:buNone/>
            </a:pPr>
            <a:r>
              <a:rPr lang="zh-CN" sz="1900" b="0" i="0">
                <a:solidFill>
                  <a:srgbClr val="1F1F1F"/>
                </a:solidFill>
                <a:latin typeface="Calibri"/>
                <a:ea typeface="Microsoft YaHei"/>
              </a:rPr>
              <a:t>蓝：y=sin(x+π/3)</a:t>
            </a:r>
          </a:p>
          <a:p>
            <a:pPr algn="l">
              <a:buNone/>
            </a:pPr>
            <a:r>
              <a:rPr lang="zh-CN" sz="1900" b="0" i="0">
                <a:solidFill>
                  <a:srgbClr val="1F1F1F"/>
                </a:solidFill>
                <a:latin typeface="Calibri"/>
                <a:ea typeface="Microsoft YaHei"/>
              </a:rPr>
              <a:t>整体左移 π/3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易错提醒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漏 k∈Z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单调区间/最值点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必须带周期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移动方向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sin(x+φ)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φ&gt;0 向左移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先判区间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比较大小前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先看同一单调区间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课堂练习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① 求 y=1−sinx 的值域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② 比较 sin1 与 sin1.5（弧度）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③ 求 y=sin(2x) 的最小正周期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正弦函数速记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4400" b="1" i="0">
                <a:solidFill>
                  <a:srgbClr val="A07520"/>
                </a:solidFill>
                <a:latin typeface="Calibri"/>
                <a:ea typeface="Microsoft YaHei"/>
              </a:rPr>
              <a:t>R→[−1,1]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定义/值域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4400" b="1" i="0">
                <a:solidFill>
                  <a:srgbClr val="A07520"/>
                </a:solidFill>
                <a:latin typeface="Calibri"/>
                <a:ea typeface="Microsoft YaHei"/>
              </a:rPr>
              <a:t>T=2π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周期</a:t>
            </a:r>
          </a:p>
          <a:p>
            <a:pPr algn="ctr">
              <a:buNone/>
            </a:pPr>
            <a:r>
              <a:rPr lang="zh-CN" sz="1200" b="0" i="0">
                <a:solidFill>
                  <a:srgbClr val="6B6B6B"/>
                </a:solidFill>
                <a:latin typeface="Calibri"/>
                <a:ea typeface="Microsoft YaHei"/>
              </a:rPr>
              <a:t>最小正周期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4400" b="1" i="0">
                <a:solidFill>
                  <a:srgbClr val="A07520"/>
                </a:solidFill>
                <a:latin typeface="Calibri"/>
                <a:ea typeface="Microsoft YaHei"/>
              </a:rPr>
              <a:t>奇函数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对称</a:t>
            </a:r>
          </a:p>
          <a:p>
            <a:pPr algn="ctr">
              <a:buNone/>
            </a:pPr>
            <a:r>
              <a:rPr lang="zh-CN" sz="1200" b="0" i="0">
                <a:solidFill>
                  <a:srgbClr val="6B6B6B"/>
                </a:solidFill>
                <a:latin typeface="Calibri"/>
                <a:ea typeface="Microsoft YaHei"/>
              </a:rPr>
              <a:t>关于原点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本节脉络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E6E3D8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A07520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单位圆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纵坐标=sinθ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A07520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展开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得正弦曲线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A07520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五点法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快速作图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A07520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读性质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五大性质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课堂小结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图象来自单位圆纵坐标的展开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五点作图：零顶零谷零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五性质：R、[−1,1]、2π、奇、分段单调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复合正弦用整体代换求单调区间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用五点法画 y=sinx 在 [−2π,2π] 的图象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求 y=3sin(x−π/6)+1 的值域与增区间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预习：余弦函数 y=cosx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4000" b="1" i="0">
                <a:solidFill>
                  <a:srgbClr val="1F1F1F"/>
                </a:solidFill>
                <a:latin typeface="Calibri"/>
                <a:ea typeface="Microsoft YaHei"/>
              </a:rPr>
              <a:t>下节：余弦函数与图象变换</a:t>
            </a:r>
          </a:p>
        </p:txBody>
      </p:sp>
      <p:sp>
        <p:nvSpPr>
          <p:cNvPr id="11" name="bar11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0" i="0">
                <a:solidFill>
                  <a:srgbClr val="6B6B6B"/>
                </a:solidFill>
                <a:latin typeface="Calibri"/>
                <a:ea typeface="Microsoft YaHei"/>
              </a:rPr>
              <a:t>cosx = sin(x+π/2)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