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2283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5F7F8"/>
                </a:solidFill>
                <a:latin typeface="Georgia"/>
                <a:ea typeface="Georgia"/>
              </a:rPr>
              <a:t>ENGLISH · UNIT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5F7F8"/>
                </a:solidFill>
                <a:latin typeface="Georgia"/>
                <a:ea typeface="Georgia"/>
              </a:rPr>
              <a:t>The Four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5F7F8"/>
                </a:solidFill>
                <a:latin typeface="Georgia"/>
                <a:ea typeface="Georgia"/>
              </a:rPr>
              <a:t>Seasons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5F7F8"/>
                </a:solidFill>
                <a:latin typeface="Segoe UI"/>
                <a:ea typeface="Segoe UI"/>
              </a:rPr>
              <a:t>Talking about seasons, weather, clothes and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5F7F8"/>
                </a:solidFill>
                <a:latin typeface="Georgia"/>
                <a:ea typeface="Georgia"/>
              </a:rPr>
              <a:t>SPEAKING · VOCABULARY · READING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283A"/>
                </a:solidFill>
                <a:latin typeface="Georgia"/>
                <a:ea typeface="Georgia"/>
              </a:rPr>
              <a:t>What we will learn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Warm-up &amp; Goals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Sing, guess and set our learning targets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Vocabulary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Seasons, weather words, clothes and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Reading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A short passage: “My Favourite Season”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Grammar Focus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What's the weather like? / What do you do in…?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Speaking &amp; Writing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Talk about your favourite season and write about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8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0"/>
            <a:ext cx="996696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5F7F8"/>
                </a:solidFill>
                <a:latin typeface="Georgia"/>
                <a:ea typeface="Georgia"/>
              </a:rPr>
              <a:t>Can you name all four seasons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" y="5303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5F7F8"/>
                </a:solidFill>
                <a:latin typeface="Segoe UI"/>
                <a:ea typeface="Segoe UI"/>
              </a:rPr>
              <a:t>Spring · Summer · Autumn (Fall) · Winter — let's explore each one!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sprin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E8843C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5F7F8"/>
                </a:solidFill>
                <a:latin typeface="Georgia"/>
                <a:ea typeface="Georgia"/>
              </a:rPr>
              <a:t>Seasons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5F7F8"/>
                </a:solidFill>
                <a:latin typeface="Segoe UI"/>
                <a:ea typeface="Segoe UI"/>
              </a:rPr>
              <a:t>Four seasons, four colours, four moods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sprin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28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8"/>
                </a:solidFill>
                <a:latin typeface="Georgia"/>
                <a:ea typeface="Georgia"/>
              </a:rPr>
              <a:t>SPRING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5F7F8"/>
                </a:solidFill>
                <a:latin typeface="Segoe UI"/>
                <a:ea typeface="Segoe UI"/>
              </a:rPr>
              <a:t>warm · green · flowers bloom · it gets warmer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5F7F8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summer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28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8"/>
                </a:solidFill>
                <a:latin typeface="Georgia"/>
                <a:ea typeface="Georgia"/>
              </a:rPr>
              <a:t>SUMMER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5F7F8"/>
                </a:solidFill>
                <a:latin typeface="Segoe UI"/>
                <a:ea typeface="Segoe UI"/>
              </a:rPr>
              <a:t>hot · sunny · long days · we go to the beach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5F7F8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autum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28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8"/>
                </a:solidFill>
                <a:latin typeface="Georgia"/>
                <a:ea typeface="Georgia"/>
              </a:rPr>
              <a:t>AUTUMN / FALL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5F7F8"/>
                </a:solidFill>
                <a:latin typeface="Segoe UI"/>
                <a:ea typeface="Segoe UI"/>
              </a:rPr>
              <a:t>cool · windy · leaves fall · golden colours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5F7F8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winter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28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8"/>
                </a:solidFill>
                <a:latin typeface="Georgia"/>
                <a:ea typeface="Georgia"/>
              </a:rPr>
              <a:t>WINTER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5F7F8"/>
                </a:solidFill>
                <a:latin typeface="Segoe UI"/>
                <a:ea typeface="Segoe UI"/>
              </a:rPr>
              <a:t>cold · snowy · short days · we wear warm coats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5F7F8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weather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E8843C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5F7F8"/>
                </a:solidFill>
                <a:latin typeface="Georgia"/>
                <a:ea typeface="Georgia"/>
              </a:rPr>
              <a:t>Weather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5F7F8"/>
                </a:solidFill>
                <a:latin typeface="Segoe UI"/>
                <a:ea typeface="Segoe UI"/>
              </a:rPr>
              <a:t>What's the weather like today?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2283A"/>
                </a:solidFill>
                <a:latin typeface="Georgia"/>
                <a:ea typeface="Georgia"/>
              </a:rPr>
              <a:t>Key weather adjectives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sunny 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The sky is clear and the sun is shining. “It's sunny today.”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0618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0618" y="214884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0658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rainy 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658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Water falls from the clouds. Don't forget your umbrella!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214884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windy 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The wind blows strongly. Good for flying a kite!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6626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snowy 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Soft white snow falls. Let's build a snowman!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0618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0618" y="436626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0658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cloudy 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658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The sky is grey and full of clouds.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6836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6836" y="4366260"/>
            <a:ext cx="3210458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6876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foggy 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6876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It's hard to see far. Drive carefully!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GRAMMAR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2283A"/>
                </a:solidFill>
                <a:latin typeface="Georgia"/>
                <a:ea typeface="Georgia"/>
              </a:rPr>
              <a:t>Two questions you can always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F7F8"/>
                </a:solidFill>
                <a:latin typeface="Segoe UI"/>
                <a:ea typeface="Segoe UI"/>
              </a:rPr>
              <a:t>Ask about weather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What's the weather like?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→ It's sunny and warm.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What's the weather like in summer?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129783"/>
            <a:ext cx="118872" cy="11887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→ It's hot and sunny.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F7F8"/>
                </a:solidFill>
                <a:latin typeface="Segoe UI"/>
                <a:ea typeface="Segoe UI"/>
              </a:rPr>
              <a:t>Ask about activities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What do you do in winter?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→ I make a snowman.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What do you do in spring?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2283A"/>
                </a:solidFill>
                <a:latin typeface="Segoe UI"/>
                <a:ea typeface="Segoe UI"/>
              </a:rPr>
              <a:t>→ I plant flowers and fly kites.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seasons_clothes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2283A"/>
                </a:solidFill>
                <a:latin typeface="Georgia"/>
                <a:ea typeface="Georgia"/>
              </a:rPr>
              <a:t>What do we wear?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In spring and autumn: a light jacket, a sweater, jeans.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In summer: a T-shirt, shorts, sandals, sunglasses, a hat.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In winter: a warm coat, a scarf, gloves, boots.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Try it: “When it's cold, I wear ______.”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autum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E8843C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5F7F8"/>
                </a:solidFill>
                <a:latin typeface="Georgia"/>
                <a:ea typeface="Georgia"/>
              </a:rPr>
              <a:t>Reading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5F7F8"/>
                </a:solidFill>
                <a:latin typeface="Segoe UI"/>
                <a:ea typeface="Segoe UI"/>
              </a:rPr>
              <a:t>“My Favourite Season”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seasons_autumn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2283A"/>
                </a:solidFill>
                <a:latin typeface="Georgia"/>
                <a:ea typeface="Georgia"/>
              </a:rPr>
              <a:t>My Favourite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My favourite season is autumn. The weather is cool and the leaves turn red and gold.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I like to walk in the park and jump in the leaves with my friends.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We wear warm sweaters and drink hot tea. Autumn is quiet and beautiful.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2283A"/>
                </a:solidFill>
                <a:latin typeface="Segoe UI"/>
                <a:ea typeface="Segoe UI"/>
              </a:rPr>
              <a:t>What is YOUR favourite season,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COMPREHENSION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283A"/>
                </a:solidFill>
                <a:latin typeface="Georgia"/>
                <a:ea typeface="Georgia"/>
              </a:rPr>
              <a:t>Answer these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1. What is the writer's favourite season?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Look at the first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2. What is the weather like?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Find two weather words in the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3. What does the writer do?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Name one activity from the passage.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96128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4772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4. What do they wear and drink?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Two things to find.</a:t>
            </a:r>
          </a:p>
        </p:txBody>
      </p:sp>
      <p:pic>
        <p:nvPicPr>
          <p:cNvPr id="14" name="Picture 13" descr="deck_seasons_autumn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activity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E8843C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5F7F8"/>
                </a:solidFill>
                <a:latin typeface="Georgia"/>
                <a:ea typeface="Georgia"/>
              </a:rPr>
              <a:t>Let's 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5F7F8"/>
                </a:solidFill>
                <a:latin typeface="Segoe UI"/>
                <a:ea typeface="Segoe UI"/>
              </a:rPr>
              <a:t>Tell us about YOUR season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SPEAKING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2283A"/>
                </a:solidFill>
                <a:latin typeface="Georgia"/>
                <a:ea typeface="Georgia"/>
              </a:rPr>
              <a:t>Use this frame to talk (2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98567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① Name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“My favourite season is ______.”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998567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② Describe 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“The weather is ______ and ______.”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66260"/>
            <a:ext cx="4998567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③ Say 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“I like to ______ and ______.”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4366260"/>
            <a:ext cx="4998567" cy="109728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843C"/>
                </a:solidFill>
                <a:latin typeface="Segoe UI"/>
                <a:ea typeface="Segoe UI"/>
              </a:rPr>
              <a:t>④ Say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2283A"/>
                </a:solidFill>
                <a:latin typeface="Segoe UI"/>
                <a:ea typeface="Segoe UI"/>
              </a:rPr>
              <a:t>“I love it because ______.”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E8843C"/>
                </a:solidFill>
                <a:latin typeface="Georgia"/>
                <a:ea typeface="Georgia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283A"/>
                </a:solidFill>
                <a:latin typeface="Georgia"/>
                <a:ea typeface="Georgia"/>
              </a:rPr>
              <a:t>Pair &amp; group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Pair talk (6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Interview your partner: “What's your favourite season? Why?”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Weather report (8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In groups, present a fun weather forecast for four seasons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2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283A"/>
                </a:solidFill>
                <a:latin typeface="Segoe UI"/>
                <a:ea typeface="Segoe UI"/>
              </a:rPr>
              <a:t>Writing (8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78"/>
                </a:solidFill>
                <a:latin typeface="Segoe UI"/>
                <a:ea typeface="Segoe UI"/>
              </a:rPr>
              <a:t>Write 4–5 sentences about your favourite season using the frame</a:t>
            </a:r>
          </a:p>
        </p:txBody>
      </p:sp>
      <p:pic>
        <p:nvPicPr>
          <p:cNvPr id="12" name="Picture 11" descr="deck_seasons_summer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78"/>
                </a:solidFill>
                <a:latin typeface="Georgia"/>
                <a:ea typeface="Georgia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seasons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A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5F7F8"/>
                </a:solidFill>
                <a:latin typeface="Georgia"/>
                <a:ea typeface="Georgia"/>
              </a:rPr>
              <a:t>Every season has its own magic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5F7F8"/>
                </a:solidFill>
                <a:latin typeface="Segoe UI"/>
                <a:ea typeface="Segoe UI"/>
              </a:rPr>
              <a:t>Spring brings flowers, summer brings sunshine,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5F7F8"/>
                </a:solidFill>
                <a:latin typeface="Segoe UI"/>
                <a:ea typeface="Segoe UI"/>
              </a:rPr>
              <a:t>autumn brings colours, and winter brings snow.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5F7F8"/>
                </a:solidFill>
                <a:latin typeface="Segoe UI"/>
                <a:ea typeface="Segoe UI"/>
              </a:rPr>
              <a:t>Homework: Write a short paragraph about your favourite season with a drawing.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5F7F8"/>
                </a:solidFill>
                <a:latin typeface="Georgia"/>
                <a:ea typeface="Georgia"/>
              </a:rPr>
              <a:t>ENGLISH · THE FOUR SEASONS · UNIT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