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xiaoshuo_hero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42E">
              <a:alpha val="5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91695" cy="2651760"/>
          </a:xfrm>
          <a:prstGeom prst="rect">
            <a:avLst/>
          </a:prstGeom>
          <a:solidFill>
            <a:srgbClr val="20242E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965960"/>
            <a:ext cx="822960" cy="381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7568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500">
                <a:solidFill>
                  <a:srgbClr val="F4F1EA"/>
                </a:solidFill>
                <a:latin typeface="Georgia"/>
                <a:ea typeface="Georgia"/>
              </a:rPr>
              <a:t>语文 · 现代文阅读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532888"/>
            <a:ext cx="105156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400" b="1" i="0">
                <a:solidFill>
                  <a:srgbClr val="F4F1EA"/>
                </a:solidFill>
                <a:latin typeface="楷体"/>
                <a:ea typeface="楷体"/>
              </a:rPr>
              <a:t>小说阅读</a:t>
            </a:r>
          </a:p>
          <a:p>
            <a:pPr algn="l">
              <a:lnSpc>
                <a:spcPct val="102000"/>
              </a:lnSpc>
            </a:pPr>
            <a:r>
              <a:rPr sz="5400" b="1" i="0">
                <a:solidFill>
                  <a:srgbClr val="F4F1EA"/>
                </a:solidFill>
                <a:latin typeface="楷体"/>
                <a:ea typeface="楷体"/>
              </a:rPr>
              <a:t>——读懂人物、情节与那颗跳动的主题之心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F4F1EA"/>
                </a:solidFill>
                <a:latin typeface="微软雅黑"/>
                <a:ea typeface="微软雅黑"/>
              </a:rPr>
              <a:t>从三要素到叙事艺术，把“会读”变成“会答”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9963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spc="300">
                <a:solidFill>
                  <a:srgbClr val="F4F1EA"/>
                </a:solidFill>
                <a:latin typeface="Georgia"/>
                <a:ea typeface="Georgia"/>
              </a:rPr>
              <a:t>HIGH SCHOOL SENIOR · FICTION READING · 45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B8894B"/>
                </a:solidFill>
                <a:latin typeface="Georgia"/>
                <a:ea typeface="Georgia"/>
              </a:rPr>
              <a:t>本课导航 · LESSON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0242E"/>
                </a:solidFill>
                <a:latin typeface="楷体"/>
                <a:ea typeface="楷体"/>
              </a:rPr>
              <a:t>小说阅读的五个核心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2057400"/>
            <a:ext cx="640080" cy="381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633472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514600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一、人物形象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概括性格，分析塑造手法与作用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21024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502152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二、情节结构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梳理脉络，分析情节的作用与技巧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608576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489704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三、环境描写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自然与社会环境的多重功能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2633472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2514600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四、主题意蕴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由表及里，读懂作者的深层表达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3621024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3502152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五、叙事艺术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视角、顺序、语言——现代命题的新宠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C626E"/>
                </a:solidFill>
                <a:latin typeface="Georgia"/>
                <a:ea typeface="Georgia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xiaoshuo_renwu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42E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B8894B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794760"/>
            <a:ext cx="1463040" cy="3175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977639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4F1EA"/>
                </a:solidFill>
                <a:latin typeface="楷体"/>
                <a:ea typeface="楷体"/>
              </a:rPr>
              <a:t>人物形象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0749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4F1EA"/>
                </a:solidFill>
                <a:latin typeface="微软雅黑"/>
                <a:ea typeface="微软雅黑"/>
              </a:rPr>
              <a:t>小说的核心，永远是人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B8894B"/>
                </a:solidFill>
                <a:latin typeface="Georgia"/>
                <a:ea typeface="Georgia"/>
              </a:rPr>
              <a:t>人物 · 分析范式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0242E"/>
                </a:solidFill>
                <a:latin typeface="楷体"/>
                <a:ea typeface="楷体"/>
              </a:rPr>
              <a:t>怎样分析一个人物形象？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4846320" cy="566928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4F1EA"/>
                </a:solidFill>
                <a:latin typeface="微软雅黑"/>
                <a:ea typeface="微软雅黑"/>
              </a:rPr>
              <a:t>概括性格三步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3154680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06324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找依据：从人物的言行、心理、外貌中提取信息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3813048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72160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作分析：由具体表现推断性格特征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71416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37997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扣文本：结论紧扣原文，忌贴标签、空概括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194560"/>
            <a:ext cx="4846320" cy="566928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4F1EA"/>
                </a:solidFill>
                <a:latin typeface="微软雅黑"/>
                <a:ea typeface="微软雅黑"/>
              </a:rPr>
              <a:t>塑造手法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3154680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306324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正面描写：肖像、语言、动作、心理、神态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3813048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72160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侧面烘托：以他人、环境、情节反衬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4471416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437997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细节描写：一个动作、一件小物见人物之魂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C626E"/>
                </a:solidFill>
                <a:latin typeface="Georgia"/>
                <a:ea typeface="Georgia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ck_xiaoshuo_renwu.png"/>
          <p:cNvPicPr>
            <a:picLocks noChangeAspect="1"/>
          </p:cNvPicPr>
          <p:nvPr/>
        </p:nvPicPr>
        <p:blipFill>
          <a:blip r:embed="rId2"/>
          <a:srcRect l="28062" r="28062"/>
          <a:stretch>
            <a:fillRect/>
          </a:stretch>
        </p:blipFill>
        <p:spPr>
          <a:xfrm>
            <a:off x="6842455" y="0"/>
            <a:ext cx="534924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1051560"/>
            <a:ext cx="5287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B8894B"/>
                </a:solidFill>
                <a:latin typeface="Georgia"/>
                <a:ea typeface="Georgia"/>
              </a:rPr>
              <a:t>人物 · 作用题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52879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 i="0">
                <a:solidFill>
                  <a:srgbClr val="20242E"/>
                </a:solidFill>
                <a:latin typeface="楷体"/>
                <a:ea typeface="楷体"/>
              </a:rPr>
              <a:t>这个人物在文中有什么作用？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2331720"/>
            <a:ext cx="640080" cy="381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651760"/>
            <a:ext cx="528797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主要人物：承载主题，作者借其命运表达思想情感。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次要人物：衬托主角、推动情节、渲染氛围、见证叙事。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“我”的作用：作为线索串联全文，增强真实感与代入感。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答法：从情节、人物（主角）、主题三个维度分点作答。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C626E"/>
                </a:solidFill>
                <a:latin typeface="Georgia"/>
                <a:ea typeface="Georgia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xiaoshuo_qingjie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42E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B8894B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794760"/>
            <a:ext cx="1463040" cy="3175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977639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4F1EA"/>
                </a:solidFill>
                <a:latin typeface="楷体"/>
                <a:ea typeface="楷体"/>
              </a:rPr>
              <a:t>情节与环境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0749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4F1EA"/>
                </a:solidFill>
                <a:latin typeface="微软雅黑"/>
                <a:ea typeface="微软雅黑"/>
              </a:rPr>
              <a:t>故事怎样展开，世界怎样铺陈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B8894B"/>
                </a:solidFill>
                <a:latin typeface="Georgia"/>
                <a:ea typeface="Georgia"/>
              </a:rPr>
              <a:t>情节 · 结构与作用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0242E"/>
                </a:solidFill>
                <a:latin typeface="楷体"/>
                <a:ea typeface="楷体"/>
              </a:rPr>
              <a:t>情节不只是“发生了什么”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4846320" cy="566928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4F1EA"/>
                </a:solidFill>
                <a:latin typeface="微软雅黑"/>
                <a:ea typeface="微软雅黑"/>
              </a:rPr>
              <a:t>情节手法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3154680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06324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线索：明线暗线、单线复线，串起全文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3813048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72160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技巧：伏笔、铺垫、悬念、突转、照应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71416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37997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结尾：欧·亨利式突转、戛然而止、留白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194560"/>
            <a:ext cx="4846320" cy="566928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4F1EA"/>
                </a:solidFill>
                <a:latin typeface="微软雅黑"/>
                <a:ea typeface="微软雅黑"/>
              </a:rPr>
              <a:t>情节作用四角度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3154680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306324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对情节：推动发展、制造波澜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3813048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72160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对人物：表现或丰富人物性格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4471416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437997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对主题：暗示、深化、揭示主旨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5129783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5038344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对读者：设置悬念、引发思考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C626E"/>
                </a:solidFill>
                <a:latin typeface="Georgia"/>
                <a:ea typeface="Georgia"/>
              </a:rPr>
              <a:t>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ck_xiaoshuo_huanjing.png"/>
          <p:cNvPicPr>
            <a:picLocks noChangeAspect="1"/>
          </p:cNvPicPr>
          <p:nvPr/>
        </p:nvPicPr>
        <p:blipFill>
          <a:blip r:embed="rId2"/>
          <a:srcRect l="28062" r="28062"/>
          <a:stretch>
            <a:fillRect/>
          </a:stretch>
        </p:blipFill>
        <p:spPr>
          <a:xfrm>
            <a:off x="0" y="0"/>
            <a:ext cx="534924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79" y="1051560"/>
            <a:ext cx="5287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B8894B"/>
                </a:solidFill>
                <a:latin typeface="Georgia"/>
                <a:ea typeface="Georgia"/>
              </a:rPr>
              <a:t>环境 · 描写的功能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79" y="1371600"/>
            <a:ext cx="52879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 i="0">
                <a:solidFill>
                  <a:srgbClr val="20242E"/>
                </a:solidFill>
                <a:latin typeface="楷体"/>
                <a:ea typeface="楷体"/>
              </a:rPr>
              <a:t>环境从来不是背景板</a:t>
            </a:r>
          </a:p>
        </p:txBody>
      </p:sp>
      <p:sp>
        <p:nvSpPr>
          <p:cNvPr id="5" name="Rectangle 4"/>
          <p:cNvSpPr/>
          <p:nvPr/>
        </p:nvSpPr>
        <p:spPr>
          <a:xfrm>
            <a:off x="6144767" y="2331720"/>
            <a:ext cx="640080" cy="381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79" y="2651760"/>
            <a:ext cx="528797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自然环境：交代时间地点、渲染气氛、烘托心情、暗示社会背景。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社会环境：交代时代与人物关系，揭示人物命运的根源。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推动情节：特定环境常成为事件发生的契机或转折。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深化主题：环境往往是主题的象征与投射，切忌只答“交代背景”。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C626E"/>
                </a:solidFill>
                <a:latin typeface="Georgia"/>
                <a:ea typeface="Georgia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xiaoshuo_quote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42E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280160"/>
            <a:ext cx="9235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B8894B"/>
                </a:solidFill>
                <a:latin typeface="Georgia"/>
                <a:ea typeface="Georgia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377440"/>
            <a:ext cx="9235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 i="1">
                <a:solidFill>
                  <a:srgbClr val="F4F1EA"/>
                </a:solidFill>
                <a:latin typeface="楷体"/>
                <a:ea typeface="楷体"/>
              </a:rPr>
              <a:t>悲剧就是把有价值的东西毁灭给人看。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481328" y="5212080"/>
            <a:ext cx="640080" cy="381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53949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00">
                <a:solidFill>
                  <a:srgbClr val="F4F1EA"/>
                </a:solidFill>
                <a:latin typeface="微软雅黑"/>
                <a:ea typeface="微软雅黑"/>
              </a:rPr>
              <a:t>—— 鲁迅 · 读小说，要读出人物命运背后的那份深意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xiaoshuo_zhuti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42E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B8894B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794760"/>
            <a:ext cx="1463040" cy="3175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977639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4F1EA"/>
                </a:solidFill>
                <a:latin typeface="楷体"/>
                <a:ea typeface="楷体"/>
              </a:rPr>
              <a:t>主题与叙事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0749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4F1EA"/>
                </a:solidFill>
                <a:latin typeface="微软雅黑"/>
                <a:ea typeface="微软雅黑"/>
              </a:rPr>
              <a:t>读到最后，作者到底想说什么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ck_xiaoshuo_zhuti.png"/>
          <p:cNvPicPr>
            <a:picLocks noChangeAspect="1"/>
          </p:cNvPicPr>
          <p:nvPr/>
        </p:nvPicPr>
        <p:blipFill>
          <a:blip r:embed="rId2"/>
          <a:srcRect l="28062" r="28062"/>
          <a:stretch>
            <a:fillRect/>
          </a:stretch>
        </p:blipFill>
        <p:spPr>
          <a:xfrm>
            <a:off x="6842455" y="0"/>
            <a:ext cx="534924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1051560"/>
            <a:ext cx="5287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B8894B"/>
                </a:solidFill>
                <a:latin typeface="Georgia"/>
                <a:ea typeface="Georgia"/>
              </a:rPr>
              <a:t>主题 · 由表及里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52879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 i="0">
                <a:solidFill>
                  <a:srgbClr val="20242E"/>
                </a:solidFill>
                <a:latin typeface="楷体"/>
                <a:ea typeface="楷体"/>
              </a:rPr>
              <a:t>怎样准确把握主题？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2331720"/>
            <a:ext cx="640080" cy="381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651760"/>
            <a:ext cx="528797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从人物命运看：主角的遭遇与结局往往指向作者的态度。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从情节冲突看：矛盾冲突的实质，常是主题的所在。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从环境背景看：时代与社会背景暗示主题的深广。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从标题细节看：标题、反复出现的意象往往是主题的钥匙。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表述要有分寸：既不拔高，也不矮化，忠于文本作合理解读。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C626E"/>
                </a:solidFill>
                <a:latin typeface="Georgia"/>
                <a:ea typeface="Georgia"/>
              </a:rPr>
              <a:t>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B8894B"/>
                </a:solidFill>
                <a:latin typeface="Georgia"/>
                <a:ea typeface="Georgia"/>
              </a:rPr>
              <a:t>叙事艺术 · 新题型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0242E"/>
                </a:solidFill>
                <a:latin typeface="楷体"/>
                <a:ea typeface="楷体"/>
              </a:rPr>
              <a:t>现代命题越来越考“怎么讲故事”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4846320" cy="566928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4F1EA"/>
                </a:solidFill>
                <a:latin typeface="微软雅黑"/>
                <a:ea typeface="微软雅黑"/>
              </a:rPr>
              <a:t>叙事视角与人称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3154680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06324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第一人称：真实亲切，便于抒情，但视野受限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3813048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72160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第三人称：全知视角，自由灵活，客观全面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71416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37997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视角转换：丰富层次，制造张力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194560"/>
            <a:ext cx="4846320" cy="566928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4F1EA"/>
                </a:solidFill>
                <a:latin typeface="微软雅黑"/>
                <a:ea typeface="微软雅黑"/>
              </a:rPr>
              <a:t>叙事顺序与语言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3154680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306324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顺叙、倒叙、插叙、补叙各有其用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3813048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72160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叙事节奏：详略、快慢控制阅读体验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4471416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437997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语言风格：质朴、幽默、冷峻、诗化——各成韵味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C626E"/>
                </a:solidFill>
                <a:latin typeface="Georgia"/>
                <a:ea typeface="Georgia"/>
              </a:rPr>
              <a:t>08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B8894B"/>
                </a:solidFill>
                <a:latin typeface="Georgia"/>
                <a:ea typeface="Georgia"/>
              </a:rPr>
              <a:t>答题 · 通用心法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0242E"/>
                </a:solidFill>
                <a:latin typeface="楷体"/>
                <a:ea typeface="楷体"/>
              </a:rPr>
              <a:t>小说题这样拿分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2057400"/>
            <a:ext cx="640080" cy="381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633472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514600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先通读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把握情节脉络与人物关系，建立整体感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21024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502152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审题型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判断考人物、情节、环境还是主题，对症下药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608576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489704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多角度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作用题从情节、人物、主题、读者多维展开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2633472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2514600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扣文本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任何结论都要有原文依据，引词句佐证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3621024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3502152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分点答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术语准确、要点清晰，按分值给足要点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C626E"/>
                </a:solidFill>
                <a:latin typeface="Georgia"/>
                <a:ea typeface="Georgia"/>
              </a:rPr>
              <a:t>09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xiaoshuo_close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42E">
              <a:alpha val="4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4F1EA"/>
                </a:solidFill>
                <a:latin typeface="楷体"/>
                <a:ea typeface="楷体"/>
              </a:rPr>
              <a:t>读懂一篇小说，就是读懂一段人生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1" y="2971800"/>
            <a:ext cx="822960" cy="381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291840"/>
            <a:ext cx="96012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F4F1EA"/>
                </a:solidFill>
                <a:latin typeface="微软雅黑"/>
                <a:ea typeface="微软雅黑"/>
              </a:rPr>
              <a:t>小说阅读考的是共情与思辨——既要走进人物的悲欢，也要跳出来看清作者的匠心。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F4F1EA"/>
                </a:solidFill>
                <a:latin typeface="微软雅黑"/>
                <a:ea typeface="微软雅黑"/>
              </a:rPr>
              <a:t>多读经典，多做规范训练，你会发现：那些文字里，藏着理解世界的另一种方式。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spc="300">
                <a:solidFill>
                  <a:srgbClr val="F4F1EA"/>
                </a:solidFill>
                <a:latin typeface="Georgia"/>
                <a:ea typeface="Georgia"/>
              </a:rPr>
              <a:t>语文组 · 高三小说专题 · 下课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