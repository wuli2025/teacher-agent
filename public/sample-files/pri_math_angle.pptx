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上课先不急着说课题。指着屏幕问：这上面藏着好多角，你能找到几个？剪刀张开的地方、钟表两根针中间、滑梯和地面之间，都有角。</a:t>
            </a:r>
          </a:p>
          <a:p>
            <a:r>
              <a:rPr lang="zh-CN"/>
              <a:t>等孩子指出三四个，再说：角有大有小，可到底大多少？光靠眼睛看，说不准。今天我们就学一个能把角量出来的本领——角的度量。</a:t>
            </a:r>
          </a:p>
          <a:p>
            <a:r>
              <a:rPr lang="zh-CN"/>
              <a:t>提醒：不要在这里讲量角器，只留悬念。这页停 1 分钟就够。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讲故事：小明和小红各画了一个角。小明说我的大，小红说我的大，两个人吵起来了。</a:t>
            </a:r>
          </a:p>
          <a:p>
            <a:r>
              <a:rPr lang="zh-CN"/>
              <a:t>请全班举手表决——一定会分成两派，故意让他们吵一会儿，这个冲突就是本课的动力。</a:t>
            </a:r>
          </a:p>
          <a:p>
            <a:r>
              <a:rPr lang="zh-CN"/>
              <a:t>然后追问：光吵能吵出结果吗？（不能）那怎么办？引导出「要有个东西能量一量，用数说话」。</a:t>
            </a:r>
          </a:p>
          <a:p>
            <a:r>
              <a:rPr lang="zh-CN"/>
              <a:t>如果有学生提出「把两个角叠在一起比」，要表扬，并顺势说：叠得上能比出谁大，可是大多少呢？还是说不清。所以我们需要工具。</a:t>
            </a:r>
          </a:p>
          <a:p>
            <a:r>
              <a:rPr lang="zh-CN"/>
              <a:t>学生常见反应：以为角的两条边画得长，角就大。这个错先不纠，记在心里，第 5 页看量角器时再破。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这页是给学生的「今天的任务清单」，用「我能」开头，让目标属于他们自己。</a:t>
            </a:r>
          </a:p>
          <a:p>
            <a:r>
              <a:rPr lang="zh-CN"/>
              <a:t>带着全班读一遍，每读一条就说一句大白话：第一条是认工具，第二条是学说法，第三条是练本领，第四条是——今天最容易摔跟头的地方。</a:t>
            </a:r>
          </a:p>
          <a:p>
            <a:r>
              <a:rPr lang="zh-CN"/>
              <a:t>特别点一下第四条：老师先给大家透个底，今天全班至少一半人会在这里读错，谁能不错，谁就是今天的量角小能手。把难点提前亮出来，学生反而会盯紧。</a:t>
            </a:r>
          </a:p>
          <a:p>
            <a:r>
              <a:rPr lang="zh-CN"/>
              <a:t>本页 1 分钟，别逐字解释「零刻度线」，那是第 5 页的事。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过渡页，一句话带过：吵不出结果，那就请出今天的新朋友。</a:t>
            </a:r>
          </a:p>
          <a:p>
            <a:r>
              <a:rPr lang="zh-CN"/>
              <a:t>把实物量角器举起来（每人手里也有一把），让学生先自己摸一摸、看一看，30 秒，然后翻下一页。</a:t>
            </a:r>
          </a:p>
          <a:p>
            <a:r>
              <a:rPr lang="zh-CN"/>
              <a:t>提醒：先摸后讲，比先讲后摸记得牢。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让学生拿起自己的量角器，老师说一样，学生指一样，指完举起来给老师看——这是本节课的第一次全员参与，一定要做。</a:t>
            </a:r>
          </a:p>
          <a:p>
            <a:r>
              <a:rPr lang="zh-CN"/>
              <a:t>中心：用手指按住，说「这是量角器的肚脐眼」。零刻度线：让学生用手指从中心往左划到 0，再从中心往右划到 0，划两遍。</a:t>
            </a:r>
          </a:p>
          <a:p>
            <a:r>
              <a:rPr lang="zh-CN"/>
              <a:t>两圈刻度：这是全课的伏笔。这里只说事实，不下结论——量角器上有两圈数，一圈从左边开始数，一圈从右边开始数。为什么要两圈？先卖关子：待会儿你就知道它有多贴心，也有多坑人。</a:t>
            </a:r>
          </a:p>
          <a:p>
            <a:r>
              <a:rPr lang="zh-CN"/>
              <a:t>回收第 2 页的错误：让画长边的同学把量角器扣上去看，两条边画多长，量角器上的数都不变。角的大小只跟张开的程度有关，跟边画多长没关系。这句要板书。</a:t>
            </a:r>
          </a:p>
          <a:p>
            <a:r>
              <a:rPr lang="zh-CN"/>
              <a:t>注意：屏幕上这张图不带数字刻度，具体数字请学生看自己手里的实物，眼睛要落在实物上。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先教怎么写：右上角一个小圆圈，像个小气球，要写在数字右上方，写小一点，别写成 60 度的「度」字。让学生在本子上写三个：1°、90°、180°，老师巡视，专捉把圈写太大或写在下面的。</a:t>
            </a:r>
          </a:p>
          <a:p>
            <a:r>
              <a:rPr lang="zh-CN"/>
              <a:t>再教怎么读：60° 读作「六十度」，不读「六十圈」「六十点」。</a:t>
            </a:r>
          </a:p>
          <a:p>
            <a:r>
              <a:rPr lang="zh-CN"/>
              <a:t>1° 有多大？举例：这么小一点点，比一根头发丝张开还小，所以量角器上密密麻麻的。</a:t>
            </a:r>
          </a:p>
          <a:p>
            <a:r>
              <a:rPr lang="zh-CN"/>
              <a:t>90° 直角：让学生举起三角尺上的直角，或者用课本的角比一比，直角是老朋友，在这里接上就行。</a:t>
            </a:r>
          </a:p>
          <a:p>
            <a:r>
              <a:rPr lang="zh-CN"/>
              <a:t>180° 平角：老师用两条胳膊演示，从直角慢慢张开到一条直线。</a:t>
            </a:r>
          </a:p>
          <a:p>
            <a:r>
              <a:rPr lang="zh-CN"/>
              <a:t>这页 2 分钟，不要展开讲周角，那是后面的内容。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过渡页。说：工具认识了，单位也知道了，现在到了真本事——怎么量。</a:t>
            </a:r>
          </a:p>
          <a:p>
            <a:r>
              <a:rPr lang="zh-CN"/>
              <a:t>提前打预防针：量角就三步，一步都不能少，少一步就量错。看老师先做一遍，你们只看不动手。</a:t>
            </a:r>
          </a:p>
          <a:p>
            <a:r>
              <a:rPr lang="zh-CN"/>
              <a:t>这页 15 秒翻过。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这页配合实物投影或黑板大量角器，老师完整示范一遍，边做边念口诀，学生只看不动手。</a:t>
            </a:r>
          </a:p>
          <a:p>
            <a:r>
              <a:rPr lang="zh-CN"/>
              <a:t>示范要慢，慢到有点夸张：把量角器往下压，压到中心正好盖住角的尖尖——停三秒让全班看清；再转量角器，让 0 那条线正好压住角的一条边——再停三秒。</a:t>
            </a:r>
          </a:p>
          <a:p>
            <a:r>
              <a:rPr lang="zh-CN"/>
              <a:t>强调「先摆对，再读数」。很多孩子一拿到量角器就急着找数字，摆得歪七扭八，读出来的数当然错。跟他们说：摆量角器像给角穿鞋，穿歪了走不了路。</a:t>
            </a:r>
          </a:p>
          <a:p>
            <a:r>
              <a:rPr lang="zh-CN"/>
              <a:t>示范完不要马上让学生动手，先看下一页把三步定下来。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三步就是本课的骨架，请全班齐念三遍：点对点、线对线、看另一边。念的时候配动作——两手指尖碰一下（点对点），两手掌合一下（线对线），一只手往外一指（看另一边）。有动作的口诀，孩子一周后还记得。</a:t>
            </a:r>
          </a:p>
          <a:p>
            <a:r>
              <a:rPr lang="zh-CN"/>
              <a:t>逐步讲解：</a:t>
            </a:r>
          </a:p>
          <a:p>
            <a:r>
              <a:rPr lang="zh-CN"/>
              <a:t>第一步「点对点」，中心是量角器的肚脐眼，角的尖尖叫顶点，两个点要重合，不能差一丁点。</a:t>
            </a:r>
          </a:p>
          <a:p>
            <a:r>
              <a:rPr lang="zh-CN"/>
              <a:t>第二步「线对线」，0 那条线要像尺子一样压在角的边上，边压在线上，一点缝都不留。这里学生最常出错的是压到了 180 那头去，先不点破，下一页专门治。</a:t>
            </a:r>
          </a:p>
          <a:p>
            <a:r>
              <a:rPr lang="zh-CN"/>
              <a:t>第三步「看另一边」，角的另一条边穿过刻度，穿到哪个数，这个角就是多少度。如果边太短，够不到刻度怎么办？告诉他们：把边用铅笔延长一点点，角的大小不会变（呼应第 5 页）。</a:t>
            </a:r>
          </a:p>
          <a:p>
            <a:r>
              <a:rPr lang="zh-CN"/>
              <a:t>三步念完再动手，秩序会好很多。这页 4 分钟。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先解开第 5 页留下的悬念：量角器为什么要做两圈数？因为角有的开口朝右，有的开口朝左。做两圈，是为了让你从哪边量都方便——它是好心，不是故意坑你。</a:t>
            </a:r>
          </a:p>
          <a:p>
            <a:r>
              <a:rPr lang="zh-CN"/>
              <a:t>用实物演示：同一个角，先用左边的 0 压边（走左边那条路），再把量角器翻过来用右边的 0 压边（走右边那条路），两次读出来的数应该一样大。让学生看到：路不同，答案是同一个。</a:t>
            </a:r>
          </a:p>
          <a:p>
            <a:r>
              <a:rPr lang="zh-CN"/>
              <a:t>口头强调核心规则：从哪条零刻度线开始，就顺着那一圈往下数。 0 在左边就一路往右数，0 在右边就一路往左数。千万别从左边的 0 出发，中途跳到另一圈去，那就串行了。</a:t>
            </a:r>
          </a:p>
          <a:p>
            <a:r>
              <a:rPr lang="zh-CN"/>
              <a:t>这页只说清「为什么两圈」和「怎么选路」，具体怎么防错，下一页是主战场。3 分钟。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这是全课最重点的一页，至少 6 分钟，别赶。</a:t>
            </a:r>
          </a:p>
          <a:p>
            <a:r>
              <a:rPr lang="zh-CN"/>
              <a:t>先制造错误：老师故意在实物投影上量一个 60° 的角，读成「120°」，然后一脸认真地问：对吗？一定有孩子喊不对，也一定有孩子跟着点头。这时候追问喊不对的：你怎么看出来的？把「它比直角小」这句话从学生嘴里逼出来，比老师讲十遍强。</a:t>
            </a:r>
          </a:p>
          <a:p>
            <a:r>
              <a:rPr lang="zh-CN"/>
              <a:t>讲明白错因：60° 和 120° 就贴在同一条刻度线上，一个是内圈，一个是外圈。眼睛一晃就抓错那一个。这不是粗心，是量角器的两圈数在打架。</a:t>
            </a:r>
          </a:p>
          <a:p>
            <a:r>
              <a:rPr lang="zh-CN"/>
              <a:t>给出判断口诀，写在黑板上不擦：先看角是锐角还是钝角，再定该读哪一圈。 锐角（比直角瘦）读出来一定小于 90；钝角（比直角胖）读出来一定大于 90。</a:t>
            </a:r>
          </a:p>
          <a:p>
            <a:r>
              <a:rPr lang="zh-CN"/>
              <a:t>教一个随手能用的招：拿三角尺的直角往这个角上一比，一眼就知道胖还是瘦。或者用课本的角比。</a:t>
            </a:r>
          </a:p>
          <a:p>
            <a:r>
              <a:rPr lang="zh-CN"/>
              <a:t>再练三个：老师报角，学生只答「该读比 90 大的还是比 90 小的」，不用报具体数。快问快答，全班齐答，练的就是那一秒的自查反射。</a:t>
            </a:r>
          </a:p>
          <a:p>
            <a:r>
              <a:rPr lang="zh-CN"/>
              <a:t>最后把自查那句话让全班念一遍：读完停一秒，比直角小的角，数不能比 90 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这页是学生动手的主场，老师少说话，多巡视。</a:t>
            </a:r>
          </a:p>
          <a:p>
            <a:r>
              <a:rPr lang="zh-CN"/>
              <a:t>宣布任务前把三步口诀再齐念一遍，然后计时开始。老师带一支红笔下去转，专找这三种人：一是量角器摆歪的（中心没对上顶点），二是读反圈的（锐角读成一百多度），三是不敢动手的。</a:t>
            </a:r>
          </a:p>
          <a:p>
            <a:r>
              <a:rPr lang="zh-CN"/>
              <a:t>遇到读反的，不要直接报答案。只问一句：这个角比直角小还是大？让他自己撞回口诀上。这一问比给答案有用十倍。</a:t>
            </a:r>
          </a:p>
          <a:p>
            <a:r>
              <a:rPr lang="zh-CN"/>
              <a:t>同桌互查环节：两人交换本子，只查一件事——锐角是不是写了小于 90 的数。查出来的画个圈，不用改，等会儿讲评。</a:t>
            </a:r>
          </a:p>
          <a:p>
            <a:r>
              <a:rPr lang="zh-CN"/>
              <a:t>巡视时收集 2 个典型错例，等下投影出来全班辨析，报错不报人：我们不说这是谁的，我们只看它错在哪一步。</a:t>
            </a:r>
          </a:p>
          <a:p>
            <a:r>
              <a:rPr lang="zh-CN"/>
              <a:t>如果时间紧，量 2 个角也行，宁可少量几个，也要保证每个孩子都动了手。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有了度数，角的分类就不再靠感觉了，可以用数说话。这页是把上面学的度数用起来，别当新知识重讲。</a:t>
            </a:r>
          </a:p>
          <a:p>
            <a:r>
              <a:rPr lang="zh-CN"/>
              <a:t>带着做动作：老师说锐角，学生两只胳膊张小一点；说直角，张成方方正正；说钝角，张大一点；说平角，两臂平举成一条直线。做两轮，全班站起来做更好。</a:t>
            </a:r>
          </a:p>
          <a:p>
            <a:r>
              <a:rPr lang="zh-CN"/>
              <a:t>把每一类和数对上：锐角小于 90°，直角等于 90°，钝角在 90° 和 180° 中间，平角是 180°。</a:t>
            </a:r>
          </a:p>
          <a:p>
            <a:r>
              <a:rPr lang="zh-CN"/>
              <a:t>回扣第 11 页的口诀：现在明白为什么先看锐角钝角了吧？因为看出是锐角，就已经知道答案该比 90 小，读数时就不会被另一圈骗了。这句话一定要说，它把分类和防错缝到了一起。</a:t>
            </a:r>
          </a:p>
          <a:p>
            <a:r>
              <a:rPr lang="zh-CN"/>
              <a:t>学生易错：以为角越「大」（边画得越长）就是钝角。再拿量角器扣一次，边长不改变角的大小。</a:t>
            </a:r>
          </a:p>
          <a:p>
            <a:r>
              <a:rPr lang="zh-CN"/>
              <a:t>这页 3 分钟。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小结不要老师一个人念。用提问的方式让学生把这四条说出来：量角器上有哪三样？量角哪三步？读数怎么才不读反？角的大小跟什么有关、跟什么没关系？</a:t>
            </a:r>
          </a:p>
          <a:p>
            <a:r>
              <a:rPr lang="zh-CN"/>
              <a:t>每问一条，全班齐答一遍，答不出来的往回翻那一页看一眼再答。</a:t>
            </a:r>
          </a:p>
          <a:p>
            <a:r>
              <a:rPr lang="zh-CN"/>
              <a:t>重点回到第 3 页的目标清单：对照着看，今天说好的四件事，我们是不是都做到了？做到一条打一个勾，让学生有完成感。</a:t>
            </a:r>
          </a:p>
          <a:p>
            <a:r>
              <a:rPr lang="zh-CN"/>
              <a:t>最后留一个小悬念：今天我们会量角了，那能不能自己画一个 60° 的角出来呢？下节课见。</a:t>
            </a:r>
          </a:p>
          <a:p>
            <a:r>
              <a:rPr lang="zh-CN"/>
              <a:t>这页 2 分钟。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作业当堂布置清楚，让学生记在作业本上，别让他们回家猜。</a:t>
            </a:r>
          </a:p>
          <a:p>
            <a:r>
              <a:rPr lang="zh-CN"/>
              <a:t>说明分层：必做是每个人的底线，就 3 个角，不多；选做是给学有余力的，找不到角也没关系；挑战纯属好玩，不用交、不检查、不计分。</a:t>
            </a:r>
          </a:p>
          <a:p>
            <a:r>
              <a:rPr lang="zh-CN"/>
              <a:t>特别强调双减要求：这份作业总共不超过 15 分钟，不需要家长签字，不需要家长辅导。 如果哪个孩子做了 20 分钟还没做完，那是老师的题出多了，第二天告诉老师，别硬撑。</a:t>
            </a:r>
          </a:p>
          <a:p>
            <a:r>
              <a:rPr lang="zh-CN"/>
              <a:t>把「挑战」那条讲得轻松点：回家考考爸爸妈妈，看他们会不会把 60° 读成 120°——大人也经常读反哦。孩子会很有兴趣，而且教别人一遍，自己就真会了。</a:t>
            </a:r>
          </a:p>
          <a:p>
            <a:r>
              <a:rPr lang="zh-CN"/>
              <a:t>提醒学生把量角器放回文具袋，别弄丢，明天还要用。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收尾一句话：以前两个人吵谁的角大，吵不出结果；现在我们有量角器，有度数，一量就知道，用数说话。</a:t>
            </a:r>
          </a:p>
          <a:p>
            <a:r>
              <a:rPr lang="zh-CN"/>
              <a:t>表扬今天那些「读完停一秒」自查的孩子，点两个名字，具体表扬到行为，不是笼统说真棒。</a:t>
            </a:r>
          </a:p>
          <a:p>
            <a:r>
              <a:rPr lang="zh-CN"/>
              <a:t>提醒下节课带好量角器和铅笔，我们要自己画角。</a:t>
            </a:r>
          </a:p>
          <a:p>
            <a:r>
              <a:rPr lang="zh-CN"/>
              <a:t>下课。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数学 · 四年级上册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角的度量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认识量角器　用量角器量角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情境导入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这两个角，谁大？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两个小朋友吵起来了，你帮他们评评理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今天我能……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认识量角器，找到中心、零刻度线、内外圈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知道量角的单位是「度」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会写、会读：60°、90°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会用三步量出一个角的度数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300" b="0" i="0">
                <a:solidFill>
                  <a:srgbClr val="5D7187"/>
                </a:solidFill>
                <a:latin typeface="Calibri"/>
                <a:ea typeface="Microsoft YaHei"/>
              </a:rPr>
              <a:t>点对点、线对线、看另一边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600" b="0" i="0">
                <a:solidFill>
                  <a:srgbClr val="16324F"/>
                </a:solidFill>
                <a:latin typeface="Calibri"/>
                <a:ea typeface="Microsoft YaHei"/>
              </a:rPr>
              <a:t>读数不读反：先看锐角还是钝角，再定读哪一圈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先认识我们的新工具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认识量角器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0" t="6801" r="0" b="6801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900" b="1" i="0">
                <a:solidFill>
                  <a:srgbClr val="1F6FD6"/>
                </a:solidFill>
                <a:latin typeface="Calibri"/>
                <a:ea typeface="Microsoft YaHei"/>
              </a:rPr>
              <a:t>找一找这三样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中心：半圆最下面正中间那个点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量角时它要对准角的尖尖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零刻度线：从中心出发的那条 0 的线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左边一条，右边也有一条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两圈刻度：里面一圈，外面一圈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一圈从左往右数，一圈从右往左数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角的单位：度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1°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一度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半圆平均分成 180 份，一份就是 1°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90°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直角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课本角、黑板角，都是它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1F6FD6"/>
                </a:solidFill>
                <a:latin typeface="Calibri"/>
                <a:ea typeface="Microsoft YaHei"/>
              </a:rPr>
              <a:t>180°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16324F"/>
                </a:solidFill>
                <a:latin typeface="Calibri"/>
                <a:ea typeface="Microsoft YaHei"/>
              </a:rPr>
              <a:t>平角</a:t>
            </a:r>
          </a:p>
          <a:p>
            <a:pPr algn="ctr">
              <a:buNone/>
            </a:pPr>
            <a:r>
              <a:rPr lang="zh-CN" sz="1600" b="0" i="0">
                <a:solidFill>
                  <a:srgbClr val="5D7187"/>
                </a:solidFill>
                <a:latin typeface="Calibri"/>
                <a:ea typeface="Microsoft YaHei"/>
              </a:rPr>
              <a:t>两条边拉成一条直线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16324F"/>
                </a:solidFill>
                <a:latin typeface="Calibri"/>
                <a:ea typeface="Microsoft YaHei"/>
              </a:rPr>
              <a:t>学会量角：三步就够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看老师量一次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3200" b="1" i="0">
                <a:solidFill>
                  <a:srgbClr val="1F6FD6"/>
                </a:solidFill>
                <a:latin typeface="Calibri"/>
                <a:ea typeface="Microsoft YaHei"/>
              </a:rPr>
              <a:t>眼睛跟着手走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手要稳，量角器压住不滑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一只手按量角器，一只手扶纸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先把量角器摆对，再去看数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700" b="0" i="0">
                <a:solidFill>
                  <a:srgbClr val="5D7187"/>
                </a:solidFill>
                <a:latin typeface="Calibri"/>
                <a:ea typeface="Microsoft YaHei"/>
              </a:rPr>
              <a:t>摆不对，看到的数一定是错的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000" b="0" i="0">
                <a:solidFill>
                  <a:srgbClr val="16324F"/>
                </a:solidFill>
                <a:latin typeface="Calibri"/>
                <a:ea typeface="Microsoft YaHei"/>
              </a:rPr>
              <a:t>摆好之后，抬头看老师给的口诀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量角三步骤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2457450" y="2381250"/>
            <a:ext cx="7258050" cy="28575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224790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点对点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量角器的中心，对准角的尖尖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（角的顶点）</a:t>
            </a:r>
          </a:p>
        </p:txBody>
      </p:sp>
      <p:sp>
        <p:nvSpPr>
          <p:cNvPr id="15" name="step15"/>
          <p:cNvSpPr/>
          <p:nvPr/>
        </p:nvSpPr>
        <p:spPr>
          <a:xfrm>
            <a:off x="5876925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4391025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线对线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零刻度线，压住角的一条边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压严实，不留缝</a:t>
            </a:r>
          </a:p>
        </p:txBody>
      </p:sp>
      <p:sp>
        <p:nvSpPr>
          <p:cNvPr id="17" name="step17"/>
          <p:cNvSpPr/>
          <p:nvPr/>
        </p:nvSpPr>
        <p:spPr>
          <a:xfrm>
            <a:off x="9505950" y="2190750"/>
            <a:ext cx="419100" cy="419100"/>
          </a:xfrm>
          <a:prstGeom prst="ellipse">
            <a:avLst/>
          </a:prstGeom>
          <a:solidFill>
            <a:srgbClr val="1F6FD6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FFFFF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8020050" y="2819400"/>
            <a:ext cx="3400425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16324F"/>
                </a:solidFill>
                <a:latin typeface="Calibri"/>
                <a:ea typeface="Microsoft YaHei"/>
              </a:rPr>
              <a:t>看另一边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顺着另一条边看过去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5D7187"/>
                </a:solidFill>
                <a:latin typeface="Calibri"/>
                <a:ea typeface="Microsoft YaHei"/>
              </a:rPr>
              <a:t>边指着几，角就是几度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为什么有两圈数？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从左边开始量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零刻度线在左边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读外圈的数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数字从左往右越来越大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边开口朝右的角，走这条路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1F6FD6"/>
                </a:solidFill>
                <a:latin typeface="Calibri"/>
                <a:ea typeface="Microsoft YaHei"/>
              </a:rPr>
              <a:t>从右边开始量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零刻度线在右边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读内圈的数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100" b="0" i="0">
                <a:solidFill>
                  <a:srgbClr val="5D7187"/>
                </a:solidFill>
                <a:latin typeface="Calibri"/>
                <a:ea typeface="Microsoft YaHei"/>
              </a:rPr>
              <a:t>数字从右往左越来越大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400" b="0" i="0">
                <a:solidFill>
                  <a:srgbClr val="16324F"/>
                </a:solidFill>
                <a:latin typeface="Calibri"/>
                <a:ea typeface="Microsoft YaHei"/>
              </a:rPr>
              <a:t>边开口朝左的角，走这条路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读数不读反：先看胖瘦，再读数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口诀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先看这个角是锐角还是钝角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再定该读哪一圈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比直角小 → 读的数一定比 90 小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比直角大 → 读的数一定比 90 大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62915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典型错误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一个明明比直角小的角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嘴上却读成 120°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读反了，读到另一圈去了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正确答案是 60°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1714500"/>
            <a:ext cx="33718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67700" y="1943100"/>
            <a:ext cx="29146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自查一句话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读完停一秒，问自己：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它比直角小，数怎么会比 90 大？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对不上，就换一圈再读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量一量，练一练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任务：量出课本第 X 页上的 3 个角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每量一个，写下度数，比如 45°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做对的样子（做完照着查）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中心压住了顶点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零刻度线压住了一条边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锐角写的数比 90 小，钝角比 90 大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时间：6 分钟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先自己量 4 分钟，再同桌互查 2 分钟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量完举手，老师来看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角的分类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锐角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比直角瘦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小于 90°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像剪刀刚张开一点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72427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直角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方方正正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正好 90°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像课本的角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57950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钝角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比直角胖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大于 90°，小于 180°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像张开的书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1714500"/>
            <a:ext cx="2466975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91625" y="1943100"/>
            <a:ext cx="2009775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1F6FD6"/>
                </a:solidFill>
                <a:latin typeface="Calibri"/>
                <a:ea typeface="Microsoft YaHei"/>
              </a:rPr>
              <a:t>平角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拉成一条直线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正好 180°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200" b="0" i="0">
                <a:solidFill>
                  <a:srgbClr val="16324F"/>
                </a:solidFill>
                <a:latin typeface="Calibri"/>
                <a:ea typeface="Microsoft YaHei"/>
              </a:rPr>
              <a:t>像两只胳膊平举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这节课，我们学会了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量角器上有三样宝贝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中心、零刻度线、内外两圈刻度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量角三步：点对点、线对线、看另一边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一步都不能少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防读反口诀：先看锐角钝角，再定读哪一圈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3200" b="0" i="0">
                <a:solidFill>
                  <a:srgbClr val="5D7187"/>
                </a:solidFill>
                <a:latin typeface="Calibri"/>
                <a:ea typeface="Microsoft YaHei"/>
              </a:rPr>
              <a:t>比直角小，数就不能比 90 大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3500" b="0" i="0">
                <a:solidFill>
                  <a:srgbClr val="16324F"/>
                </a:solidFill>
                <a:latin typeface="Calibri"/>
                <a:ea typeface="Microsoft YaHei"/>
              </a:rPr>
              <a:t>角的大小只看张开多大，跟边画多长没关系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16324F"/>
                </a:solidFill>
                <a:latin typeface="Calibri"/>
                <a:ea typeface="Microsoft YaHei"/>
              </a:rPr>
              <a:t>今天的作业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必做（约 10 分钟）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课本练习中的 3 个角，量一量并写出度数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写完自查：锐角的数有没有超过 90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选做（约 5 分钟，想做才做）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在家里找 2 个角，量一量，记下来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比如：钟表 3 点整两根针的角、剪刀张开的角</a:t>
            </a:r>
          </a:p>
          <a:p>
            <a:pPr algn="l" marL="285750" indent="-285750">
              <a:spcAft>
                <a:spcPts val="4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挑战（不用交，感兴趣的试试）</a:t>
            </a:r>
          </a:p>
          <a:p>
            <a:pPr algn="l" marL="571500" indent="-285750" lvl="1">
              <a:spcAft>
                <a:spcPts val="400"/>
              </a:spcAft>
              <a:buClr>
                <a:srgbClr val="5D7187"/>
              </a:buClr>
              <a:buFont typeface="Arial"/>
              <a:buChar char="–"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教爸爸妈妈量一个角，看他们会不会读反</a:t>
            </a:r>
          </a:p>
          <a:p>
            <a:pPr algn="l" marL="285750" indent="-285750">
              <a:spcAft>
                <a:spcPts val="800"/>
              </a:spcAft>
              <a:buClr>
                <a:srgbClr val="1F6FD6"/>
              </a:buClr>
              <a:buFont typeface="Arial"/>
              <a:buChar char="•"/>
            </a:pPr>
            <a:r>
              <a:rPr lang="zh-CN" sz="2700" b="0" i="0">
                <a:solidFill>
                  <a:srgbClr val="16324F"/>
                </a:solidFill>
                <a:latin typeface="Calibri"/>
                <a:ea typeface="Microsoft YaHei"/>
              </a:rPr>
              <a:t>全部作业不超过 15 分钟，不用家长签字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EEF3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1F6FD6"/>
                </a:solidFill>
                <a:latin typeface="Calibri"/>
                <a:ea typeface="Microsoft YaHei"/>
              </a:rPr>
              <a:t>数学 · 四年级上册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16324F"/>
                </a:solidFill>
                <a:latin typeface="Calibri"/>
                <a:ea typeface="Microsoft YaHei"/>
              </a:rPr>
              <a:t>角，可以量出来了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1F6FD6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5D7187"/>
                </a:solidFill>
                <a:latin typeface="Calibri"/>
                <a:ea typeface="Microsoft YaHei"/>
              </a:rPr>
              <a:t>下节课：我们自己动手画一个角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