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开场先问：矩形面积会算，曲边梯形呢？把「化曲为直」这四个字写在黑板角落，整节课都在兑现它。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让学生自己说出「曲边没法直接套公式」，再引出「用直的去逼近曲的」。约 4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路线图只讲 1 分钟，作用是给学生「我在哪」的坐标。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对着图数矩形：宽都是 Δx，高是 f(ξᵢ)。把「和式」三个字写到黑板上。约 4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逐字念定义：先有 Σ 再有 lim，顺序不能倒。强调 dx 不是装饰，它就是那个「宽」。约 5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三个关键词各一句。第三条最容易被忽略，但它是「定积分是个确定的数」的根据。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【题 1·第 1/5 步】分割：等分区间</a:t>
            </a:r>
          </a:p>
          <a:p>
            <a:r>
              <a:t>（本题定位）定义题的价值不在结果，而在于看清「和式的极限」这四个字。</a:t>
            </a:r>
          </a:p>
          <a:p>
            <a:r>
              <a:t>取右端点作 ξᵢ 只是为了算式好看；取左端点、取中点，极限都一样，这正是定积分「与取法无关」的深意。</a:t>
            </a:r>
          </a:p>
          <a:p>
            <a:r>
              <a:t>把 [0,1] 等分成 n 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【题 1·第 2/5 步】近似代替并求和</a:t>
            </a:r>
          </a:p>
          <a:p>
            <a:r>
              <a:t>（本题定位）定义题的价值不在结果，而在于看清「和式的极限」这四个字。</a:t>
            </a:r>
          </a:p>
          <a:p>
            <a:r>
              <a:t>先把 1/n³ 提到求和号外面——这一步是能不能算下去的关键。</a:t>
            </a:r>
          </a:p>
          <a:p>
            <a:r>
              <a:t>每条矩形：高 × 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【题 1·第 3/5 步】代平方和公式</a:t>
            </a:r>
          </a:p>
          <a:p>
            <a:r>
              <a:t>（本题定位）定义题的价值不在结果，而在于看清「和式的极限」这四个字。</a:t>
            </a:r>
          </a:p>
          <a:p>
            <a:r>
              <a:t>平方和公式要背熟；化成含 1/n 的形式，才好一眼看出极限。</a:t>
            </a:r>
          </a:p>
          <a:p>
            <a:r>
              <a:t>1²+2²+…+n² 的封闭式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【题 1·第 4/5 步】取极限</a:t>
            </a:r>
          </a:p>
          <a:p>
            <a:r>
              <a:t>（本题定位）定义题的价值不在结果，而在于看清「和式的极限」这四个字。</a:t>
            </a:r>
          </a:p>
          <a:p>
            <a:r>
              <a:t>到这一步才第一次用到「极限」；前三步都只是代数运算。</a:t>
            </a:r>
          </a:p>
          <a:p>
            <a:r>
              <a:t>n→∞ 时 1/n→0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【题 1·第 5/5 步】结论</a:t>
            </a:r>
          </a:p>
          <a:p>
            <a:r>
              <a:t>（本题定位）定义题的价值不在结果，而在于看清「和式的极限」这四个字。</a:t>
            </a:r>
          </a:p>
          <a:p>
            <a:r>
              <a:t>对照后面的 N-L 公式：[x³/3]₀¹ = 1/3，一行就出来了——这就是基本定理的威力，但今天先让学生体会它有多难得。</a:t>
            </a:r>
          </a:p>
          <a:p>
            <a:r>
              <a:t>和式的极限就是定积分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【题 2·第 1/5 步】先去绝对值：判正负</a:t>
            </a:r>
          </a:p>
          <a:p>
            <a:r>
              <a:t>（本题定位）带绝对值的定积分，必须先按被积函数的正负拆区间，再分段用 N-L 公式。</a:t>
            </a:r>
          </a:p>
          <a:p>
            <a:r>
              <a:t>让学生先解 x²−1=0 找到分界点，再判断每段的正负号，不要凭感觉。</a:t>
            </a:r>
          </a:p>
          <a:p>
            <a:r>
              <a:t>分界点是 x =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【题 2·第 2/5 步】按分界点拆区间</a:t>
            </a:r>
          </a:p>
          <a:p>
            <a:r>
              <a:t>（本题定位）带绝对值的定积分，必须先按被积函数的正负拆区间，再分段用 N-L 公式。</a:t>
            </a:r>
          </a:p>
          <a:p>
            <a:r>
              <a:t>定积分对区间可加，这是拆的依据；拆完每段的被积函数都不再带绝对值。</a:t>
            </a:r>
          </a:p>
          <a:p>
            <a:r>
              <a:t>区间可加性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【题 2·第 3/5 步】各段求原函数</a:t>
            </a:r>
          </a:p>
          <a:p>
            <a:r>
              <a:t>（本题定位）带绝对值的定积分，必须先按被积函数的正负拆区间，再分段用 N-L 公式。</a:t>
            </a:r>
          </a:p>
          <a:p>
            <a:r>
              <a:t>原函数不唯一（差常数），但代入上下限时常数会抵消，取最简即可。</a:t>
            </a:r>
          </a:p>
          <a:p>
            <a:r>
              <a:t>求导验回去就对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【题 2·第 4/5 步】代入上下限</a:t>
            </a:r>
          </a:p>
          <a:p>
            <a:r>
              <a:t>（本题定位）带绝对值的定积分，必须先按被积函数的正负拆区间，再分段用 N-L 公式。</a:t>
            </a:r>
          </a:p>
          <a:p>
            <a:r>
              <a:t>方括号加上下标是规范写法，批卷时这一步不写会扣过程分。</a:t>
            </a:r>
          </a:p>
          <a:p>
            <a:r>
              <a:t>上限减下限，别写反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【题 2·第 5/5 步】结论</a:t>
            </a:r>
          </a:p>
          <a:p>
            <a:r>
              <a:t>（本题定位）带绝对值的定积分，必须先按被积函数的正负拆区间，再分段用 N-L 公式。</a:t>
            </a:r>
          </a:p>
          <a:p>
            <a:r>
              <a:t>因为被积函数取了绝对值，这个值就等于曲线与 x 轴围成的面积。</a:t>
            </a:r>
          </a:p>
          <a:p>
            <a:r>
              <a:t>它同时也是面积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务必回扣例 1：同一个积分，两种算法，一难一易。让学生自己感叹一下。约 5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四步固定动作，作业按这四步给分。第四步是本讲最容易丢分的地方。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一卡一错，先念错法让学生举手。错法二正是例 2 的考点，错法三是应用题的分水岭。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弹簧做功 W=∫kx dx 可当堂口算一道。强调「认结构」比「记公式」重要。约 4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练习 1 全体动笔 2 分钟；练习 2 找学生上台，重点看他有没有先判号再拆段。约 8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答案是 0，但面积是 1——这个反差正好回收错法三。下节课讲定积分求两曲线间面积。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2103120"/>
            <a:ext cx="128016" cy="148132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ces.png"/>
          <p:cNvPicPr>
            <a:picLocks noChangeAspect="1"/>
          </p:cNvPicPr>
          <p:nvPr/>
        </p:nvPicPr>
        <p:blipFill>
          <a:blip r:embed="rId2"/>
          <a:srcRect l="7252" r="7252"/>
          <a:stretch>
            <a:fillRect/>
          </a:stretch>
        </p:blipFill>
        <p:spPr>
          <a:xfrm>
            <a:off x="7808976" y="1975104"/>
            <a:ext cx="3696919" cy="2432304"/>
          </a:xfrm>
          <a:prstGeom prst="rect">
            <a:avLst/>
          </a:prstGeom>
        </p:spPr>
      </p:pic>
      <p:sp>
        <p:nvSpPr>
          <p:cNvPr id="5" name="tag_4"/>
          <p:cNvSpPr txBox="1"/>
          <p:nvPr/>
        </p:nvSpPr>
        <p:spPr>
          <a:xfrm>
            <a:off x="996696" y="1572768"/>
            <a:ext cx="6446520" cy="36575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高中数学 · 选择性必修</a:t>
            </a:r>
          </a:p>
        </p:txBody>
      </p:sp>
      <p:sp>
        <p:nvSpPr>
          <p:cNvPr id="6" name="h1_5"/>
          <p:cNvSpPr txBox="1"/>
          <p:nvPr/>
        </p:nvSpPr>
        <p:spPr>
          <a:xfrm>
            <a:off x="996696" y="2011680"/>
            <a:ext cx="6446520" cy="763524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定积分与微积分基本定理</a:t>
            </a:r>
          </a:p>
        </p:txBody>
      </p:sp>
      <p:sp>
        <p:nvSpPr>
          <p:cNvPr id="7" name="body_6"/>
          <p:cNvSpPr txBox="1"/>
          <p:nvPr/>
        </p:nvSpPr>
        <p:spPr>
          <a:xfrm>
            <a:off x="996696" y="3054096"/>
            <a:ext cx="6446520" cy="42671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0">
                <a:solidFill>
                  <a:srgbClr val="D6DDE6"/>
                </a:solidFill>
                <a:latin typeface="Microsoft YaHei"/>
                <a:ea typeface="Microsoft YaHei"/>
                <a:cs typeface="Microsoft YaHei"/>
              </a:rPr>
              <a:t>教学主线：直观理解 → 公式表达 → 迁移应用</a:t>
            </a:r>
          </a:p>
        </p:txBody>
      </p:sp>
      <p:sp>
        <p:nvSpPr>
          <p:cNvPr id="8" name="Rectangle 7"/>
          <p:cNvSpPr/>
          <p:nvPr/>
        </p:nvSpPr>
        <p:spPr>
          <a:xfrm>
            <a:off x="996696" y="3803904"/>
            <a:ext cx="2926080" cy="27432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ody_8"/>
          <p:cNvSpPr txBox="1"/>
          <p:nvPr/>
        </p:nvSpPr>
        <p:spPr>
          <a:xfrm>
            <a:off x="996696" y="4041648"/>
            <a:ext cx="6446520" cy="9677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3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一句核心理解：定积分是「和式的极限」，而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3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N-L 公式让这个极限变成一次减法。</a:t>
            </a:r>
          </a:p>
        </p:txBody>
      </p:sp>
      <p:sp>
        <p:nvSpPr>
          <p:cNvPr id="10" name="tag_9"/>
          <p:cNvSpPr txBox="1"/>
          <p:nvPr/>
        </p:nvSpPr>
        <p:spPr>
          <a:xfrm>
            <a:off x="996696" y="5961888"/>
            <a:ext cx="10241280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定积分与微积分基本定理 · 和式极限与 N-L 公式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定积分与微积分基本定理 · 和式极限与 N-L 公式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问题驱动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直边会算，曲边呢？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10134295" y="429768"/>
            <a:ext cx="1371600" cy="402336"/>
          </a:xfrm>
          <a:prstGeom prst="roundRect">
            <a:avLst>
              <a:gd name="adj" fmla="val 2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导入</a:t>
            </a:r>
          </a:p>
        </p:txBody>
      </p:sp>
      <p:sp>
        <p:nvSpPr>
          <p:cNvPr id="11" name="body_10"/>
          <p:cNvSpPr txBox="1"/>
          <p:nvPr/>
        </p:nvSpPr>
        <p:spPr>
          <a:xfrm>
            <a:off x="685800" y="1389888"/>
            <a:ext cx="10820095" cy="507492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1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小学就会算矩形面积；可当上边界换成一条曲线，公式立刻失效：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88820"/>
            <a:ext cx="5227167" cy="118872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988820"/>
            <a:ext cx="68580" cy="1188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tex_q_rect" descr="f_fb8dff940b8c29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833" y="2240280"/>
            <a:ext cx="2959100" cy="6858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278727" y="1988820"/>
            <a:ext cx="5227167" cy="118872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E0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78727" y="1988820"/>
            <a:ext cx="68580" cy="1188720"/>
          </a:xfrm>
          <a:prstGeom prst="rect">
            <a:avLst/>
          </a:prstGeom>
          <a:solidFill>
            <a:srgbClr val="E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tex_q_area" descr="f_63b49f4f542d47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6748" y="1988820"/>
            <a:ext cx="3511126" cy="118872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85800" y="3396996"/>
            <a:ext cx="3454298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96996"/>
            <a:ext cx="68580" cy="19933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ody_19"/>
          <p:cNvSpPr txBox="1"/>
          <p:nvPr/>
        </p:nvSpPr>
        <p:spPr>
          <a:xfrm>
            <a:off x="868680" y="3543300"/>
            <a:ext cx="3088538" cy="41147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直边可拆</a:t>
            </a:r>
          </a:p>
        </p:txBody>
      </p:sp>
      <p:sp>
        <p:nvSpPr>
          <p:cNvPr id="21" name="body_20"/>
          <p:cNvSpPr txBox="1"/>
          <p:nvPr/>
        </p:nvSpPr>
        <p:spPr>
          <a:xfrm>
            <a:off x="868680" y="3963924"/>
            <a:ext cx="3088538" cy="85953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矩形、三角形、梯形都</a:t>
            </a:r>
          </a:p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能用现成公式拼出来。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68698" y="3396996"/>
            <a:ext cx="3454298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68698" y="3396996"/>
            <a:ext cx="68580" cy="1993392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ody_23"/>
          <p:cNvSpPr txBox="1"/>
          <p:nvPr/>
        </p:nvSpPr>
        <p:spPr>
          <a:xfrm>
            <a:off x="4551578" y="3543300"/>
            <a:ext cx="3088538" cy="41147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曲边卡住</a:t>
            </a:r>
          </a:p>
        </p:txBody>
      </p:sp>
      <p:sp>
        <p:nvSpPr>
          <p:cNvPr id="25" name="body_24"/>
          <p:cNvSpPr txBox="1"/>
          <p:nvPr/>
        </p:nvSpPr>
        <p:spPr>
          <a:xfrm>
            <a:off x="4551578" y="3963924"/>
            <a:ext cx="3088538" cy="1243584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上边界每一点高度都不</a:t>
            </a:r>
          </a:p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同，没有一个「高」可</a:t>
            </a:r>
          </a:p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用。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51596" y="3396996"/>
            <a:ext cx="3454298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51596" y="3396996"/>
            <a:ext cx="68580" cy="1993392"/>
          </a:xfrm>
          <a:prstGeom prst="rect">
            <a:avLst/>
          </a:prstGeom>
          <a:solidFill>
            <a:srgbClr val="E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ody_27"/>
          <p:cNvSpPr txBox="1"/>
          <p:nvPr/>
        </p:nvSpPr>
        <p:spPr>
          <a:xfrm>
            <a:off x="8234476" y="3543300"/>
            <a:ext cx="3088538" cy="41147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E0534B"/>
                </a:solidFill>
                <a:latin typeface="Microsoft YaHei"/>
                <a:ea typeface="Microsoft YaHei"/>
                <a:cs typeface="Microsoft YaHei"/>
              </a:rPr>
              <a:t>于是化曲为直</a:t>
            </a:r>
          </a:p>
        </p:txBody>
      </p:sp>
      <p:sp>
        <p:nvSpPr>
          <p:cNvPr id="29" name="body_28"/>
          <p:cNvSpPr txBox="1"/>
          <p:nvPr/>
        </p:nvSpPr>
        <p:spPr>
          <a:xfrm>
            <a:off x="8234476" y="3963924"/>
            <a:ext cx="3088538" cy="85953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先用无数细矩形近似，</a:t>
            </a:r>
          </a:p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再让它们无限变薄。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定积分与微积分基本定理 · 和式极限与 N-L 公式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学习路线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本节课的三段路线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10134295" y="429768"/>
            <a:ext cx="1371600" cy="402336"/>
          </a:xfrm>
          <a:prstGeom prst="roundRect">
            <a:avLst>
              <a:gd name="adj" fmla="val 2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路线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609344"/>
            <a:ext cx="3393338" cy="3072384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609344"/>
            <a:ext cx="68580" cy="307238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ag_12"/>
          <p:cNvSpPr txBox="1"/>
          <p:nvPr/>
        </p:nvSpPr>
        <p:spPr>
          <a:xfrm>
            <a:off x="886968" y="1792224"/>
            <a:ext cx="2991002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① 直观理解</a:t>
            </a:r>
          </a:p>
        </p:txBody>
      </p:sp>
      <p:sp>
        <p:nvSpPr>
          <p:cNvPr id="14" name="body_13"/>
          <p:cNvSpPr txBox="1"/>
          <p:nvPr/>
        </p:nvSpPr>
        <p:spPr>
          <a:xfrm>
            <a:off x="886968" y="2194560"/>
            <a:ext cx="2991002" cy="53949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分割求和</a:t>
            </a:r>
          </a:p>
        </p:txBody>
      </p:sp>
      <p:sp>
        <p:nvSpPr>
          <p:cNvPr id="15" name="body_14"/>
          <p:cNvSpPr txBox="1"/>
          <p:nvPr/>
        </p:nvSpPr>
        <p:spPr>
          <a:xfrm>
            <a:off x="886968" y="2871216"/>
            <a:ext cx="2991002" cy="128016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把曲边梯形切成细矩形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，算出一个和式，再让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它无限变细。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134002" y="2944368"/>
            <a:ext cx="210312" cy="274320"/>
          </a:xfrm>
          <a:prstGeom prst="rightArrow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99178" y="1609344"/>
            <a:ext cx="3393338" cy="3072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99178" y="1609344"/>
            <a:ext cx="68580" cy="3072384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ag_18"/>
          <p:cNvSpPr txBox="1"/>
          <p:nvPr/>
        </p:nvSpPr>
        <p:spPr>
          <a:xfrm>
            <a:off x="4600346" y="1792224"/>
            <a:ext cx="2991002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② 公式表达</a:t>
            </a:r>
          </a:p>
        </p:txBody>
      </p:sp>
      <p:sp>
        <p:nvSpPr>
          <p:cNvPr id="20" name="body_19"/>
          <p:cNvSpPr txBox="1"/>
          <p:nvPr/>
        </p:nvSpPr>
        <p:spPr>
          <a:xfrm>
            <a:off x="4600346" y="2194560"/>
            <a:ext cx="2991002" cy="53949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和式的极限</a:t>
            </a:r>
          </a:p>
        </p:txBody>
      </p:sp>
      <p:sp>
        <p:nvSpPr>
          <p:cNvPr id="21" name="body_20"/>
          <p:cNvSpPr txBox="1"/>
          <p:nvPr/>
        </p:nvSpPr>
        <p:spPr>
          <a:xfrm>
            <a:off x="4600346" y="2871216"/>
            <a:ext cx="2991002" cy="128016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把这个过程写成定积分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的定义，再由基本定理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换成 N-L 公式。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847380" y="2944368"/>
            <a:ext cx="210312" cy="274320"/>
          </a:xfrm>
          <a:prstGeom prst="rightArrow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12556" y="1609344"/>
            <a:ext cx="3393338" cy="3072384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12556" y="1609344"/>
            <a:ext cx="68580" cy="3072384"/>
          </a:xfrm>
          <a:prstGeom prst="rect">
            <a:avLst/>
          </a:prstGeom>
          <a:solidFill>
            <a:srgbClr val="E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ag_24"/>
          <p:cNvSpPr txBox="1"/>
          <p:nvPr/>
        </p:nvSpPr>
        <p:spPr>
          <a:xfrm>
            <a:off x="8313724" y="1792224"/>
            <a:ext cx="2991002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E0534B"/>
                </a:solidFill>
                <a:latin typeface="Microsoft YaHei"/>
                <a:ea typeface="Microsoft YaHei"/>
                <a:cs typeface="Microsoft YaHei"/>
              </a:rPr>
              <a:t>③ 迁移应用</a:t>
            </a:r>
          </a:p>
        </p:txBody>
      </p:sp>
      <p:sp>
        <p:nvSpPr>
          <p:cNvPr id="26" name="body_25"/>
          <p:cNvSpPr txBox="1"/>
          <p:nvPr/>
        </p:nvSpPr>
        <p:spPr>
          <a:xfrm>
            <a:off x="8313724" y="2194560"/>
            <a:ext cx="2991002" cy="53949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面积·位移·功</a:t>
            </a:r>
          </a:p>
        </p:txBody>
      </p:sp>
      <p:sp>
        <p:nvSpPr>
          <p:cNvPr id="27" name="body_26"/>
          <p:cNvSpPr txBox="1"/>
          <p:nvPr/>
        </p:nvSpPr>
        <p:spPr>
          <a:xfrm>
            <a:off x="8313724" y="2871216"/>
            <a:ext cx="2991002" cy="128016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同一个「累积」结构，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可以算面积、算位移、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算变力做功。</a:t>
            </a:r>
          </a:p>
        </p:txBody>
      </p:sp>
      <p:sp>
        <p:nvSpPr>
          <p:cNvPr id="28" name="body_27"/>
          <p:cNvSpPr txBox="1"/>
          <p:nvPr/>
        </p:nvSpPr>
        <p:spPr>
          <a:xfrm>
            <a:off x="685800" y="4974336"/>
            <a:ext cx="10820095" cy="39623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这节课的每一页，右上角标签都会标出它落在哪一段路线上。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定积分与微积分基本定理 · 和式极限与 N-L 公式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直观理解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先看图：把曲边切成一叠矩形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10134295" y="429768"/>
            <a:ext cx="1371600" cy="402336"/>
          </a:xfrm>
          <a:prstGeom prst="roundRect">
            <a:avLst>
              <a:gd name="adj" fmla="val 2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概念</a:t>
            </a:r>
          </a:p>
        </p:txBody>
      </p:sp>
      <p:sp>
        <p:nvSpPr>
          <p:cNvPr id="11" name="body_10"/>
          <p:cNvSpPr txBox="1"/>
          <p:nvPr/>
        </p:nvSpPr>
        <p:spPr>
          <a:xfrm>
            <a:off x="685800" y="1389888"/>
            <a:ext cx="5074920" cy="507492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1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观察右图，回答三个问题：</a:t>
            </a:r>
          </a:p>
        </p:txBody>
      </p:sp>
      <p:sp>
        <p:nvSpPr>
          <p:cNvPr id="12" name="tag_num"/>
          <p:cNvSpPr/>
          <p:nvPr/>
        </p:nvSpPr>
        <p:spPr>
          <a:xfrm>
            <a:off x="704088" y="2061972"/>
            <a:ext cx="310896" cy="310896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body_12"/>
          <p:cNvSpPr txBox="1"/>
          <p:nvPr/>
        </p:nvSpPr>
        <p:spPr>
          <a:xfrm>
            <a:off x="1088136" y="1988820"/>
            <a:ext cx="4672583" cy="481583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0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矩形越多，误差是变大还是变小？</a:t>
            </a:r>
          </a:p>
        </p:txBody>
      </p:sp>
      <p:sp>
        <p:nvSpPr>
          <p:cNvPr id="14" name="tag_num"/>
          <p:cNvSpPr/>
          <p:nvPr/>
        </p:nvSpPr>
        <p:spPr>
          <a:xfrm>
            <a:off x="704088" y="2708148"/>
            <a:ext cx="310896" cy="310896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5" name="body_14"/>
          <p:cNvSpPr txBox="1"/>
          <p:nvPr/>
        </p:nvSpPr>
        <p:spPr>
          <a:xfrm>
            <a:off x="1088136" y="2634996"/>
            <a:ext cx="4672583" cy="87172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0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每条矩形的宽是多少？高取的是哪个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0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点？</a:t>
            </a:r>
          </a:p>
        </p:txBody>
      </p:sp>
      <p:sp>
        <p:nvSpPr>
          <p:cNvPr id="16" name="tag_num"/>
          <p:cNvSpPr/>
          <p:nvPr/>
        </p:nvSpPr>
        <p:spPr>
          <a:xfrm>
            <a:off x="704088" y="3744468"/>
            <a:ext cx="310896" cy="310896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7" name="body_16"/>
          <p:cNvSpPr txBox="1"/>
          <p:nvPr/>
        </p:nvSpPr>
        <p:spPr>
          <a:xfrm>
            <a:off x="1088136" y="3671316"/>
            <a:ext cx="4672583" cy="481583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0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把矩形条数推到无穷，会得到什么？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617720"/>
            <a:ext cx="5074920" cy="150876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617720"/>
            <a:ext cx="68580" cy="1508760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ag_19"/>
          <p:cNvSpPr txBox="1"/>
          <p:nvPr/>
        </p:nvSpPr>
        <p:spPr>
          <a:xfrm>
            <a:off x="868680" y="4745736"/>
            <a:ext cx="4672583" cy="3352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记住这句话</a:t>
            </a:r>
          </a:p>
        </p:txBody>
      </p:sp>
      <p:sp>
        <p:nvSpPr>
          <p:cNvPr id="21" name="body_20"/>
          <p:cNvSpPr txBox="1"/>
          <p:nvPr/>
        </p:nvSpPr>
        <p:spPr>
          <a:xfrm>
            <a:off x="850392" y="5093208"/>
            <a:ext cx="4745736" cy="8839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近似不是将就：只要让分割无限细，误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差就被挤成零。</a:t>
            </a:r>
          </a:p>
        </p:txBody>
      </p:sp>
      <p:sp>
        <p:nvSpPr>
          <p:cNvPr id="22" name="dia_frame"/>
          <p:cNvSpPr/>
          <p:nvPr/>
        </p:nvSpPr>
        <p:spPr>
          <a:xfrm>
            <a:off x="6163056" y="1389888"/>
            <a:ext cx="5342839" cy="26700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6492240" y="3694176"/>
            <a:ext cx="4647895" cy="0"/>
          </a:xfrm>
          <a:prstGeom prst="line">
            <a:avLst/>
          </a:prstGeom>
          <a:ln w="19050">
            <a:solidFill>
              <a:srgbClr val="3D54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601968" y="1618488"/>
            <a:ext cx="0" cy="2185416"/>
          </a:xfrm>
          <a:prstGeom prst="line">
            <a:avLst/>
          </a:prstGeom>
          <a:ln w="19050">
            <a:solidFill>
              <a:srgbClr val="3D54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dia_bar"/>
          <p:cNvSpPr/>
          <p:nvPr/>
        </p:nvSpPr>
        <p:spPr>
          <a:xfrm>
            <a:off x="6874258" y="3672137"/>
            <a:ext cx="403392" cy="22038"/>
          </a:xfrm>
          <a:prstGeom prst="rect">
            <a:avLst/>
          </a:prstGeom>
          <a:solidFill>
            <a:srgbClr val="F5F7FA"/>
          </a:solidFill>
          <a:ln w="1143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_bar"/>
          <p:cNvSpPr/>
          <p:nvPr/>
        </p:nvSpPr>
        <p:spPr>
          <a:xfrm>
            <a:off x="7277650" y="3606023"/>
            <a:ext cx="403392" cy="88152"/>
          </a:xfrm>
          <a:prstGeom prst="rect">
            <a:avLst/>
          </a:prstGeom>
          <a:solidFill>
            <a:srgbClr val="F5F7FA"/>
          </a:solidFill>
          <a:ln w="1143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ia_bar"/>
          <p:cNvSpPr/>
          <p:nvPr/>
        </p:nvSpPr>
        <p:spPr>
          <a:xfrm>
            <a:off x="7681043" y="3495832"/>
            <a:ext cx="403392" cy="198343"/>
          </a:xfrm>
          <a:prstGeom prst="rect">
            <a:avLst/>
          </a:prstGeom>
          <a:solidFill>
            <a:srgbClr val="F5F7FA"/>
          </a:solidFill>
          <a:ln w="1143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ia_bar"/>
          <p:cNvSpPr/>
          <p:nvPr/>
        </p:nvSpPr>
        <p:spPr>
          <a:xfrm>
            <a:off x="8084435" y="3341565"/>
            <a:ext cx="403392" cy="352610"/>
          </a:xfrm>
          <a:prstGeom prst="rect">
            <a:avLst/>
          </a:prstGeom>
          <a:solidFill>
            <a:srgbClr val="F5F7FA"/>
          </a:solidFill>
          <a:ln w="1143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ia_bar"/>
          <p:cNvSpPr/>
          <p:nvPr/>
        </p:nvSpPr>
        <p:spPr>
          <a:xfrm>
            <a:off x="8487828" y="3143221"/>
            <a:ext cx="403392" cy="550954"/>
          </a:xfrm>
          <a:prstGeom prst="rect">
            <a:avLst/>
          </a:prstGeom>
          <a:solidFill>
            <a:srgbClr val="F5F7FA"/>
          </a:solidFill>
          <a:ln w="1143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ia_bar"/>
          <p:cNvSpPr/>
          <p:nvPr/>
        </p:nvSpPr>
        <p:spPr>
          <a:xfrm>
            <a:off x="8891221" y="2900801"/>
            <a:ext cx="403392" cy="793374"/>
          </a:xfrm>
          <a:prstGeom prst="rect">
            <a:avLst/>
          </a:prstGeom>
          <a:solidFill>
            <a:srgbClr val="F5F7FA"/>
          </a:solidFill>
          <a:ln w="1143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ia_bar"/>
          <p:cNvSpPr/>
          <p:nvPr/>
        </p:nvSpPr>
        <p:spPr>
          <a:xfrm>
            <a:off x="9294613" y="2614305"/>
            <a:ext cx="403392" cy="1079870"/>
          </a:xfrm>
          <a:prstGeom prst="rect">
            <a:avLst/>
          </a:prstGeom>
          <a:solidFill>
            <a:srgbClr val="F5F7FA"/>
          </a:solidFill>
          <a:ln w="1143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_bar"/>
          <p:cNvSpPr/>
          <p:nvPr/>
        </p:nvSpPr>
        <p:spPr>
          <a:xfrm>
            <a:off x="9698006" y="2283733"/>
            <a:ext cx="403392" cy="1410442"/>
          </a:xfrm>
          <a:prstGeom prst="rect">
            <a:avLst/>
          </a:prstGeom>
          <a:solidFill>
            <a:srgbClr val="F5F7FA"/>
          </a:solidFill>
          <a:ln w="1143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ia_bar"/>
          <p:cNvSpPr/>
          <p:nvPr/>
        </p:nvSpPr>
        <p:spPr>
          <a:xfrm>
            <a:off x="10101399" y="1909084"/>
            <a:ext cx="403392" cy="1785091"/>
          </a:xfrm>
          <a:prstGeom prst="rect">
            <a:avLst/>
          </a:prstGeom>
          <a:solidFill>
            <a:srgbClr val="F5F7FA"/>
          </a:solidFill>
          <a:ln w="1143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6874258" y="1909084"/>
            <a:ext cx="3630533" cy="1785092"/>
          </a:xfrm>
          <a:custGeom>
            <a:avLst/>
            <a:gdLst/>
            <a:ahLst/>
            <a:cxnLst/>
            <a:rect l="l" t="t" r="r" b="b"/>
            <a:pathLst>
              <a:path w="3630533" h="1785092">
                <a:moveTo>
                  <a:pt x="0" y="1785092"/>
                </a:moveTo>
                <a:lnTo>
                  <a:pt x="75636" y="1784317"/>
                </a:lnTo>
                <a:lnTo>
                  <a:pt x="151272" y="1781992"/>
                </a:lnTo>
                <a:lnTo>
                  <a:pt x="226908" y="1778118"/>
                </a:lnTo>
                <a:lnTo>
                  <a:pt x="302544" y="1772695"/>
                </a:lnTo>
                <a:lnTo>
                  <a:pt x="378180" y="1765722"/>
                </a:lnTo>
                <a:lnTo>
                  <a:pt x="453816" y="1757199"/>
                </a:lnTo>
                <a:lnTo>
                  <a:pt x="529452" y="1747127"/>
                </a:lnTo>
                <a:lnTo>
                  <a:pt x="605088" y="1735506"/>
                </a:lnTo>
                <a:lnTo>
                  <a:pt x="680725" y="1722334"/>
                </a:lnTo>
                <a:lnTo>
                  <a:pt x="756361" y="1707614"/>
                </a:lnTo>
                <a:lnTo>
                  <a:pt x="831997" y="1691343"/>
                </a:lnTo>
                <a:lnTo>
                  <a:pt x="907633" y="1673523"/>
                </a:lnTo>
                <a:lnTo>
                  <a:pt x="983269" y="1654154"/>
                </a:lnTo>
                <a:lnTo>
                  <a:pt x="1058905" y="1633235"/>
                </a:lnTo>
                <a:lnTo>
                  <a:pt x="1134541" y="1610766"/>
                </a:lnTo>
                <a:lnTo>
                  <a:pt x="1210177" y="1586748"/>
                </a:lnTo>
                <a:lnTo>
                  <a:pt x="1285814" y="1561180"/>
                </a:lnTo>
                <a:lnTo>
                  <a:pt x="1361450" y="1534063"/>
                </a:lnTo>
                <a:lnTo>
                  <a:pt x="1437086" y="1505396"/>
                </a:lnTo>
                <a:lnTo>
                  <a:pt x="1512722" y="1475180"/>
                </a:lnTo>
                <a:lnTo>
                  <a:pt x="1588358" y="1443414"/>
                </a:lnTo>
                <a:lnTo>
                  <a:pt x="1663994" y="1410098"/>
                </a:lnTo>
                <a:lnTo>
                  <a:pt x="1739630" y="1375233"/>
                </a:lnTo>
                <a:lnTo>
                  <a:pt x="1815266" y="1338819"/>
                </a:lnTo>
                <a:lnTo>
                  <a:pt x="1890903" y="1300854"/>
                </a:lnTo>
                <a:lnTo>
                  <a:pt x="1966539" y="1261341"/>
                </a:lnTo>
                <a:lnTo>
                  <a:pt x="2042175" y="1220277"/>
                </a:lnTo>
                <a:lnTo>
                  <a:pt x="2117811" y="1177664"/>
                </a:lnTo>
                <a:lnTo>
                  <a:pt x="2193447" y="1133502"/>
                </a:lnTo>
                <a:lnTo>
                  <a:pt x="2269083" y="1087790"/>
                </a:lnTo>
                <a:lnTo>
                  <a:pt x="2344719" y="1040529"/>
                </a:lnTo>
                <a:lnTo>
                  <a:pt x="2420355" y="991717"/>
                </a:lnTo>
                <a:lnTo>
                  <a:pt x="2495991" y="941357"/>
                </a:lnTo>
                <a:lnTo>
                  <a:pt x="2571628" y="889447"/>
                </a:lnTo>
                <a:lnTo>
                  <a:pt x="2647264" y="835987"/>
                </a:lnTo>
                <a:lnTo>
                  <a:pt x="2722900" y="780977"/>
                </a:lnTo>
                <a:lnTo>
                  <a:pt x="2798536" y="724419"/>
                </a:lnTo>
                <a:lnTo>
                  <a:pt x="2874172" y="666310"/>
                </a:lnTo>
                <a:lnTo>
                  <a:pt x="2949808" y="606652"/>
                </a:lnTo>
                <a:lnTo>
                  <a:pt x="3025444" y="545445"/>
                </a:lnTo>
                <a:lnTo>
                  <a:pt x="3101080" y="482687"/>
                </a:lnTo>
                <a:lnTo>
                  <a:pt x="3176717" y="418381"/>
                </a:lnTo>
                <a:lnTo>
                  <a:pt x="3252353" y="352524"/>
                </a:lnTo>
                <a:lnTo>
                  <a:pt x="3327989" y="285119"/>
                </a:lnTo>
                <a:lnTo>
                  <a:pt x="3403625" y="216163"/>
                </a:lnTo>
                <a:lnTo>
                  <a:pt x="3479261" y="145658"/>
                </a:lnTo>
                <a:lnTo>
                  <a:pt x="3554897" y="73604"/>
                </a:lnTo>
                <a:lnTo>
                  <a:pt x="3630533" y="0"/>
                </a:lnTo>
              </a:path>
            </a:pathLst>
          </a:custGeom>
          <a:noFill/>
          <a:ln w="38100">
            <a:solidFill>
              <a:srgbClr val="E0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 flipV="1">
            <a:off x="10504791" y="1909084"/>
            <a:ext cx="0" cy="1785092"/>
          </a:xfrm>
          <a:prstGeom prst="line">
            <a:avLst/>
          </a:prstGeom>
          <a:ln w="13970">
            <a:solidFill>
              <a:srgbClr val="6B7A8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ap_35"/>
          <p:cNvSpPr txBox="1"/>
          <p:nvPr/>
        </p:nvSpPr>
        <p:spPr>
          <a:xfrm>
            <a:off x="6163056" y="4151376"/>
            <a:ext cx="5342839" cy="3352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图：用 9 条矩形近似 y = x² 下方的曲边梯形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63056" y="4617720"/>
            <a:ext cx="5342839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63056" y="4617720"/>
            <a:ext cx="68580" cy="150876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ody_38"/>
          <p:cNvSpPr txBox="1"/>
          <p:nvPr/>
        </p:nvSpPr>
        <p:spPr>
          <a:xfrm>
            <a:off x="6327648" y="4782312"/>
            <a:ext cx="5013655" cy="8839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矩形总面积 = 各条「高 × 宽」之和。条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数越多越贴合曲线，多出的小三角越薄。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定积分与微积分基本定理 · 和式极限与 N-L 公式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公式表达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把「切—乘—加—逼近」写成一行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10134295" y="429768"/>
            <a:ext cx="1371600" cy="402336"/>
          </a:xfrm>
          <a:prstGeom prst="roundRect">
            <a:avLst>
              <a:gd name="adj" fmla="val 28000"/>
            </a:avLst>
          </a:prstGeom>
          <a:solidFill>
            <a:srgbClr val="E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核心公式</a:t>
            </a:r>
          </a:p>
        </p:txBody>
      </p:sp>
      <p:sp>
        <p:nvSpPr>
          <p:cNvPr id="11" name="body_10"/>
          <p:cNvSpPr txBox="1"/>
          <p:nvPr/>
        </p:nvSpPr>
        <p:spPr>
          <a:xfrm>
            <a:off x="685800" y="1389888"/>
            <a:ext cx="10820095" cy="507492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1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四步法的最终产物，就是定积分的定义：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88820"/>
            <a:ext cx="10820095" cy="1481328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E0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988820"/>
            <a:ext cx="68580" cy="1481328"/>
          </a:xfrm>
          <a:prstGeom prst="rect">
            <a:avLst/>
          </a:prstGeom>
          <a:solidFill>
            <a:srgbClr val="E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tex_define" descr="f_56532390e20520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801" y="1988820"/>
            <a:ext cx="7058092" cy="1481328"/>
          </a:xfrm>
          <a:prstGeom prst="rect">
            <a:avLst/>
          </a:prstGeom>
        </p:spPr>
      </p:pic>
      <p:sp>
        <p:nvSpPr>
          <p:cNvPr id="15" name="body_14"/>
          <p:cNvSpPr txBox="1"/>
          <p:nvPr/>
        </p:nvSpPr>
        <p:spPr>
          <a:xfrm>
            <a:off x="685800" y="3707892"/>
            <a:ext cx="10820095" cy="507492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1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这一行里藏着三个必须逐字读懂的部件：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325112"/>
            <a:ext cx="3454298" cy="180136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4325112"/>
            <a:ext cx="68580" cy="1801367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ag_17"/>
          <p:cNvSpPr txBox="1"/>
          <p:nvPr/>
        </p:nvSpPr>
        <p:spPr>
          <a:xfrm>
            <a:off x="850392" y="4453128"/>
            <a:ext cx="3125114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分割</a:t>
            </a:r>
          </a:p>
        </p:txBody>
      </p:sp>
      <p:pic>
        <p:nvPicPr>
          <p:cNvPr id="19" name="tex_k0" descr="f_a7e419df41ed0d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201" y="4800600"/>
            <a:ext cx="1723495" cy="710183"/>
          </a:xfrm>
          <a:prstGeom prst="rect">
            <a:avLst/>
          </a:prstGeom>
        </p:spPr>
      </p:pic>
      <p:sp>
        <p:nvSpPr>
          <p:cNvPr id="20" name="body_19"/>
          <p:cNvSpPr txBox="1"/>
          <p:nvPr/>
        </p:nvSpPr>
        <p:spPr>
          <a:xfrm>
            <a:off x="832104" y="5620512"/>
            <a:ext cx="3161690" cy="39623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每条矩形的宽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8698" y="4325112"/>
            <a:ext cx="3454298" cy="180136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68698" y="4325112"/>
            <a:ext cx="68580" cy="1801367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ag_22"/>
          <p:cNvSpPr txBox="1"/>
          <p:nvPr/>
        </p:nvSpPr>
        <p:spPr>
          <a:xfrm>
            <a:off x="4533290" y="4453128"/>
            <a:ext cx="3125114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近似</a:t>
            </a:r>
          </a:p>
        </p:txBody>
      </p:sp>
      <p:pic>
        <p:nvPicPr>
          <p:cNvPr id="24" name="tex_k1" descr="f_c8e2e349e4e08a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3628" y="4800600"/>
            <a:ext cx="1824438" cy="710183"/>
          </a:xfrm>
          <a:prstGeom prst="rect">
            <a:avLst/>
          </a:prstGeom>
        </p:spPr>
      </p:pic>
      <p:sp>
        <p:nvSpPr>
          <p:cNvPr id="25" name="body_24"/>
          <p:cNvSpPr txBox="1"/>
          <p:nvPr/>
        </p:nvSpPr>
        <p:spPr>
          <a:xfrm>
            <a:off x="4515002" y="5620512"/>
            <a:ext cx="3161690" cy="39623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高 × 宽 = 一条的面积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51596" y="4325112"/>
            <a:ext cx="3454298" cy="180136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51596" y="4325112"/>
            <a:ext cx="68580" cy="1801367"/>
          </a:xfrm>
          <a:prstGeom prst="rect">
            <a:avLst/>
          </a:prstGeom>
          <a:solidFill>
            <a:srgbClr val="E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ag_27"/>
          <p:cNvSpPr txBox="1"/>
          <p:nvPr/>
        </p:nvSpPr>
        <p:spPr>
          <a:xfrm>
            <a:off x="8216188" y="4453128"/>
            <a:ext cx="3125114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E0534B"/>
                </a:solidFill>
                <a:latin typeface="Microsoft YaHei"/>
                <a:ea typeface="Microsoft YaHei"/>
                <a:cs typeface="Microsoft YaHei"/>
              </a:rPr>
              <a:t>取极限</a:t>
            </a:r>
          </a:p>
        </p:txBody>
      </p:sp>
      <p:pic>
        <p:nvPicPr>
          <p:cNvPr id="29" name="tex_k2" descr="f_d8087bc1f9cc64b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9695" y="4812791"/>
            <a:ext cx="2578100" cy="685800"/>
          </a:xfrm>
          <a:prstGeom prst="rect">
            <a:avLst/>
          </a:prstGeom>
        </p:spPr>
      </p:pic>
      <p:sp>
        <p:nvSpPr>
          <p:cNvPr id="30" name="body_29"/>
          <p:cNvSpPr txBox="1"/>
          <p:nvPr/>
        </p:nvSpPr>
        <p:spPr>
          <a:xfrm>
            <a:off x="8197900" y="5620512"/>
            <a:ext cx="3161690" cy="39623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求和之后再逼近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定积分与微积分基本定理 · 和式极限与 N-L 公式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公式表达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三个关键词，读懂整条定义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10134295" y="429768"/>
            <a:ext cx="1371600" cy="402336"/>
          </a:xfrm>
          <a:prstGeom prst="roundRect">
            <a:avLst>
              <a:gd name="adj" fmla="val 2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拆解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89888"/>
            <a:ext cx="10820095" cy="1444751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389888"/>
            <a:ext cx="68580" cy="1444751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1_12"/>
          <p:cNvSpPr txBox="1"/>
          <p:nvPr/>
        </p:nvSpPr>
        <p:spPr>
          <a:xfrm>
            <a:off x="905256" y="1389888"/>
            <a:ext cx="1737360" cy="1444751"/>
          </a:xfrm>
          <a:prstGeom prst="rect">
            <a:avLst/>
          </a:prstGeom>
          <a:noFill/>
        </p:spPr>
        <p:txBody>
          <a:bodyPr wrap="square" lIns="182880" rIns="18288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和式</a:t>
            </a:r>
          </a:p>
        </p:txBody>
      </p:sp>
      <p:sp>
        <p:nvSpPr>
          <p:cNvPr id="14" name="body_13"/>
          <p:cNvSpPr txBox="1"/>
          <p:nvPr/>
        </p:nvSpPr>
        <p:spPr>
          <a:xfrm>
            <a:off x="2788920" y="1609344"/>
            <a:ext cx="2743200" cy="41147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Σ 是本体</a:t>
            </a:r>
          </a:p>
        </p:txBody>
      </p:sp>
      <p:sp>
        <p:nvSpPr>
          <p:cNvPr id="15" name="body_14"/>
          <p:cNvSpPr txBox="1"/>
          <p:nvPr/>
        </p:nvSpPr>
        <p:spPr>
          <a:xfrm>
            <a:off x="5532120" y="1670304"/>
            <a:ext cx="5745175" cy="8839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定积分首先是一个和：把 n 条矩形的面积加起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来，得到一个只依赖 n 的数 Sₙ。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035808"/>
            <a:ext cx="10820095" cy="144475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035808"/>
            <a:ext cx="68580" cy="1444751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1_17"/>
          <p:cNvSpPr txBox="1"/>
          <p:nvPr/>
        </p:nvSpPr>
        <p:spPr>
          <a:xfrm>
            <a:off x="905256" y="3035808"/>
            <a:ext cx="1737360" cy="1444751"/>
          </a:xfrm>
          <a:prstGeom prst="rect">
            <a:avLst/>
          </a:prstGeom>
          <a:noFill/>
        </p:spPr>
        <p:txBody>
          <a:bodyPr wrap="square" lIns="182880" rIns="18288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极限</a:t>
            </a:r>
          </a:p>
        </p:txBody>
      </p:sp>
      <p:sp>
        <p:nvSpPr>
          <p:cNvPr id="19" name="body_18"/>
          <p:cNvSpPr txBox="1"/>
          <p:nvPr/>
        </p:nvSpPr>
        <p:spPr>
          <a:xfrm>
            <a:off x="2788920" y="3255263"/>
            <a:ext cx="2743200" cy="41147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lim 才是灵魂</a:t>
            </a:r>
          </a:p>
        </p:txBody>
      </p:sp>
      <p:sp>
        <p:nvSpPr>
          <p:cNvPr id="20" name="body_19"/>
          <p:cNvSpPr txBox="1"/>
          <p:nvPr/>
        </p:nvSpPr>
        <p:spPr>
          <a:xfrm>
            <a:off x="5532120" y="3316224"/>
            <a:ext cx="5745175" cy="8839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让 n→∞、Δx→0，Sₙ 收敛到唯一的那个数—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—这个极限值才叫定积分。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681727"/>
            <a:ext cx="10820095" cy="1444751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681727"/>
            <a:ext cx="68580" cy="1444751"/>
          </a:xfrm>
          <a:prstGeom prst="rect">
            <a:avLst/>
          </a:prstGeom>
          <a:solidFill>
            <a:srgbClr val="E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1_22"/>
          <p:cNvSpPr txBox="1"/>
          <p:nvPr/>
        </p:nvSpPr>
        <p:spPr>
          <a:xfrm>
            <a:off x="905256" y="4681727"/>
            <a:ext cx="1737360" cy="1444751"/>
          </a:xfrm>
          <a:prstGeom prst="rect">
            <a:avLst/>
          </a:prstGeom>
          <a:noFill/>
        </p:spPr>
        <p:txBody>
          <a:bodyPr wrap="square" lIns="182880" rIns="18288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E0534B"/>
                </a:solidFill>
                <a:latin typeface="Microsoft YaHei"/>
                <a:ea typeface="Microsoft YaHei"/>
                <a:cs typeface="Microsoft YaHei"/>
              </a:rPr>
              <a:t>任取</a:t>
            </a:r>
          </a:p>
        </p:txBody>
      </p:sp>
      <p:sp>
        <p:nvSpPr>
          <p:cNvPr id="24" name="body_23"/>
          <p:cNvSpPr txBox="1"/>
          <p:nvPr/>
        </p:nvSpPr>
        <p:spPr>
          <a:xfrm>
            <a:off x="2788920" y="4901183"/>
            <a:ext cx="2743200" cy="41147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ξᵢ 怎么取都行</a:t>
            </a:r>
          </a:p>
        </p:txBody>
      </p:sp>
      <p:sp>
        <p:nvSpPr>
          <p:cNvPr id="25" name="body_24"/>
          <p:cNvSpPr txBox="1"/>
          <p:nvPr/>
        </p:nvSpPr>
        <p:spPr>
          <a:xfrm>
            <a:off x="5532120" y="4962143"/>
            <a:ext cx="5745175" cy="8839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取左端点、右端点还是中点，极限都相同。正因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为如此，这个数只由 f 与 [a,b] 决定。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定积分与微积分基本定理 · 和式极限与 N-L 公式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解题步骤演示 · 用定义计算定积分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题 1　不用任何公式，硬算 ∫₀¹ x² dx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9806000" y="429768"/>
            <a:ext cx="1699895" cy="402336"/>
          </a:xfrm>
          <a:prstGeom prst="roundRect">
            <a:avLst>
              <a:gd name="adj" fmla="val 2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STEP 01 / 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89888"/>
            <a:ext cx="10820095" cy="744321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389888"/>
            <a:ext cx="68580" cy="744321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ag_12"/>
          <p:cNvSpPr txBox="1"/>
          <p:nvPr/>
        </p:nvSpPr>
        <p:spPr>
          <a:xfrm>
            <a:off x="832104" y="1572768"/>
            <a:ext cx="868680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题目</a:t>
            </a:r>
          </a:p>
        </p:txBody>
      </p:sp>
      <p:sp>
        <p:nvSpPr>
          <p:cNvPr id="14" name="body_13"/>
          <p:cNvSpPr txBox="1"/>
          <p:nvPr/>
        </p:nvSpPr>
        <p:spPr>
          <a:xfrm>
            <a:off x="1700784" y="1517904"/>
            <a:ext cx="9658807" cy="48828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21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用定积分的定义（分割 → 近似代替 → 求和 → 取极限）计算 ∫₀¹ x² dx。</a:t>
            </a:r>
          </a:p>
        </p:txBody>
      </p:sp>
      <p:sp>
        <p:nvSpPr>
          <p:cNvPr id="15" name="h1_14"/>
          <p:cNvSpPr txBox="1"/>
          <p:nvPr/>
        </p:nvSpPr>
        <p:spPr>
          <a:xfrm>
            <a:off x="685800" y="2317089"/>
            <a:ext cx="2926080" cy="7924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body_15"/>
          <p:cNvSpPr txBox="1"/>
          <p:nvPr/>
        </p:nvSpPr>
        <p:spPr>
          <a:xfrm>
            <a:off x="685800" y="3176625"/>
            <a:ext cx="2926080" cy="46268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1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分割：等分区间</a:t>
            </a:r>
          </a:p>
        </p:txBody>
      </p:sp>
      <p:sp>
        <p:nvSpPr>
          <p:cNvPr id="17" name="cap_16"/>
          <p:cNvSpPr txBox="1"/>
          <p:nvPr/>
        </p:nvSpPr>
        <p:spPr>
          <a:xfrm>
            <a:off x="685800" y="3767327"/>
            <a:ext cx="2926080" cy="437083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8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把 [0,1] 等分成 n 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03904" y="2353665"/>
            <a:ext cx="11887" cy="3772814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ag_dot"/>
          <p:cNvSpPr/>
          <p:nvPr/>
        </p:nvSpPr>
        <p:spPr>
          <a:xfrm>
            <a:off x="3995928" y="2731871"/>
            <a:ext cx="128016" cy="128016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tex_p1_s1_0" descr="f_bd8bc6b37ea660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2408529"/>
            <a:ext cx="5435600" cy="774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定积分与微积分基本定理 · 和式极限与 N-L 公式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解题步骤演示 · 用定义计算定积分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题 1　不用任何公式，硬算 ∫₀¹ x² dx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9806000" y="429768"/>
            <a:ext cx="1699895" cy="402336"/>
          </a:xfrm>
          <a:prstGeom prst="roundRect">
            <a:avLst>
              <a:gd name="adj" fmla="val 2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STEP 02 / 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89888"/>
            <a:ext cx="10820095" cy="744321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389888"/>
            <a:ext cx="68580" cy="744321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ag_12"/>
          <p:cNvSpPr txBox="1"/>
          <p:nvPr/>
        </p:nvSpPr>
        <p:spPr>
          <a:xfrm>
            <a:off x="832104" y="1572768"/>
            <a:ext cx="868680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题目</a:t>
            </a:r>
          </a:p>
        </p:txBody>
      </p:sp>
      <p:sp>
        <p:nvSpPr>
          <p:cNvPr id="14" name="body_13"/>
          <p:cNvSpPr txBox="1"/>
          <p:nvPr/>
        </p:nvSpPr>
        <p:spPr>
          <a:xfrm>
            <a:off x="1700784" y="1517904"/>
            <a:ext cx="9658807" cy="48828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21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用定积分的定义（分割 → 近似代替 → 求和 → 取极限）计算 ∫₀¹ x² dx。</a:t>
            </a:r>
          </a:p>
        </p:txBody>
      </p:sp>
      <p:sp>
        <p:nvSpPr>
          <p:cNvPr id="15" name="h1_14"/>
          <p:cNvSpPr txBox="1"/>
          <p:nvPr/>
        </p:nvSpPr>
        <p:spPr>
          <a:xfrm>
            <a:off x="685800" y="2317089"/>
            <a:ext cx="2926080" cy="7924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body_15"/>
          <p:cNvSpPr txBox="1"/>
          <p:nvPr/>
        </p:nvSpPr>
        <p:spPr>
          <a:xfrm>
            <a:off x="685800" y="3176625"/>
            <a:ext cx="2926080" cy="46268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1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近似代替并求和</a:t>
            </a:r>
          </a:p>
        </p:txBody>
      </p:sp>
      <p:sp>
        <p:nvSpPr>
          <p:cNvPr id="17" name="cap_16"/>
          <p:cNvSpPr txBox="1"/>
          <p:nvPr/>
        </p:nvSpPr>
        <p:spPr>
          <a:xfrm>
            <a:off x="685800" y="3767327"/>
            <a:ext cx="2926080" cy="437083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8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每条矩形：高 × 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03904" y="2353665"/>
            <a:ext cx="11887" cy="3772814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ag_dot"/>
          <p:cNvSpPr/>
          <p:nvPr/>
        </p:nvSpPr>
        <p:spPr>
          <a:xfrm>
            <a:off x="3995928" y="2731871"/>
            <a:ext cx="128016" cy="128016"/>
          </a:xfrm>
          <a:prstGeom prst="ellipse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tex_p1_s1_0" descr="f_ed3caafcf69537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2408529"/>
            <a:ext cx="5435600" cy="774700"/>
          </a:xfrm>
          <a:prstGeom prst="rect">
            <a:avLst/>
          </a:prstGeom>
        </p:spPr>
      </p:pic>
      <p:sp>
        <p:nvSpPr>
          <p:cNvPr id="21" name="tag_dot"/>
          <p:cNvSpPr/>
          <p:nvPr/>
        </p:nvSpPr>
        <p:spPr>
          <a:xfrm>
            <a:off x="3995928" y="3755999"/>
            <a:ext cx="128016" cy="128016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tex_p1_s2_0" descr="f_74869a919037e2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3292957"/>
            <a:ext cx="4432300" cy="1054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定积分与微积分基本定理 · 和式极限与 N-L 公式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解题步骤演示 · 用定义计算定积分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题 1　不用任何公式，硬算 ∫₀¹ x² dx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9806000" y="429768"/>
            <a:ext cx="1699895" cy="402336"/>
          </a:xfrm>
          <a:prstGeom prst="roundRect">
            <a:avLst>
              <a:gd name="adj" fmla="val 2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STEP 03 / 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89888"/>
            <a:ext cx="10820095" cy="744321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389888"/>
            <a:ext cx="68580" cy="744321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ag_12"/>
          <p:cNvSpPr txBox="1"/>
          <p:nvPr/>
        </p:nvSpPr>
        <p:spPr>
          <a:xfrm>
            <a:off x="832104" y="1572768"/>
            <a:ext cx="868680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题目</a:t>
            </a:r>
          </a:p>
        </p:txBody>
      </p:sp>
      <p:sp>
        <p:nvSpPr>
          <p:cNvPr id="14" name="body_13"/>
          <p:cNvSpPr txBox="1"/>
          <p:nvPr/>
        </p:nvSpPr>
        <p:spPr>
          <a:xfrm>
            <a:off x="1700784" y="1517904"/>
            <a:ext cx="9658807" cy="48828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21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用定积分的定义（分割 → 近似代替 → 求和 → 取极限）计算 ∫₀¹ x² dx。</a:t>
            </a:r>
          </a:p>
        </p:txBody>
      </p:sp>
      <p:sp>
        <p:nvSpPr>
          <p:cNvPr id="15" name="h1_14"/>
          <p:cNvSpPr txBox="1"/>
          <p:nvPr/>
        </p:nvSpPr>
        <p:spPr>
          <a:xfrm>
            <a:off x="685800" y="2317089"/>
            <a:ext cx="2926080" cy="7924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body_15"/>
          <p:cNvSpPr txBox="1"/>
          <p:nvPr/>
        </p:nvSpPr>
        <p:spPr>
          <a:xfrm>
            <a:off x="685800" y="3176625"/>
            <a:ext cx="2926080" cy="46268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1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代平方和公式</a:t>
            </a:r>
          </a:p>
        </p:txBody>
      </p:sp>
      <p:sp>
        <p:nvSpPr>
          <p:cNvPr id="17" name="cap_16"/>
          <p:cNvSpPr txBox="1"/>
          <p:nvPr/>
        </p:nvSpPr>
        <p:spPr>
          <a:xfrm>
            <a:off x="685800" y="3767327"/>
            <a:ext cx="2926080" cy="437083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8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1²+2²+…+n² 的封闭式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03904" y="2353665"/>
            <a:ext cx="11887" cy="3772814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ag_dot"/>
          <p:cNvSpPr/>
          <p:nvPr/>
        </p:nvSpPr>
        <p:spPr>
          <a:xfrm>
            <a:off x="3995928" y="2731871"/>
            <a:ext cx="128016" cy="128016"/>
          </a:xfrm>
          <a:prstGeom prst="ellipse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tex_p1_s1_0" descr="f_ed3caafcf69537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2408529"/>
            <a:ext cx="5435600" cy="774700"/>
          </a:xfrm>
          <a:prstGeom prst="rect">
            <a:avLst/>
          </a:prstGeom>
        </p:spPr>
      </p:pic>
      <p:sp>
        <p:nvSpPr>
          <p:cNvPr id="21" name="tag_dot"/>
          <p:cNvSpPr/>
          <p:nvPr/>
        </p:nvSpPr>
        <p:spPr>
          <a:xfrm>
            <a:off x="3995928" y="3755999"/>
            <a:ext cx="128016" cy="128016"/>
          </a:xfrm>
          <a:prstGeom prst="ellipse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tex_p1_s2_0" descr="f_afac73349f10b86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3292957"/>
            <a:ext cx="4432300" cy="1054100"/>
          </a:xfrm>
          <a:prstGeom prst="rect">
            <a:avLst/>
          </a:prstGeom>
        </p:spPr>
      </p:pic>
      <p:sp>
        <p:nvSpPr>
          <p:cNvPr id="23" name="tag_dot"/>
          <p:cNvSpPr/>
          <p:nvPr/>
        </p:nvSpPr>
        <p:spPr>
          <a:xfrm>
            <a:off x="3995928" y="4843627"/>
            <a:ext cx="128016" cy="128016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tex_p1_s3_0" descr="f_4a8803c584cf0c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36" y="4456785"/>
            <a:ext cx="6781800" cy="901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定积分与微积分基本定理 · 和式极限与 N-L 公式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解题步骤演示 · 用定义计算定积分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题 1　不用任何公式，硬算 ∫₀¹ x² dx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9806000" y="429768"/>
            <a:ext cx="1699895" cy="402336"/>
          </a:xfrm>
          <a:prstGeom prst="roundRect">
            <a:avLst>
              <a:gd name="adj" fmla="val 2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STEP 04 / 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89888"/>
            <a:ext cx="10820095" cy="744321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389888"/>
            <a:ext cx="68580" cy="744321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ag_12"/>
          <p:cNvSpPr txBox="1"/>
          <p:nvPr/>
        </p:nvSpPr>
        <p:spPr>
          <a:xfrm>
            <a:off x="832104" y="1572768"/>
            <a:ext cx="868680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题目</a:t>
            </a:r>
          </a:p>
        </p:txBody>
      </p:sp>
      <p:sp>
        <p:nvSpPr>
          <p:cNvPr id="14" name="body_13"/>
          <p:cNvSpPr txBox="1"/>
          <p:nvPr/>
        </p:nvSpPr>
        <p:spPr>
          <a:xfrm>
            <a:off x="1700784" y="1517904"/>
            <a:ext cx="9658807" cy="48828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21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用定积分的定义（分割 → 近似代替 → 求和 → 取极限）计算 ∫₀¹ x² dx。</a:t>
            </a:r>
          </a:p>
        </p:txBody>
      </p:sp>
      <p:sp>
        <p:nvSpPr>
          <p:cNvPr id="15" name="h1_14"/>
          <p:cNvSpPr txBox="1"/>
          <p:nvPr/>
        </p:nvSpPr>
        <p:spPr>
          <a:xfrm>
            <a:off x="685800" y="2317089"/>
            <a:ext cx="2926080" cy="7924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body_15"/>
          <p:cNvSpPr txBox="1"/>
          <p:nvPr/>
        </p:nvSpPr>
        <p:spPr>
          <a:xfrm>
            <a:off x="685800" y="3176625"/>
            <a:ext cx="2926080" cy="46268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1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取极限</a:t>
            </a:r>
          </a:p>
        </p:txBody>
      </p:sp>
      <p:sp>
        <p:nvSpPr>
          <p:cNvPr id="17" name="cap_16"/>
          <p:cNvSpPr txBox="1"/>
          <p:nvPr/>
        </p:nvSpPr>
        <p:spPr>
          <a:xfrm>
            <a:off x="685800" y="3767327"/>
            <a:ext cx="2926080" cy="437083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8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n→∞ 时 1/n→0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03904" y="2353665"/>
            <a:ext cx="11887" cy="3772814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p_18"/>
          <p:cNvSpPr txBox="1"/>
          <p:nvPr/>
        </p:nvSpPr>
        <p:spPr>
          <a:xfrm>
            <a:off x="3995928" y="2079345"/>
            <a:ext cx="6583680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（承上）前 3 步已完成，下面第 3 步为衔接</a:t>
            </a:r>
          </a:p>
        </p:txBody>
      </p:sp>
      <p:sp>
        <p:nvSpPr>
          <p:cNvPr id="20" name="tag_dot"/>
          <p:cNvSpPr/>
          <p:nvPr/>
        </p:nvSpPr>
        <p:spPr>
          <a:xfrm>
            <a:off x="3995928" y="2795371"/>
            <a:ext cx="128016" cy="128016"/>
          </a:xfrm>
          <a:prstGeom prst="ellipse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tex_p1_s3_0" descr="f_c0dfbcde143cd2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2408529"/>
            <a:ext cx="6781800" cy="901700"/>
          </a:xfrm>
          <a:prstGeom prst="rect">
            <a:avLst/>
          </a:prstGeom>
        </p:spPr>
      </p:pic>
      <p:sp>
        <p:nvSpPr>
          <p:cNvPr id="22" name="tag_dot"/>
          <p:cNvSpPr/>
          <p:nvPr/>
        </p:nvSpPr>
        <p:spPr>
          <a:xfrm>
            <a:off x="3995928" y="3743299"/>
            <a:ext cx="128016" cy="128016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tex_p1_s4_0" descr="f_c8f70e8679483c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3419957"/>
            <a:ext cx="3276600" cy="7747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定积分与微积分基本定理 · 和式极限与 N-L 公式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解题步骤演示 · 用定义计算定积分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题 1　不用任何公式，硬算 ∫₀¹ x² dx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9806000" y="429768"/>
            <a:ext cx="1699895" cy="402336"/>
          </a:xfrm>
          <a:prstGeom prst="roundRect">
            <a:avLst>
              <a:gd name="adj" fmla="val 2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STEP 05 / 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89888"/>
            <a:ext cx="10820095" cy="744321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389888"/>
            <a:ext cx="68580" cy="744321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ag_12"/>
          <p:cNvSpPr txBox="1"/>
          <p:nvPr/>
        </p:nvSpPr>
        <p:spPr>
          <a:xfrm>
            <a:off x="832104" y="1572768"/>
            <a:ext cx="868680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题目</a:t>
            </a:r>
          </a:p>
        </p:txBody>
      </p:sp>
      <p:sp>
        <p:nvSpPr>
          <p:cNvPr id="14" name="body_13"/>
          <p:cNvSpPr txBox="1"/>
          <p:nvPr/>
        </p:nvSpPr>
        <p:spPr>
          <a:xfrm>
            <a:off x="1700784" y="1517904"/>
            <a:ext cx="9658807" cy="48828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21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用定积分的定义（分割 → 近似代替 → 求和 → 取极限）计算 ∫₀¹ x² dx。</a:t>
            </a:r>
          </a:p>
        </p:txBody>
      </p:sp>
      <p:sp>
        <p:nvSpPr>
          <p:cNvPr id="15" name="h1_14"/>
          <p:cNvSpPr txBox="1"/>
          <p:nvPr/>
        </p:nvSpPr>
        <p:spPr>
          <a:xfrm>
            <a:off x="685800" y="2317089"/>
            <a:ext cx="2926080" cy="7924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6" name="body_15"/>
          <p:cNvSpPr txBox="1"/>
          <p:nvPr/>
        </p:nvSpPr>
        <p:spPr>
          <a:xfrm>
            <a:off x="685800" y="3176625"/>
            <a:ext cx="2926080" cy="46268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100" b="1">
                <a:solidFill>
                  <a:srgbClr val="E0534B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17" name="cap_16"/>
          <p:cNvSpPr txBox="1"/>
          <p:nvPr/>
        </p:nvSpPr>
        <p:spPr>
          <a:xfrm>
            <a:off x="685800" y="3767327"/>
            <a:ext cx="2926080" cy="437083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8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和式的极限就是定积分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03904" y="2353665"/>
            <a:ext cx="11887" cy="3772814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p_18"/>
          <p:cNvSpPr txBox="1"/>
          <p:nvPr/>
        </p:nvSpPr>
        <p:spPr>
          <a:xfrm>
            <a:off x="3995928" y="2079345"/>
            <a:ext cx="6583680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（承上）前 3 步已完成，下面第 3 步为衔接</a:t>
            </a:r>
          </a:p>
        </p:txBody>
      </p:sp>
      <p:sp>
        <p:nvSpPr>
          <p:cNvPr id="20" name="tag_dot"/>
          <p:cNvSpPr/>
          <p:nvPr/>
        </p:nvSpPr>
        <p:spPr>
          <a:xfrm>
            <a:off x="3995928" y="2795371"/>
            <a:ext cx="128016" cy="128016"/>
          </a:xfrm>
          <a:prstGeom prst="ellipse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tex_p1_s3_0" descr="f_c0dfbcde143cd2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2408529"/>
            <a:ext cx="6781800" cy="901700"/>
          </a:xfrm>
          <a:prstGeom prst="rect">
            <a:avLst/>
          </a:prstGeom>
        </p:spPr>
      </p:pic>
      <p:sp>
        <p:nvSpPr>
          <p:cNvPr id="22" name="tag_dot"/>
          <p:cNvSpPr/>
          <p:nvPr/>
        </p:nvSpPr>
        <p:spPr>
          <a:xfrm>
            <a:off x="3995928" y="3743299"/>
            <a:ext cx="128016" cy="128016"/>
          </a:xfrm>
          <a:prstGeom prst="ellipse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tex_p1_s4_0" descr="f_581df6a0368d43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3419957"/>
            <a:ext cx="3276600" cy="774700"/>
          </a:xfrm>
          <a:prstGeom prst="rect">
            <a:avLst/>
          </a:prstGeom>
        </p:spPr>
      </p:pic>
      <p:sp>
        <p:nvSpPr>
          <p:cNvPr id="24" name="tag_dot"/>
          <p:cNvSpPr/>
          <p:nvPr/>
        </p:nvSpPr>
        <p:spPr>
          <a:xfrm>
            <a:off x="3995928" y="4697577"/>
            <a:ext cx="128016" cy="128016"/>
          </a:xfrm>
          <a:prstGeom prst="ellipse">
            <a:avLst/>
          </a:prstGeom>
          <a:solidFill>
            <a:srgbClr val="E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tex_p1_s5_0" descr="f_4ee4350be94731e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36" y="4304385"/>
            <a:ext cx="21209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定积分与微积分基本定理 · 和式极限与 N-L 公式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解题步骤演示 · N-L 公式 · 含绝对值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题 2　用牛顿-莱布尼茨公式算 ∫₀² |x²−1| dx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9806000" y="429768"/>
            <a:ext cx="1699895" cy="402336"/>
          </a:xfrm>
          <a:prstGeom prst="roundRect">
            <a:avLst>
              <a:gd name="adj" fmla="val 2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STEP 01 / 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89888"/>
            <a:ext cx="10820095" cy="744321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389888"/>
            <a:ext cx="68580" cy="744321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ag_12"/>
          <p:cNvSpPr txBox="1"/>
          <p:nvPr/>
        </p:nvSpPr>
        <p:spPr>
          <a:xfrm>
            <a:off x="832104" y="1572768"/>
            <a:ext cx="868680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题目</a:t>
            </a:r>
          </a:p>
        </p:txBody>
      </p:sp>
      <p:sp>
        <p:nvSpPr>
          <p:cNvPr id="14" name="body_13"/>
          <p:cNvSpPr txBox="1"/>
          <p:nvPr/>
        </p:nvSpPr>
        <p:spPr>
          <a:xfrm>
            <a:off x="1700784" y="1517904"/>
            <a:ext cx="9658807" cy="48828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21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计算 ∫₀² |x²−1| dx。</a:t>
            </a:r>
          </a:p>
        </p:txBody>
      </p:sp>
      <p:sp>
        <p:nvSpPr>
          <p:cNvPr id="15" name="h1_14"/>
          <p:cNvSpPr txBox="1"/>
          <p:nvPr/>
        </p:nvSpPr>
        <p:spPr>
          <a:xfrm>
            <a:off x="685800" y="2317089"/>
            <a:ext cx="2926080" cy="7924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body_15"/>
          <p:cNvSpPr txBox="1"/>
          <p:nvPr/>
        </p:nvSpPr>
        <p:spPr>
          <a:xfrm>
            <a:off x="685800" y="3176625"/>
            <a:ext cx="2926080" cy="46268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1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先去绝对值：判正负</a:t>
            </a:r>
          </a:p>
        </p:txBody>
      </p:sp>
      <p:sp>
        <p:nvSpPr>
          <p:cNvPr id="17" name="cap_16"/>
          <p:cNvSpPr txBox="1"/>
          <p:nvPr/>
        </p:nvSpPr>
        <p:spPr>
          <a:xfrm>
            <a:off x="685800" y="3767327"/>
            <a:ext cx="2926080" cy="437083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8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分界点是 x =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03904" y="2353665"/>
            <a:ext cx="11887" cy="3772814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ag_dot"/>
          <p:cNvSpPr/>
          <p:nvPr/>
        </p:nvSpPr>
        <p:spPr>
          <a:xfrm>
            <a:off x="3995928" y="2896971"/>
            <a:ext cx="128016" cy="128016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tex_p2_s1_0" descr="f_fbba7c4da46ae1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2408529"/>
            <a:ext cx="4559300" cy="11049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定积分与微积分基本定理 · 和式极限与 N-L 公式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解题步骤演示 · N-L 公式 · 含绝对值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题 2　用牛顿-莱布尼茨公式算 ∫₀² |x²−1| dx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9806000" y="429768"/>
            <a:ext cx="1699895" cy="402336"/>
          </a:xfrm>
          <a:prstGeom prst="roundRect">
            <a:avLst>
              <a:gd name="adj" fmla="val 2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STEP 02 / 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89888"/>
            <a:ext cx="10820095" cy="744321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389888"/>
            <a:ext cx="68580" cy="744321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ag_12"/>
          <p:cNvSpPr txBox="1"/>
          <p:nvPr/>
        </p:nvSpPr>
        <p:spPr>
          <a:xfrm>
            <a:off x="832104" y="1572768"/>
            <a:ext cx="868680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题目</a:t>
            </a:r>
          </a:p>
        </p:txBody>
      </p:sp>
      <p:sp>
        <p:nvSpPr>
          <p:cNvPr id="14" name="body_13"/>
          <p:cNvSpPr txBox="1"/>
          <p:nvPr/>
        </p:nvSpPr>
        <p:spPr>
          <a:xfrm>
            <a:off x="1700784" y="1517904"/>
            <a:ext cx="9658807" cy="48828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21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计算 ∫₀² |x²−1| dx。</a:t>
            </a:r>
          </a:p>
        </p:txBody>
      </p:sp>
      <p:sp>
        <p:nvSpPr>
          <p:cNvPr id="15" name="h1_14"/>
          <p:cNvSpPr txBox="1"/>
          <p:nvPr/>
        </p:nvSpPr>
        <p:spPr>
          <a:xfrm>
            <a:off x="685800" y="2317089"/>
            <a:ext cx="2926080" cy="7924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body_15"/>
          <p:cNvSpPr txBox="1"/>
          <p:nvPr/>
        </p:nvSpPr>
        <p:spPr>
          <a:xfrm>
            <a:off x="685800" y="3176625"/>
            <a:ext cx="2926080" cy="46268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1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按分界点拆区间</a:t>
            </a:r>
          </a:p>
        </p:txBody>
      </p:sp>
      <p:sp>
        <p:nvSpPr>
          <p:cNvPr id="17" name="cap_16"/>
          <p:cNvSpPr txBox="1"/>
          <p:nvPr/>
        </p:nvSpPr>
        <p:spPr>
          <a:xfrm>
            <a:off x="685800" y="3767327"/>
            <a:ext cx="2926080" cy="437083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8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区间可加性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03904" y="2353665"/>
            <a:ext cx="11887" cy="3772814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ag_dot"/>
          <p:cNvSpPr/>
          <p:nvPr/>
        </p:nvSpPr>
        <p:spPr>
          <a:xfrm>
            <a:off x="3995928" y="2896971"/>
            <a:ext cx="128016" cy="128016"/>
          </a:xfrm>
          <a:prstGeom prst="ellipse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tex_p2_s1_0" descr="f_b0356408d110ce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2408529"/>
            <a:ext cx="4559300" cy="1104900"/>
          </a:xfrm>
          <a:prstGeom prst="rect">
            <a:avLst/>
          </a:prstGeom>
        </p:spPr>
      </p:pic>
      <p:sp>
        <p:nvSpPr>
          <p:cNvPr id="21" name="tag_dot"/>
          <p:cNvSpPr/>
          <p:nvPr/>
        </p:nvSpPr>
        <p:spPr>
          <a:xfrm>
            <a:off x="3995928" y="4016349"/>
            <a:ext cx="128016" cy="128016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tex_p2_s2_0" descr="f_0cf07d7b4ccb07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3623157"/>
            <a:ext cx="6883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定积分与微积分基本定理 · 和式极限与 N-L 公式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解题步骤演示 · N-L 公式 · 含绝对值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题 2　用牛顿-莱布尼茨公式算 ∫₀² |x²−1| dx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9806000" y="429768"/>
            <a:ext cx="1699895" cy="402336"/>
          </a:xfrm>
          <a:prstGeom prst="roundRect">
            <a:avLst>
              <a:gd name="adj" fmla="val 2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STEP 03 / 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89888"/>
            <a:ext cx="10820095" cy="744321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389888"/>
            <a:ext cx="68580" cy="744321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ag_12"/>
          <p:cNvSpPr txBox="1"/>
          <p:nvPr/>
        </p:nvSpPr>
        <p:spPr>
          <a:xfrm>
            <a:off x="832104" y="1572768"/>
            <a:ext cx="868680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题目</a:t>
            </a:r>
          </a:p>
        </p:txBody>
      </p:sp>
      <p:sp>
        <p:nvSpPr>
          <p:cNvPr id="14" name="body_13"/>
          <p:cNvSpPr txBox="1"/>
          <p:nvPr/>
        </p:nvSpPr>
        <p:spPr>
          <a:xfrm>
            <a:off x="1700784" y="1517904"/>
            <a:ext cx="9658807" cy="48828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21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计算 ∫₀² |x²−1| dx。</a:t>
            </a:r>
          </a:p>
        </p:txBody>
      </p:sp>
      <p:sp>
        <p:nvSpPr>
          <p:cNvPr id="15" name="h1_14"/>
          <p:cNvSpPr txBox="1"/>
          <p:nvPr/>
        </p:nvSpPr>
        <p:spPr>
          <a:xfrm>
            <a:off x="685800" y="2317089"/>
            <a:ext cx="2926080" cy="7924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body_15"/>
          <p:cNvSpPr txBox="1"/>
          <p:nvPr/>
        </p:nvSpPr>
        <p:spPr>
          <a:xfrm>
            <a:off x="685800" y="3176625"/>
            <a:ext cx="2926080" cy="46268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1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各段求原函数</a:t>
            </a:r>
          </a:p>
        </p:txBody>
      </p:sp>
      <p:sp>
        <p:nvSpPr>
          <p:cNvPr id="17" name="cap_16"/>
          <p:cNvSpPr txBox="1"/>
          <p:nvPr/>
        </p:nvSpPr>
        <p:spPr>
          <a:xfrm>
            <a:off x="685800" y="3767327"/>
            <a:ext cx="2926080" cy="437083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8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求导验回去就对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03904" y="2353665"/>
            <a:ext cx="11887" cy="3772814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ag_dot"/>
          <p:cNvSpPr/>
          <p:nvPr/>
        </p:nvSpPr>
        <p:spPr>
          <a:xfrm>
            <a:off x="3995928" y="2896971"/>
            <a:ext cx="128016" cy="128016"/>
          </a:xfrm>
          <a:prstGeom prst="ellipse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tex_p2_s1_0" descr="f_b0356408d110ce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2408529"/>
            <a:ext cx="4559300" cy="1104900"/>
          </a:xfrm>
          <a:prstGeom prst="rect">
            <a:avLst/>
          </a:prstGeom>
        </p:spPr>
      </p:pic>
      <p:sp>
        <p:nvSpPr>
          <p:cNvPr id="21" name="tag_dot"/>
          <p:cNvSpPr/>
          <p:nvPr/>
        </p:nvSpPr>
        <p:spPr>
          <a:xfrm>
            <a:off x="3995928" y="4016349"/>
            <a:ext cx="128016" cy="128016"/>
          </a:xfrm>
          <a:prstGeom prst="ellipse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tex_p2_s2_0" descr="f_f9d5c20ae45e9f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3623157"/>
            <a:ext cx="6883400" cy="914400"/>
          </a:xfrm>
          <a:prstGeom prst="rect">
            <a:avLst/>
          </a:prstGeom>
        </p:spPr>
      </p:pic>
      <p:sp>
        <p:nvSpPr>
          <p:cNvPr id="23" name="tag_dot"/>
          <p:cNvSpPr/>
          <p:nvPr/>
        </p:nvSpPr>
        <p:spPr>
          <a:xfrm>
            <a:off x="3995928" y="4996027"/>
            <a:ext cx="128016" cy="128016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tex_p2_s3_0" descr="f_bbaf452019dc40b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36" y="4647285"/>
            <a:ext cx="5207000" cy="825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定积分与微积分基本定理 · 和式极限与 N-L 公式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解题步骤演示 · N-L 公式 · 含绝对值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题 2　用牛顿-莱布尼茨公式算 ∫₀² |x²−1| dx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9806000" y="429768"/>
            <a:ext cx="1699895" cy="402336"/>
          </a:xfrm>
          <a:prstGeom prst="roundRect">
            <a:avLst>
              <a:gd name="adj" fmla="val 2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STEP 04 / 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89888"/>
            <a:ext cx="10820095" cy="744321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389888"/>
            <a:ext cx="68580" cy="744321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ag_12"/>
          <p:cNvSpPr txBox="1"/>
          <p:nvPr/>
        </p:nvSpPr>
        <p:spPr>
          <a:xfrm>
            <a:off x="832104" y="1572768"/>
            <a:ext cx="868680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题目</a:t>
            </a:r>
          </a:p>
        </p:txBody>
      </p:sp>
      <p:sp>
        <p:nvSpPr>
          <p:cNvPr id="14" name="body_13"/>
          <p:cNvSpPr txBox="1"/>
          <p:nvPr/>
        </p:nvSpPr>
        <p:spPr>
          <a:xfrm>
            <a:off x="1700784" y="1517904"/>
            <a:ext cx="9658807" cy="48828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21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计算 ∫₀² |x²−1| dx。</a:t>
            </a:r>
          </a:p>
        </p:txBody>
      </p:sp>
      <p:sp>
        <p:nvSpPr>
          <p:cNvPr id="15" name="h1_14"/>
          <p:cNvSpPr txBox="1"/>
          <p:nvPr/>
        </p:nvSpPr>
        <p:spPr>
          <a:xfrm>
            <a:off x="685800" y="2317089"/>
            <a:ext cx="2926080" cy="7924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body_15"/>
          <p:cNvSpPr txBox="1"/>
          <p:nvPr/>
        </p:nvSpPr>
        <p:spPr>
          <a:xfrm>
            <a:off x="685800" y="3176625"/>
            <a:ext cx="2926080" cy="46268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1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代入上下限</a:t>
            </a:r>
          </a:p>
        </p:txBody>
      </p:sp>
      <p:sp>
        <p:nvSpPr>
          <p:cNvPr id="17" name="cap_16"/>
          <p:cNvSpPr txBox="1"/>
          <p:nvPr/>
        </p:nvSpPr>
        <p:spPr>
          <a:xfrm>
            <a:off x="685800" y="3767327"/>
            <a:ext cx="2926080" cy="437083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8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上限减下限，别写反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03904" y="2353665"/>
            <a:ext cx="11887" cy="3772814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p_18"/>
          <p:cNvSpPr txBox="1"/>
          <p:nvPr/>
        </p:nvSpPr>
        <p:spPr>
          <a:xfrm>
            <a:off x="3995928" y="2079345"/>
            <a:ext cx="6583680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（承上）前 3 步已完成，下面第 3 步为衔接</a:t>
            </a:r>
          </a:p>
        </p:txBody>
      </p:sp>
      <p:sp>
        <p:nvSpPr>
          <p:cNvPr id="20" name="tag_dot"/>
          <p:cNvSpPr/>
          <p:nvPr/>
        </p:nvSpPr>
        <p:spPr>
          <a:xfrm>
            <a:off x="3995928" y="2757271"/>
            <a:ext cx="128016" cy="128016"/>
          </a:xfrm>
          <a:prstGeom prst="ellipse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tex_p2_s3_0" descr="f_d5cc36c0864284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2408529"/>
            <a:ext cx="5207000" cy="825500"/>
          </a:xfrm>
          <a:prstGeom prst="rect">
            <a:avLst/>
          </a:prstGeom>
        </p:spPr>
      </p:pic>
      <p:sp>
        <p:nvSpPr>
          <p:cNvPr id="22" name="tag_dot"/>
          <p:cNvSpPr/>
          <p:nvPr/>
        </p:nvSpPr>
        <p:spPr>
          <a:xfrm>
            <a:off x="3995928" y="3775049"/>
            <a:ext cx="128016" cy="128016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tex_p2_s4_0" descr="f_d4bd0e8fffbca08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3343757"/>
            <a:ext cx="6045200" cy="99059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定积分与微积分基本定理 · 和式极限与 N-L 公式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解题步骤演示 · N-L 公式 · 含绝对值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题 2　用牛顿-莱布尼茨公式算 ∫₀² |x²−1| dx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9806000" y="429768"/>
            <a:ext cx="1699895" cy="402336"/>
          </a:xfrm>
          <a:prstGeom prst="roundRect">
            <a:avLst>
              <a:gd name="adj" fmla="val 2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STEP 05 / 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89888"/>
            <a:ext cx="10820095" cy="744321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389888"/>
            <a:ext cx="68580" cy="744321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ag_12"/>
          <p:cNvSpPr txBox="1"/>
          <p:nvPr/>
        </p:nvSpPr>
        <p:spPr>
          <a:xfrm>
            <a:off x="832104" y="1572768"/>
            <a:ext cx="868680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题目</a:t>
            </a:r>
          </a:p>
        </p:txBody>
      </p:sp>
      <p:sp>
        <p:nvSpPr>
          <p:cNvPr id="14" name="body_13"/>
          <p:cNvSpPr txBox="1"/>
          <p:nvPr/>
        </p:nvSpPr>
        <p:spPr>
          <a:xfrm>
            <a:off x="1700784" y="1517904"/>
            <a:ext cx="9658807" cy="48828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21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计算 ∫₀² |x²−1| dx。</a:t>
            </a:r>
          </a:p>
        </p:txBody>
      </p:sp>
      <p:sp>
        <p:nvSpPr>
          <p:cNvPr id="15" name="h1_14"/>
          <p:cNvSpPr txBox="1"/>
          <p:nvPr/>
        </p:nvSpPr>
        <p:spPr>
          <a:xfrm>
            <a:off x="685800" y="2317089"/>
            <a:ext cx="2926080" cy="7924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6" name="body_15"/>
          <p:cNvSpPr txBox="1"/>
          <p:nvPr/>
        </p:nvSpPr>
        <p:spPr>
          <a:xfrm>
            <a:off x="685800" y="3176625"/>
            <a:ext cx="2926080" cy="46268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100" b="1">
                <a:solidFill>
                  <a:srgbClr val="E0534B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17" name="cap_16"/>
          <p:cNvSpPr txBox="1"/>
          <p:nvPr/>
        </p:nvSpPr>
        <p:spPr>
          <a:xfrm>
            <a:off x="685800" y="3767327"/>
            <a:ext cx="2926080" cy="437083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8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它同时也是面积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03904" y="2353665"/>
            <a:ext cx="11887" cy="3772814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p_18"/>
          <p:cNvSpPr txBox="1"/>
          <p:nvPr/>
        </p:nvSpPr>
        <p:spPr>
          <a:xfrm>
            <a:off x="3995928" y="2079345"/>
            <a:ext cx="6583680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（承上）前 3 步已完成，下面第 3 步为衔接</a:t>
            </a:r>
          </a:p>
        </p:txBody>
      </p:sp>
      <p:sp>
        <p:nvSpPr>
          <p:cNvPr id="20" name="tag_dot"/>
          <p:cNvSpPr/>
          <p:nvPr/>
        </p:nvSpPr>
        <p:spPr>
          <a:xfrm>
            <a:off x="3995928" y="2757271"/>
            <a:ext cx="128016" cy="128016"/>
          </a:xfrm>
          <a:prstGeom prst="ellipse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tex_p2_s3_0" descr="f_d5cc36c0864284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2408529"/>
            <a:ext cx="5207000" cy="825500"/>
          </a:xfrm>
          <a:prstGeom prst="rect">
            <a:avLst/>
          </a:prstGeom>
        </p:spPr>
      </p:pic>
      <p:sp>
        <p:nvSpPr>
          <p:cNvPr id="22" name="tag_dot"/>
          <p:cNvSpPr/>
          <p:nvPr/>
        </p:nvSpPr>
        <p:spPr>
          <a:xfrm>
            <a:off x="3995928" y="3775049"/>
            <a:ext cx="128016" cy="128016"/>
          </a:xfrm>
          <a:prstGeom prst="ellipse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tex_p2_s4_0" descr="f_2a675c1f15fcf0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3343757"/>
            <a:ext cx="6045200" cy="990599"/>
          </a:xfrm>
          <a:prstGeom prst="rect">
            <a:avLst/>
          </a:prstGeom>
        </p:spPr>
      </p:pic>
      <p:sp>
        <p:nvSpPr>
          <p:cNvPr id="24" name="tag_dot"/>
          <p:cNvSpPr/>
          <p:nvPr/>
        </p:nvSpPr>
        <p:spPr>
          <a:xfrm>
            <a:off x="3995928" y="4837277"/>
            <a:ext cx="128016" cy="128016"/>
          </a:xfrm>
          <a:prstGeom prst="ellipse">
            <a:avLst/>
          </a:prstGeom>
          <a:solidFill>
            <a:srgbClr val="E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tex_p2_s5_0" descr="f_45f11c1056eded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36" y="4444085"/>
            <a:ext cx="26797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定积分与微积分基本定理 · 和式极限与 N-L 公式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公式表达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基本定理：把极限换成一次减法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10134295" y="429768"/>
            <a:ext cx="1371600" cy="402336"/>
          </a:xfrm>
          <a:prstGeom prst="roundRect">
            <a:avLst>
              <a:gd name="adj" fmla="val 28000"/>
            </a:avLst>
          </a:prstGeom>
          <a:solidFill>
            <a:srgbClr val="E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定理</a:t>
            </a:r>
          </a:p>
        </p:txBody>
      </p:sp>
      <p:sp>
        <p:nvSpPr>
          <p:cNvPr id="11" name="body_10"/>
          <p:cNvSpPr txBox="1"/>
          <p:nvPr/>
        </p:nvSpPr>
        <p:spPr>
          <a:xfrm>
            <a:off x="685800" y="1389888"/>
            <a:ext cx="10820095" cy="507492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1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把上限放开造出面积函数 A(x)，对它求导，就得到微分与积分互逆：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88820"/>
            <a:ext cx="10820095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1988820"/>
            <a:ext cx="68580" cy="10972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tex_area_fn" descr="f_216fd3eef031f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597" y="2029460"/>
            <a:ext cx="6286500" cy="10160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85800" y="3305556"/>
            <a:ext cx="10820095" cy="141732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E0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305556"/>
            <a:ext cx="68580" cy="1417320"/>
          </a:xfrm>
          <a:prstGeom prst="rect">
            <a:avLst/>
          </a:prstGeom>
          <a:solidFill>
            <a:srgbClr val="E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ag_16"/>
          <p:cNvSpPr txBox="1"/>
          <p:nvPr/>
        </p:nvSpPr>
        <p:spPr>
          <a:xfrm>
            <a:off x="868680" y="3415284"/>
            <a:ext cx="457200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E0534B"/>
                </a:solidFill>
                <a:latin typeface="Microsoft YaHei"/>
                <a:ea typeface="Microsoft YaHei"/>
                <a:cs typeface="Microsoft YaHei"/>
              </a:rPr>
              <a:t>牛顿-莱布尼茨公式</a:t>
            </a:r>
          </a:p>
        </p:txBody>
      </p:sp>
      <p:pic>
        <p:nvPicPr>
          <p:cNvPr id="18" name="tex_nl" descr="f_b99dcd9c20eb52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7557" y="3726180"/>
            <a:ext cx="7536581" cy="914400"/>
          </a:xfrm>
          <a:prstGeom prst="rect">
            <a:avLst/>
          </a:prstGeom>
        </p:spPr>
      </p:pic>
      <p:sp>
        <p:nvSpPr>
          <p:cNvPr id="19" name="body_18"/>
          <p:cNvSpPr txBox="1"/>
          <p:nvPr/>
        </p:nvSpPr>
        <p:spPr>
          <a:xfrm>
            <a:off x="685800" y="4942332"/>
            <a:ext cx="10820095" cy="8839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对照例 1：用定义算了整整五步，用这条公式只需 [x³/3]₀¹ = 1/3 一行。这就是它被称为「基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本定理」的原因。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定积分与微积分基本定理 · 和式极限与 N-L 公式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方法提炼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用 N-L 公式算定积分的四步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10134295" y="429768"/>
            <a:ext cx="1371600" cy="402336"/>
          </a:xfrm>
          <a:prstGeom prst="roundRect">
            <a:avLst>
              <a:gd name="adj" fmla="val 2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536192"/>
            <a:ext cx="2533573" cy="3523488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ag_num"/>
          <p:cNvSpPr/>
          <p:nvPr/>
        </p:nvSpPr>
        <p:spPr>
          <a:xfrm>
            <a:off x="850392" y="1737360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body_12"/>
          <p:cNvSpPr txBox="1"/>
          <p:nvPr/>
        </p:nvSpPr>
        <p:spPr>
          <a:xfrm>
            <a:off x="832104" y="2377440"/>
            <a:ext cx="2240965" cy="731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第一步｜判号拆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区间</a:t>
            </a:r>
          </a:p>
        </p:txBody>
      </p:sp>
      <p:sp>
        <p:nvSpPr>
          <p:cNvPr id="14" name="body_13"/>
          <p:cNvSpPr txBox="1"/>
          <p:nvPr/>
        </p:nvSpPr>
        <p:spPr>
          <a:xfrm>
            <a:off x="832104" y="3200400"/>
            <a:ext cx="2240965" cy="167640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被积函数带绝对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值或分段时，先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找分界点，按正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负拆开。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47973" y="1536192"/>
            <a:ext cx="2533573" cy="3523488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ag_num"/>
          <p:cNvSpPr/>
          <p:nvPr/>
        </p:nvSpPr>
        <p:spPr>
          <a:xfrm>
            <a:off x="3612565" y="1737360"/>
            <a:ext cx="475488" cy="475488"/>
          </a:xfrm>
          <a:prstGeom prst="ellipse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7" name="body_16"/>
          <p:cNvSpPr txBox="1"/>
          <p:nvPr/>
        </p:nvSpPr>
        <p:spPr>
          <a:xfrm>
            <a:off x="3594277" y="2377440"/>
            <a:ext cx="2240965" cy="731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第二步｜找原函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数</a:t>
            </a:r>
          </a:p>
        </p:txBody>
      </p:sp>
      <p:sp>
        <p:nvSpPr>
          <p:cNvPr id="18" name="body_17"/>
          <p:cNvSpPr txBox="1"/>
          <p:nvPr/>
        </p:nvSpPr>
        <p:spPr>
          <a:xfrm>
            <a:off x="3594277" y="3200400"/>
            <a:ext cx="2240965" cy="167640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对每段找 F(x) 使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F′(x)=f(x)，求导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验回去确认没找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错。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0147" y="1536192"/>
            <a:ext cx="2533573" cy="3523488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ag_num"/>
          <p:cNvSpPr/>
          <p:nvPr/>
        </p:nvSpPr>
        <p:spPr>
          <a:xfrm>
            <a:off x="6374739" y="1737360"/>
            <a:ext cx="475488" cy="475488"/>
          </a:xfrm>
          <a:prstGeom prst="ellipse">
            <a:avLst/>
          </a:prstGeom>
          <a:solidFill>
            <a:srgbClr val="E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1" name="body_20"/>
          <p:cNvSpPr txBox="1"/>
          <p:nvPr/>
        </p:nvSpPr>
        <p:spPr>
          <a:xfrm>
            <a:off x="6356451" y="2377440"/>
            <a:ext cx="2240965" cy="731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第三步｜代上下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限</a:t>
            </a:r>
          </a:p>
        </p:txBody>
      </p:sp>
      <p:sp>
        <p:nvSpPr>
          <p:cNvPr id="22" name="body_21"/>
          <p:cNvSpPr txBox="1"/>
          <p:nvPr/>
        </p:nvSpPr>
        <p:spPr>
          <a:xfrm>
            <a:off x="6356451" y="3200400"/>
            <a:ext cx="2240965" cy="167640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写成 [F(x)]ₐᵇ，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再算 F(b)−F(a)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，上限减下限不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能写反。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72321" y="1536192"/>
            <a:ext cx="2533573" cy="3523488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ag_num"/>
          <p:cNvSpPr/>
          <p:nvPr/>
        </p:nvSpPr>
        <p:spPr>
          <a:xfrm>
            <a:off x="9136913" y="1737360"/>
            <a:ext cx="475488" cy="475488"/>
          </a:xfrm>
          <a:prstGeom prst="ellipse">
            <a:avLst/>
          </a:prstGeom>
          <a:solidFill>
            <a:srgbClr val="142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body_24"/>
          <p:cNvSpPr txBox="1"/>
          <p:nvPr/>
        </p:nvSpPr>
        <p:spPr>
          <a:xfrm>
            <a:off x="9118625" y="2377440"/>
            <a:ext cx="2240965" cy="4114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第四步｜回题意</a:t>
            </a:r>
          </a:p>
        </p:txBody>
      </p:sp>
      <p:sp>
        <p:nvSpPr>
          <p:cNvPr id="26" name="body_25"/>
          <p:cNvSpPr txBox="1"/>
          <p:nvPr/>
        </p:nvSpPr>
        <p:spPr>
          <a:xfrm>
            <a:off x="9118625" y="3200400"/>
            <a:ext cx="2240965" cy="167640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问面积就取绝对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值，问位移就带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符号，问路程再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取绝对值。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260848"/>
            <a:ext cx="10820095" cy="86563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" y="5260848"/>
            <a:ext cx="68580" cy="865631"/>
          </a:xfrm>
          <a:prstGeom prst="rect">
            <a:avLst/>
          </a:prstGeom>
          <a:solidFill>
            <a:srgbClr val="E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body_28"/>
          <p:cNvSpPr txBox="1"/>
          <p:nvPr/>
        </p:nvSpPr>
        <p:spPr>
          <a:xfrm>
            <a:off x="886968" y="5425440"/>
            <a:ext cx="10417759" cy="41147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一句口诀：先判号、再拆段；找原函数、代上下限；最后一定回头看题问的是什么。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定积分与微积分基本定理 · 和式极限与 N-L 公式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易错辨析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三个最常见的错，一次只看一个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10134295" y="429768"/>
            <a:ext cx="1371600" cy="402336"/>
          </a:xfrm>
          <a:prstGeom prst="roundRect">
            <a:avLst>
              <a:gd name="adj" fmla="val 28000"/>
            </a:avLst>
          </a:prstGeom>
          <a:solidFill>
            <a:srgbClr val="E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易错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89888"/>
            <a:ext cx="3454298" cy="47365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389888"/>
            <a:ext cx="68580" cy="4736592"/>
          </a:xfrm>
          <a:prstGeom prst="rect">
            <a:avLst/>
          </a:prstGeom>
          <a:solidFill>
            <a:srgbClr val="E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ag_12"/>
          <p:cNvSpPr txBox="1"/>
          <p:nvPr/>
        </p:nvSpPr>
        <p:spPr>
          <a:xfrm>
            <a:off x="868680" y="1499616"/>
            <a:ext cx="3088538" cy="3352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E0534B"/>
                </a:solidFill>
                <a:latin typeface="Microsoft YaHei"/>
                <a:ea typeface="Microsoft YaHei"/>
                <a:cs typeface="Microsoft YaHei"/>
              </a:rPr>
              <a:t>错法一</a:t>
            </a:r>
          </a:p>
        </p:txBody>
      </p:sp>
      <p:sp>
        <p:nvSpPr>
          <p:cNvPr id="14" name="body_13"/>
          <p:cNvSpPr txBox="1"/>
          <p:nvPr/>
        </p:nvSpPr>
        <p:spPr>
          <a:xfrm>
            <a:off x="850392" y="1871472"/>
            <a:ext cx="3125114" cy="46268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1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上下限写反还不变号</a:t>
            </a:r>
          </a:p>
        </p:txBody>
      </p:sp>
      <p:sp>
        <p:nvSpPr>
          <p:cNvPr id="15" name="body_14"/>
          <p:cNvSpPr txBox="1"/>
          <p:nvPr/>
        </p:nvSpPr>
        <p:spPr>
          <a:xfrm>
            <a:off x="850392" y="2407310"/>
            <a:ext cx="3125114" cy="87172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0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算完 F(a)−F(b) 就直接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0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抄答案。</a:t>
            </a:r>
          </a:p>
        </p:txBody>
      </p:sp>
      <p:pic>
        <p:nvPicPr>
          <p:cNvPr id="16" name="tex_err1" descr="f_1aa69fa125afeba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377" y="3370478"/>
            <a:ext cx="2037144" cy="80467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905256" y="4303166"/>
            <a:ext cx="3015386" cy="11887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ag_17"/>
          <p:cNvSpPr txBox="1"/>
          <p:nvPr/>
        </p:nvSpPr>
        <p:spPr>
          <a:xfrm>
            <a:off x="868680" y="4449470"/>
            <a:ext cx="1280160" cy="3352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正解</a:t>
            </a:r>
          </a:p>
        </p:txBody>
      </p:sp>
      <p:sp>
        <p:nvSpPr>
          <p:cNvPr id="19" name="body_18"/>
          <p:cNvSpPr txBox="1"/>
          <p:nvPr/>
        </p:nvSpPr>
        <p:spPr>
          <a:xfrm>
            <a:off x="850392" y="4821326"/>
            <a:ext cx="3125114" cy="1261872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000" b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交换上下限必须变号；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000" b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写成 [F(x)]ₐᵇ 就不会记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000" b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错顺序。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68698" y="1389888"/>
            <a:ext cx="3454298" cy="47365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68698" y="1389888"/>
            <a:ext cx="68580" cy="4736592"/>
          </a:xfrm>
          <a:prstGeom prst="rect">
            <a:avLst/>
          </a:prstGeom>
          <a:solidFill>
            <a:srgbClr val="E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ag_21"/>
          <p:cNvSpPr txBox="1"/>
          <p:nvPr/>
        </p:nvSpPr>
        <p:spPr>
          <a:xfrm>
            <a:off x="4551578" y="1499616"/>
            <a:ext cx="3088538" cy="3352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E0534B"/>
                </a:solidFill>
                <a:latin typeface="Microsoft YaHei"/>
                <a:ea typeface="Microsoft YaHei"/>
                <a:cs typeface="Microsoft YaHei"/>
              </a:rPr>
              <a:t>错法二</a:t>
            </a:r>
          </a:p>
        </p:txBody>
      </p:sp>
      <p:sp>
        <p:nvSpPr>
          <p:cNvPr id="23" name="body_22"/>
          <p:cNvSpPr txBox="1"/>
          <p:nvPr/>
        </p:nvSpPr>
        <p:spPr>
          <a:xfrm>
            <a:off x="4533290" y="1871472"/>
            <a:ext cx="3125114" cy="46268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1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带绝对值不拆区间</a:t>
            </a:r>
          </a:p>
        </p:txBody>
      </p:sp>
      <p:sp>
        <p:nvSpPr>
          <p:cNvPr id="24" name="body_23"/>
          <p:cNvSpPr txBox="1"/>
          <p:nvPr/>
        </p:nvSpPr>
        <p:spPr>
          <a:xfrm>
            <a:off x="4533290" y="2407310"/>
            <a:ext cx="3125114" cy="87172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0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把 |x²−1| 当成 x²−1 一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0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路积到底。</a:t>
            </a:r>
          </a:p>
        </p:txBody>
      </p:sp>
      <p:pic>
        <p:nvPicPr>
          <p:cNvPr id="25" name="tex_err2" descr="f_4e648d86fef67db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6714" y="3388407"/>
            <a:ext cx="3198266" cy="768814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4588154" y="4303166"/>
            <a:ext cx="3015386" cy="11887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ag_26"/>
          <p:cNvSpPr txBox="1"/>
          <p:nvPr/>
        </p:nvSpPr>
        <p:spPr>
          <a:xfrm>
            <a:off x="4551578" y="4449470"/>
            <a:ext cx="1280160" cy="3352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正解</a:t>
            </a:r>
          </a:p>
        </p:txBody>
      </p:sp>
      <p:sp>
        <p:nvSpPr>
          <p:cNvPr id="28" name="body_27"/>
          <p:cNvSpPr txBox="1"/>
          <p:nvPr/>
        </p:nvSpPr>
        <p:spPr>
          <a:xfrm>
            <a:off x="4533290" y="4821326"/>
            <a:ext cx="3125114" cy="1261872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000" b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先解 f(x)=0 找到分界点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000" b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，再按正负拆成两段分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000" b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别积。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51596" y="1389888"/>
            <a:ext cx="3454298" cy="47365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51596" y="1389888"/>
            <a:ext cx="68580" cy="4736592"/>
          </a:xfrm>
          <a:prstGeom prst="rect">
            <a:avLst/>
          </a:prstGeom>
          <a:solidFill>
            <a:srgbClr val="E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ag_30"/>
          <p:cNvSpPr txBox="1"/>
          <p:nvPr/>
        </p:nvSpPr>
        <p:spPr>
          <a:xfrm>
            <a:off x="8234476" y="1499616"/>
            <a:ext cx="3088538" cy="3352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E0534B"/>
                </a:solidFill>
                <a:latin typeface="Microsoft YaHei"/>
                <a:ea typeface="Microsoft YaHei"/>
                <a:cs typeface="Microsoft YaHei"/>
              </a:rPr>
              <a:t>错法三</a:t>
            </a:r>
          </a:p>
        </p:txBody>
      </p:sp>
      <p:sp>
        <p:nvSpPr>
          <p:cNvPr id="32" name="body_31"/>
          <p:cNvSpPr txBox="1"/>
          <p:nvPr/>
        </p:nvSpPr>
        <p:spPr>
          <a:xfrm>
            <a:off x="8216188" y="1871472"/>
            <a:ext cx="3125114" cy="46268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1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把定积分当成面积</a:t>
            </a:r>
          </a:p>
        </p:txBody>
      </p:sp>
      <p:sp>
        <p:nvSpPr>
          <p:cNvPr id="33" name="body_32"/>
          <p:cNvSpPr txBox="1"/>
          <p:nvPr/>
        </p:nvSpPr>
        <p:spPr>
          <a:xfrm>
            <a:off x="8216188" y="2407310"/>
            <a:ext cx="3125114" cy="87172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0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曲线在 x 轴下方时，定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0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积分是负的。</a:t>
            </a:r>
          </a:p>
        </p:txBody>
      </p:sp>
      <p:pic>
        <p:nvPicPr>
          <p:cNvPr id="34" name="tex_err3" descr="f_fd8fedb1081e0b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8502" y="3370478"/>
            <a:ext cx="2220487" cy="804672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271052" y="4303166"/>
            <a:ext cx="3015386" cy="11887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ag_35"/>
          <p:cNvSpPr txBox="1"/>
          <p:nvPr/>
        </p:nvSpPr>
        <p:spPr>
          <a:xfrm>
            <a:off x="8234476" y="4449470"/>
            <a:ext cx="1280160" cy="3352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正解</a:t>
            </a:r>
          </a:p>
        </p:txBody>
      </p:sp>
      <p:sp>
        <p:nvSpPr>
          <p:cNvPr id="37" name="body_36"/>
          <p:cNvSpPr txBox="1"/>
          <p:nvPr/>
        </p:nvSpPr>
        <p:spPr>
          <a:xfrm>
            <a:off x="8216188" y="4821326"/>
            <a:ext cx="3125114" cy="87172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000" b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问面积要用 ∫|f|；问位移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000" b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才用带符号的 ∫f。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定积分与微积分基本定理 · 和式极限与 N-L 公式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迁移应用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同一个累积结构，换个场景照用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10134295" y="429768"/>
            <a:ext cx="1371600" cy="402336"/>
          </a:xfrm>
          <a:prstGeom prst="roundRect">
            <a:avLst>
              <a:gd name="adj" fmla="val 2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迁移</a:t>
            </a:r>
          </a:p>
        </p:txBody>
      </p:sp>
      <p:sp>
        <p:nvSpPr>
          <p:cNvPr id="11" name="body_10"/>
          <p:cNvSpPr txBox="1"/>
          <p:nvPr/>
        </p:nvSpPr>
        <p:spPr>
          <a:xfrm>
            <a:off x="685800" y="1389888"/>
            <a:ext cx="10820095" cy="507492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1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把「无数个微小量累加起来」的思路搬到物理，就得到两个高频应用：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007108"/>
            <a:ext cx="5227167" cy="192024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007108"/>
            <a:ext cx="68580" cy="19202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ag_13"/>
          <p:cNvSpPr txBox="1"/>
          <p:nvPr/>
        </p:nvSpPr>
        <p:spPr>
          <a:xfrm>
            <a:off x="868680" y="2135124"/>
            <a:ext cx="4861407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变速直线运动</a:t>
            </a:r>
          </a:p>
        </p:txBody>
      </p:sp>
      <p:pic>
        <p:nvPicPr>
          <p:cNvPr id="15" name="tex_move" descr="f_5caf1fb07d7692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97" y="2464308"/>
            <a:ext cx="4493172" cy="822960"/>
          </a:xfrm>
          <a:prstGeom prst="rect">
            <a:avLst/>
          </a:prstGeom>
        </p:spPr>
      </p:pic>
      <p:sp>
        <p:nvSpPr>
          <p:cNvPr id="16" name="body_15"/>
          <p:cNvSpPr txBox="1"/>
          <p:nvPr/>
        </p:nvSpPr>
        <p:spPr>
          <a:xfrm>
            <a:off x="850392" y="3360420"/>
            <a:ext cx="4897983" cy="85953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位移带符号，路程取绝对值——两者不</a:t>
            </a:r>
          </a:p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等就说明中途掉了头。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8727" y="2007108"/>
            <a:ext cx="5227167" cy="192024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78727" y="2007108"/>
            <a:ext cx="68580" cy="1920240"/>
          </a:xfrm>
          <a:prstGeom prst="rect">
            <a:avLst/>
          </a:prstGeom>
          <a:solidFill>
            <a:srgbClr val="E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ag_18"/>
          <p:cNvSpPr txBox="1"/>
          <p:nvPr/>
        </p:nvSpPr>
        <p:spPr>
          <a:xfrm>
            <a:off x="6461607" y="2135124"/>
            <a:ext cx="4861407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E0534B"/>
                </a:solidFill>
                <a:latin typeface="Microsoft YaHei"/>
                <a:ea typeface="Microsoft YaHei"/>
                <a:cs typeface="Microsoft YaHei"/>
              </a:rPr>
              <a:t>变力做功</a:t>
            </a:r>
          </a:p>
        </p:txBody>
      </p:sp>
      <p:pic>
        <p:nvPicPr>
          <p:cNvPr id="20" name="tex_work" descr="f_4bc48077c40739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4741" y="2464308"/>
            <a:ext cx="2315140" cy="822960"/>
          </a:xfrm>
          <a:prstGeom prst="rect">
            <a:avLst/>
          </a:prstGeom>
        </p:spPr>
      </p:pic>
      <p:sp>
        <p:nvSpPr>
          <p:cNvPr id="21" name="body_20"/>
          <p:cNvSpPr txBox="1"/>
          <p:nvPr/>
        </p:nvSpPr>
        <p:spPr>
          <a:xfrm>
            <a:off x="6443319" y="3360420"/>
            <a:ext cx="4897983" cy="85953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力随位置变化时，W = F·s 失效，改成</a:t>
            </a:r>
          </a:p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把 F(x)dx 一段段累加。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65092"/>
            <a:ext cx="10820095" cy="11247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88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165092"/>
            <a:ext cx="68580" cy="1124712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ody_23"/>
          <p:cNvSpPr txBox="1"/>
          <p:nvPr/>
        </p:nvSpPr>
        <p:spPr>
          <a:xfrm>
            <a:off x="886968" y="4329684"/>
            <a:ext cx="10417759" cy="79552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1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共同点：都是「微小量 × 微小区间，再累加取极限」。认出这个结构，题目就只剩计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1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算。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定积分与微积分基本定理 · 和式极限与 N-L 公式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课堂练习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两道练习：先说方法，再写表达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10134295" y="429768"/>
            <a:ext cx="1371600" cy="402336"/>
          </a:xfrm>
          <a:prstGeom prst="roundRect">
            <a:avLst>
              <a:gd name="adj" fmla="val 28000"/>
            </a:avLst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练习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89888"/>
            <a:ext cx="5227167" cy="4736592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389888"/>
            <a:ext cx="68580" cy="47365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ag_12"/>
          <p:cNvSpPr txBox="1"/>
          <p:nvPr/>
        </p:nvSpPr>
        <p:spPr>
          <a:xfrm>
            <a:off x="868680" y="1554480"/>
            <a:ext cx="4861407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练习 1｜基础</a:t>
            </a:r>
          </a:p>
        </p:txBody>
      </p:sp>
      <p:sp>
        <p:nvSpPr>
          <p:cNvPr id="14" name="body_13"/>
          <p:cNvSpPr txBox="1"/>
          <p:nvPr/>
        </p:nvSpPr>
        <p:spPr>
          <a:xfrm>
            <a:off x="850392" y="1978151"/>
            <a:ext cx="4897983" cy="48828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21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用 N-L 公式计算下列定积分。</a:t>
            </a:r>
          </a:p>
        </p:txBody>
      </p:sp>
      <p:pic>
        <p:nvPicPr>
          <p:cNvPr id="15" name="tex_ex1" descr="f_84e9a589783ef8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683" y="2626461"/>
            <a:ext cx="3327400" cy="11430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886968" y="4148937"/>
            <a:ext cx="64008" cy="914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ody_16"/>
          <p:cNvSpPr txBox="1"/>
          <p:nvPr/>
        </p:nvSpPr>
        <p:spPr>
          <a:xfrm>
            <a:off x="1014983" y="4020921"/>
            <a:ext cx="4715103" cy="47548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先说方法：3x²+2x 的原函数是什么？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" y="4770729"/>
            <a:ext cx="64008" cy="914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ody_18"/>
          <p:cNvSpPr txBox="1"/>
          <p:nvPr/>
        </p:nvSpPr>
        <p:spPr>
          <a:xfrm>
            <a:off x="1014983" y="4642713"/>
            <a:ext cx="4715103" cy="85953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20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再写表达：写成 [F(x)]₀¹，代上限减下</a:t>
            </a:r>
          </a:p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20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限。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1389888"/>
            <a:ext cx="5227167" cy="47365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8727" y="1389888"/>
            <a:ext cx="68580" cy="4736592"/>
          </a:xfrm>
          <a:prstGeom prst="rect">
            <a:avLst/>
          </a:prstGeom>
          <a:solidFill>
            <a:srgbClr val="E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ag_21"/>
          <p:cNvSpPr txBox="1"/>
          <p:nvPr/>
        </p:nvSpPr>
        <p:spPr>
          <a:xfrm>
            <a:off x="6461607" y="1554480"/>
            <a:ext cx="4861407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E0534B"/>
                </a:solidFill>
                <a:latin typeface="Microsoft YaHei"/>
                <a:ea typeface="Microsoft YaHei"/>
                <a:cs typeface="Microsoft YaHei"/>
              </a:rPr>
              <a:t>练习 2｜进阶</a:t>
            </a:r>
          </a:p>
        </p:txBody>
      </p:sp>
      <p:sp>
        <p:nvSpPr>
          <p:cNvPr id="23" name="body_22"/>
          <p:cNvSpPr txBox="1"/>
          <p:nvPr/>
        </p:nvSpPr>
        <p:spPr>
          <a:xfrm>
            <a:off x="6443319" y="1978151"/>
            <a:ext cx="4897983" cy="88513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21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质点速度如下，求 0 到 3 秒的位移与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21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路程。</a:t>
            </a:r>
          </a:p>
        </p:txBody>
      </p:sp>
      <p:pic>
        <p:nvPicPr>
          <p:cNvPr id="24" name="tex_ex2" descr="f_ea9d82b4ecd3e4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5031" y="3272992"/>
            <a:ext cx="4934559" cy="643638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479895" y="4545787"/>
            <a:ext cx="64008" cy="91440"/>
          </a:xfrm>
          <a:prstGeom prst="rect">
            <a:avLst/>
          </a:prstGeom>
          <a:solidFill>
            <a:srgbClr val="E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ody_25"/>
          <p:cNvSpPr txBox="1"/>
          <p:nvPr/>
        </p:nvSpPr>
        <p:spPr>
          <a:xfrm>
            <a:off x="6607911" y="4417771"/>
            <a:ext cx="4715103" cy="85953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先说方法：v(t)=0 的根在哪？哪段速</a:t>
            </a:r>
          </a:p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度为负？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79895" y="5551627"/>
            <a:ext cx="64008" cy="91440"/>
          </a:xfrm>
          <a:prstGeom prst="rect">
            <a:avLst/>
          </a:prstGeom>
          <a:solidFill>
            <a:srgbClr val="E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ody_27"/>
          <p:cNvSpPr txBox="1"/>
          <p:nvPr/>
        </p:nvSpPr>
        <p:spPr>
          <a:xfrm>
            <a:off x="6607911" y="5423611"/>
            <a:ext cx="4715103" cy="85953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20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再写表达：位移直接积，路程分段取绝</a:t>
            </a:r>
          </a:p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20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对值再相加。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定积分与微积分基本定理 · 和式极限与 N-L 公式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课堂总结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三句话带走这节课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10134295" y="429768"/>
            <a:ext cx="1371600" cy="402336"/>
          </a:xfrm>
          <a:prstGeom prst="roundRect">
            <a:avLst>
              <a:gd name="adj" fmla="val 2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小结</a:t>
            </a:r>
          </a:p>
        </p:txBody>
      </p:sp>
      <p:sp>
        <p:nvSpPr>
          <p:cNvPr id="11" name="tag_10"/>
          <p:cNvSpPr txBox="1"/>
          <p:nvPr/>
        </p:nvSpPr>
        <p:spPr>
          <a:xfrm>
            <a:off x="685800" y="1444752"/>
            <a:ext cx="960120" cy="36575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其一</a:t>
            </a:r>
          </a:p>
        </p:txBody>
      </p:sp>
      <p:sp>
        <p:nvSpPr>
          <p:cNvPr id="12" name="body_11"/>
          <p:cNvSpPr txBox="1"/>
          <p:nvPr/>
        </p:nvSpPr>
        <p:spPr>
          <a:xfrm>
            <a:off x="1563624" y="1389888"/>
            <a:ext cx="5029200" cy="42671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定积分是和式的极限。</a:t>
            </a:r>
          </a:p>
        </p:txBody>
      </p:sp>
      <p:sp>
        <p:nvSpPr>
          <p:cNvPr id="13" name="body_12"/>
          <p:cNvSpPr txBox="1"/>
          <p:nvPr/>
        </p:nvSpPr>
        <p:spPr>
          <a:xfrm>
            <a:off x="6629400" y="1389888"/>
            <a:ext cx="4876495" cy="85953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先分割求和得到 Sₙ，再让 n→∞，收敛</a:t>
            </a:r>
          </a:p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到的那个数才是它。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322576"/>
            <a:ext cx="10820095" cy="11887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ag_14"/>
          <p:cNvSpPr txBox="1"/>
          <p:nvPr/>
        </p:nvSpPr>
        <p:spPr>
          <a:xfrm>
            <a:off x="685800" y="2468880"/>
            <a:ext cx="960120" cy="36575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其二</a:t>
            </a:r>
          </a:p>
        </p:txBody>
      </p:sp>
      <p:sp>
        <p:nvSpPr>
          <p:cNvPr id="16" name="body_15"/>
          <p:cNvSpPr txBox="1"/>
          <p:nvPr/>
        </p:nvSpPr>
        <p:spPr>
          <a:xfrm>
            <a:off x="1563624" y="2414016"/>
            <a:ext cx="5029200" cy="42671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基本定理是把极限换减法。</a:t>
            </a:r>
          </a:p>
        </p:txBody>
      </p:sp>
      <p:sp>
        <p:nvSpPr>
          <p:cNvPr id="17" name="body_16"/>
          <p:cNvSpPr txBox="1"/>
          <p:nvPr/>
        </p:nvSpPr>
        <p:spPr>
          <a:xfrm>
            <a:off x="6629400" y="2414016"/>
            <a:ext cx="4876495" cy="85953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找到原函数 F，一次 F(b)−F(a) 就替掉</a:t>
            </a:r>
          </a:p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了整个求极限过程。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346704"/>
            <a:ext cx="10820095" cy="11887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ag_18"/>
          <p:cNvSpPr txBox="1"/>
          <p:nvPr/>
        </p:nvSpPr>
        <p:spPr>
          <a:xfrm>
            <a:off x="685800" y="3493008"/>
            <a:ext cx="960120" cy="36575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E0534B"/>
                </a:solidFill>
                <a:latin typeface="Microsoft YaHei"/>
                <a:ea typeface="Microsoft YaHei"/>
                <a:cs typeface="Microsoft YaHei"/>
              </a:rPr>
              <a:t>其三</a:t>
            </a:r>
          </a:p>
        </p:txBody>
      </p:sp>
      <p:sp>
        <p:nvSpPr>
          <p:cNvPr id="20" name="body_19"/>
          <p:cNvSpPr txBox="1"/>
          <p:nvPr/>
        </p:nvSpPr>
        <p:spPr>
          <a:xfrm>
            <a:off x="1563624" y="3438144"/>
            <a:ext cx="5029200" cy="42671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算完一定回头看题。</a:t>
            </a:r>
          </a:p>
        </p:txBody>
      </p:sp>
      <p:sp>
        <p:nvSpPr>
          <p:cNvPr id="21" name="body_20"/>
          <p:cNvSpPr txBox="1"/>
          <p:nvPr/>
        </p:nvSpPr>
        <p:spPr>
          <a:xfrm>
            <a:off x="6629400" y="3438144"/>
            <a:ext cx="4876495" cy="85953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问面积取绝对值，问位移带符号——这</a:t>
            </a:r>
          </a:p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一步比计算更容易丢分。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26864"/>
            <a:ext cx="10820095" cy="1499615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E0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626864"/>
            <a:ext cx="68580" cy="1499615"/>
          </a:xfrm>
          <a:prstGeom prst="rect">
            <a:avLst/>
          </a:prstGeom>
          <a:solidFill>
            <a:srgbClr val="E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ag_23"/>
          <p:cNvSpPr txBox="1"/>
          <p:nvPr/>
        </p:nvSpPr>
        <p:spPr>
          <a:xfrm>
            <a:off x="886968" y="4773168"/>
            <a:ext cx="365760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E0534B"/>
                </a:solidFill>
                <a:latin typeface="Microsoft YaHei"/>
                <a:ea typeface="Microsoft YaHei"/>
                <a:cs typeface="Microsoft YaHei"/>
              </a:rPr>
              <a:t>离堂检验（交条子）</a:t>
            </a:r>
          </a:p>
        </p:txBody>
      </p:sp>
      <p:sp>
        <p:nvSpPr>
          <p:cNvPr id="25" name="body_24"/>
          <p:cNvSpPr txBox="1"/>
          <p:nvPr/>
        </p:nvSpPr>
        <p:spPr>
          <a:xfrm>
            <a:off x="850392" y="5138928"/>
            <a:ext cx="7589520" cy="85953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20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算出它的值，并回答：它等于曲线与 x 轴围成的面积吗？说明理</a:t>
            </a:r>
          </a:p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20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由。</a:t>
            </a:r>
          </a:p>
        </p:txBody>
      </p:sp>
      <p:pic>
        <p:nvPicPr>
          <p:cNvPr id="26" name="tex_out1" descr="f_1bfc40226ceaaeb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0" y="4791522"/>
            <a:ext cx="2681935" cy="11702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