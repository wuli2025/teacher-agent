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开课先不讲语法。指着屏幕问：What are they doing? A birthday party. Would you like to join them? 学生答 Yes 后追问：How do you ask someone to come? 引出课题。</a:t>
            </a:r>
          </a:p>
          <a:p>
            <a:r>
              <a:rPr lang="zh-CN"/>
              <a:t>口播：Today we learn three things — how to INVITE, how to ACCEPT, and the hardest one, how to say NO in a nice way.</a:t>
            </a:r>
          </a:p>
          <a:p>
            <a:r>
              <a:rPr lang="zh-CN"/>
              <a:t>预告本课语用重点：拒绝在英语里不是一个 No 就完事的，这是今天最容易丢分、也最容易失礼的地方。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Lead-in 情境：图中两个中学生在打电话。教师先做一段 30 秒的口头示范（可自己配两个声音）：</a:t>
            </a:r>
          </a:p>
          <a:p>
            <a:r>
              <a:rPr lang="zh-CN"/>
              <a:t>A: Hi, Tom. Can you come to my birthday party on Saturday?</a:t>
            </a:r>
          </a:p>
          <a:p>
            <a:r>
              <a:rPr lang="zh-CN"/>
              <a:t>B: I'd love to, but I have to study for a test. Sorry.</a:t>
            </a:r>
          </a:p>
          <a:p>
            <a:r>
              <a:rPr lang="zh-CN"/>
              <a:t>然后抛三个问题让学生只抓大意，不逐词翻译。</a:t>
            </a:r>
          </a:p>
          <a:p>
            <a:r>
              <a:rPr lang="zh-CN"/>
              <a:t>学生易卡点：听到 can't / have to 的连读就断片，先不纠，第 6 页专门处理。</a:t>
            </a:r>
          </a:p>
          <a:p>
            <a:r>
              <a:rPr lang="zh-CN"/>
              <a:t>提醒学生：注意 B 没有直接说 No，但我们都听懂他拒绝了 —— 这就是今天要学的本事。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目标要可观察可评价，逐条读出来并当场说清「怎么算达到」：</a:t>
            </a:r>
          </a:p>
          <a:p>
            <a:r>
              <a:rPr lang="zh-CN"/>
              <a:t>1 能就 3 个不同活动发出邀请（下课前 pair work 里每人至少说 3 次）；</a:t>
            </a:r>
          </a:p>
          <a:p>
            <a:r>
              <a:rPr lang="zh-CN"/>
              <a:t>2 接受要能脱口而出，不能想 5 秒；</a:t>
            </a:r>
          </a:p>
          <a:p>
            <a:r>
              <a:rPr lang="zh-CN"/>
              <a:t>3 拒绝必须出现「缓冲 + 抱歉 + 理由」三件套，只说 No 判不合格 —— 这是今天的红线；</a:t>
            </a:r>
          </a:p>
          <a:p>
            <a:r>
              <a:rPr lang="zh-CN"/>
              <a:t>4 can't 发音要能被同桌听出来是否定；</a:t>
            </a:r>
          </a:p>
          <a:p>
            <a:r>
              <a:rPr lang="zh-CN"/>
              <a:t>5 最后能不看稿完成 4 轮对话。</a:t>
            </a:r>
          </a:p>
          <a:p>
            <a:r>
              <a:rPr lang="zh-CN"/>
              <a:t>把第 3 条写在黑板角上，整节课反复回指。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环节切换：从情境进入语言形式。口播 One question, two answers. That's all today's grammar. 时间控制在 8 分钟内讲完形式，把时间省给后面的操练。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板书骨架：Can you come to my party? 左边 Yes 路线，右边 No 路线。</a:t>
            </a:r>
          </a:p>
          <a:p>
            <a:r>
              <a:rPr lang="zh-CN"/>
              <a:t>三个语法点讲透即可，不展开：</a:t>
            </a:r>
          </a:p>
          <a:p>
            <a:r>
              <a:rPr lang="zh-CN"/>
              <a:t>1 Can you...? 里的 can 是「能不能」，不是「会不会」，所以是邀请不是能力提问；</a:t>
            </a:r>
          </a:p>
          <a:p>
            <a:r>
              <a:rPr lang="zh-CN"/>
              <a:t>2 I'd love to 后面省略了 come，不要补成 I'd love to come to your party，太长、不地道；</a:t>
            </a:r>
          </a:p>
          <a:p>
            <a:r>
              <a:rPr lang="zh-CN"/>
              <a:t>3 have to 表示客观上不得不，是拒绝时最好用的理由词，因为它把责任推给客观情况，不伤对方面子；I must 语气过重，中国学生常错用。</a:t>
            </a:r>
          </a:p>
          <a:p>
            <a:r>
              <a:rPr lang="zh-CN"/>
              <a:t>易错：学生写成 I'd love to it / Sure, I love to. 当场纠。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让学生看见：邀请不是一句话，是一条链。中国学生最常犯的毛病是「Can you come? — No.」两句话就死了。</a:t>
            </a:r>
          </a:p>
          <a:p>
            <a:r>
              <a:rPr lang="zh-CN"/>
              <a:t>教师带全班过一遍链条，用手指数五步。</a:t>
            </a:r>
          </a:p>
          <a:p>
            <a:r>
              <a:rPr lang="zh-CN"/>
              <a:t>重点讲第 5 步：接受了说 See you then；被拒绝了要说 Have fun 或 That's OK / Maybe next time，被拒方也要有风度。拒绝方结尾要说 Thanks anyway.</a:t>
            </a:r>
          </a:p>
          <a:p>
            <a:r>
              <a:rPr lang="zh-CN"/>
              <a:t>提醒：Step 3 是分岔口，下一页专门拆。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本课语用核心，慢讲，值 6 分钟。</a:t>
            </a:r>
          </a:p>
          <a:p>
            <a:r>
              <a:rPr lang="zh-CN"/>
              <a:t>先做一个刺激对比：教师请一个学生邀请自己，教师冷冷回一句 No. 全班会笑，问 How do you feel? 学生会说 生气/尴尬。这就是他们平时在英语里对外国人做的事。</a:t>
            </a:r>
          </a:p>
          <a:p>
            <a:r>
              <a:rPr lang="zh-CN"/>
              <a:t>讲清楚为什么：汉语里「不行，我要写作业」听着很正常，因为汉语的礼貌靠语气词和语调；英语的礼貌靠「词块」—— 你必须先把 I'd love to 这个缓冲垫说出来，对方才知道你想来但来不了。少了这个垫子，句子语法全对，人际关系已经破了。</a:t>
            </a:r>
          </a:p>
          <a:p>
            <a:r>
              <a:rPr lang="zh-CN"/>
              <a:t>口诀写黑板：Softener + Sorry + Reason。</a:t>
            </a:r>
          </a:p>
          <a:p>
            <a:r>
              <a:rPr lang="zh-CN"/>
              <a:t>让全班齐读三遍第三档，要有语调起伏，but 前稍停顿。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看着日程表教词汇。图是一周日程表/日历，指着不同格子问 What do you have to do on Wednesday?</a:t>
            </a:r>
          </a:p>
          <a:p>
            <a:r>
              <a:rPr lang="zh-CN"/>
              <a:t>操练方式：教师说中文提示，学生抢答英文，只说 I have to + 短语，不说整句，先把短语练熟。</a:t>
            </a:r>
          </a:p>
          <a:p>
            <a:r>
              <a:rPr lang="zh-CN"/>
              <a:t>发音关：have to 读 /hæf tə/，不是 /hæv tuː/，这个连读学生几乎都读不对，带读 5 遍。</a:t>
            </a:r>
          </a:p>
          <a:p>
            <a:r>
              <a:rPr lang="zh-CN"/>
              <a:t>再练 can't：/kɑːnt/ 尾音 t 几乎不爆破，但元音要长；学生常读成 can，导致同桌听不出是肯定还是否定 —— 现场做最小对立练习：I can come. / I can't come. 让同桌举手判断。</a:t>
            </a:r>
          </a:p>
          <a:p>
            <a:r>
              <a:rPr lang="zh-CN"/>
              <a:t>最后回到骨架：把刚才任一短语塞进 I'd love to, but I have to ___. Sorry.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三遍听力，任务逐层加深，不要一遍就抠细节。</a:t>
            </a:r>
          </a:p>
          <a:p>
            <a:r>
              <a:rPr lang="zh-CN"/>
              <a:t>第一遍只判断 Yes/No —— 故意设计成有一条是 I'd love to, but... 开头的，很多学生会误判成 Yes，这正是暴露问题的好机会，讲评时回到第 7 页的缓冲垫。</a:t>
            </a:r>
          </a:p>
          <a:p>
            <a:r>
              <a:rPr lang="zh-CN"/>
              <a:t>第二遍只记两个词（如 study test / piano lesson），降低书写负担。</a:t>
            </a:r>
          </a:p>
          <a:p>
            <a:r>
              <a:rPr lang="zh-CN"/>
              <a:t>第三遍影子跟读，要求模仿语调：but 前的停顿、Sorry 的降调。</a:t>
            </a:r>
          </a:p>
          <a:p>
            <a:r>
              <a:rPr lang="zh-CN"/>
              <a:t>讲评时问：Dialogue 2 里他说了 I'd love to，为什么最后还是没去？确认学生真的理解了 but 之后才是真意思。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成功标准明示在屏幕上，学生照着做、同桌照着评。</a:t>
            </a:r>
          </a:p>
          <a:p>
            <a:r>
              <a:rPr lang="zh-CN"/>
              <a:t>计时 4 分钟，教师喊 Swap! 换角色。</a:t>
            </a:r>
          </a:p>
          <a:p>
            <a:r>
              <a:rPr lang="zh-CN"/>
              <a:t>分工：A 先邀请三次（生日派对 / 看电影 / 打篮球），B 至少拒绝一次。</a:t>
            </a:r>
          </a:p>
          <a:p>
            <a:r>
              <a:rPr lang="zh-CN"/>
              <a:t>同桌互评只看一条：有没有 softener。听到裸 No 就举手，这是最轻量的即时反馈机制。</a:t>
            </a:r>
          </a:p>
          <a:p>
            <a:r>
              <a:rPr lang="zh-CN"/>
              <a:t>教师巡视时重点听 can't 的发音和 have to 的连读，记 2–3 个典型错例，结束后不点名地展示订正。</a:t>
            </a:r>
          </a:p>
          <a:p>
            <a:r>
              <a:rPr lang="zh-CN"/>
              <a:t>巡视中若发现学生冷场，给支架卡：Are you free on ___? / I'd love to, but ___.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从操练进入产出。口播 You've got the patterns. Now use them for your OWN party. 强调接下来说的是真事，不是课本里的 Tom 和 Mary。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产出任务一：人人写一张邀请卡，只写 4 行，控制在 5 分钟。图是学生手作邀请卡与派对小物，用来给格式和氛围做参照。</a:t>
            </a:r>
          </a:p>
          <a:p>
            <a:r>
              <a:rPr lang="zh-CN"/>
              <a:t>给一个范例（教师提前写好贴黑板）：</a:t>
            </a:r>
          </a:p>
          <a:p>
            <a:r>
              <a:rPr lang="zh-CN"/>
              <a:t>Hi Lucy! I'm having a birthday party this Saturday at 6 p.m. at my home. Can you come? Call me before Friday. — Amy</a:t>
            </a:r>
          </a:p>
          <a:p>
            <a:r>
              <a:rPr lang="zh-CN"/>
              <a:t>提醒时间表达：on Saturday，at six，at my home，介词是本单元的高频失分点。</a:t>
            </a:r>
          </a:p>
          <a:p>
            <a:r>
              <a:rPr lang="zh-CN"/>
              <a:t>产出任务二：写完交换卡片，收到卡的人当面口头回应，必须完成第 6 页的五步链条，其中至少有一半的人要练拒绝 —— 教师可指定「拿到红色卡的人必须拒绝」，强制练弱项。</a:t>
            </a:r>
          </a:p>
          <a:p>
            <a:r>
              <a:rPr lang="zh-CN"/>
              <a:t>表演 2–3 组，评价只用一个问题：Did he sound friendly?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小结前的定调页。让学生自己翻译这句话，再问：那怎么让 No 不伤人？学生应能答出 softener + sorry + reason。</a:t>
            </a:r>
          </a:p>
          <a:p>
            <a:r>
              <a:rPr lang="zh-CN"/>
              <a:t>如果时间紧，这页 30 秒带过即可，重点是把语用意识锤进去：语法对 ≠ 说话得体。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左边语言、右边礼貌，两栏对读收尾。</a:t>
            </a:r>
          </a:p>
          <a:p>
            <a:r>
              <a:rPr lang="zh-CN"/>
              <a:t>请两个学生上台做 30 秒即兴：教师给情境卡（你想请同学周六去看电影），一人邀请一人拒绝，全班用手势判断有没有缓冲垫。</a:t>
            </a:r>
          </a:p>
          <a:p>
            <a:r>
              <a:rPr lang="zh-CN"/>
              <a:t>最后一句口播：Today you didn't just learn a sentence. You learned how to keep a friend while saying no.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分层作业，双减合规：基础层 5 分钟、提升层 10 分钟，总量不超过 15 分钟，无书面机械抄写，第三层为选做不计入必做量。</a:t>
            </a:r>
          </a:p>
          <a:p>
            <a:r>
              <a:rPr lang="zh-CN"/>
              <a:t>口播交代清楚：录音只需一遍，不追求完美；对话可写在作业本上，也可打在手机备忘录里发我。</a:t>
            </a:r>
          </a:p>
          <a:p>
            <a:r>
              <a:rPr lang="zh-CN"/>
              <a:t>评价标准提前说：明天只看两点 —— 有没有 softener，can't 听不听得出来。</a:t>
            </a:r>
          </a:p>
          <a:p>
            <a:r>
              <a:rPr lang="zh-CN"/>
              <a:t>不留抄单词 5 遍这类任务，今天的目标是「敢说、得体」，不是「写得多」。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下课前用本课语言收尾，让语言真的活一次：教师说 Can you come to my English class next Monday? 全班齐答 Sure, I'd love to!</a:t>
            </a:r>
          </a:p>
          <a:p>
            <a:r>
              <a:rPr lang="zh-CN"/>
              <a:t>收拾情绪，提醒把邀请卡带回家，明天带回来交换。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English · Grade 8 (I)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Can you come to my party?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Invite · Accept · Decline politely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A phone call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Listen &amp; guess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Who is calling?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What's the invitation?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Yes or No?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Any reason?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Learning objectives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INVITE with Can you...?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at least 3 different events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ACCEPT in one breath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Sure, I'd love to.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DECLINE politely, never a bare No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softener + sorry + reason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Say can't clearly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/kɑːnt/ not /kæn/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Make &amp; answer a real invitation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4-turn dialogue, no 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Step 1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The core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One question, two answers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Yes → Accept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Sure, I'd love to.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Sure, that sounds great.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I'd love to = I would love to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not I love to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No → Decline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Sorry, I can't.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 have to + V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study / help my mom / meet a friend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 must → too strong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have to = 客观必须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How a real invitation goes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Open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Hi, Tom. Are you free on Saturday?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Invite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Can you come to my birthday party?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Respond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Sure, I'd love to.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I'd love to, but ...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Detail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When? Where?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At six. At my home.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Close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See you then!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Have fun! / Thanks anyway.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Three ways to say no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✗ Too blunt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No.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No, I can't.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听感 = 摔门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中国学生默认档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△ OK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Sorry, I can't.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I have to study.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有抱歉 + 有理由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还是有点冷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✓ Best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I'd love to, but I have to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study for a test. Sorry!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先给缓冲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再给理由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留住关系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Why I can't come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1F6FD6"/>
                </a:solidFill>
                <a:latin typeface="Calibri"/>
                <a:ea typeface="Microsoft YaHei"/>
              </a:rPr>
              <a:t>I have to ...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study for a test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prepare for an exam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help my parents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do chores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go to the doctor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have a piano lesson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visit my grandparents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meet my friend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Listen: who says yes?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1st listening — tick Yes or No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3 dialogues, only the answer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2nd listening — catch the reason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write 2 words, not a sentence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3rd listening — shadow read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copy the tone, not just the words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100" b="0" i="0">
                <a:solidFill>
                  <a:srgbClr val="16324F"/>
                </a:solidFill>
                <a:latin typeface="Calibri"/>
                <a:ea typeface="Microsoft YaHei"/>
              </a:rPr>
              <a:t>Check: which one is the politest?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800" b="0" i="0">
                <a:solidFill>
                  <a:srgbClr val="5D7187"/>
                </a:solidFill>
                <a:latin typeface="Calibri"/>
                <a:ea typeface="Microsoft YaHei"/>
              </a:rPr>
              <a:t>find the softener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Pair work: 4 minutes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3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invitations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each student, 3 different events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68617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1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must be a NO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softener + sorry + reason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1985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4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turns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no reading from the book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5352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0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bare No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同桌听到就举手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Step 2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Now it's real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Your invitation card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1F6FD6"/>
                </a:solidFill>
                <a:latin typeface="Calibri"/>
                <a:ea typeface="Microsoft YaHei"/>
              </a:rPr>
              <a:t>Write 4 lines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What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my birthday party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When &amp; Where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Sat., 6 p.m., my home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The ask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Can you come?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500" b="0" i="0">
                <a:solidFill>
                  <a:srgbClr val="16324F"/>
                </a:solidFill>
                <a:latin typeface="Calibri"/>
                <a:ea typeface="Microsoft YaHei"/>
              </a:rPr>
              <a:t>Reply by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200" b="0" i="0">
                <a:solidFill>
                  <a:srgbClr val="5D7187"/>
                </a:solidFill>
                <a:latin typeface="Calibri"/>
                <a:ea typeface="Microsoft YaHei"/>
              </a:rPr>
              <a:t>Call me before Friday.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1F6FD6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16324F"/>
                </a:solidFill>
                <a:latin typeface="Calibri"/>
                <a:ea typeface="Microsoft YaHei"/>
              </a:rPr>
              <a:t>It's not the No that hurts. It's the No without a reason.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5D7187"/>
                </a:solidFill>
                <a:latin typeface="Calibri"/>
                <a:ea typeface="Microsoft YaHei"/>
              </a:rPr>
              <a:t>—— today's takeaway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Sum up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Language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Can you come to ...?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Sure, I'd love to.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Sorry, I can't. I have to ...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can't /kɑːnt/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have to /hæf tə/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Manner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Never a bare No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Softener + Sorry + Reason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Close the talk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See you! / Have fun!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Grammar ≠ politeness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Homework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All — 5 min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朗读邀请卡并录音，发同桌互听 can't 是否清晰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Most — 10 min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把今天的卡片改写成 4 轮对话，其中一轮是礼貌拒绝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Some — 选做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用英文邀请家人参加一件真实的事，记下对方的回答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See you on Saturday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Thanks!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I'd love to see you all next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