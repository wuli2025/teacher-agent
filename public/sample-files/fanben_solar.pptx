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cosmos_hero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6">
              <a:alpha val="5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06240"/>
            <a:ext cx="12191695" cy="2651760"/>
          </a:xfrm>
          <a:prstGeom prst="rect">
            <a:avLst/>
          </a:prstGeom>
          <a:solidFill>
            <a:srgbClr val="0F1626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965960"/>
            <a:ext cx="822960" cy="38100"/>
          </a:xfrm>
          <a:prstGeom prst="rect">
            <a:avLst/>
          </a:prstGeom>
          <a:solidFill>
            <a:srgbClr val="F0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7568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500">
                <a:solidFill>
                  <a:srgbClr val="F2F4FA"/>
                </a:solidFill>
                <a:latin typeface="Georgia"/>
                <a:ea typeface="Georgia"/>
              </a:rPr>
              <a:t>ENGLISH · SCIENCE UNIT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532888"/>
            <a:ext cx="105156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400" b="1" i="0">
                <a:solidFill>
                  <a:srgbClr val="F2F4FA"/>
                </a:solidFill>
                <a:latin typeface="Georgia"/>
                <a:ea typeface="Georgia"/>
              </a:rPr>
              <a:t>Journey Through</a:t>
            </a:r>
          </a:p>
          <a:p>
            <a:pPr algn="l">
              <a:lnSpc>
                <a:spcPct val="102000"/>
              </a:lnSpc>
            </a:pPr>
            <a:r>
              <a:rPr sz="5400" b="1" i="0">
                <a:solidFill>
                  <a:srgbClr val="F2F4FA"/>
                </a:solidFill>
                <a:latin typeface="Georgia"/>
                <a:ea typeface="Georgia"/>
              </a:rPr>
              <a:t>the Solar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4068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F2F4FA"/>
                </a:solidFill>
                <a:latin typeface="Segoe UI"/>
                <a:ea typeface="Segoe UI"/>
              </a:rPr>
              <a:t>Explore the planets and learn to describe our universe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9963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spc="300">
                <a:solidFill>
                  <a:srgbClr val="F2F4FA"/>
                </a:solidFill>
                <a:latin typeface="Georgia"/>
                <a:ea typeface="Georgia"/>
              </a:rPr>
              <a:t>READING · VOCABULARY · SPEAKING · 45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0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F0A830"/>
                </a:solidFill>
                <a:latin typeface="Georgia"/>
                <a:ea typeface="Georgia"/>
              </a:rPr>
              <a:t>MISSION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F1626"/>
                </a:solidFill>
                <a:latin typeface="Georgia"/>
                <a:ea typeface="Georgia"/>
              </a:rPr>
              <a:t>Today's space mission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2057400"/>
            <a:ext cx="640080" cy="38100"/>
          </a:xfrm>
          <a:prstGeom prst="rect">
            <a:avLst/>
          </a:prstGeom>
          <a:solidFill>
            <a:srgbClr val="F0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633472"/>
            <a:ext cx="146304" cy="14630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514600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1626"/>
                </a:solidFill>
                <a:latin typeface="Segoe UI"/>
                <a:ea typeface="Segoe UI"/>
              </a:rPr>
              <a:t>Blast Off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B6478"/>
                </a:solidFill>
                <a:latin typeface="Segoe UI"/>
                <a:ea typeface="Segoe UI"/>
              </a:rPr>
              <a:t>Warm-up quiz: how much do you know about space?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621024"/>
            <a:ext cx="146304" cy="14630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502152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1626"/>
                </a:solidFill>
                <a:latin typeface="Segoe UI"/>
                <a:ea typeface="Segoe UI"/>
              </a:rPr>
              <a:t>The Sun &amp; 8 Planets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B6478"/>
                </a:solidFill>
                <a:latin typeface="Segoe UI"/>
                <a:ea typeface="Segoe UI"/>
              </a:rPr>
              <a:t>Meet every member of our solar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608576"/>
            <a:ext cx="146304" cy="14630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489704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1626"/>
                </a:solidFill>
                <a:latin typeface="Segoe UI"/>
                <a:ea typeface="Segoe UI"/>
              </a:rPr>
              <a:t>Planet Vocabulary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B6478"/>
                </a:solidFill>
                <a:latin typeface="Segoe UI"/>
                <a:ea typeface="Segoe UI"/>
              </a:rPr>
              <a:t>Words to describe size, distance and 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2633472"/>
            <a:ext cx="146304" cy="14630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2514600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1626"/>
                </a:solidFill>
                <a:latin typeface="Segoe UI"/>
                <a:ea typeface="Segoe UI"/>
              </a:rPr>
              <a:t>Reading &amp; Facts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B6478"/>
                </a:solidFill>
                <a:latin typeface="Segoe UI"/>
                <a:ea typeface="Segoe UI"/>
              </a:rPr>
              <a:t>Amazing facts and comparing planets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3621024"/>
            <a:ext cx="146304" cy="14630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3502152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1626"/>
                </a:solidFill>
                <a:latin typeface="Segoe UI"/>
                <a:ea typeface="Segoe UI"/>
              </a:rPr>
              <a:t>Speak &amp; Create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B6478"/>
                </a:solidFill>
                <a:latin typeface="Segoe UI"/>
                <a:ea typeface="Segoe UI"/>
              </a:rPr>
              <a:t>Design your own planet and present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B6478"/>
                </a:solidFill>
                <a:latin typeface="Georgia"/>
                <a:ea typeface="Georgia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A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0"/>
            <a:ext cx="996696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 i="0">
                <a:solidFill>
                  <a:srgbClr val="F2F4FA"/>
                </a:solidFill>
                <a:latin typeface="Georgia"/>
                <a:ea typeface="Georgia"/>
              </a:rPr>
              <a:t>How many planets are there in our solar system?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" y="53035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F2F4FA"/>
                </a:solidFill>
                <a:latin typeface="Segoe UI"/>
                <a:ea typeface="Segoe UI"/>
              </a:rPr>
              <a:t>The answer is EIGHT — let's meet them one by one!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cosmos_sun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6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0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F0A830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794760"/>
            <a:ext cx="1463040" cy="31750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3977639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2F4FA"/>
                </a:solidFill>
                <a:latin typeface="Georgia"/>
                <a:ea typeface="Georgia"/>
              </a:rPr>
              <a:t>The Sun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07492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2F4FA"/>
                </a:solidFill>
                <a:latin typeface="Segoe UI"/>
                <a:ea typeface="Segoe UI"/>
              </a:rPr>
              <a:t>The star at the centre of everything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ck_cosmos_sun.png"/>
          <p:cNvPicPr>
            <a:picLocks noChangeAspect="1"/>
          </p:cNvPicPr>
          <p:nvPr/>
        </p:nvPicPr>
        <p:blipFill>
          <a:blip r:embed="rId2"/>
          <a:srcRect l="28062" r="28062"/>
          <a:stretch>
            <a:fillRect/>
          </a:stretch>
        </p:blipFill>
        <p:spPr>
          <a:xfrm>
            <a:off x="0" y="0"/>
            <a:ext cx="534924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79" y="1051560"/>
            <a:ext cx="5287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F0A830"/>
                </a:solidFill>
                <a:latin typeface="Georgia"/>
                <a:ea typeface="Georgia"/>
              </a:rPr>
              <a:t>THE SUN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79" y="1371600"/>
            <a:ext cx="52879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 i="0">
                <a:solidFill>
                  <a:srgbClr val="0F1626"/>
                </a:solidFill>
                <a:latin typeface="Georgia"/>
                <a:ea typeface="Georgia"/>
              </a:rPr>
              <a:t>Our nearest star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144767" y="2331720"/>
            <a:ext cx="640080" cy="38100"/>
          </a:xfrm>
          <a:prstGeom prst="rect">
            <a:avLst/>
          </a:prstGeom>
          <a:solidFill>
            <a:srgbClr val="F0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79" y="2651760"/>
            <a:ext cx="528797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0F1626"/>
                </a:solidFill>
                <a:latin typeface="Segoe UI"/>
                <a:ea typeface="Segoe UI"/>
              </a:rPr>
              <a:t>The Sun is a huge ball of hot burning gas at the centre of the solar system.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0F1626"/>
                </a:solidFill>
                <a:latin typeface="Segoe UI"/>
                <a:ea typeface="Segoe UI"/>
              </a:rPr>
              <a:t>It is about 1.3 million times bigger than Earth!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0F1626"/>
                </a:solidFill>
                <a:latin typeface="Segoe UI"/>
                <a:ea typeface="Segoe UI"/>
              </a:rPr>
              <a:t>The Sun gives us light and heat. Without it, there would be no life.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0F1626"/>
                </a:solidFill>
                <a:latin typeface="Segoe UI"/>
                <a:ea typeface="Segoe UI"/>
              </a:rPr>
              <a:t>Word bank: star · gas · heat · light · centre · gravity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B6478"/>
                </a:solidFill>
                <a:latin typeface="Georgia"/>
                <a:ea typeface="Georgia"/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cosmos_earth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6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0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F0A830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794760"/>
            <a:ext cx="1463040" cy="31750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3977639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2F4FA"/>
                </a:solidFill>
                <a:latin typeface="Georgia"/>
                <a:ea typeface="Georgia"/>
              </a:rPr>
              <a:t>The Eight Planets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07492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2F4FA"/>
                </a:solidFill>
                <a:latin typeface="Segoe UI"/>
                <a:ea typeface="Segoe UI"/>
              </a:rPr>
              <a:t>From tiny Mercury to giant Jupiter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cosmos_earth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846320"/>
            <a:ext cx="12191695" cy="2011680"/>
          </a:xfrm>
          <a:prstGeom prst="rect">
            <a:avLst/>
          </a:prstGeom>
          <a:solidFill>
            <a:srgbClr val="0F162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1663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2F4FA"/>
                </a:solidFill>
                <a:latin typeface="Georgia"/>
                <a:ea typeface="Georgia"/>
              </a:rPr>
              <a:t>EARTH — our home planet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600" b="0" i="0">
                <a:solidFill>
                  <a:srgbClr val="F2F4FA"/>
                </a:solidFill>
                <a:latin typeface="Segoe UI"/>
                <a:ea typeface="Segoe UI"/>
              </a:rPr>
              <a:t>The only planet with life, liquid water and air we can breathe. It has one moon.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4983480"/>
            <a:ext cx="640080" cy="38100"/>
          </a:xfrm>
          <a:prstGeom prst="rect">
            <a:avLst/>
          </a:prstGeom>
          <a:solidFill>
            <a:srgbClr val="F0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F2F4FA"/>
                </a:solidFill>
                <a:latin typeface="Georgia"/>
                <a:ea typeface="Georgia"/>
              </a:rPr>
              <a:t>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cosmos_mars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846320"/>
            <a:ext cx="12191695" cy="2011680"/>
          </a:xfrm>
          <a:prstGeom prst="rect">
            <a:avLst/>
          </a:prstGeom>
          <a:solidFill>
            <a:srgbClr val="0F162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1663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2F4FA"/>
                </a:solidFill>
                <a:latin typeface="Georgia"/>
                <a:ea typeface="Georgia"/>
              </a:rPr>
              <a:t>MARS — the red planet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600" b="0" i="0">
                <a:solidFill>
                  <a:srgbClr val="F2F4FA"/>
                </a:solidFill>
                <a:latin typeface="Segoe UI"/>
                <a:ea typeface="Segoe UI"/>
              </a:rPr>
              <a:t>Cold and dusty with rusty red soil. Robots called rovers explore it today.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4983480"/>
            <a:ext cx="640080" cy="38100"/>
          </a:xfrm>
          <a:prstGeom prst="rect">
            <a:avLst/>
          </a:prstGeom>
          <a:solidFill>
            <a:srgbClr val="F0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F2F4FA"/>
                </a:solidFill>
                <a:latin typeface="Georgia"/>
                <a:ea typeface="Georgia"/>
              </a:rPr>
              <a:t>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cosmos_jupiter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846320"/>
            <a:ext cx="12191695" cy="2011680"/>
          </a:xfrm>
          <a:prstGeom prst="rect">
            <a:avLst/>
          </a:prstGeom>
          <a:solidFill>
            <a:srgbClr val="0F162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1663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2F4FA"/>
                </a:solidFill>
                <a:latin typeface="Georgia"/>
                <a:ea typeface="Georgia"/>
              </a:rPr>
              <a:t>JUPITER — the biggest planet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600" b="0" i="0">
                <a:solidFill>
                  <a:srgbClr val="F2F4FA"/>
                </a:solidFill>
                <a:latin typeface="Segoe UI"/>
                <a:ea typeface="Segoe UI"/>
              </a:rPr>
              <a:t>A giant made of gas, with a huge storm called the Great Red Spot.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4983480"/>
            <a:ext cx="640080" cy="38100"/>
          </a:xfrm>
          <a:prstGeom prst="rect">
            <a:avLst/>
          </a:prstGeom>
          <a:solidFill>
            <a:srgbClr val="F0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F2F4FA"/>
                </a:solidFill>
                <a:latin typeface="Georgia"/>
                <a:ea typeface="Georgia"/>
              </a:rPr>
              <a:t>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cosmos_saturn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846320"/>
            <a:ext cx="12191695" cy="2011680"/>
          </a:xfrm>
          <a:prstGeom prst="rect">
            <a:avLst/>
          </a:prstGeom>
          <a:solidFill>
            <a:srgbClr val="0F162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1663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2F4FA"/>
                </a:solidFill>
                <a:latin typeface="Georgia"/>
                <a:ea typeface="Georgia"/>
              </a:rPr>
              <a:t>SATURN — the ringed planet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600" b="0" i="0">
                <a:solidFill>
                  <a:srgbClr val="F2F4FA"/>
                </a:solidFill>
                <a:latin typeface="Segoe UI"/>
                <a:ea typeface="Segoe UI"/>
              </a:rPr>
              <a:t>Famous for its beautiful rings made of ice and rock. It has over 140 moons!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4983480"/>
            <a:ext cx="640080" cy="38100"/>
          </a:xfrm>
          <a:prstGeom prst="rect">
            <a:avLst/>
          </a:prstGeom>
          <a:solidFill>
            <a:srgbClr val="F0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F2F4FA"/>
                </a:solidFill>
                <a:latin typeface="Georgia"/>
                <a:ea typeface="Georgia"/>
              </a:rPr>
              <a:t>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0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F0A830"/>
                </a:solidFill>
                <a:latin typeface="Georgia"/>
                <a:ea typeface="Georgia"/>
              </a:rPr>
              <a:t>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626"/>
                </a:solidFill>
                <a:latin typeface="Georgia"/>
                <a:ea typeface="Georgia"/>
              </a:rPr>
              <a:t>Words to describe planets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48840"/>
            <a:ext cx="3210458" cy="1851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148840"/>
            <a:ext cx="3210458" cy="109728"/>
          </a:xfrm>
          <a:prstGeom prst="rect">
            <a:avLst/>
          </a:prstGeom>
          <a:solidFill>
            <a:srgbClr val="F0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459736"/>
            <a:ext cx="26618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0A830"/>
                </a:solidFill>
                <a:latin typeface="Segoe UI"/>
                <a:ea typeface="Segoe UI"/>
              </a:rPr>
              <a:t>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044952"/>
            <a:ext cx="2661818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0" i="0">
                <a:solidFill>
                  <a:srgbClr val="0F1626"/>
                </a:solidFill>
                <a:latin typeface="Segoe UI"/>
                <a:ea typeface="Segoe UI"/>
              </a:rPr>
              <a:t>huge · giant · tiny · small — “Jupiter is the biggest planet.”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4490618" y="2148840"/>
            <a:ext cx="3210458" cy="1851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90618" y="2148840"/>
            <a:ext cx="3210458" cy="109728"/>
          </a:xfrm>
          <a:prstGeom prst="rect">
            <a:avLst/>
          </a:prstGeom>
          <a:solidFill>
            <a:srgbClr val="F0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0658" y="2459736"/>
            <a:ext cx="26618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0A830"/>
                </a:solidFill>
                <a:latin typeface="Segoe UI"/>
                <a:ea typeface="Segoe UI"/>
              </a:rPr>
              <a:t>distance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0658" y="3044952"/>
            <a:ext cx="2661818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0" i="0">
                <a:solidFill>
                  <a:srgbClr val="0F1626"/>
                </a:solidFill>
                <a:latin typeface="Segoe UI"/>
                <a:ea typeface="Segoe UI"/>
              </a:rPr>
              <a:t>near · far · closest · farthest — “Mercury is closest to the Sun.”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6836" y="2148840"/>
            <a:ext cx="3210458" cy="1851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6836" y="2148840"/>
            <a:ext cx="3210458" cy="109728"/>
          </a:xfrm>
          <a:prstGeom prst="rect">
            <a:avLst/>
          </a:prstGeom>
          <a:solidFill>
            <a:srgbClr val="F0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6876" y="2459736"/>
            <a:ext cx="26618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0A830"/>
                </a:solidFill>
                <a:latin typeface="Segoe UI"/>
                <a:ea typeface="Segoe UI"/>
              </a:rPr>
              <a:t>temperature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6876" y="3044952"/>
            <a:ext cx="2661818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0" i="0">
                <a:solidFill>
                  <a:srgbClr val="0F1626"/>
                </a:solidFill>
                <a:latin typeface="Segoe UI"/>
                <a:ea typeface="Segoe UI"/>
              </a:rPr>
              <a:t>hot · cold · freezing · burning — “Mars is very cold.”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366260"/>
            <a:ext cx="3210458" cy="1851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366260"/>
            <a:ext cx="3210458" cy="109728"/>
          </a:xfrm>
          <a:prstGeom prst="rect">
            <a:avLst/>
          </a:prstGeom>
          <a:solidFill>
            <a:srgbClr val="F0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4677156"/>
            <a:ext cx="26618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0A830"/>
                </a:solidFill>
                <a:latin typeface="Segoe UI"/>
                <a:ea typeface="Segoe UI"/>
              </a:rPr>
              <a:t>surface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262372"/>
            <a:ext cx="2661818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0" i="0">
                <a:solidFill>
                  <a:srgbClr val="0F1626"/>
                </a:solidFill>
                <a:latin typeface="Segoe UI"/>
                <a:ea typeface="Segoe UI"/>
              </a:rPr>
              <a:t>rocky · icy · dusty · gassy — “Mars has a dusty surface.”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90618" y="4366260"/>
            <a:ext cx="3210458" cy="1851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90618" y="4366260"/>
            <a:ext cx="3210458" cy="109728"/>
          </a:xfrm>
          <a:prstGeom prst="rect">
            <a:avLst/>
          </a:prstGeom>
          <a:solidFill>
            <a:srgbClr val="F0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10658" y="4677156"/>
            <a:ext cx="26618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0A830"/>
                </a:solidFill>
                <a:latin typeface="Segoe UI"/>
                <a:ea typeface="Segoe UI"/>
              </a:rPr>
              <a:t>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0658" y="5262372"/>
            <a:ext cx="2661818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0" i="0">
                <a:solidFill>
                  <a:srgbClr val="0F1626"/>
                </a:solidFill>
                <a:latin typeface="Segoe UI"/>
                <a:ea typeface="Segoe UI"/>
              </a:rPr>
              <a:t>rings · moons · craters · storms — “Saturn has rings.”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66836" y="4366260"/>
            <a:ext cx="3210458" cy="1851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66836" y="4366260"/>
            <a:ext cx="3210458" cy="109728"/>
          </a:xfrm>
          <a:prstGeom prst="rect">
            <a:avLst/>
          </a:prstGeom>
          <a:solidFill>
            <a:srgbClr val="F0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6876" y="4677156"/>
            <a:ext cx="26618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0A830"/>
                </a:solidFill>
                <a:latin typeface="Segoe UI"/>
                <a:ea typeface="Segoe UI"/>
              </a:rPr>
              <a:t>compare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6876" y="5262372"/>
            <a:ext cx="2661818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0" i="0">
                <a:solidFill>
                  <a:srgbClr val="0F1626"/>
                </a:solidFill>
                <a:latin typeface="Segoe UI"/>
                <a:ea typeface="Segoe UI"/>
              </a:rPr>
              <a:t>bigger · smaller · hotter · colder than…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B6478"/>
                </a:solidFill>
                <a:latin typeface="Georgia"/>
                <a:ea typeface="Georgia"/>
              </a:rPr>
              <a:t>08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0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F0A830"/>
                </a:solidFill>
                <a:latin typeface="Georgia"/>
                <a:ea typeface="Georgia"/>
              </a:rPr>
              <a:t>GRAMMAR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626"/>
                </a:solidFill>
                <a:latin typeface="Georgia"/>
                <a:ea typeface="Georgia"/>
              </a:rPr>
              <a:t>Comparing the planets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4846320" cy="566928"/>
          </a:xfrm>
          <a:prstGeom prst="rect">
            <a:avLst/>
          </a:prstGeom>
          <a:solidFill>
            <a:srgbClr val="F0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2F4FA"/>
                </a:solidFill>
                <a:latin typeface="Segoe UI"/>
                <a:ea typeface="Segoe UI"/>
              </a:rPr>
              <a:t>Comparatives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3154680"/>
            <a:ext cx="118872" cy="118872"/>
          </a:xfrm>
          <a:prstGeom prst="rect">
            <a:avLst/>
          </a:prstGeom>
          <a:solidFill>
            <a:srgbClr val="F0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06324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0F1626"/>
                </a:solidFill>
                <a:latin typeface="Segoe UI"/>
                <a:ea typeface="Segoe UI"/>
              </a:rPr>
              <a:t>Jupiter is bigger than Earth.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3813048"/>
            <a:ext cx="118872" cy="118872"/>
          </a:xfrm>
          <a:prstGeom prst="rect">
            <a:avLst/>
          </a:prstGeom>
          <a:solidFill>
            <a:srgbClr val="F0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72160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0F1626"/>
                </a:solidFill>
                <a:latin typeface="Segoe UI"/>
                <a:ea typeface="Segoe UI"/>
              </a:rPr>
              <a:t>Mars is colder than Earth.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71416"/>
            <a:ext cx="118872" cy="118872"/>
          </a:xfrm>
          <a:prstGeom prst="rect">
            <a:avLst/>
          </a:prstGeom>
          <a:solidFill>
            <a:srgbClr val="F0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37997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0F1626"/>
                </a:solidFill>
                <a:latin typeface="Segoe UI"/>
                <a:ea typeface="Segoe UI"/>
              </a:rPr>
              <a:t>Mercury is closer to the Sun than Venus.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194560"/>
            <a:ext cx="4846320" cy="566928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2F4FA"/>
                </a:solidFill>
                <a:latin typeface="Segoe UI"/>
                <a:ea typeface="Segoe UI"/>
              </a:rPr>
              <a:t>Superlatives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3154680"/>
            <a:ext cx="118872" cy="11887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306324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0F1626"/>
                </a:solidFill>
                <a:latin typeface="Segoe UI"/>
                <a:ea typeface="Segoe UI"/>
              </a:rPr>
              <a:t>Jupiter is the biggest planet.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3813048"/>
            <a:ext cx="118872" cy="11887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3721608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0F1626"/>
                </a:solidFill>
                <a:latin typeface="Segoe UI"/>
                <a:ea typeface="Segoe UI"/>
              </a:rPr>
              <a:t>Mercury is the closest to the Sun.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4471416"/>
            <a:ext cx="118872" cy="11887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4379976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 i="0">
                <a:solidFill>
                  <a:srgbClr val="0F1626"/>
                </a:solidFill>
                <a:latin typeface="Segoe UI"/>
                <a:ea typeface="Segoe UI"/>
              </a:rPr>
              <a:t>Venus is the hottest planet.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B6478"/>
                </a:solidFill>
                <a:latin typeface="Georgia"/>
                <a:ea typeface="Georgia"/>
              </a:rPr>
              <a:t>09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cosmos_astro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6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0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F0A830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794760"/>
            <a:ext cx="1463040" cy="31750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3977639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2F4FA"/>
                </a:solidFill>
                <a:latin typeface="Georgia"/>
                <a:ea typeface="Georgia"/>
              </a:rPr>
              <a:t>Amazing Space Facts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07492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2F4FA"/>
                </a:solidFill>
                <a:latin typeface="Segoe UI"/>
                <a:ea typeface="Segoe UI"/>
              </a:rPr>
              <a:t>Did you know…?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0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F0A830"/>
                </a:solidFill>
                <a:latin typeface="Georgia"/>
                <a:ea typeface="Georgia"/>
              </a:rPr>
              <a:t>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F1626"/>
                </a:solidFill>
                <a:latin typeface="Georgia"/>
                <a:ea typeface="Georgia"/>
              </a:rPr>
              <a:t>Five out-of-this-world facts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2057400"/>
            <a:ext cx="640080" cy="38100"/>
          </a:xfrm>
          <a:prstGeom prst="rect">
            <a:avLst/>
          </a:prstGeom>
          <a:solidFill>
            <a:srgbClr val="F0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633472"/>
            <a:ext cx="146304" cy="14630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514600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1626"/>
                </a:solidFill>
                <a:latin typeface="Segoe UI"/>
                <a:ea typeface="Segoe UI"/>
              </a:rPr>
              <a:t>A day on Venus is longer than its year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B6478"/>
                </a:solidFill>
                <a:latin typeface="Segoe UI"/>
                <a:ea typeface="Segoe UI"/>
              </a:rPr>
              <a:t>Venus spins very, very slowly.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621024"/>
            <a:ext cx="146304" cy="14630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502152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1626"/>
                </a:solidFill>
                <a:latin typeface="Segoe UI"/>
                <a:ea typeface="Segoe UI"/>
              </a:rPr>
              <a:t>You could fit 1,300 Earths inside Jupiter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B6478"/>
                </a:solidFill>
                <a:latin typeface="Segoe UI"/>
                <a:ea typeface="Segoe UI"/>
              </a:rPr>
              <a:t>It is truly a giant.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608576"/>
            <a:ext cx="146304" cy="14630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489704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1626"/>
                </a:solidFill>
                <a:latin typeface="Segoe UI"/>
                <a:ea typeface="Segoe UI"/>
              </a:rPr>
              <a:t>Mars has the tallest volcano in the solar system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B6478"/>
                </a:solidFill>
                <a:latin typeface="Segoe UI"/>
                <a:ea typeface="Segoe UI"/>
              </a:rPr>
              <a:t>Olympus Mons is 3× taller than Mount Everest.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596128"/>
            <a:ext cx="146304" cy="14630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5477256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1626"/>
                </a:solidFill>
                <a:latin typeface="Segoe UI"/>
                <a:ea typeface="Segoe UI"/>
              </a:rPr>
              <a:t>Saturn would float on water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B6478"/>
                </a:solidFill>
                <a:latin typeface="Segoe UI"/>
                <a:ea typeface="Segoe UI"/>
              </a:rPr>
              <a:t>It is lighter than water for its size.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6583680"/>
            <a:ext cx="146304" cy="14630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6464808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1626"/>
                </a:solidFill>
                <a:latin typeface="Segoe UI"/>
                <a:ea typeface="Segoe UI"/>
              </a:rPr>
              <a:t>Space is completely silent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B6478"/>
                </a:solidFill>
                <a:latin typeface="Segoe UI"/>
                <a:ea typeface="Segoe UI"/>
              </a:rPr>
              <a:t>There is no air to carry sound.</a:t>
            </a:r>
          </a:p>
        </p:txBody>
      </p:sp>
      <p:pic>
        <p:nvPicPr>
          <p:cNvPr id="16" name="Picture 15" descr="deck_cosmos_jupiter.png"/>
          <p:cNvPicPr>
            <a:picLocks noChangeAspect="1"/>
          </p:cNvPicPr>
          <p:nvPr/>
        </p:nvPicPr>
        <p:blipFill>
          <a:blip r:embed="rId2"/>
          <a:srcRect l="27554" r="27554"/>
          <a:stretch>
            <a:fillRect/>
          </a:stretch>
        </p:blipFill>
        <p:spPr>
          <a:xfrm>
            <a:off x="7635240" y="1051560"/>
            <a:ext cx="3794760" cy="47548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B6478"/>
                </a:solidFill>
                <a:latin typeface="Georgia"/>
                <a:ea typeface="Georgia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ck_cosmos_astro.png"/>
          <p:cNvPicPr>
            <a:picLocks noChangeAspect="1"/>
          </p:cNvPicPr>
          <p:nvPr/>
        </p:nvPicPr>
        <p:blipFill>
          <a:blip r:embed="rId2"/>
          <a:srcRect l="28062" r="28062"/>
          <a:stretch>
            <a:fillRect/>
          </a:stretch>
        </p:blipFill>
        <p:spPr>
          <a:xfrm>
            <a:off x="6842455" y="0"/>
            <a:ext cx="534924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1051560"/>
            <a:ext cx="5287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F0A830"/>
                </a:solidFill>
                <a:latin typeface="Georgia"/>
                <a:ea typeface="Georgia"/>
              </a:rPr>
              <a:t>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52879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 i="0">
                <a:solidFill>
                  <a:srgbClr val="0F1626"/>
                </a:solidFill>
                <a:latin typeface="Georgia"/>
                <a:ea typeface="Georgia"/>
              </a:rPr>
              <a:t>Life as an astronaut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2331720"/>
            <a:ext cx="640080" cy="38100"/>
          </a:xfrm>
          <a:prstGeom prst="rect">
            <a:avLst/>
          </a:prstGeom>
          <a:solidFill>
            <a:srgbClr val="F0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651760"/>
            <a:ext cx="528797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0F1626"/>
                </a:solidFill>
                <a:latin typeface="Segoe UI"/>
                <a:ea typeface="Segoe UI"/>
              </a:rPr>
              <a:t>Astronauts float in space because there is very little gravity.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0F1626"/>
                </a:solidFill>
                <a:latin typeface="Segoe UI"/>
                <a:ea typeface="Segoe UI"/>
              </a:rPr>
              <a:t>They wear special suits to breathe and stay warm — space is freezing!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0F1626"/>
                </a:solidFill>
                <a:latin typeface="Segoe UI"/>
                <a:ea typeface="Segoe UI"/>
              </a:rPr>
              <a:t>They eat food from packets and even sleep floating, tied to a wall.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650" b="0" i="0">
                <a:solidFill>
                  <a:srgbClr val="0F1626"/>
                </a:solidFill>
                <a:latin typeface="Segoe UI"/>
                <a:ea typeface="Segoe UI"/>
              </a:rPr>
              <a:t>Question: Would you like to be an astronaut? Why or why not?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B6478"/>
                </a:solidFill>
                <a:latin typeface="Georgia"/>
                <a:ea typeface="Georgia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cosmos_rocket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6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0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F0A830"/>
                </a:solidFill>
                <a:latin typeface="Georgia"/>
                <a:ea typeface="Georgia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794760"/>
            <a:ext cx="1463040" cy="31750"/>
          </a:xfrm>
          <a:prstGeom prst="rect">
            <a:avLst/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3977639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2F4FA"/>
                </a:solidFill>
                <a:latin typeface="Georgia"/>
                <a:ea typeface="Georgia"/>
              </a:rPr>
              <a:t>Your 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07492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2F4FA"/>
                </a:solidFill>
                <a:latin typeface="Segoe UI"/>
                <a:ea typeface="Segoe UI"/>
              </a:rPr>
              <a:t>Design a planet, present to the crew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0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F0A830"/>
                </a:solidFill>
                <a:latin typeface="Georgia"/>
                <a:ea typeface="Georgia"/>
              </a:rPr>
              <a:t>PROJECT 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626"/>
                </a:solidFill>
                <a:latin typeface="Georgia"/>
                <a:ea typeface="Georgia"/>
              </a:rPr>
              <a:t>Invent your own planet (use these prompts)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48840"/>
            <a:ext cx="4998567" cy="1851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148840"/>
            <a:ext cx="4998567" cy="109728"/>
          </a:xfrm>
          <a:prstGeom prst="rect">
            <a:avLst/>
          </a:prstGeom>
          <a:solidFill>
            <a:srgbClr val="F0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459736"/>
            <a:ext cx="44499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0A830"/>
                </a:solidFill>
                <a:latin typeface="Segoe UI"/>
                <a:ea typeface="Segoe UI"/>
              </a:rPr>
              <a:t>①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044952"/>
            <a:ext cx="4449927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0" i="0">
                <a:solidFill>
                  <a:srgbClr val="0F1626"/>
                </a:solidFill>
                <a:latin typeface="Segoe UI"/>
                <a:ea typeface="Segoe UI"/>
              </a:rPr>
              <a:t>“My planet is called ______.”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727" y="2148840"/>
            <a:ext cx="4998567" cy="1851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78727" y="2148840"/>
            <a:ext cx="4998567" cy="109728"/>
          </a:xfrm>
          <a:prstGeom prst="rect">
            <a:avLst/>
          </a:prstGeom>
          <a:solidFill>
            <a:srgbClr val="F0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98767" y="2459736"/>
            <a:ext cx="44499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0A830"/>
                </a:solidFill>
                <a:latin typeface="Segoe UI"/>
                <a:ea typeface="Segoe UI"/>
              </a:rPr>
              <a:t>② Size &amp; distance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8767" y="3044952"/>
            <a:ext cx="4449927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0" i="0">
                <a:solidFill>
                  <a:srgbClr val="0F1626"/>
                </a:solidFill>
                <a:latin typeface="Segoe UI"/>
                <a:ea typeface="Segoe UI"/>
              </a:rPr>
              <a:t>“It is ______ than Earth and very ______ from the Sun.”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366260"/>
            <a:ext cx="4998567" cy="1851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366260"/>
            <a:ext cx="4998567" cy="109728"/>
          </a:xfrm>
          <a:prstGeom prst="rect">
            <a:avLst/>
          </a:prstGeom>
          <a:solidFill>
            <a:srgbClr val="F0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677156"/>
            <a:ext cx="44499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0A830"/>
                </a:solidFill>
                <a:latin typeface="Segoe UI"/>
                <a:ea typeface="Segoe UI"/>
              </a:rPr>
              <a:t>③ Weather &amp; surface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262372"/>
            <a:ext cx="4449927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0" i="0">
                <a:solidFill>
                  <a:srgbClr val="0F1626"/>
                </a:solidFill>
                <a:latin typeface="Segoe UI"/>
                <a:ea typeface="Segoe UI"/>
              </a:rPr>
              <a:t>“It is ______ and has a ______ surface.”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8727" y="4366260"/>
            <a:ext cx="4998567" cy="18516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78727" y="4366260"/>
            <a:ext cx="4998567" cy="109728"/>
          </a:xfrm>
          <a:prstGeom prst="rect">
            <a:avLst/>
          </a:prstGeom>
          <a:solidFill>
            <a:srgbClr val="F0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98767" y="4677156"/>
            <a:ext cx="44499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0A830"/>
                </a:solidFill>
                <a:latin typeface="Segoe UI"/>
                <a:ea typeface="Segoe UI"/>
              </a:rPr>
              <a:t>④ Special feature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8767" y="5262372"/>
            <a:ext cx="4449927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450" b="0" i="0">
                <a:solidFill>
                  <a:srgbClr val="0F1626"/>
                </a:solidFill>
                <a:latin typeface="Segoe UI"/>
                <a:ea typeface="Segoe UI"/>
              </a:rPr>
              <a:t>“It has ______ and ______ moons.”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B6478"/>
                </a:solidFill>
                <a:latin typeface="Georgia"/>
                <a:ea typeface="Georgia"/>
              </a:rPr>
              <a:t>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0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400">
                <a:solidFill>
                  <a:srgbClr val="F0A830"/>
                </a:solidFill>
                <a:latin typeface="Georgia"/>
                <a:ea typeface="Georgia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F1626"/>
                </a:solidFill>
                <a:latin typeface="Georgia"/>
                <a:ea typeface="Georgia"/>
              </a:rPr>
              <a:t>Explore, speak and create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2057400"/>
            <a:ext cx="640080" cy="38100"/>
          </a:xfrm>
          <a:prstGeom prst="rect">
            <a:avLst/>
          </a:prstGeom>
          <a:solidFill>
            <a:srgbClr val="F0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633472"/>
            <a:ext cx="146304" cy="14630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514600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1626"/>
                </a:solidFill>
                <a:latin typeface="Segoe UI"/>
                <a:ea typeface="Segoe UI"/>
              </a:rPr>
              <a:t>Fact race (6 min)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B6478"/>
                </a:solidFill>
                <a:latin typeface="Segoe UI"/>
                <a:ea typeface="Segoe UI"/>
              </a:rPr>
              <a:t>In teams, match planets to their descriptions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621024"/>
            <a:ext cx="146304" cy="14630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502152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1626"/>
                </a:solidFill>
                <a:latin typeface="Segoe UI"/>
                <a:ea typeface="Segoe UI"/>
              </a:rPr>
              <a:t>Design time (8 min)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B6478"/>
                </a:solidFill>
                <a:latin typeface="Segoe UI"/>
                <a:ea typeface="Segoe UI"/>
              </a:rPr>
              <a:t>Draw and name your own planet using the frame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608576"/>
            <a:ext cx="146304" cy="14630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489704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1626"/>
                </a:solidFill>
                <a:latin typeface="Segoe UI"/>
                <a:ea typeface="Segoe UI"/>
              </a:rPr>
              <a:t>Presentation (10 min)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i="0">
                <a:solidFill>
                  <a:srgbClr val="5B6478"/>
                </a:solidFill>
                <a:latin typeface="Segoe UI"/>
                <a:ea typeface="Segoe UI"/>
              </a:rPr>
              <a:t>Present your planet to the class in 4–5 sentences</a:t>
            </a:r>
          </a:p>
        </p:txBody>
      </p:sp>
      <p:pic>
        <p:nvPicPr>
          <p:cNvPr id="12" name="Picture 11" descr="deck_cosmos_saturn.png"/>
          <p:cNvPicPr>
            <a:picLocks noChangeAspect="1"/>
          </p:cNvPicPr>
          <p:nvPr/>
        </p:nvPicPr>
        <p:blipFill>
          <a:blip r:embed="rId2"/>
          <a:srcRect l="27554" r="27554"/>
          <a:stretch>
            <a:fillRect/>
          </a:stretch>
        </p:blipFill>
        <p:spPr>
          <a:xfrm>
            <a:off x="7635240" y="1051560"/>
            <a:ext cx="3794760" cy="4754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spc="200">
                <a:solidFill>
                  <a:srgbClr val="5B6478"/>
                </a:solidFill>
                <a:latin typeface="Georgia"/>
                <a:ea typeface="Georgia"/>
              </a:rPr>
              <a:t>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_cosmos_close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6">
              <a:alpha val="4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2F4FA"/>
                </a:solidFill>
                <a:latin typeface="Georgia"/>
                <a:ea typeface="Georgia"/>
              </a:rPr>
              <a:t>Keep looking up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1" y="2971800"/>
            <a:ext cx="822960" cy="38100"/>
          </a:xfrm>
          <a:prstGeom prst="rect">
            <a:avLst/>
          </a:prstGeom>
          <a:solidFill>
            <a:srgbClr val="F0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291840"/>
            <a:ext cx="96012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F2F4FA"/>
                </a:solidFill>
                <a:latin typeface="Segoe UI"/>
                <a:ea typeface="Segoe UI"/>
              </a:rPr>
              <a:t>Our solar system is vast, beautiful and full of mysteries.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F2F4FA"/>
                </a:solidFill>
                <a:latin typeface="Segoe UI"/>
                <a:ea typeface="Segoe UI"/>
              </a:rPr>
              <a:t>The more we learn, the more amazing questions we can ask.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F2F4FA"/>
                </a:solidFill>
                <a:latin typeface="Segoe UI"/>
                <a:ea typeface="Segoe UI"/>
              </a:rPr>
              <a:t>Homework: Write 5 sentences about your favourite planet and draw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spc="300">
                <a:solidFill>
                  <a:srgbClr val="F2F4FA"/>
                </a:solidFill>
                <a:latin typeface="Georgia"/>
                <a:ea typeface="Georgia"/>
              </a:rPr>
              <a:t>ENGLISH · JOURNEY THROUGH THE SOLAR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