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hero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20242E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65960"/>
            <a:ext cx="82296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0">
                <a:solidFill>
                  <a:srgbClr val="F4F1EA"/>
                </a:solidFill>
                <a:latin typeface="Georgia"/>
                <a:ea typeface="Georgia"/>
              </a:rPr>
              <a:t>语文 · 古典诗词鉴赏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32888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4F1EA"/>
                </a:solidFill>
                <a:latin typeface="楷体"/>
                <a:ea typeface="楷体"/>
              </a:rPr>
              <a:t>山水田园诗</a:t>
            </a:r>
          </a:p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4F1EA"/>
                </a:solidFill>
                <a:latin typeface="楷体"/>
                <a:ea typeface="楷体"/>
              </a:rPr>
              <a:t>——诗中有画，画中有诗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从王维到陶渊明，读懂中国人的山水情怀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96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4F1EA"/>
                </a:solidFill>
                <a:latin typeface="Georgia"/>
                <a:ea typeface="Georgia"/>
              </a:rPr>
              <a:t>CLASSICAL CHINESE POETRY · 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本课导航 · LESSON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我们将一起完成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一、什么是山水田园诗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厘清概念、源流与两大流派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二、精读四首名作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王维、陶渊明、李白、孟浩然，一诗一境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三、掌握鉴赏方法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意象—意境—情感，三步读懂一首诗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四、体会诗中哲思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山水之中，古人安放了怎样的心灵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五、诵读与创作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吟诵名句，尝试写景抒情的小诗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shanshui_brush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CONCEPT · 概念界定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何谓山水田园诗？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山水田园诗，是以自然山水与乡村田园为主要描写对象的诗歌。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山水诗多写名山大川的壮丽与清幽，代表诗人如谢灵运、王维、李白。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田园诗多写农村生活的恬淡与安宁，代表诗人如陶渊明、孟浩然、范成大。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它们共同的追求：在自然中寄托情感，于景物中体悟人生。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SCHOOLS · 两大流派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山水与田园，气质有何不同？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山水诗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描绘名山胜水，气象开阔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追求清幽、雄奇之境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多含隐逸、超脱之思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5129783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代表：王维、李白、谢灵运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田园诗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描绘农事村居，质朴亲切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追求恬淡、宁静之趣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多含归隐、知足之乐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129783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代表：陶渊明、孟浩然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wangwei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王维 · 《山居秋暝》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空山新雨后，天气晚来秋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wangwei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B8894B"/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9235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1">
                <a:solidFill>
                  <a:srgbClr val="F4F1EA"/>
                </a:solidFill>
                <a:latin typeface="楷体"/>
                <a:ea typeface="楷体"/>
              </a:rPr>
              <a:t>空山新雨后，天气晚来秋。
明月松间照，清泉石上流。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521208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394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00">
                <a:solidFill>
                  <a:srgbClr val="F4F1EA"/>
                </a:solidFill>
                <a:latin typeface="微软雅黑"/>
                <a:ea typeface="微软雅黑"/>
              </a:rPr>
              <a:t>—— 王维《山居秋暝》 · “诗中有画”的典范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READING · 精读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王维如何“以画入诗”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动静结合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“明月松间照”是静，“清泉石上流”是动，一幅有声有色的山居图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视听交织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明月清泉是视觉，泉声竹喧是听觉，画面立体可感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以景写心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空明澄澈的山景，正映照诗人淡泊宁静的心境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596128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477256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尾联言志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“随意春芳歇，王孙自可留”——甘愿归隐山林的情怀</a:t>
            </a:r>
          </a:p>
        </p:txBody>
      </p:sp>
      <p:pic>
        <p:nvPicPr>
          <p:cNvPr id="14" name="Picture 13" descr="deck_shanshui_wangwei.png"/>
          <p:cNvPicPr>
            <a:picLocks noChangeAspect="1"/>
          </p:cNvPicPr>
          <p:nvPr/>
        </p:nvPicPr>
        <p:blipFill>
          <a:blip r:embed="rId2"/>
          <a:srcRect l="27554" r="27554"/>
          <a:stretch>
            <a:fillRect/>
          </a:stretch>
        </p:blipFill>
        <p:spPr>
          <a:xfrm>
            <a:off x="7635240" y="1051560"/>
            <a:ext cx="3794760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taoqia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陶渊明 · 《饮酒·其五》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采菊东篱下，悠然见南山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shanshui_taoqian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田园之祖 · 陶渊明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心远地自偏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“结庐在人境，而无车马喧。问君何能尔？心远地自偏。”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身处人世，却不闻喧嚣——不是环境偏远，而是内心超脱。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“采菊东篱下，悠然见南山”——一个“见”字，写出不期而遇的自然与从容。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“此中有真意，欲辨已忘言”——最高的领悟，往往超越语言。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taoqia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B8894B"/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9235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1">
                <a:solidFill>
                  <a:srgbClr val="F4F1EA"/>
                </a:solidFill>
                <a:latin typeface="楷体"/>
                <a:ea typeface="楷体"/>
              </a:rPr>
              <a:t>采菊东篱下，悠然见南山。
此中有真意，欲辨已忘言。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521208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394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00">
                <a:solidFill>
                  <a:srgbClr val="F4F1EA"/>
                </a:solidFill>
                <a:latin typeface="微软雅黑"/>
                <a:ea typeface="微软雅黑"/>
              </a:rPr>
              <a:t>—— 陶渊明《饮酒·其五》 · 田园诗的巅峰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libai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李白 · 《望庐山瀑布》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飞流直下三千尺，疑是银河落九天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READING · 精读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李白的浪漫与夸张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夸张之美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“三千尺”“落九天”——极度夸张，写尽瀑布的磅礴气势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想象奇绝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把瀑布想象成从天而降的银河，天马行空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色彩壮丽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“日照香炉生紫烟”——阳光、水汽、紫烟，画面绚烂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596128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477256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诗如其人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豪放飘逸的诗风，正是李白个性的写照</a:t>
            </a:r>
          </a:p>
        </p:txBody>
      </p:sp>
      <p:pic>
        <p:nvPicPr>
          <p:cNvPr id="14" name="Picture 13" descr="deck_shanshui_libai.png"/>
          <p:cNvPicPr>
            <a:picLocks noChangeAspect="1"/>
          </p:cNvPicPr>
          <p:nvPr/>
        </p:nvPicPr>
        <p:blipFill>
          <a:blip r:embed="rId2"/>
          <a:srcRect l="27554" r="27554"/>
          <a:stretch>
            <a:fillRect/>
          </a:stretch>
        </p:blipFill>
        <p:spPr>
          <a:xfrm>
            <a:off x="7635240" y="1051560"/>
            <a:ext cx="3794760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libai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20242E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1EA"/>
                </a:solidFill>
                <a:latin typeface="楷体"/>
                <a:ea typeface="楷体"/>
              </a:rPr>
              <a:t>“飞流直下三千尺，疑是银河落九天。”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4F1EA"/>
                </a:solidFill>
                <a:latin typeface="微软雅黑"/>
                <a:ea typeface="微软雅黑"/>
              </a:rPr>
              <a:t>同是写山水，王维清幽、陶潜恬淡、李白豪放——诗风即人格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4F1EA"/>
                </a:solidFill>
                <a:latin typeface="Georgia"/>
                <a:ea typeface="Georgia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menghr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孟浩然 · 《宿建德江》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野旷天低树，江清月近人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shanshui_menghr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田园与羁旅之间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江清月近人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“移舟泊烟渚，日暮客愁新。”——日暮泊舟，愁绪悄然而生。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“野旷天低树，江清月近人。”——旷野无垠，天似乎比树还低；江水清澈，明月仿佛与人相亲。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以景写愁：越是空旷宁静，越显游子内心的孤独。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情景交融，是山水诗最动人的境界。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brush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鉴赏方法总结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三步读懂一首山水田园诗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METHOD · 鉴赏三步法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意象 → 意境 → 情感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4998567" cy="1097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8894B"/>
                </a:solidFill>
                <a:latin typeface="微软雅黑"/>
                <a:ea typeface="微软雅黑"/>
              </a:rPr>
              <a:t>第一步 · 抓意象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20242E"/>
                </a:solidFill>
                <a:latin typeface="微软雅黑"/>
                <a:ea typeface="微软雅黑"/>
              </a:rPr>
              <a:t>圈出诗中的景物：明月、松、泉、菊、南山……它们是情感的载体。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2148840"/>
            <a:ext cx="4998567" cy="1097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8894B"/>
                </a:solidFill>
                <a:latin typeface="微软雅黑"/>
                <a:ea typeface="微软雅黑"/>
              </a:rPr>
              <a:t>第二步 · 想意境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20242E"/>
                </a:solidFill>
                <a:latin typeface="微软雅黑"/>
                <a:ea typeface="微软雅黑"/>
              </a:rPr>
              <a:t>把意象连成画面，感受整体氛围是清幽、恬淡还是雄奇。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366260"/>
            <a:ext cx="4998567" cy="1097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8894B"/>
                </a:solidFill>
                <a:latin typeface="微软雅黑"/>
                <a:ea typeface="微软雅黑"/>
              </a:rPr>
              <a:t>第三步 · 悟情感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20242E"/>
                </a:solidFill>
                <a:latin typeface="微软雅黑"/>
                <a:ea typeface="微软雅黑"/>
              </a:rPr>
              <a:t>由景入情，体会诗人寄托的隐逸、超脱、乡愁或豪情。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4366260"/>
            <a:ext cx="4998567" cy="1097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8894B"/>
                </a:solidFill>
                <a:latin typeface="微软雅黑"/>
                <a:ea typeface="微软雅黑"/>
              </a:rPr>
              <a:t>小贴士 · 知人论世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20242E"/>
                </a:solidFill>
                <a:latin typeface="微软雅黑"/>
                <a:ea typeface="微软雅黑"/>
              </a:rPr>
              <a:t>结合诗人生平与时代背景，理解会更深一层。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COMPARE · 对比赏析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四首诗，四种心境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境·景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王维：空山明月，清幽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陶潜：东篱南山，恬淡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李白：飞瀑银河，雄奇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5129783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孟浩然：野旷江清，孤寂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情·志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王维：淡泊归隐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陶潜：超然物外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李白：豪放洒脱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129783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孟浩然：羁旅乡愁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0"/>
            <a:ext cx="996696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F4F1EA"/>
                </a:solidFill>
                <a:latin typeface="楷体"/>
                <a:ea typeface="楷体"/>
              </a:rPr>
              <a:t>山水，是古人安放心灵的地方。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" y="53035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读山水田园诗，就是在读中国人对自由、宁静与本真的永恒向往。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ACTIVITY · 课堂活动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吟 · 品 · 写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① 配乐诵读（8分钟）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任选一首，读出它的节奏与情感，同学互评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② 意境描绘（8分钟）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用自己的话把一联诗改写成一段写景文字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③ 小诗创作（10分钟）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以“校园的清晨”为题，写四句写景抒情的小诗</a:t>
            </a:r>
          </a:p>
        </p:txBody>
      </p:sp>
      <p:pic>
        <p:nvPicPr>
          <p:cNvPr id="12" name="Picture 11" descr="deck_shanshui_field.png"/>
          <p:cNvPicPr>
            <a:picLocks noChangeAspect="1"/>
          </p:cNvPicPr>
          <p:nvPr/>
        </p:nvPicPr>
        <p:blipFill>
          <a:blip r:embed="rId2"/>
          <a:srcRect l="27554" r="27554"/>
          <a:stretch>
            <a:fillRect/>
          </a:stretch>
        </p:blipFill>
        <p:spPr>
          <a:xfrm>
            <a:off x="7635240" y="1051560"/>
            <a:ext cx="3794760" cy="475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hanshui_clos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4F1EA"/>
                </a:solidFill>
                <a:latin typeface="楷体"/>
                <a:ea typeface="楷体"/>
              </a:rPr>
              <a:t>诗中有画，画中有诗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2971800"/>
            <a:ext cx="82296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愿你在山水之间，读懂古人的从容与辽阔；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也在喧嚣之外，为自己留一片“心远地自偏”的天地。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作业：背诵《山居秋暝》，完成一首写景小诗。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4F1EA"/>
                </a:solidFill>
                <a:latin typeface="Georgia"/>
                <a:ea typeface="Georgia"/>
              </a:rPr>
              <a:t>语文 · 古典诗词鉴赏系列 · 山水田园诗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