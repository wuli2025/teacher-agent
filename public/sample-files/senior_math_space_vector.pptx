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0a85ca01a84cdb" /><Relationship Type="http://schemas.openxmlformats.org/officeDocument/2006/relationships/extended-properties" Target="/docProps/app.xml" Id="Rbb2133ecb5d1443b" /><Relationship Type="http://schemas.openxmlformats.org/officeDocument/2006/relationships/officeDocument" Target="/ppt/presentation.xml" Id="Rc32fb5e16b474c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5288b3343a451a"/>
  </p:sldMasterIdLst>
  <p:notesMasterIdLst>
    <p:notesMasterId xmlns:r="http://schemas.openxmlformats.org/officeDocument/2006/relationships" r:id="R5949429ec44a474b"/>
  </p:notesMasterIdLst>
  <p:sldIdLst>
    <p:sldId xmlns:r="http://schemas.openxmlformats.org/officeDocument/2006/relationships" id="256" r:id="R61a5c18416c04d33"/>
    <p:sldId xmlns:r="http://schemas.openxmlformats.org/officeDocument/2006/relationships" id="257" r:id="Ra89bc9fa430b4887"/>
    <p:sldId xmlns:r="http://schemas.openxmlformats.org/officeDocument/2006/relationships" id="258" r:id="Rf7583aac1a76406d"/>
    <p:sldId xmlns:r="http://schemas.openxmlformats.org/officeDocument/2006/relationships" id="259" r:id="R7d33611b47134b23"/>
    <p:sldId xmlns:r="http://schemas.openxmlformats.org/officeDocument/2006/relationships" id="260" r:id="Rfd482b2c269242d4"/>
    <p:sldId xmlns:r="http://schemas.openxmlformats.org/officeDocument/2006/relationships" id="261" r:id="Rb05cab7f430d4cc5"/>
    <p:sldId xmlns:r="http://schemas.openxmlformats.org/officeDocument/2006/relationships" id="262" r:id="R3f30057ac3e24dd8"/>
    <p:sldId xmlns:r="http://schemas.openxmlformats.org/officeDocument/2006/relationships" id="263" r:id="Rdf6dc880a61c4627"/>
    <p:sldId xmlns:r="http://schemas.openxmlformats.org/officeDocument/2006/relationships" id="264" r:id="R65675c9daea540ad"/>
    <p:sldId xmlns:r="http://schemas.openxmlformats.org/officeDocument/2006/relationships" id="265" r:id="Rb24c8308699848c7"/>
    <p:sldId xmlns:r="http://schemas.openxmlformats.org/officeDocument/2006/relationships" id="266" r:id="Rce78f0d6a7d244d8"/>
    <p:sldId xmlns:r="http://schemas.openxmlformats.org/officeDocument/2006/relationships" id="267" r:id="Rd609f165b184415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b1bc17e1ad4913" /><Relationship Type="http://schemas.openxmlformats.org/officeDocument/2006/relationships/slideMaster" Target="/ppt/slideMasters/slideMaster1.xml" Id="Rff5288b3343a451a" /><Relationship Type="http://schemas.openxmlformats.org/officeDocument/2006/relationships/notesMaster" Target="/ppt/notesMasters/notesMaster1.xml" Id="R5949429ec44a474b" /><Relationship Type="http://schemas.openxmlformats.org/officeDocument/2006/relationships/presProps" Target="/ppt/presProps.xml" Id="Ra0b0e5e9bf424562" /><Relationship Type="http://schemas.openxmlformats.org/officeDocument/2006/relationships/tableStyles" Target="/ppt/tableStyles.xml" Id="Rbefa92e8c513460c" /><Relationship Type="http://schemas.openxmlformats.org/officeDocument/2006/relationships/slide" Target="/ppt/slides/slide1.xml" Id="R61a5c18416c04d33" /><Relationship Type="http://schemas.openxmlformats.org/officeDocument/2006/relationships/slide" Target="/ppt/slides/slide2.xml" Id="Ra89bc9fa430b4887" /><Relationship Type="http://schemas.openxmlformats.org/officeDocument/2006/relationships/slide" Target="/ppt/slides/slide3.xml" Id="Rf7583aac1a76406d" /><Relationship Type="http://schemas.openxmlformats.org/officeDocument/2006/relationships/slide" Target="/ppt/slides/slide4.xml" Id="R7d33611b47134b23" /><Relationship Type="http://schemas.openxmlformats.org/officeDocument/2006/relationships/slide" Target="/ppt/slides/slide5.xml" Id="Rfd482b2c269242d4" /><Relationship Type="http://schemas.openxmlformats.org/officeDocument/2006/relationships/slide" Target="/ppt/slides/slide6.xml" Id="Rb05cab7f430d4cc5" /><Relationship Type="http://schemas.openxmlformats.org/officeDocument/2006/relationships/slide" Target="/ppt/slides/slide7.xml" Id="R3f30057ac3e24dd8" /><Relationship Type="http://schemas.openxmlformats.org/officeDocument/2006/relationships/slide" Target="/ppt/slides/slide8.xml" Id="Rdf6dc880a61c4627" /><Relationship Type="http://schemas.openxmlformats.org/officeDocument/2006/relationships/slide" Target="/ppt/slides/slide9.xml" Id="R65675c9daea540ad" /><Relationship Type="http://schemas.openxmlformats.org/officeDocument/2006/relationships/slide" Target="/ppt/slides/slide10.xml" Id="Rb24c8308699848c7" /><Relationship Type="http://schemas.openxmlformats.org/officeDocument/2006/relationships/slide" Target="/ppt/slides/slide11.xml" Id="Rce78f0d6a7d244d8" /><Relationship Type="http://schemas.openxmlformats.org/officeDocument/2006/relationships/slide" Target="/ppt/slides/slide12.xml" Id="Rd609f165b18441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c982f57fd447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323fd403544f46" /><Relationship Type="http://schemas.openxmlformats.org/officeDocument/2006/relationships/notesMaster" Target="/ppt/notesMasters/notesMaster1.xml" Id="Rd0b1a59b63cb4d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b76f211291431a" /><Relationship Type="http://schemas.openxmlformats.org/officeDocument/2006/relationships/notesMaster" Target="/ppt/notesMasters/notesMaster1.xml" Id="Ra3cd8b62809249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5dff4117b3483e" /><Relationship Type="http://schemas.openxmlformats.org/officeDocument/2006/relationships/notesMaster" Target="/ppt/notesMasters/notesMaster1.xml" Id="Ra6e3853ba1014e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4f4f1b91a64b22" /><Relationship Type="http://schemas.openxmlformats.org/officeDocument/2006/relationships/notesMaster" Target="/ppt/notesMasters/notesMaster1.xml" Id="R30c032be755e4e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e7b7517be242d5" /><Relationship Type="http://schemas.openxmlformats.org/officeDocument/2006/relationships/notesMaster" Target="/ppt/notesMasters/notesMaster1.xml" Id="R7d4730ff201e42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f421c5c82b4cad" /><Relationship Type="http://schemas.openxmlformats.org/officeDocument/2006/relationships/notesMaster" Target="/ppt/notesMasters/notesMaster1.xml" Id="R87b2ff37242f41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0c2b75fd82482c" /><Relationship Type="http://schemas.openxmlformats.org/officeDocument/2006/relationships/notesMaster" Target="/ppt/notesMasters/notesMaster1.xml" Id="R24e7580ea85b46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98a19fc53448f8" /><Relationship Type="http://schemas.openxmlformats.org/officeDocument/2006/relationships/notesMaster" Target="/ppt/notesMasters/notesMaster1.xml" Id="R861a7d3bdf0349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8ce48b42674654" /><Relationship Type="http://schemas.openxmlformats.org/officeDocument/2006/relationships/notesMaster" Target="/ppt/notesMasters/notesMaster1.xml" Id="Rfef735645ec744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e6ada1179b4b91" /><Relationship Type="http://schemas.openxmlformats.org/officeDocument/2006/relationships/notesMaster" Target="/ppt/notesMasters/notesMaster1.xml" Id="R12ee0333ccd14b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c3c4c598074515" /><Relationship Type="http://schemas.openxmlformats.org/officeDocument/2006/relationships/notesMaster" Target="/ppt/notesMasters/notesMaster1.xml" Id="Rae103519f3a14f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65600ef9e5f487d" /><Relationship Type="http://schemas.openxmlformats.org/officeDocument/2006/relationships/notesMaster" Target="/ppt/notesMasters/notesMaster1.xml" Id="R32dfffca319646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affdcf35644f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6574a2ecfa4617" /><Relationship Type="http://schemas.openxmlformats.org/officeDocument/2006/relationships/slideLayout" Target="/ppt/slideLayouts/slideLayout1.xml" Id="R0cfb1cd3895042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fb1cd3895042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1df007c0149d6" /><Relationship Type="http://schemas.openxmlformats.org/officeDocument/2006/relationships/notesSlide" Target="/ppt/notesSlides/notesSlide1.xml" Id="R217f11c9ecb944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db32d919d4b28" /><Relationship Type="http://schemas.openxmlformats.org/officeDocument/2006/relationships/notesSlide" Target="/ppt/notesSlides/notesSlide2.xml" Id="Rc9f574f146a14b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69c5a5b6c4778" /><Relationship Type="http://schemas.openxmlformats.org/officeDocument/2006/relationships/notesSlide" Target="/ppt/notesSlides/notesSlide3.xml" Id="R84b923d2d2264c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3cc834f054fb7" /><Relationship Type="http://schemas.openxmlformats.org/officeDocument/2006/relationships/image" Target="/ppt/media/image.png" Id="Rb9d73c0d7e334054" /><Relationship Type="http://schemas.openxmlformats.org/officeDocument/2006/relationships/notesSlide" Target="/ppt/notesSlides/notesSlide4.xml" Id="Re93eb81eb36f4b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dbd6ac7a2496f" /><Relationship Type="http://schemas.openxmlformats.org/officeDocument/2006/relationships/image" Target="/ppt/media/image2.png" Id="R9fb9d479f9574d25" /><Relationship Type="http://schemas.openxmlformats.org/officeDocument/2006/relationships/notesSlide" Target="/ppt/notesSlides/notesSlide5.xml" Id="R57035e82c7884b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c60aeddc44c00" /><Relationship Type="http://schemas.openxmlformats.org/officeDocument/2006/relationships/notesSlide" Target="/ppt/notesSlides/notesSlide6.xml" Id="R1c5ed6872f7040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363688c1d4124" /><Relationship Type="http://schemas.openxmlformats.org/officeDocument/2006/relationships/image" Target="/ppt/media/image3.png" Id="R345fec3e1a104b7e" /><Relationship Type="http://schemas.openxmlformats.org/officeDocument/2006/relationships/notesSlide" Target="/ppt/notesSlides/notesSlide7.xml" Id="Rb0ea30cc0ec143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927b371904ff3" /><Relationship Type="http://schemas.openxmlformats.org/officeDocument/2006/relationships/notesSlide" Target="/ppt/notesSlides/notesSlide8.xml" Id="Rfc0ae289244442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4ca92871f42a0" /><Relationship Type="http://schemas.openxmlformats.org/officeDocument/2006/relationships/notesSlide" Target="/ppt/notesSlides/notesSlide9.xml" Id="R8fb26eeb288241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b279b903f4245" /><Relationship Type="http://schemas.openxmlformats.org/officeDocument/2006/relationships/notesSlide" Target="/ppt/notesSlides/notesSlide10.xml" Id="R862b5d12b1f849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10370c5c1413e" /><Relationship Type="http://schemas.openxmlformats.org/officeDocument/2006/relationships/notesSlide" Target="/ppt/notesSlides/notesSlide11.xml" Id="Raac8ebcb233f48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434a751ed446e" /><Relationship Type="http://schemas.openxmlformats.org/officeDocument/2006/relationships/notesSlide" Target="/ppt/notesSlides/notesSlide12.xml" Id="Rf0a284e786eb44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cyan-orb">
            <a:extLst xmlns:a="http://schemas.openxmlformats.org/drawingml/2006/main">
              <a:ext uri="{FF2B5EF4-FFF2-40B4-BE49-F238E27FC236}">
                <a16:creationId xmlns:a16="http://schemas.microsoft.com/office/drawing/2014/main" id="{59647632-8244-4E66-A57E-CC0867B8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4350"/>
            <a:ext cx="3333750" cy="3333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F3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coral-orb">
            <a:extLst xmlns:a="http://schemas.openxmlformats.org/drawingml/2006/main">
              <a:ext uri="{FF2B5EF4-FFF2-40B4-BE49-F238E27FC236}">
                <a16:creationId xmlns:a16="http://schemas.microsoft.com/office/drawing/2014/main" id="{47E23D4D-4361-4E69-BD6A-34480A33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14625"/>
            <a:ext cx="1095375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A5B">
              <a:alpha val="6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line-a">
            <a:extLst xmlns:a="http://schemas.openxmlformats.org/drawingml/2006/main">
              <a:ext uri="{FF2B5EF4-FFF2-40B4-BE49-F238E27FC236}">
                <a16:creationId xmlns:a16="http://schemas.microsoft.com/office/drawing/2014/main" id="{24A658DC-77A2-43A8-84E0-7DC2CBE4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0530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line-b">
            <a:extLst xmlns:a="http://schemas.openxmlformats.org/drawingml/2006/main">
              <a:ext uri="{FF2B5EF4-FFF2-40B4-BE49-F238E27FC236}">
                <a16:creationId xmlns:a16="http://schemas.microsoft.com/office/drawing/2014/main" id="{785A6966-F69A-4BEB-9339-5456EFEA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52950"/>
            <a:ext cx="2609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number">
            <a:extLst xmlns:a="http://schemas.openxmlformats.org/drawingml/2006/main">
              <a:ext uri="{FF2B5EF4-FFF2-40B4-BE49-F238E27FC236}">
                <a16:creationId xmlns:a16="http://schemas.microsoft.com/office/drawing/2014/main" id="{251A4D8A-3951-4D8D-B968-C1537942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61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61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6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257A87DC-17CB-484D-8317-FD3E5057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高中数学 · 核心概念课</a:t>
            </a:r>
          </a:p>
        </p:txBody>
      </p:sp>
      <p:sp>
        <p:nvSpPr>
          <p:cNvPr id="7" name="title-main">
            <a:extLst xmlns:a="http://schemas.openxmlformats.org/drawingml/2006/main">
              <a:ext uri="{FF2B5EF4-FFF2-40B4-BE49-F238E27FC236}">
                <a16:creationId xmlns:a16="http://schemas.microsoft.com/office/drawing/2014/main" id="{801139E8-19C5-4557-BD2E-28D316A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65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空间向量与立体几何</a:t>
            </a:r>
          </a:p>
        </p:txBody>
      </p:sp>
      <p:sp>
        <p:nvSpPr>
          <p:cNvPr id="8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3B35464-1F4B-4385-B542-8D7107BB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itle-subtitle">
            <a:extLst xmlns:a="http://schemas.openxmlformats.org/drawingml/2006/main">
              <a:ext uri="{FF2B5EF4-FFF2-40B4-BE49-F238E27FC236}">
                <a16:creationId xmlns:a16="http://schemas.microsoft.com/office/drawing/2014/main" id="{E00E84B7-8FBC-4FC8-9815-50CAB83D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52825"/>
            <a:ext cx="685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把辅助线技巧翻译成坐标算法——夹角、垂直与距离</a:t>
            </a:r>
          </a:p>
        </p:txBody>
      </p:sp>
      <p:sp>
        <p:nvSpPr>
          <p:cNvPr id="10" name="title-big-box">
            <a:extLst xmlns:a="http://schemas.openxmlformats.org/drawingml/2006/main">
              <a:ext uri="{FF2B5EF4-FFF2-40B4-BE49-F238E27FC236}">
                <a16:creationId xmlns:a16="http://schemas.microsoft.com/office/drawing/2014/main" id="{361F5ED8-A836-40F9-A028-B3A62CB9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6858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1" name="title-big-text">
            <a:extLst xmlns:a="http://schemas.openxmlformats.org/drawingml/2006/main">
              <a:ext uri="{FF2B5EF4-FFF2-40B4-BE49-F238E27FC236}">
                <a16:creationId xmlns:a16="http://schemas.microsoft.com/office/drawing/2014/main" id="{FD3A5849-6886-4292-BAF7-87C7FE36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6438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空间向量把立体位置关系转化为坐标运算与数量积条件。</a:t>
            </a:r>
          </a:p>
        </p:txBody>
      </p:sp>
      <p:sp>
        <p:nvSpPr>
          <p:cNvPr id="12" name="title-lesson">
            <a:extLst xmlns:a="http://schemas.openxmlformats.org/drawingml/2006/main">
              <a:ext uri="{FF2B5EF4-FFF2-40B4-BE49-F238E27FC236}">
                <a16:creationId xmlns:a16="http://schemas.microsoft.com/office/drawing/2014/main" id="{CAD453FA-9813-49C9-96CE-48CC9721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第 08 讲</a:t>
            </a:r>
          </a:p>
        </p:txBody>
      </p:sp>
    </p:spTree>
    <p:extLst>
      <p:ext uri="{BB962C8B-B14F-4D97-AF65-F5344CB8AC3E}">
        <p14:creationId xmlns:p14="http://schemas.microsoft.com/office/powerpoint/2010/main" val="7947331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2">
            <a:extLst xmlns:a="http://schemas.openxmlformats.org/drawingml/2006/main">
              <a:ext uri="{FF2B5EF4-FFF2-40B4-BE49-F238E27FC236}">
                <a16:creationId xmlns:a16="http://schemas.microsoft.com/office/drawing/2014/main" id="{DD55C1A3-A355-4BFF-80C5-EBAF8D0C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问题驱动</a:t>
            </a:r>
          </a:p>
        </p:txBody>
      </p:sp>
      <p:sp>
        <p:nvSpPr>
          <p:cNvPr id="2" name="heading-2">
            <a:extLst xmlns:a="http://schemas.openxmlformats.org/drawingml/2006/main">
              <a:ext uri="{FF2B5EF4-FFF2-40B4-BE49-F238E27FC236}">
                <a16:creationId xmlns:a16="http://schemas.microsoft.com/office/drawing/2014/main" id="{CC1DBD53-DF07-4F3F-8E61-0049820F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这一问，熟悉的方法为什么不够？</a:t>
            </a:r>
          </a:p>
        </p:txBody>
      </p:sp>
      <p:sp>
        <p:nvSpPr>
          <p:cNvPr id="3" name="heading-accent-2">
            <a:extLst xmlns:a="http://schemas.openxmlformats.org/drawingml/2006/main">
              <a:ext uri="{FF2B5EF4-FFF2-40B4-BE49-F238E27FC236}">
                <a16:creationId xmlns:a16="http://schemas.microsoft.com/office/drawing/2014/main" id="{F5C4B7D5-22A0-498F-A7E7-F223739D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ook-mark">
            <a:extLst xmlns:a="http://schemas.openxmlformats.org/drawingml/2006/main">
              <a:ext uri="{FF2B5EF4-FFF2-40B4-BE49-F238E27FC236}">
                <a16:creationId xmlns:a16="http://schemas.microsoft.com/office/drawing/2014/main" id="{BBDC7FA6-48F7-410F-952F-CF515EBF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2190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135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?</a:t>
            </a:r>
          </a:p>
        </p:txBody>
      </p:sp>
      <p:sp>
        <p:nvSpPr>
          <p:cNvPr id="5" name="hook-question">
            <a:extLst xmlns:a="http://schemas.openxmlformats.org/drawingml/2006/main">
              <a:ext uri="{FF2B5EF4-FFF2-40B4-BE49-F238E27FC236}">
                <a16:creationId xmlns:a16="http://schemas.microsoft.com/office/drawing/2014/main" id="{741104E2-6041-4442-B5A5-77C86B5F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52625"/>
            <a:ext cx="7524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看不见的空间角与距离，怎样变成人人可执行的计算？</a:t>
            </a:r>
          </a:p>
        </p:txBody>
      </p:sp>
      <p:sp>
        <p:nvSpPr>
          <p:cNvPr id="6" name="hook-note-box">
            <a:extLst xmlns:a="http://schemas.openxmlformats.org/drawingml/2006/main">
              <a:ext uri="{FF2B5EF4-FFF2-40B4-BE49-F238E27FC236}">
                <a16:creationId xmlns:a16="http://schemas.microsoft.com/office/drawing/2014/main" id="{F0BB1C7A-0E3B-428D-ACED-2F08F901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24300"/>
            <a:ext cx="7524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7" name="hook-note-text">
            <a:extLst xmlns:a="http://schemas.openxmlformats.org/drawingml/2006/main">
              <a:ext uri="{FF2B5EF4-FFF2-40B4-BE49-F238E27FC236}">
                <a16:creationId xmlns:a16="http://schemas.microsoft.com/office/drawing/2014/main" id="{C4C1FA84-5DFE-41CB-9282-D6D08B13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7105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先说出你的直觉，再找出直觉中缺少的条件、参照对象或极限过程。</a:t>
            </a:r>
          </a:p>
        </p:txBody>
      </p:sp>
      <p:sp>
        <p:nvSpPr>
          <p:cNvPr id="8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1A963BA6-5A41-4DBA-BEAA-2A30FCFE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title-2">
            <a:extLst xmlns:a="http://schemas.openxmlformats.org/drawingml/2006/main">
              <a:ext uri="{FF2B5EF4-FFF2-40B4-BE49-F238E27FC236}">
                <a16:creationId xmlns:a16="http://schemas.microsoft.com/office/drawing/2014/main" id="{439FB46D-17D9-4870-A59F-F7201381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空间向量与立体几何</a:t>
            </a:r>
          </a:p>
        </p:txBody>
      </p:sp>
      <p:sp>
        <p:nvSpPr>
          <p:cNvPr id="10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7DD272DC-E905-4E80-B19E-94ABD3A6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030769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3">
            <a:extLst xmlns:a="http://schemas.openxmlformats.org/drawingml/2006/main">
              <a:ext uri="{FF2B5EF4-FFF2-40B4-BE49-F238E27FC236}">
                <a16:creationId xmlns:a16="http://schemas.microsoft.com/office/drawing/2014/main" id="{2370F1E5-B3DB-422E-A90B-A7B3A331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学习路线</a:t>
            </a:r>
          </a:p>
        </p:txBody>
      </p:sp>
      <p:sp>
        <p:nvSpPr>
          <p:cNvPr id="2" name="heading-3">
            <a:extLst xmlns:a="http://schemas.openxmlformats.org/drawingml/2006/main">
              <a:ext uri="{FF2B5EF4-FFF2-40B4-BE49-F238E27FC236}">
                <a16:creationId xmlns:a16="http://schemas.microsoft.com/office/drawing/2014/main" id="{D8A570FF-F930-465E-9387-13876649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从直观图景走到可执行方法</a:t>
            </a:r>
          </a:p>
        </p:txBody>
      </p:sp>
      <p:sp>
        <p:nvSpPr>
          <p:cNvPr id="3" name="heading-accent-3">
            <a:extLst xmlns:a="http://schemas.openxmlformats.org/drawingml/2006/main">
              <a:ext uri="{FF2B5EF4-FFF2-40B4-BE49-F238E27FC236}">
                <a16:creationId xmlns:a16="http://schemas.microsoft.com/office/drawing/2014/main" id="{240D64BF-30C5-4445-A6AE-43972A76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ing-sub-3">
            <a:extLst xmlns:a="http://schemas.openxmlformats.org/drawingml/2006/main">
              <a:ext uri="{FF2B5EF4-FFF2-40B4-BE49-F238E27FC236}">
                <a16:creationId xmlns:a16="http://schemas.microsoft.com/office/drawing/2014/main" id="{A016E869-630D-4B51-B710-6AA04C2A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994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每一步都解决前一步留下的问题</a:t>
            </a:r>
          </a:p>
        </p:txBody>
      </p:sp>
      <p:sp>
        <p:nvSpPr>
          <p:cNvPr id="5" name="route-n-0">
            <a:extLst xmlns:a="http://schemas.openxmlformats.org/drawingml/2006/main">
              <a:ext uri="{FF2B5EF4-FFF2-40B4-BE49-F238E27FC236}">
                <a16:creationId xmlns:a16="http://schemas.microsoft.com/office/drawing/2014/main" id="{46783E34-BC65-4D4C-A041-67B58268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28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90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route-line-0">
            <a:extLst xmlns:a="http://schemas.openxmlformats.org/drawingml/2006/main">
              <a:ext uri="{FF2B5EF4-FFF2-40B4-BE49-F238E27FC236}">
                <a16:creationId xmlns:a16="http://schemas.microsoft.com/office/drawing/2014/main" id="{803385E4-55D6-440B-94DC-F9EBA874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622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oute-h-0">
            <a:extLst xmlns:a="http://schemas.openxmlformats.org/drawingml/2006/main">
              <a:ext uri="{FF2B5EF4-FFF2-40B4-BE49-F238E27FC236}">
                <a16:creationId xmlns:a16="http://schemas.microsoft.com/office/drawing/2014/main" id="{A47CF384-9E15-424D-9483-EF9B8174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看见结构</a:t>
            </a:r>
          </a:p>
        </p:txBody>
      </p:sp>
      <p:sp>
        <p:nvSpPr>
          <p:cNvPr id="8" name="route-b-0">
            <a:extLst xmlns:a="http://schemas.openxmlformats.org/drawingml/2006/main">
              <a:ext uri="{FF2B5EF4-FFF2-40B4-BE49-F238E27FC236}">
                <a16:creationId xmlns:a16="http://schemas.microsoft.com/office/drawing/2014/main" id="{6E0D58D3-F493-4E98-BF90-BEB47A8E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146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用概念图识别对象、变化与约束。</a:t>
            </a:r>
          </a:p>
        </p:txBody>
      </p:sp>
      <p:sp>
        <p:nvSpPr>
          <p:cNvPr id="9" name="route-n-1">
            <a:extLst xmlns:a="http://schemas.openxmlformats.org/drawingml/2006/main">
              <a:ext uri="{FF2B5EF4-FFF2-40B4-BE49-F238E27FC236}">
                <a16:creationId xmlns:a16="http://schemas.microsoft.com/office/drawing/2014/main" id="{596D4A0F-F6BC-4BDC-9F9D-CC767B8D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1028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90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route-line-1">
            <a:extLst xmlns:a="http://schemas.openxmlformats.org/drawingml/2006/main">
              <a:ext uri="{FF2B5EF4-FFF2-40B4-BE49-F238E27FC236}">
                <a16:creationId xmlns:a16="http://schemas.microsoft.com/office/drawing/2014/main" id="{F8FCA2DB-9894-4839-8137-4E867DFF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814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ute-h-1">
            <a:extLst xmlns:a="http://schemas.openxmlformats.org/drawingml/2006/main">
              <a:ext uri="{FF2B5EF4-FFF2-40B4-BE49-F238E27FC236}">
                <a16:creationId xmlns:a16="http://schemas.microsoft.com/office/drawing/2014/main" id="{E8FABC25-8DF5-40F5-9450-582C74EC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读懂表达</a:t>
            </a:r>
          </a:p>
        </p:txBody>
      </p:sp>
      <p:sp>
        <p:nvSpPr>
          <p:cNvPr id="12" name="route-b-1">
            <a:extLst xmlns:a="http://schemas.openxmlformats.org/drawingml/2006/main">
              <a:ext uri="{FF2B5EF4-FFF2-40B4-BE49-F238E27FC236}">
                <a16:creationId xmlns:a16="http://schemas.microsoft.com/office/drawing/2014/main" id="{E2E67373-B704-4F54-A316-F57A4BC9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338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 Manim 把定义或定理中的关系拆开。</a:t>
            </a:r>
          </a:p>
        </p:txBody>
      </p:sp>
      <p:sp>
        <p:nvSpPr>
          <p:cNvPr id="13" name="route-n-2">
            <a:extLst xmlns:a="http://schemas.openxmlformats.org/drawingml/2006/main">
              <a:ext uri="{FF2B5EF4-FFF2-40B4-BE49-F238E27FC236}">
                <a16:creationId xmlns:a16="http://schemas.microsoft.com/office/drawing/2014/main" id="{4C6EF500-B1CF-468F-8BBE-41D8F67A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1028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9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route-line-2">
            <a:extLst xmlns:a="http://schemas.openxmlformats.org/drawingml/2006/main">
              <a:ext uri="{FF2B5EF4-FFF2-40B4-BE49-F238E27FC236}">
                <a16:creationId xmlns:a16="http://schemas.microsoft.com/office/drawing/2014/main" id="{87CCF227-A5EB-41AE-9900-864061DE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8006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oute-h-2">
            <a:extLst xmlns:a="http://schemas.openxmlformats.org/drawingml/2006/main">
              <a:ext uri="{FF2B5EF4-FFF2-40B4-BE49-F238E27FC236}">
                <a16:creationId xmlns:a16="http://schemas.microsoft.com/office/drawing/2014/main" id="{BE272374-0EFA-428E-A303-5064D904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76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迁移解决</a:t>
            </a:r>
          </a:p>
        </p:txBody>
      </p:sp>
      <p:sp>
        <p:nvSpPr>
          <p:cNvPr id="16" name="route-b-2">
            <a:extLst xmlns:a="http://schemas.openxmlformats.org/drawingml/2006/main">
              <a:ext uri="{FF2B5EF4-FFF2-40B4-BE49-F238E27FC236}">
                <a16:creationId xmlns:a16="http://schemas.microsoft.com/office/drawing/2014/main" id="{D14E3422-302C-452B-9CDF-FAA138B7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530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把方法用于例题、辨错与真实情境。</a:t>
            </a:r>
          </a:p>
        </p:txBody>
      </p:sp>
      <p:sp>
        <p:nvSpPr>
          <p:cNvPr id="17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D43D97A1-ECE6-4161-B227-6322DCB5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title-3">
            <a:extLst xmlns:a="http://schemas.openxmlformats.org/drawingml/2006/main">
              <a:ext uri="{FF2B5EF4-FFF2-40B4-BE49-F238E27FC236}">
                <a16:creationId xmlns:a16="http://schemas.microsoft.com/office/drawing/2014/main" id="{C4C359F4-3165-4384-961F-CEF1810F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空间向量与立体几何</a:t>
            </a:r>
          </a:p>
        </p:txBody>
      </p:sp>
      <p:sp>
        <p:nvSpPr>
          <p:cNvPr id="19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554D7237-980D-4857-AEB1-5BA0BAE2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64002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4">
            <a:extLst xmlns:a="http://schemas.openxmlformats.org/drawingml/2006/main">
              <a:ext uri="{FF2B5EF4-FFF2-40B4-BE49-F238E27FC236}">
                <a16:creationId xmlns:a16="http://schemas.microsoft.com/office/drawing/2014/main" id="{BB66026E-92B0-40A4-BE89-6B40E635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概念理解</a:t>
            </a:r>
          </a:p>
        </p:txBody>
      </p:sp>
      <p:sp>
        <p:nvSpPr>
          <p:cNvPr id="2" name="heading-4">
            <a:extLst xmlns:a="http://schemas.openxmlformats.org/drawingml/2006/main">
              <a:ext uri="{FF2B5EF4-FFF2-40B4-BE49-F238E27FC236}">
                <a16:creationId xmlns:a16="http://schemas.microsoft.com/office/drawing/2014/main" id="{9996A283-76EE-4E4C-8E78-4AA89098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坐标、方向向量和法向量让空间关系可计算</a:t>
            </a:r>
          </a:p>
        </p:txBody>
      </p:sp>
      <p:sp>
        <p:nvSpPr>
          <p:cNvPr id="3" name="heading-accent-4">
            <a:extLst xmlns:a="http://schemas.openxmlformats.org/drawingml/2006/main">
              <a:ext uri="{FF2B5EF4-FFF2-40B4-BE49-F238E27FC236}">
                <a16:creationId xmlns:a16="http://schemas.microsoft.com/office/drawing/2014/main" id="{A917F9D6-504B-44FB-B0E6-F51EC710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cept-q-label">
            <a:extLst xmlns:a="http://schemas.openxmlformats.org/drawingml/2006/main">
              <a:ext uri="{FF2B5EF4-FFF2-40B4-BE49-F238E27FC236}">
                <a16:creationId xmlns:a16="http://schemas.microsoft.com/office/drawing/2014/main" id="{30FE5FF9-A330-41F5-80E1-7E921F9A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观察问题</a:t>
            </a:r>
          </a:p>
        </p:txBody>
      </p:sp>
      <p:sp>
        <p:nvSpPr>
          <p:cNvPr id="5" name="concept-q">
            <a:extLst xmlns:a="http://schemas.openxmlformats.org/drawingml/2006/main">
              <a:ext uri="{FF2B5EF4-FFF2-40B4-BE49-F238E27FC236}">
                <a16:creationId xmlns:a16="http://schemas.microsoft.com/office/drawing/2014/main" id="{38400041-0FE6-45C1-923E-132B0B5B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55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一个平面怎样用一个向量概括方向？距离又怎样成为投影？</a:t>
            </a:r>
          </a:p>
        </p:txBody>
      </p:sp>
      <p:sp>
        <p:nvSpPr>
          <p:cNvPr id="6" name="concept-tip-box">
            <a:extLst xmlns:a="http://schemas.openxmlformats.org/drawingml/2006/main">
              <a:ext uri="{FF2B5EF4-FFF2-40B4-BE49-F238E27FC236}">
                <a16:creationId xmlns:a16="http://schemas.microsoft.com/office/drawing/2014/main" id="{F42412FD-D6F8-4A84-9689-69ABCD42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4095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7" name="concept-tip-text">
            <a:extLst xmlns:a="http://schemas.openxmlformats.org/drawingml/2006/main">
              <a:ext uri="{FF2B5EF4-FFF2-40B4-BE49-F238E27FC236}">
                <a16:creationId xmlns:a16="http://schemas.microsoft.com/office/drawing/2014/main" id="{FC187D7D-2CDA-4865-A103-7F4B428F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3676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先用自己的话描述图中“不变的量”或“不断逼近的量”，再进入符号表达。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73c0d7e334054"/>
          <a:srcRect xmlns:a="http://schemas.openxmlformats.org/drawingml/2006/main" l="7201" t="0" r="72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1790700"/>
            <a:ext cx="622935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9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276BCC90-6573-4BDC-9936-D5CB3D41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title-4">
            <a:extLst xmlns:a="http://schemas.openxmlformats.org/drawingml/2006/main">
              <a:ext uri="{FF2B5EF4-FFF2-40B4-BE49-F238E27FC236}">
                <a16:creationId xmlns:a16="http://schemas.microsoft.com/office/drawing/2014/main" id="{C5D6E3F3-A44A-4452-8D65-2D47AC97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空间向量与立体几何</a:t>
            </a:r>
          </a:p>
        </p:txBody>
      </p:sp>
      <p:sp>
        <p:nvSpPr>
          <p:cNvPr id="11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B63670D1-471C-4679-B78C-BCA88EF4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228027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9d479f9574d2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F06EBD29-E220-4D0F-80B9-207D906B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itle-5">
            <a:extLst xmlns:a="http://schemas.openxmlformats.org/drawingml/2006/main">
              <a:ext uri="{FF2B5EF4-FFF2-40B4-BE49-F238E27FC236}">
                <a16:creationId xmlns:a16="http://schemas.microsoft.com/office/drawing/2014/main" id="{5E43C9F4-4E15-49F9-A877-FE97EC59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空间向量与立体几何 · 核心表达</a:t>
            </a:r>
          </a:p>
        </p:txBody>
      </p:sp>
      <p:sp>
        <p:nvSpPr>
          <p:cNvPr id="4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D81110BF-9414-417D-B3D1-2B8EF096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488223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6">
            <a:extLst xmlns:a="http://schemas.openxmlformats.org/drawingml/2006/main">
              <a:ext uri="{FF2B5EF4-FFF2-40B4-BE49-F238E27FC236}">
                <a16:creationId xmlns:a16="http://schemas.microsoft.com/office/drawing/2014/main" id="{2C3C17CA-F126-4EB8-BC4E-D305B975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概念拆解</a:t>
            </a:r>
          </a:p>
        </p:txBody>
      </p:sp>
      <p:sp>
        <p:nvSpPr>
          <p:cNvPr id="2" name="heading-6">
            <a:extLst xmlns:a="http://schemas.openxmlformats.org/drawingml/2006/main">
              <a:ext uri="{FF2B5EF4-FFF2-40B4-BE49-F238E27FC236}">
                <a16:creationId xmlns:a16="http://schemas.microsoft.com/office/drawing/2014/main" id="{81859557-5F35-4007-9F57-1EFA3792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三个关键词，搭起完整理解</a:t>
            </a:r>
          </a:p>
        </p:txBody>
      </p:sp>
      <p:sp>
        <p:nvSpPr>
          <p:cNvPr id="3" name="heading-accent-6">
            <a:extLst xmlns:a="http://schemas.openxmlformats.org/drawingml/2006/main">
              <a:ext uri="{FF2B5EF4-FFF2-40B4-BE49-F238E27FC236}">
                <a16:creationId xmlns:a16="http://schemas.microsoft.com/office/drawing/2014/main" id="{DB7A51DC-DD25-49F8-80F0-4ECB65E3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cept-card-0">
            <a:extLst xmlns:a="http://schemas.openxmlformats.org/drawingml/2006/main">
              <a:ext uri="{FF2B5EF4-FFF2-40B4-BE49-F238E27FC236}">
                <a16:creationId xmlns:a16="http://schemas.microsoft.com/office/drawing/2014/main" id="{E68D4EA9-E5EA-4126-8AEA-71C827C7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33528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solid"/>
          </a:ln>
        </p:spPr>
      </p:sp>
      <p:sp>
        <p:nvSpPr>
          <p:cNvPr id="5" name="concept-index-0">
            <a:extLst xmlns:a="http://schemas.openxmlformats.org/drawingml/2006/main">
              <a:ext uri="{FF2B5EF4-FFF2-40B4-BE49-F238E27FC236}">
                <a16:creationId xmlns:a16="http://schemas.microsoft.com/office/drawing/2014/main" id="{A7CC3A69-1F20-4EF8-9934-5C88ACA0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concept-head-0">
            <a:extLst xmlns:a="http://schemas.openxmlformats.org/drawingml/2006/main">
              <a:ext uri="{FF2B5EF4-FFF2-40B4-BE49-F238E27FC236}">
                <a16:creationId xmlns:a16="http://schemas.microsoft.com/office/drawing/2014/main" id="{CA9D1A53-6686-4AB0-8212-61A2637A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空间坐标</a:t>
            </a:r>
          </a:p>
        </p:txBody>
      </p:sp>
      <p:sp>
        <p:nvSpPr>
          <p:cNvPr id="7" name="concept-body-0">
            <a:extLst xmlns:a="http://schemas.openxmlformats.org/drawingml/2006/main">
              <a:ext uri="{FF2B5EF4-FFF2-40B4-BE49-F238E27FC236}">
                <a16:creationId xmlns:a16="http://schemas.microsoft.com/office/drawing/2014/main" id="{41DE3CC5-3B70-48D6-B59D-E960FE12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2895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选择三个互相垂直的方向，把点与向量写成有序数组。</a:t>
            </a:r>
          </a:p>
        </p:txBody>
      </p:sp>
      <p:sp>
        <p:nvSpPr>
          <p:cNvPr id="8" name="concept-card-1">
            <a:extLst xmlns:a="http://schemas.openxmlformats.org/drawingml/2006/main">
              <a:ext uri="{FF2B5EF4-FFF2-40B4-BE49-F238E27FC236}">
                <a16:creationId xmlns:a16="http://schemas.microsoft.com/office/drawing/2014/main" id="{88F6ECC1-FE63-416B-954E-A078E1F1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19300"/>
            <a:ext cx="33528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solid"/>
          </a:ln>
        </p:spPr>
      </p:sp>
      <p:sp>
        <p:nvSpPr>
          <p:cNvPr id="9" name="concept-index-1">
            <a:extLst xmlns:a="http://schemas.openxmlformats.org/drawingml/2006/main">
              <a:ext uri="{FF2B5EF4-FFF2-40B4-BE49-F238E27FC236}">
                <a16:creationId xmlns:a16="http://schemas.microsoft.com/office/drawing/2014/main" id="{7222F8DC-D1DF-4983-AD6F-C432B552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479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ncept-head-1">
            <a:extLst xmlns:a="http://schemas.openxmlformats.org/drawingml/2006/main">
              <a:ext uri="{FF2B5EF4-FFF2-40B4-BE49-F238E27FC236}">
                <a16:creationId xmlns:a16="http://schemas.microsoft.com/office/drawing/2014/main" id="{7472A46A-45DE-4CBB-94B0-EC99265B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03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数量积</a:t>
            </a:r>
          </a:p>
        </p:txBody>
      </p:sp>
      <p:sp>
        <p:nvSpPr>
          <p:cNvPr id="11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3ABFEBAD-D7B6-4F8D-AA9E-41135610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2895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把坐标运算连接到长度、夹角和垂直。</a:t>
            </a:r>
          </a:p>
        </p:txBody>
      </p:sp>
      <p:sp>
        <p:nvSpPr>
          <p:cNvPr id="12" name="concept-card-2">
            <a:extLst xmlns:a="http://schemas.openxmlformats.org/drawingml/2006/main">
              <a:ext uri="{FF2B5EF4-FFF2-40B4-BE49-F238E27FC236}">
                <a16:creationId xmlns:a16="http://schemas.microsoft.com/office/drawing/2014/main" id="{E78DA1DE-359D-450D-B2B2-8C7AE8EE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19300"/>
            <a:ext cx="33528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solid"/>
          </a:ln>
        </p:spPr>
      </p:sp>
      <p:sp>
        <p:nvSpPr>
          <p:cNvPr id="13" name="concept-index-2">
            <a:extLst xmlns:a="http://schemas.openxmlformats.org/drawingml/2006/main">
              <a:ext uri="{FF2B5EF4-FFF2-40B4-BE49-F238E27FC236}">
                <a16:creationId xmlns:a16="http://schemas.microsoft.com/office/drawing/2014/main" id="{FE47DBDC-466C-46A8-B49A-8AD59B9F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concept-head-2">
            <a:extLst xmlns:a="http://schemas.openxmlformats.org/drawingml/2006/main">
              <a:ext uri="{FF2B5EF4-FFF2-40B4-BE49-F238E27FC236}">
                <a16:creationId xmlns:a16="http://schemas.microsoft.com/office/drawing/2014/main" id="{D76BBF60-0B1C-463C-A6AC-1EF0C49A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003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法向量</a:t>
            </a:r>
          </a:p>
        </p:txBody>
      </p:sp>
      <p:sp>
        <p:nvSpPr>
          <p:cNvPr id="15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BF6B5439-52CC-4841-80E4-265EF8AB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2895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用一个垂直方向代表整个平面，便于求线面角与距离。</a:t>
            </a:r>
          </a:p>
        </p:txBody>
      </p:sp>
      <p:sp>
        <p:nvSpPr>
          <p:cNvPr id="16" name="concept-link-box">
            <a:extLst xmlns:a="http://schemas.openxmlformats.org/drawingml/2006/main">
              <a:ext uri="{FF2B5EF4-FFF2-40B4-BE49-F238E27FC236}">
                <a16:creationId xmlns:a16="http://schemas.microsoft.com/office/drawing/2014/main" id="{9165BAE1-95A2-4A3A-A86D-ED6BC02C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29250"/>
            <a:ext cx="80391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solid"/>
          </a:ln>
        </p:spPr>
      </p:sp>
      <p:sp>
        <p:nvSpPr>
          <p:cNvPr id="17" name="concept-link-text">
            <a:extLst xmlns:a="http://schemas.openxmlformats.org/drawingml/2006/main">
              <a:ext uri="{FF2B5EF4-FFF2-40B4-BE49-F238E27FC236}">
                <a16:creationId xmlns:a16="http://schemas.microsoft.com/office/drawing/2014/main" id="{62BBB287-4683-4294-B3A9-C04CABBC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626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空间向量把立体位置关系转化为坐标运算与数量积条件。</a:t>
            </a:r>
          </a:p>
        </p:txBody>
      </p:sp>
      <p:sp>
        <p:nvSpPr>
          <p:cNvPr id="18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7C5730F0-E2BE-4D10-A4A4-3A0497B9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title-6">
            <a:extLst xmlns:a="http://schemas.openxmlformats.org/drawingml/2006/main">
              <a:ext uri="{FF2B5EF4-FFF2-40B4-BE49-F238E27FC236}">
                <a16:creationId xmlns:a16="http://schemas.microsoft.com/office/drawing/2014/main" id="{F034CAD0-8BA1-4059-BFB2-DCBD5ABC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空间向量与立体几何</a:t>
            </a:r>
          </a:p>
        </p:txBody>
      </p:sp>
      <p:sp>
        <p:nvSpPr>
          <p:cNvPr id="20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D50493F3-B221-4740-A2DD-23948234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134249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fec3e1a104b7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65CBF73A-B8C0-489C-B9B6-66B8B5BE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itle-7">
            <a:extLst xmlns:a="http://schemas.openxmlformats.org/drawingml/2006/main">
              <a:ext uri="{FF2B5EF4-FFF2-40B4-BE49-F238E27FC236}">
                <a16:creationId xmlns:a16="http://schemas.microsoft.com/office/drawing/2014/main" id="{311DAB53-FF34-451B-AEB0-5A0AD2F0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空间向量与立体几何 · 例题推导</a:t>
            </a:r>
          </a:p>
        </p:txBody>
      </p:sp>
      <p:sp>
        <p:nvSpPr>
          <p:cNvPr id="4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2ACD9D81-424A-4D32-A3E5-98EFA8A0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947760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-8">
            <a:extLst xmlns:a="http://schemas.openxmlformats.org/drawingml/2006/main">
              <a:ext uri="{FF2B5EF4-FFF2-40B4-BE49-F238E27FC236}">
                <a16:creationId xmlns:a16="http://schemas.microsoft.com/office/drawing/2014/main" id="{B27ABE61-AC6E-435C-8037-3F37B700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方法清单</a:t>
            </a:r>
          </a:p>
        </p:txBody>
      </p:sp>
      <p:sp>
        <p:nvSpPr>
          <p:cNvPr id="2" name="heading-8">
            <a:extLst xmlns:a="http://schemas.openxmlformats.org/drawingml/2006/main">
              <a:ext uri="{FF2B5EF4-FFF2-40B4-BE49-F238E27FC236}">
                <a16:creationId xmlns:a16="http://schemas.microsoft.com/office/drawing/2014/main" id="{A77E7C55-9BB8-42A4-AC1C-04F6B695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把思路固定成可重复执行的四步</a:t>
            </a:r>
          </a:p>
        </p:txBody>
      </p:sp>
      <p:sp>
        <p:nvSpPr>
          <p:cNvPr id="3" name="heading-accent-8">
            <a:extLst xmlns:a="http://schemas.openxmlformats.org/drawingml/2006/main">
              <a:ext uri="{FF2B5EF4-FFF2-40B4-BE49-F238E27FC236}">
                <a16:creationId xmlns:a16="http://schemas.microsoft.com/office/drawing/2014/main" id="{7C3BC53F-9830-4587-872F-56208C25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thod-n-0">
            <a:extLst xmlns:a="http://schemas.openxmlformats.org/drawingml/2006/main">
              <a:ext uri="{FF2B5EF4-FFF2-40B4-BE49-F238E27FC236}">
                <a16:creationId xmlns:a16="http://schemas.microsoft.com/office/drawing/2014/main" id="{7CB9CB47-0D20-4079-A833-9D2B5036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" name="method-rule-0">
            <a:extLst xmlns:a="http://schemas.openxmlformats.org/drawingml/2006/main">
              <a:ext uri="{FF2B5EF4-FFF2-40B4-BE49-F238E27FC236}">
                <a16:creationId xmlns:a16="http://schemas.microsoft.com/office/drawing/2014/main" id="{1B172E84-9DA7-4349-BE68-70349460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2288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hod-t-0">
            <a:extLst xmlns:a="http://schemas.openxmlformats.org/drawingml/2006/main">
              <a:ext uri="{FF2B5EF4-FFF2-40B4-BE49-F238E27FC236}">
                <a16:creationId xmlns:a16="http://schemas.microsoft.com/office/drawing/2014/main" id="{21D055E2-E418-445D-AEE5-D47DBF9D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621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选择合适原点与坐标轴</a:t>
            </a:r>
          </a:p>
        </p:txBody>
      </p:sp>
      <p:sp>
        <p:nvSpPr>
          <p:cNvPr id="7" name="method-sep-0">
            <a:extLst xmlns:a="http://schemas.openxmlformats.org/drawingml/2006/main">
              <a:ext uri="{FF2B5EF4-FFF2-40B4-BE49-F238E27FC236}">
                <a16:creationId xmlns:a16="http://schemas.microsoft.com/office/drawing/2014/main" id="{FFC0E767-942D-46C7-9FBF-8E25FBA9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860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hod-n-1">
            <a:extLst xmlns:a="http://schemas.openxmlformats.org/drawingml/2006/main">
              <a:ext uri="{FF2B5EF4-FFF2-40B4-BE49-F238E27FC236}">
                <a16:creationId xmlns:a16="http://schemas.microsoft.com/office/drawing/2014/main" id="{6B14768C-7336-4D10-B136-549FB817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9" name="method-rule-1">
            <a:extLst xmlns:a="http://schemas.openxmlformats.org/drawingml/2006/main">
              <a:ext uri="{FF2B5EF4-FFF2-40B4-BE49-F238E27FC236}">
                <a16:creationId xmlns:a16="http://schemas.microsoft.com/office/drawing/2014/main" id="{C85504ED-3D32-4A6E-B2F3-2DF9DEA4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051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hod-t-1">
            <a:extLst xmlns:a="http://schemas.openxmlformats.org/drawingml/2006/main">
              <a:ext uri="{FF2B5EF4-FFF2-40B4-BE49-F238E27FC236}">
                <a16:creationId xmlns:a16="http://schemas.microsoft.com/office/drawing/2014/main" id="{05694A89-5743-4329-BC3E-A706403D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384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写出相关点的坐标</a:t>
            </a:r>
          </a:p>
        </p:txBody>
      </p:sp>
      <p:sp>
        <p:nvSpPr>
          <p:cNvPr id="11" name="method-sep-1">
            <a:extLst xmlns:a="http://schemas.openxmlformats.org/drawingml/2006/main">
              <a:ext uri="{FF2B5EF4-FFF2-40B4-BE49-F238E27FC236}">
                <a16:creationId xmlns:a16="http://schemas.microsoft.com/office/drawing/2014/main" id="{153C5F81-665B-40DD-9BDE-ADBDFE9C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62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hod-n-2">
            <a:extLst xmlns:a="http://schemas.openxmlformats.org/drawingml/2006/main">
              <a:ext uri="{FF2B5EF4-FFF2-40B4-BE49-F238E27FC236}">
                <a16:creationId xmlns:a16="http://schemas.microsoft.com/office/drawing/2014/main" id="{ED63EE89-AE58-4821-A8ED-559C2901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3" name="method-rule-2">
            <a:extLst xmlns:a="http://schemas.openxmlformats.org/drawingml/2006/main">
              <a:ext uri="{FF2B5EF4-FFF2-40B4-BE49-F238E27FC236}">
                <a16:creationId xmlns:a16="http://schemas.microsoft.com/office/drawing/2014/main" id="{A89F7ED4-1A04-4FEF-A238-BEBBC2D7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814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hod-t-2">
            <a:extLst xmlns:a="http://schemas.openxmlformats.org/drawingml/2006/main">
              <a:ext uri="{FF2B5EF4-FFF2-40B4-BE49-F238E27FC236}">
                <a16:creationId xmlns:a16="http://schemas.microsoft.com/office/drawing/2014/main" id="{E437D9C8-1889-48AA-8F28-A28E2636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147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用终点减起点求向量</a:t>
            </a:r>
          </a:p>
        </p:txBody>
      </p:sp>
      <p:sp>
        <p:nvSpPr>
          <p:cNvPr id="15" name="method-sep-2">
            <a:extLst xmlns:a="http://schemas.openxmlformats.org/drawingml/2006/main">
              <a:ext uri="{FF2B5EF4-FFF2-40B4-BE49-F238E27FC236}">
                <a16:creationId xmlns:a16="http://schemas.microsoft.com/office/drawing/2014/main" id="{28939791-7D25-4E70-B1B9-9EB614B2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386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hod-n-3">
            <a:extLst xmlns:a="http://schemas.openxmlformats.org/drawingml/2006/main">
              <a:ext uri="{FF2B5EF4-FFF2-40B4-BE49-F238E27FC236}">
                <a16:creationId xmlns:a16="http://schemas.microsoft.com/office/drawing/2014/main" id="{238A4388-D64C-4835-B201-A3731271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7" name="method-rule-3">
            <a:extLst xmlns:a="http://schemas.openxmlformats.org/drawingml/2006/main">
              <a:ext uri="{FF2B5EF4-FFF2-40B4-BE49-F238E27FC236}">
                <a16:creationId xmlns:a16="http://schemas.microsoft.com/office/drawing/2014/main" id="{D2FBEDE1-F858-4B8B-82A0-016C0C8F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577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thod-t-3">
            <a:extLst xmlns:a="http://schemas.openxmlformats.org/drawingml/2006/main">
              <a:ext uri="{FF2B5EF4-FFF2-40B4-BE49-F238E27FC236}">
                <a16:creationId xmlns:a16="http://schemas.microsoft.com/office/drawing/2014/main" id="{6CFC6285-B58D-4118-8A6B-906AA334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910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套用数量积或投影关系</a:t>
            </a:r>
          </a:p>
        </p:txBody>
      </p:sp>
      <p:sp>
        <p:nvSpPr>
          <p:cNvPr id="19" name="method-note-box">
            <a:extLst xmlns:a="http://schemas.openxmlformats.org/drawingml/2006/main">
              <a:ext uri="{FF2B5EF4-FFF2-40B4-BE49-F238E27FC236}">
                <a16:creationId xmlns:a16="http://schemas.microsoft.com/office/drawing/2014/main" id="{11E9BD15-7405-4A7B-B156-CCB5636E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81650"/>
            <a:ext cx="8191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20" name="method-note-text">
            <a:extLst xmlns:a="http://schemas.openxmlformats.org/drawingml/2006/main">
              <a:ext uri="{FF2B5EF4-FFF2-40B4-BE49-F238E27FC236}">
                <a16:creationId xmlns:a16="http://schemas.microsoft.com/office/drawing/2014/main" id="{4B00AEFA-6955-4036-869F-12404C12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715000"/>
            <a:ext cx="7772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65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先确认对象与条件，再开始计算；最后一定回到原问题解释结果。</a:t>
            </a:r>
          </a:p>
        </p:txBody>
      </p:sp>
      <p:sp>
        <p:nvSpPr>
          <p:cNvPr id="21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9282214C-02BA-4ADB-9D04-E97741D6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title-8">
            <a:extLst xmlns:a="http://schemas.openxmlformats.org/drawingml/2006/main">
              <a:ext uri="{FF2B5EF4-FFF2-40B4-BE49-F238E27FC236}">
                <a16:creationId xmlns:a16="http://schemas.microsoft.com/office/drawing/2014/main" id="{F2746997-02AC-4505-8E40-AE904ED9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空间向量与立体几何</a:t>
            </a:r>
          </a:p>
        </p:txBody>
      </p:sp>
      <p:sp>
        <p:nvSpPr>
          <p:cNvPr id="23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13A9F900-3F6B-4B5B-97C1-C34BDA36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908360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9">
            <a:extLst xmlns:a="http://schemas.openxmlformats.org/drawingml/2006/main">
              <a:ext uri="{FF2B5EF4-FFF2-40B4-BE49-F238E27FC236}">
                <a16:creationId xmlns:a16="http://schemas.microsoft.com/office/drawing/2014/main" id="{7F7F598C-4D32-4BDC-B7D3-3E809DAA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易错辨析</a:t>
            </a:r>
          </a:p>
        </p:txBody>
      </p:sp>
      <p:sp>
        <p:nvSpPr>
          <p:cNvPr id="2" name="heading-9">
            <a:extLst xmlns:a="http://schemas.openxmlformats.org/drawingml/2006/main">
              <a:ext uri="{FF2B5EF4-FFF2-40B4-BE49-F238E27FC236}">
                <a16:creationId xmlns:a16="http://schemas.microsoft.com/office/drawing/2014/main" id="{DFB4F991-BD9E-49A8-B0CD-26B432C3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错误往往不是算错，而是对象或条件看错</a:t>
            </a:r>
          </a:p>
        </p:txBody>
      </p:sp>
      <p:sp>
        <p:nvSpPr>
          <p:cNvPr id="3" name="heading-accent-9">
            <a:extLst xmlns:a="http://schemas.openxmlformats.org/drawingml/2006/main">
              <a:ext uri="{FF2B5EF4-FFF2-40B4-BE49-F238E27FC236}">
                <a16:creationId xmlns:a16="http://schemas.microsoft.com/office/drawing/2014/main" id="{990D4B8D-357B-4FF4-8401-34BCB7E6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rror-card-0">
            <a:extLst xmlns:a="http://schemas.openxmlformats.org/drawingml/2006/main">
              <a:ext uri="{FF2B5EF4-FFF2-40B4-BE49-F238E27FC236}">
                <a16:creationId xmlns:a16="http://schemas.microsoft.com/office/drawing/2014/main" id="{E08D85B1-68B3-4DA3-AE6C-66FB0CD8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dash"/>
          </a:ln>
        </p:spPr>
      </p:sp>
      <p:sp>
        <p:nvSpPr>
          <p:cNvPr id="5" name="error-no-0">
            <a:extLst xmlns:a="http://schemas.openxmlformats.org/drawingml/2006/main">
              <a:ext uri="{FF2B5EF4-FFF2-40B4-BE49-F238E27FC236}">
                <a16:creationId xmlns:a16="http://schemas.microsoft.com/office/drawing/2014/main" id="{8C134CF6-3268-444C-80A1-A9FFF85E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error-h-0">
            <a:extLst xmlns:a="http://schemas.openxmlformats.org/drawingml/2006/main">
              <a:ext uri="{FF2B5EF4-FFF2-40B4-BE49-F238E27FC236}">
                <a16:creationId xmlns:a16="http://schemas.microsoft.com/office/drawing/2014/main" id="{E38688AB-5BC7-4049-A767-B4E5B997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向量方向写反</a:t>
            </a:r>
          </a:p>
        </p:txBody>
      </p:sp>
      <p:sp>
        <p:nvSpPr>
          <p:cNvPr id="7" name="error-b-0">
            <a:extLst xmlns:a="http://schemas.openxmlformats.org/drawingml/2006/main">
              <a:ext uri="{FF2B5EF4-FFF2-40B4-BE49-F238E27FC236}">
                <a16:creationId xmlns:a16="http://schemas.microsoft.com/office/drawing/2014/main" id="{3B159787-D8A8-49B9-9795-3BE16860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始终用终点坐标减起点坐标。</a:t>
            </a:r>
          </a:p>
        </p:txBody>
      </p:sp>
      <p:sp>
        <p:nvSpPr>
          <p:cNvPr id="8" name="error-card-1">
            <a:extLst xmlns:a="http://schemas.openxmlformats.org/drawingml/2006/main">
              <a:ext uri="{FF2B5EF4-FFF2-40B4-BE49-F238E27FC236}">
                <a16:creationId xmlns:a16="http://schemas.microsoft.com/office/drawing/2014/main" id="{1CAB9931-45AB-405F-9C79-5E1B590B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1EE"/>
          </a:solidFill>
          <a:ln xmlns:a="http://schemas.openxmlformats.org/drawingml/2006/main" w="14288">
            <a:solidFill>
              <a:srgbClr val="EF6A5B"/>
            </a:solidFill>
            <a:prstDash val="dash"/>
          </a:ln>
        </p:spPr>
      </p:sp>
      <p:sp>
        <p:nvSpPr>
          <p:cNvPr id="9" name="error-no-1">
            <a:extLst xmlns:a="http://schemas.openxmlformats.org/drawingml/2006/main">
              <a:ext uri="{FF2B5EF4-FFF2-40B4-BE49-F238E27FC236}">
                <a16:creationId xmlns:a16="http://schemas.microsoft.com/office/drawing/2014/main" id="{D7E0209C-8657-4480-B709-9E28A5AF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error-h-1">
            <a:extLst xmlns:a="http://schemas.openxmlformats.org/drawingml/2006/main">
              <a:ext uri="{FF2B5EF4-FFF2-40B4-BE49-F238E27FC236}">
                <a16:creationId xmlns:a16="http://schemas.microsoft.com/office/drawing/2014/main" id="{8F496178-831D-4A91-ABA2-29449D14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956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线面角套错函数</a:t>
            </a:r>
          </a:p>
        </p:txBody>
      </p:sp>
      <p:sp>
        <p:nvSpPr>
          <p:cNvPr id="11" name="error-b-1">
            <a:extLst xmlns:a="http://schemas.openxmlformats.org/drawingml/2006/main">
              <a:ext uri="{FF2B5EF4-FFF2-40B4-BE49-F238E27FC236}">
                <a16:creationId xmlns:a16="http://schemas.microsoft.com/office/drawing/2014/main" id="{585EF1A4-4EB3-423B-9189-C145377F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338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与法向量的夹角和线面角互余。</a:t>
            </a:r>
          </a:p>
        </p:txBody>
      </p:sp>
      <p:sp>
        <p:nvSpPr>
          <p:cNvPr id="12" name="error-card-2">
            <a:extLst xmlns:a="http://schemas.openxmlformats.org/drawingml/2006/main">
              <a:ext uri="{FF2B5EF4-FFF2-40B4-BE49-F238E27FC236}">
                <a16:creationId xmlns:a16="http://schemas.microsoft.com/office/drawing/2014/main" id="{CBF96B2E-9B58-46ED-B726-CC25165C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1455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dash"/>
          </a:ln>
        </p:spPr>
      </p:sp>
      <p:sp>
        <p:nvSpPr>
          <p:cNvPr id="13" name="error-no-2">
            <a:extLst xmlns:a="http://schemas.openxmlformats.org/drawingml/2006/main">
              <a:ext uri="{FF2B5EF4-FFF2-40B4-BE49-F238E27FC236}">
                <a16:creationId xmlns:a16="http://schemas.microsoft.com/office/drawing/2014/main" id="{BC4AA9E3-E0EA-4682-8AEE-FCFDBCAA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error-h-2">
            <a:extLst xmlns:a="http://schemas.openxmlformats.org/drawingml/2006/main">
              <a:ext uri="{FF2B5EF4-FFF2-40B4-BE49-F238E27FC236}">
                <a16:creationId xmlns:a16="http://schemas.microsoft.com/office/drawing/2014/main" id="{631748CE-99AA-4B83-A5D9-D6D78A11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56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二面角不判锐钝</a:t>
            </a:r>
          </a:p>
        </p:txBody>
      </p:sp>
      <p:sp>
        <p:nvSpPr>
          <p:cNvPr id="15" name="error-b-2">
            <a:extLst xmlns:a="http://schemas.openxmlformats.org/drawingml/2006/main">
              <a:ext uri="{FF2B5EF4-FFF2-40B4-BE49-F238E27FC236}">
                <a16:creationId xmlns:a16="http://schemas.microsoft.com/office/drawing/2014/main" id="{56F28CA4-CFE7-4139-94F0-E3F87C7C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338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还需结合图形确定实际角。</a:t>
            </a:r>
          </a:p>
        </p:txBody>
      </p:sp>
      <p:sp>
        <p:nvSpPr>
          <p:cNvPr id="16" name="error-check-box">
            <a:extLst xmlns:a="http://schemas.openxmlformats.org/drawingml/2006/main">
              <a:ext uri="{FF2B5EF4-FFF2-40B4-BE49-F238E27FC236}">
                <a16:creationId xmlns:a16="http://schemas.microsoft.com/office/drawing/2014/main" id="{619E3DC5-4EF3-4F5C-83C0-49148422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76850"/>
            <a:ext cx="8763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solid"/>
          </a:ln>
        </p:spPr>
      </p:sp>
      <p:sp>
        <p:nvSpPr>
          <p:cNvPr id="17" name="error-check-text">
            <a:extLst xmlns:a="http://schemas.openxmlformats.org/drawingml/2006/main">
              <a:ext uri="{FF2B5EF4-FFF2-40B4-BE49-F238E27FC236}">
                <a16:creationId xmlns:a16="http://schemas.microsoft.com/office/drawing/2014/main" id="{440A7DCF-E34A-4791-9374-D15799E5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1020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自检：我现在研究的是谁？参照范围有没有改变？结论是否满足定义中的全部条件？</a:t>
            </a:r>
          </a:p>
        </p:txBody>
      </p:sp>
      <p:sp>
        <p:nvSpPr>
          <p:cNvPr id="18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88EBB5C2-5901-4530-BD31-E7C2F14F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title-9">
            <a:extLst xmlns:a="http://schemas.openxmlformats.org/drawingml/2006/main">
              <a:ext uri="{FF2B5EF4-FFF2-40B4-BE49-F238E27FC236}">
                <a16:creationId xmlns:a16="http://schemas.microsoft.com/office/drawing/2014/main" id="{0AC5A355-EB76-4326-9B10-2E982E40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空间向量与立体几何</a:t>
            </a:r>
          </a:p>
        </p:txBody>
      </p:sp>
      <p:sp>
        <p:nvSpPr>
          <p:cNvPr id="20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6318BA9A-CFA5-449C-AC7C-39F7DABF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791568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10">
            <a:extLst xmlns:a="http://schemas.openxmlformats.org/drawingml/2006/main">
              <a:ext uri="{FF2B5EF4-FFF2-40B4-BE49-F238E27FC236}">
                <a16:creationId xmlns:a16="http://schemas.microsoft.com/office/drawing/2014/main" id="{2D2B3CBE-98F2-4E33-8C96-C359786B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迁移应用</a:t>
            </a:r>
          </a:p>
        </p:txBody>
      </p:sp>
      <p:sp>
        <p:nvSpPr>
          <p:cNvPr id="2" name="heading-10">
            <a:extLst xmlns:a="http://schemas.openxmlformats.org/drawingml/2006/main">
              <a:ext uri="{FF2B5EF4-FFF2-40B4-BE49-F238E27FC236}">
                <a16:creationId xmlns:a16="http://schemas.microsoft.com/office/drawing/2014/main" id="{A3324C3B-5E2A-45D3-87AC-051580F5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同一个数学结构，可以解释不同现实任务</a:t>
            </a:r>
          </a:p>
        </p:txBody>
      </p:sp>
      <p:sp>
        <p:nvSpPr>
          <p:cNvPr id="3" name="heading-accent-10">
            <a:extLst xmlns:a="http://schemas.openxmlformats.org/drawingml/2006/main">
              <a:ext uri="{FF2B5EF4-FFF2-40B4-BE49-F238E27FC236}">
                <a16:creationId xmlns:a16="http://schemas.microsoft.com/office/drawing/2014/main" id="{1520C414-F9A4-48F7-8238-47280B87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pp-tag-0">
            <a:extLst xmlns:a="http://schemas.openxmlformats.org/drawingml/2006/main">
              <a:ext uri="{FF2B5EF4-FFF2-40B4-BE49-F238E27FC236}">
                <a16:creationId xmlns:a16="http://schemas.microsoft.com/office/drawing/2014/main" id="{12DE940C-73DF-4B63-9A90-03FB9AE6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建筑斜撑</a:t>
            </a:r>
          </a:p>
        </p:txBody>
      </p:sp>
      <p:sp>
        <p:nvSpPr>
          <p:cNvPr id="5" name="app-rule-0">
            <a:extLst xmlns:a="http://schemas.openxmlformats.org/drawingml/2006/main">
              <a:ext uri="{FF2B5EF4-FFF2-40B4-BE49-F238E27FC236}">
                <a16:creationId xmlns:a16="http://schemas.microsoft.com/office/drawing/2014/main" id="{DA6EE6B5-6855-4BBA-86DF-7022661F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241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pp-body-0">
            <a:extLst xmlns:a="http://schemas.openxmlformats.org/drawingml/2006/main">
              <a:ext uri="{FF2B5EF4-FFF2-40B4-BE49-F238E27FC236}">
                <a16:creationId xmlns:a16="http://schemas.microsoft.com/office/drawing/2014/main" id="{34CAA279-3BAF-4C70-BDF0-2A6209F8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383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用方向向量描述斜撑，用法向量描述屋面。</a:t>
            </a:r>
          </a:p>
        </p:txBody>
      </p:sp>
      <p:sp>
        <p:nvSpPr>
          <p:cNvPr id="7" name="app-tag-1">
            <a:extLst xmlns:a="http://schemas.openxmlformats.org/drawingml/2006/main">
              <a:ext uri="{FF2B5EF4-FFF2-40B4-BE49-F238E27FC236}">
                <a16:creationId xmlns:a16="http://schemas.microsoft.com/office/drawing/2014/main" id="{72F0BA98-73EF-4B2E-A309-8496E14B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空间测距</a:t>
            </a:r>
          </a:p>
        </p:txBody>
      </p:sp>
      <p:sp>
        <p:nvSpPr>
          <p:cNvPr id="8" name="app-rule-1">
            <a:extLst xmlns:a="http://schemas.openxmlformats.org/drawingml/2006/main">
              <a:ext uri="{FF2B5EF4-FFF2-40B4-BE49-F238E27FC236}">
                <a16:creationId xmlns:a16="http://schemas.microsoft.com/office/drawing/2014/main" id="{92FB1142-C79E-4A3D-B8B6-965DBE42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290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pp-body-1">
            <a:extLst xmlns:a="http://schemas.openxmlformats.org/drawingml/2006/main">
              <a:ext uri="{FF2B5EF4-FFF2-40B4-BE49-F238E27FC236}">
                <a16:creationId xmlns:a16="http://schemas.microsoft.com/office/drawing/2014/main" id="{75C50623-F679-461F-8EEB-C1AC2034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432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把位移向量投影到法向方向得到最短距离。</a:t>
            </a:r>
          </a:p>
        </p:txBody>
      </p:sp>
      <p:sp>
        <p:nvSpPr>
          <p:cNvPr id="10" name="app-tag-2">
            <a:extLst xmlns:a="http://schemas.openxmlformats.org/drawingml/2006/main">
              <a:ext uri="{FF2B5EF4-FFF2-40B4-BE49-F238E27FC236}">
                <a16:creationId xmlns:a16="http://schemas.microsoft.com/office/drawing/2014/main" id="{EC720E94-C193-4FEA-B565-A3D9CE76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建模</a:t>
            </a:r>
          </a:p>
        </p:txBody>
      </p:sp>
      <p:sp>
        <p:nvSpPr>
          <p:cNvPr id="11" name="app-rule-2">
            <a:extLst xmlns:a="http://schemas.openxmlformats.org/drawingml/2006/main">
              <a:ext uri="{FF2B5EF4-FFF2-40B4-BE49-F238E27FC236}">
                <a16:creationId xmlns:a16="http://schemas.microsoft.com/office/drawing/2014/main" id="{1833C690-D403-4BD6-BE29-67E2A826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339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pp-body-2">
            <a:extLst xmlns:a="http://schemas.openxmlformats.org/drawingml/2006/main">
              <a:ext uri="{FF2B5EF4-FFF2-40B4-BE49-F238E27FC236}">
                <a16:creationId xmlns:a16="http://schemas.microsoft.com/office/drawing/2014/main" id="{A9B112F6-E542-412E-9565-B6523C55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481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不同建系方式会影响运算量，但不改变几何结论。</a:t>
            </a:r>
          </a:p>
        </p:txBody>
      </p:sp>
      <p:sp>
        <p:nvSpPr>
          <p:cNvPr id="13" name="app-note-box">
            <a:extLst xmlns:a="http://schemas.openxmlformats.org/drawingml/2006/main">
              <a:ext uri="{FF2B5EF4-FFF2-40B4-BE49-F238E27FC236}">
                <a16:creationId xmlns:a16="http://schemas.microsoft.com/office/drawing/2014/main" id="{7AE12C26-304F-4A74-9A54-46FF0A80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67350"/>
            <a:ext cx="96393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4" name="app-note-text">
            <a:extLst xmlns:a="http://schemas.openxmlformats.org/drawingml/2006/main">
              <a:ext uri="{FF2B5EF4-FFF2-40B4-BE49-F238E27FC236}">
                <a16:creationId xmlns:a16="http://schemas.microsoft.com/office/drawing/2014/main" id="{0DFC8D64-AC1E-4F5F-A279-81DE849C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00700"/>
            <a:ext cx="922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迁移的关键不是换场景，而是保留同一组对象、关系与约束。</a:t>
            </a:r>
          </a:p>
        </p:txBody>
      </p:sp>
      <p:sp>
        <p:nvSpPr>
          <p:cNvPr id="15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3DFB812F-0390-4B8B-9C9C-B9F56136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title-10">
            <a:extLst xmlns:a="http://schemas.openxmlformats.org/drawingml/2006/main">
              <a:ext uri="{FF2B5EF4-FFF2-40B4-BE49-F238E27FC236}">
                <a16:creationId xmlns:a16="http://schemas.microsoft.com/office/drawing/2014/main" id="{C3B3DA8C-3009-4508-9B39-38E6B703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空间向量与立体几何</a:t>
            </a:r>
          </a:p>
        </p:txBody>
      </p:sp>
      <p:sp>
        <p:nvSpPr>
          <p:cNvPr id="17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3C4DFAEF-C0A7-477B-A97C-B51C92CA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568533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11">
            <a:extLst xmlns:a="http://schemas.openxmlformats.org/drawingml/2006/main">
              <a:ext uri="{FF2B5EF4-FFF2-40B4-BE49-F238E27FC236}">
                <a16:creationId xmlns:a16="http://schemas.microsoft.com/office/drawing/2014/main" id="{36D2B8AF-167D-4DA6-9DAE-D39C3DF8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课堂练习</a:t>
            </a:r>
          </a:p>
        </p:txBody>
      </p:sp>
      <p:sp>
        <p:nvSpPr>
          <p:cNvPr id="2" name="heading-11">
            <a:extLst xmlns:a="http://schemas.openxmlformats.org/drawingml/2006/main">
              <a:ext uri="{FF2B5EF4-FFF2-40B4-BE49-F238E27FC236}">
                <a16:creationId xmlns:a16="http://schemas.microsoft.com/office/drawing/2014/main" id="{2CF9EC89-9E6E-4D76-9C58-247C365E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先说思路，再写表达</a:t>
            </a:r>
          </a:p>
        </p:txBody>
      </p:sp>
      <p:sp>
        <p:nvSpPr>
          <p:cNvPr id="3" name="heading-accent-11">
            <a:extLst xmlns:a="http://schemas.openxmlformats.org/drawingml/2006/main">
              <a:ext uri="{FF2B5EF4-FFF2-40B4-BE49-F238E27FC236}">
                <a16:creationId xmlns:a16="http://schemas.microsoft.com/office/drawing/2014/main" id="{48F7ED9D-C01C-403F-826B-997A8EF4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ing-sub-11">
            <a:extLst xmlns:a="http://schemas.openxmlformats.org/drawingml/2006/main">
              <a:ext uri="{FF2B5EF4-FFF2-40B4-BE49-F238E27FC236}">
                <a16:creationId xmlns:a16="http://schemas.microsoft.com/office/drawing/2014/main" id="{C8819754-2885-443A-B478-BCF3FC7D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994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每题先用一句话说明准备使用的定义或方法</a:t>
            </a:r>
          </a:p>
        </p:txBody>
      </p:sp>
      <p:sp>
        <p:nvSpPr>
          <p:cNvPr id="5" name="practice-tag-0">
            <a:extLst xmlns:a="http://schemas.openxmlformats.org/drawingml/2006/main">
              <a:ext uri="{FF2B5EF4-FFF2-40B4-BE49-F238E27FC236}">
                <a16:creationId xmlns:a16="http://schemas.microsoft.com/office/drawing/2014/main" id="{71DE928E-FE82-475F-8841-61301563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80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405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6" name="practice-card-0">
            <a:extLst xmlns:a="http://schemas.openxmlformats.org/drawingml/2006/main">
              <a:ext uri="{FF2B5EF4-FFF2-40B4-BE49-F238E27FC236}">
                <a16:creationId xmlns:a16="http://schemas.microsoft.com/office/drawing/2014/main" id="{51668F62-5A6C-4BC8-8B58-0D7D8A6D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057400"/>
            <a:ext cx="91630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3335">
            <a:solidFill>
              <a:srgbClr val="2A78D6"/>
            </a:solidFill>
            <a:prstDash val="solid"/>
          </a:ln>
        </p:spPr>
      </p:sp>
      <p:sp>
        <p:nvSpPr>
          <p:cNvPr id="7" name="practice-q-0">
            <a:extLst xmlns:a="http://schemas.openxmlformats.org/drawingml/2006/main">
              <a:ext uri="{FF2B5EF4-FFF2-40B4-BE49-F238E27FC236}">
                <a16:creationId xmlns:a16="http://schemas.microsoft.com/office/drawing/2014/main" id="{52D28C03-2F1A-4624-9629-4CE4F29D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47900"/>
            <a:ext cx="8553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在正方体中建立坐标系，说明如何写出体对角线的方向向量。</a:t>
            </a:r>
          </a:p>
        </p:txBody>
      </p:sp>
      <p:sp>
        <p:nvSpPr>
          <p:cNvPr id="8" name="practice-tag-1">
            <a:extLst xmlns:a="http://schemas.openxmlformats.org/drawingml/2006/main">
              <a:ext uri="{FF2B5EF4-FFF2-40B4-BE49-F238E27FC236}">
                <a16:creationId xmlns:a16="http://schemas.microsoft.com/office/drawing/2014/main" id="{3501ED9E-7604-464B-A449-B857675E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80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40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9" name="practice-card-1">
            <a:extLst xmlns:a="http://schemas.openxmlformats.org/drawingml/2006/main">
              <a:ext uri="{FF2B5EF4-FFF2-40B4-BE49-F238E27FC236}">
                <a16:creationId xmlns:a16="http://schemas.microsoft.com/office/drawing/2014/main" id="{831DE264-C0FE-4E3B-9C98-9E6E4111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752850"/>
            <a:ext cx="91630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1EE"/>
          </a:solidFill>
          <a:ln xmlns:a="http://schemas.openxmlformats.org/drawingml/2006/main" w="13335">
            <a:solidFill>
              <a:srgbClr val="EF6A5B"/>
            </a:solidFill>
            <a:prstDash val="solid"/>
          </a:ln>
        </p:spPr>
      </p:sp>
      <p:sp>
        <p:nvSpPr>
          <p:cNvPr id="10" name="practice-q-1">
            <a:extLst xmlns:a="http://schemas.openxmlformats.org/drawingml/2006/main">
              <a:ext uri="{FF2B5EF4-FFF2-40B4-BE49-F238E27FC236}">
                <a16:creationId xmlns:a16="http://schemas.microsoft.com/office/drawing/2014/main" id="{0C06FCA9-61BE-474D-8AEE-73E964EC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43350"/>
            <a:ext cx="8553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已知两个空间向量，描述如何用数量积判断它们是否垂直。</a:t>
            </a:r>
          </a:p>
        </p:txBody>
      </p:sp>
      <p:sp>
        <p:nvSpPr>
          <p:cNvPr id="11" name="practice-note-box">
            <a:extLst xmlns:a="http://schemas.openxmlformats.org/drawingml/2006/main">
              <a:ext uri="{FF2B5EF4-FFF2-40B4-BE49-F238E27FC236}">
                <a16:creationId xmlns:a16="http://schemas.microsoft.com/office/drawing/2014/main" id="{17ABCF06-6D4C-489E-BB11-A2701DDE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524500"/>
            <a:ext cx="91630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2" name="practice-note-text">
            <a:extLst xmlns:a="http://schemas.openxmlformats.org/drawingml/2006/main">
              <a:ext uri="{FF2B5EF4-FFF2-40B4-BE49-F238E27FC236}">
                <a16:creationId xmlns:a16="http://schemas.microsoft.com/office/drawing/2014/main" id="{D7733913-A302-42A5-8567-F29C1200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57850"/>
            <a:ext cx="874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检查顺序：对象 → 条件 → 方法 → 结果解释。</a:t>
            </a:r>
          </a:p>
        </p:txBody>
      </p:sp>
      <p:sp>
        <p:nvSpPr>
          <p:cNvPr id="13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C9683872-FDA5-4BE0-9178-9D020145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title-11">
            <a:extLst xmlns:a="http://schemas.openxmlformats.org/drawingml/2006/main">
              <a:ext uri="{FF2B5EF4-FFF2-40B4-BE49-F238E27FC236}">
                <a16:creationId xmlns:a16="http://schemas.microsoft.com/office/drawing/2014/main" id="{4B11823F-7215-46E5-A5CC-64C723C3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空间向量与立体几何</a:t>
            </a:r>
          </a:p>
        </p:txBody>
      </p:sp>
      <p:sp>
        <p:nvSpPr>
          <p:cNvPr id="15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37DC732A-02E0-4D5F-8D57-CD6C88ED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39771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12">
            <a:extLst xmlns:a="http://schemas.openxmlformats.org/drawingml/2006/main">
              <a:ext uri="{FF2B5EF4-FFF2-40B4-BE49-F238E27FC236}">
                <a16:creationId xmlns:a16="http://schemas.microsoft.com/office/drawing/2014/main" id="{C8FA9FE4-D0FF-4745-BEB2-E9BA29B0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课堂总结</a:t>
            </a:r>
          </a:p>
        </p:txBody>
      </p:sp>
      <p:sp>
        <p:nvSpPr>
          <p:cNvPr id="2" name="heading-12">
            <a:extLst xmlns:a="http://schemas.openxmlformats.org/drawingml/2006/main">
              <a:ext uri="{FF2B5EF4-FFF2-40B4-BE49-F238E27FC236}">
                <a16:creationId xmlns:a16="http://schemas.microsoft.com/office/drawing/2014/main" id="{0E590244-D49A-4C88-8C88-A1E59B12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把今天的主线压缩成三句话</a:t>
            </a:r>
          </a:p>
        </p:txBody>
      </p:sp>
      <p:sp>
        <p:nvSpPr>
          <p:cNvPr id="3" name="heading-accent-12">
            <a:extLst xmlns:a="http://schemas.openxmlformats.org/drawingml/2006/main">
              <a:ext uri="{FF2B5EF4-FFF2-40B4-BE49-F238E27FC236}">
                <a16:creationId xmlns:a16="http://schemas.microsoft.com/office/drawing/2014/main" id="{C3A22948-F8E2-4F35-B324-7DBEC8EC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um-n-0">
            <a:extLst xmlns:a="http://schemas.openxmlformats.org/drawingml/2006/main">
              <a:ext uri="{FF2B5EF4-FFF2-40B4-BE49-F238E27FC236}">
                <a16:creationId xmlns:a16="http://schemas.microsoft.com/office/drawing/2014/main" id="{8B7472E1-0AF8-4899-9C76-1EDA25F9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933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45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sum-t-0">
            <a:extLst xmlns:a="http://schemas.openxmlformats.org/drawingml/2006/main">
              <a:ext uri="{FF2B5EF4-FFF2-40B4-BE49-F238E27FC236}">
                <a16:creationId xmlns:a16="http://schemas.microsoft.com/office/drawing/2014/main" id="{98ECDA9C-0951-426B-B6A5-7DB44FDE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002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建系把空间点变成坐标</a:t>
            </a:r>
          </a:p>
        </p:txBody>
      </p:sp>
      <p:sp>
        <p:nvSpPr>
          <p:cNvPr id="6" name="sum-sep-0">
            <a:extLst xmlns:a="http://schemas.openxmlformats.org/drawingml/2006/main">
              <a:ext uri="{FF2B5EF4-FFF2-40B4-BE49-F238E27FC236}">
                <a16:creationId xmlns:a16="http://schemas.microsoft.com/office/drawing/2014/main" id="{8C00F7FE-37BC-4DD3-8356-CF2B93C8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um-n-1">
            <a:extLst xmlns:a="http://schemas.openxmlformats.org/drawingml/2006/main">
              <a:ext uri="{FF2B5EF4-FFF2-40B4-BE49-F238E27FC236}">
                <a16:creationId xmlns:a16="http://schemas.microsoft.com/office/drawing/2014/main" id="{475D4CB7-ED79-44F9-AF12-1AD3D6E5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933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45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sum-t-1">
            <a:extLst xmlns:a="http://schemas.openxmlformats.org/drawingml/2006/main">
              <a:ext uri="{FF2B5EF4-FFF2-40B4-BE49-F238E27FC236}">
                <a16:creationId xmlns:a16="http://schemas.microsoft.com/office/drawing/2014/main" id="{28CB5EAD-2CE6-48D7-8F85-89BE364E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908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数量积统一长度、角度与垂直</a:t>
            </a:r>
          </a:p>
        </p:txBody>
      </p:sp>
      <p:sp>
        <p:nvSpPr>
          <p:cNvPr id="9" name="sum-sep-1">
            <a:extLst xmlns:a="http://schemas.openxmlformats.org/drawingml/2006/main">
              <a:ext uri="{FF2B5EF4-FFF2-40B4-BE49-F238E27FC236}">
                <a16:creationId xmlns:a16="http://schemas.microsoft.com/office/drawing/2014/main" id="{B1ADDD79-7C69-427F-8980-3545D572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719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um-n-2">
            <a:extLst xmlns:a="http://schemas.openxmlformats.org/drawingml/2006/main">
              <a:ext uri="{FF2B5EF4-FFF2-40B4-BE49-F238E27FC236}">
                <a16:creationId xmlns:a16="http://schemas.microsoft.com/office/drawing/2014/main" id="{0128EDBD-CC6B-4978-A72F-2AFA6949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933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4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sum-t-2">
            <a:extLst xmlns:a="http://schemas.openxmlformats.org/drawingml/2006/main">
              <a:ext uri="{FF2B5EF4-FFF2-40B4-BE49-F238E27FC236}">
                <a16:creationId xmlns:a16="http://schemas.microsoft.com/office/drawing/2014/main" id="{B1EC36CA-DA94-49BE-92CA-0DFDFDD3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9814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法向量把平面压缩为一个方向</a:t>
            </a:r>
          </a:p>
        </p:txBody>
      </p:sp>
      <p:sp>
        <p:nvSpPr>
          <p:cNvPr id="12" name="exit-box">
            <a:extLst xmlns:a="http://schemas.openxmlformats.org/drawingml/2006/main">
              <a:ext uri="{FF2B5EF4-FFF2-40B4-BE49-F238E27FC236}">
                <a16:creationId xmlns:a16="http://schemas.microsoft.com/office/drawing/2014/main" id="{755873B3-8DFD-478D-8954-7422F7A2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62550"/>
            <a:ext cx="933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3" name="exit-text">
            <a:extLst xmlns:a="http://schemas.openxmlformats.org/drawingml/2006/main">
              <a:ext uri="{FF2B5EF4-FFF2-40B4-BE49-F238E27FC236}">
                <a16:creationId xmlns:a16="http://schemas.microsoft.com/office/drawing/2014/main" id="{B56D20BE-9F2B-40E8-9887-9AD72003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95900"/>
            <a:ext cx="891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离堂检验：用自己的话解释“空间向量把立体位置关系转化为坐标运算与数量积条件。”</a:t>
            </a:r>
          </a:p>
        </p:txBody>
      </p:sp>
      <p:sp>
        <p:nvSpPr>
          <p:cNvPr id="14" name="footer-rule-12">
            <a:extLst xmlns:a="http://schemas.openxmlformats.org/drawingml/2006/main">
              <a:ext uri="{FF2B5EF4-FFF2-40B4-BE49-F238E27FC236}">
                <a16:creationId xmlns:a16="http://schemas.microsoft.com/office/drawing/2014/main" id="{AE6C3D71-6EF2-42E8-A539-AF2C6D8F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title-12">
            <a:extLst xmlns:a="http://schemas.openxmlformats.org/drawingml/2006/main">
              <a:ext uri="{FF2B5EF4-FFF2-40B4-BE49-F238E27FC236}">
                <a16:creationId xmlns:a16="http://schemas.microsoft.com/office/drawing/2014/main" id="{C51EC645-CD5D-4C57-901C-052332F8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空间向量与立体几何 · 总结</a:t>
            </a:r>
          </a:p>
        </p:txBody>
      </p:sp>
      <p:sp>
        <p:nvSpPr>
          <p:cNvPr id="16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DE018B0B-99BC-4760-B287-FAA71ADF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377001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2026-07-22T03:48:53.2450000Z</dcterms:created>
  <dcterms:modified xsi:type="dcterms:W3CDTF">2026-07-22T03:48:53.2450000Z</dcterms:modified>
</coreProperties>
</file>